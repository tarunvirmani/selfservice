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2.xml" ContentType="application/vnd.openxmlformats-officedocument.them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9" r:id="rId4"/>
    <p:sldMasterId id="2147483788" r:id="rId5"/>
  </p:sldMasterIdLst>
  <p:notesMasterIdLst>
    <p:notesMasterId r:id="rId37"/>
  </p:notesMasterIdLst>
  <p:handoutMasterIdLst>
    <p:handoutMasterId r:id="rId38"/>
  </p:handoutMasterIdLst>
  <p:sldIdLst>
    <p:sldId id="2147377362" r:id="rId6"/>
    <p:sldId id="2147377367" r:id="rId7"/>
    <p:sldId id="2147377401" r:id="rId8"/>
    <p:sldId id="2147377395" r:id="rId9"/>
    <p:sldId id="2147377396" r:id="rId10"/>
    <p:sldId id="2147377389" r:id="rId11"/>
    <p:sldId id="2147377413" r:id="rId12"/>
    <p:sldId id="2147377414" r:id="rId13"/>
    <p:sldId id="2147377415" r:id="rId14"/>
    <p:sldId id="2147481580" r:id="rId15"/>
    <p:sldId id="2147481581" r:id="rId16"/>
    <p:sldId id="2147377402" r:id="rId17"/>
    <p:sldId id="2147377409" r:id="rId18"/>
    <p:sldId id="2147377417" r:id="rId19"/>
    <p:sldId id="2147377398" r:id="rId20"/>
    <p:sldId id="2147377418" r:id="rId21"/>
    <p:sldId id="2147377419" r:id="rId22"/>
    <p:sldId id="2147377400" r:id="rId23"/>
    <p:sldId id="2147481582" r:id="rId24"/>
    <p:sldId id="2147481583" r:id="rId25"/>
    <p:sldId id="2147377390" r:id="rId26"/>
    <p:sldId id="2147377407" r:id="rId27"/>
    <p:sldId id="2147377372" r:id="rId28"/>
    <p:sldId id="2147481579" r:id="rId29"/>
    <p:sldId id="2147377403" r:id="rId30"/>
    <p:sldId id="2147377404" r:id="rId31"/>
    <p:sldId id="2147377408" r:id="rId32"/>
    <p:sldId id="2147377406" r:id="rId33"/>
    <p:sldId id="2147377369" r:id="rId34"/>
    <p:sldId id="2147377394" r:id="rId35"/>
    <p:sldId id="2147377397" r:id="rId36"/>
  </p:sldIdLst>
  <p:sldSz cx="12192000" cy="6858000"/>
  <p:notesSz cx="6858000" cy="9144000"/>
  <p:custDataLst>
    <p:tags r:id="rId39"/>
  </p:custDataLst>
  <p:defaultTex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E666DC-73A5-2A39-EC38-65009DD91815}" name="Tim Sugden" initials="TS" userId="S::timothy.x.sugden@gsk.com::b05cb0cb-d95e-4487-8cc9-6894d6975a07" providerId="AD"/>
  <p188:author id="{C313E9DD-8517-389E-5260-8653AEC419F0}" name="Hayden Craig" initials="HC" userId="S::hayden.x.craig@gsk.com::b9095054-7d00-411c-85c8-6ff3f91ca02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2773A7-765B-4295-9BBC-9854C82EF144}" v="1" dt="2025-10-15T11:08:40.011"/>
  </p1510:revLst>
</p1510:revInfo>
</file>

<file path=ppt/tableStyles.xml><?xml version="1.0" encoding="utf-8"?>
<a:tblStyleLst xmlns:a="http://schemas.openxmlformats.org/drawingml/2006/main" def="{9D7B26C5-4107-4FEC-AEDC-1716B250A1E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2"/>
          <a:sy n="1" d="2"/>
        </p:scale>
        <p:origin x="2874" y="126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ags" Target="tags/tag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notesMaster" Target="notesMasters/notesMaster1.xml"/><Relationship Id="rId40" Type="http://schemas.openxmlformats.org/officeDocument/2006/relationships/presProps" Target="presProps.xml"/><Relationship Id="rId45"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handoutMaster" Target="handoutMasters/handoutMaster1.xml"/><Relationship Id="rId20" Type="http://schemas.openxmlformats.org/officeDocument/2006/relationships/slide" Target="slides/slide15.xml"/><Relationship Id="rId4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C5DC5B-BF83-D0F8-F17D-E458477D6A3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1CA5C446-58AD-F05A-78BC-F13AD7A39D5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2FE7CBA-E269-484E-BC88-4EF08BDBC0FE}" type="datetimeFigureOut">
              <a:rPr lang="en-GB" smtClean="0"/>
              <a:t>20/07/2026</a:t>
            </a:fld>
            <a:endParaRPr lang="en-GB"/>
          </a:p>
        </p:txBody>
      </p:sp>
      <p:sp>
        <p:nvSpPr>
          <p:cNvPr id="4" name="Footer Placeholder 3">
            <a:extLst>
              <a:ext uri="{FF2B5EF4-FFF2-40B4-BE49-F238E27FC236}">
                <a16:creationId xmlns:a16="http://schemas.microsoft.com/office/drawing/2014/main" id="{1BBAEC85-53EE-AA3F-A105-CB67500BDB5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061DCF5B-A081-B9F4-9E5F-FDA0297F201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B59F402-05D6-4C19-804E-80C8EBA9A784}" type="slidenum">
              <a:rPr lang="en-GB" smtClean="0"/>
              <a:t>‹#›</a:t>
            </a:fld>
            <a:endParaRPr lang="en-GB"/>
          </a:p>
        </p:txBody>
      </p:sp>
    </p:spTree>
    <p:extLst>
      <p:ext uri="{BB962C8B-B14F-4D97-AF65-F5344CB8AC3E}">
        <p14:creationId xmlns:p14="http://schemas.microsoft.com/office/powerpoint/2010/main" val="20826926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defRPr>
            </a:lvl1pPr>
          </a:lstStyle>
          <a:p>
            <a:fld id="{050A8971-52B8-4C5A-99D8-986A596F2912}" type="datetimeFigureOut">
              <a:rPr lang="en-GB" smtClean="0"/>
              <a:pPr/>
              <a:t>20/07/2026</a:t>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anose="020B0604020202020204" pitchFamily="34" charset="0"/>
              </a:defRPr>
            </a:lvl1pPr>
          </a:lstStyle>
          <a:p>
            <a:fld id="{026B53C8-14E4-49A7-A1A5-3BF810B81EBE}" type="slidenum">
              <a:rPr lang="en-GB" smtClean="0"/>
              <a:pPr/>
              <a:t>‹#›</a:t>
            </a:fld>
            <a:endParaRPr lang="en-GB"/>
          </a:p>
        </p:txBody>
      </p:sp>
    </p:spTree>
    <p:extLst>
      <p:ext uri="{BB962C8B-B14F-4D97-AF65-F5344CB8AC3E}">
        <p14:creationId xmlns:p14="http://schemas.microsoft.com/office/powerpoint/2010/main" val="4209032733"/>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2</a:t>
            </a:fld>
            <a:endParaRPr lang="en-GB"/>
          </a:p>
        </p:txBody>
      </p:sp>
    </p:spTree>
    <p:extLst>
      <p:ext uri="{BB962C8B-B14F-4D97-AF65-F5344CB8AC3E}">
        <p14:creationId xmlns:p14="http://schemas.microsoft.com/office/powerpoint/2010/main" val="2106895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7CAFF-168C-B88D-4097-57084A9282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E31D90-57DF-DE8D-70DD-8D1ADE3D9A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227B31-FAEA-78C7-1E47-72A6859DD52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F98B4DD-7B72-3B66-854B-02562ACD88A6}"/>
              </a:ext>
            </a:extLst>
          </p:cNvPr>
          <p:cNvSpPr>
            <a:spLocks noGrp="1"/>
          </p:cNvSpPr>
          <p:nvPr>
            <p:ph type="sldNum" sz="quarter" idx="5"/>
          </p:nvPr>
        </p:nvSpPr>
        <p:spPr/>
        <p:txBody>
          <a:bodyPr/>
          <a:lstStyle/>
          <a:p>
            <a:fld id="{026B53C8-14E4-49A7-A1A5-3BF810B81EBE}" type="slidenum">
              <a:rPr lang="en-GB" smtClean="0"/>
              <a:pPr/>
              <a:t>3</a:t>
            </a:fld>
            <a:endParaRPr lang="en-GB"/>
          </a:p>
        </p:txBody>
      </p:sp>
    </p:spTree>
    <p:extLst>
      <p:ext uri="{BB962C8B-B14F-4D97-AF65-F5344CB8AC3E}">
        <p14:creationId xmlns:p14="http://schemas.microsoft.com/office/powerpoint/2010/main" val="265976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F895F-8B0F-0E9B-24DD-F6EA15F5A4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0143A2-CCEC-11AB-5743-3E5996DED4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B18450-A554-CAF2-9E85-7F0F545CB2E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274F4CE-10FD-20E0-934B-AD8245A00186}"/>
              </a:ext>
            </a:extLst>
          </p:cNvPr>
          <p:cNvSpPr>
            <a:spLocks noGrp="1"/>
          </p:cNvSpPr>
          <p:nvPr>
            <p:ph type="sldNum" sz="quarter" idx="5"/>
          </p:nvPr>
        </p:nvSpPr>
        <p:spPr/>
        <p:txBody>
          <a:bodyPr/>
          <a:lstStyle/>
          <a:p>
            <a:fld id="{026B53C8-14E4-49A7-A1A5-3BF810B81EBE}" type="slidenum">
              <a:rPr lang="en-GB" smtClean="0"/>
              <a:pPr/>
              <a:t>4</a:t>
            </a:fld>
            <a:endParaRPr lang="en-GB"/>
          </a:p>
        </p:txBody>
      </p:sp>
    </p:spTree>
    <p:extLst>
      <p:ext uri="{BB962C8B-B14F-4D97-AF65-F5344CB8AC3E}">
        <p14:creationId xmlns:p14="http://schemas.microsoft.com/office/powerpoint/2010/main" val="32152579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FC9BA-E14F-50ED-7604-0FCF53E065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EA72F-CBB7-3CAF-C953-008EAB15B5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0F205E-83D6-DE3F-EBF4-8B3582C21CD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048C6BB-3862-B239-4966-31ED077A8B8F}"/>
              </a:ext>
            </a:extLst>
          </p:cNvPr>
          <p:cNvSpPr>
            <a:spLocks noGrp="1"/>
          </p:cNvSpPr>
          <p:nvPr>
            <p:ph type="sldNum" sz="quarter" idx="5"/>
          </p:nvPr>
        </p:nvSpPr>
        <p:spPr/>
        <p:txBody>
          <a:bodyPr/>
          <a:lstStyle/>
          <a:p>
            <a:fld id="{026B53C8-14E4-49A7-A1A5-3BF810B81EBE}" type="slidenum">
              <a:rPr lang="en-GB" smtClean="0"/>
              <a:pPr/>
              <a:t>5</a:t>
            </a:fld>
            <a:endParaRPr lang="en-GB"/>
          </a:p>
        </p:txBody>
      </p:sp>
    </p:spTree>
    <p:extLst>
      <p:ext uri="{BB962C8B-B14F-4D97-AF65-F5344CB8AC3E}">
        <p14:creationId xmlns:p14="http://schemas.microsoft.com/office/powerpoint/2010/main" val="39306453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6</a:t>
            </a:fld>
            <a:endParaRPr lang="en-GB"/>
          </a:p>
        </p:txBody>
      </p:sp>
    </p:spTree>
    <p:extLst>
      <p:ext uri="{BB962C8B-B14F-4D97-AF65-F5344CB8AC3E}">
        <p14:creationId xmlns:p14="http://schemas.microsoft.com/office/powerpoint/2010/main" val="8374537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E437A-5C5A-F0AF-63D6-11516EB62A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1C5FE3-0E51-42C3-EDC9-C7FD83A6F6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0AB25B-BE2B-9AF0-2DD1-859A919ADAC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FB1BFAD-C0AF-3055-99BF-6739593FCAB9}"/>
              </a:ext>
            </a:extLst>
          </p:cNvPr>
          <p:cNvSpPr>
            <a:spLocks noGrp="1"/>
          </p:cNvSpPr>
          <p:nvPr>
            <p:ph type="sldNum" sz="quarter" idx="5"/>
          </p:nvPr>
        </p:nvSpPr>
        <p:spPr/>
        <p:txBody>
          <a:bodyPr/>
          <a:lstStyle/>
          <a:p>
            <a:fld id="{026B53C8-14E4-49A7-A1A5-3BF810B81EBE}" type="slidenum">
              <a:rPr lang="en-GB" smtClean="0"/>
              <a:pPr/>
              <a:t>7</a:t>
            </a:fld>
            <a:endParaRPr lang="en-GB"/>
          </a:p>
        </p:txBody>
      </p:sp>
    </p:spTree>
    <p:extLst>
      <p:ext uri="{BB962C8B-B14F-4D97-AF65-F5344CB8AC3E}">
        <p14:creationId xmlns:p14="http://schemas.microsoft.com/office/powerpoint/2010/main" val="4689731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0E422-D4BE-CA1E-0220-611C105BA9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7FD606-37B4-AF2D-2F30-8639496359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9D95FD-8C84-F19F-B7EC-81A6543AC26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B307925-2DDF-E4E2-17A1-C2C54A86E800}"/>
              </a:ext>
            </a:extLst>
          </p:cNvPr>
          <p:cNvSpPr>
            <a:spLocks noGrp="1"/>
          </p:cNvSpPr>
          <p:nvPr>
            <p:ph type="sldNum" sz="quarter" idx="5"/>
          </p:nvPr>
        </p:nvSpPr>
        <p:spPr/>
        <p:txBody>
          <a:bodyPr/>
          <a:lstStyle/>
          <a:p>
            <a:fld id="{026B53C8-14E4-49A7-A1A5-3BF810B81EBE}" type="slidenum">
              <a:rPr lang="en-GB" smtClean="0"/>
              <a:pPr/>
              <a:t>8</a:t>
            </a:fld>
            <a:endParaRPr lang="en-GB"/>
          </a:p>
        </p:txBody>
      </p:sp>
    </p:spTree>
    <p:extLst>
      <p:ext uri="{BB962C8B-B14F-4D97-AF65-F5344CB8AC3E}">
        <p14:creationId xmlns:p14="http://schemas.microsoft.com/office/powerpoint/2010/main" val="2687116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0EAF4-EE26-D2F6-8E81-4F1543167A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E34D28-E644-E018-A71C-F5C7DB93DE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24F03C-8985-A51D-5045-E0856C256DA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AE9D652-CDDD-9568-0A59-A7646A973CD6}"/>
              </a:ext>
            </a:extLst>
          </p:cNvPr>
          <p:cNvSpPr>
            <a:spLocks noGrp="1"/>
          </p:cNvSpPr>
          <p:nvPr>
            <p:ph type="sldNum" sz="quarter" idx="5"/>
          </p:nvPr>
        </p:nvSpPr>
        <p:spPr/>
        <p:txBody>
          <a:bodyPr/>
          <a:lstStyle/>
          <a:p>
            <a:fld id="{026B53C8-14E4-49A7-A1A5-3BF810B81EBE}" type="slidenum">
              <a:rPr lang="en-GB" smtClean="0"/>
              <a:pPr/>
              <a:t>9</a:t>
            </a:fld>
            <a:endParaRPr lang="en-GB"/>
          </a:p>
        </p:txBody>
      </p:sp>
    </p:spTree>
    <p:extLst>
      <p:ext uri="{BB962C8B-B14F-4D97-AF65-F5344CB8AC3E}">
        <p14:creationId xmlns:p14="http://schemas.microsoft.com/office/powerpoint/2010/main" val="30437757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194A6-EC37-C01D-F187-528DC383DF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1BB91-E8B5-B5E8-5CA0-FF095686EE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F9754F-8C3F-6C68-1B16-F1A5B532668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A11E829-86EA-C2D5-1F6D-A0C5E2788F02}"/>
              </a:ext>
            </a:extLst>
          </p:cNvPr>
          <p:cNvSpPr>
            <a:spLocks noGrp="1"/>
          </p:cNvSpPr>
          <p:nvPr>
            <p:ph type="sldNum" sz="quarter" idx="5"/>
          </p:nvPr>
        </p:nvSpPr>
        <p:spPr/>
        <p:txBody>
          <a:bodyPr/>
          <a:lstStyle/>
          <a:p>
            <a:fld id="{026B53C8-14E4-49A7-A1A5-3BF810B81EBE}" type="slidenum">
              <a:rPr lang="en-GB" smtClean="0"/>
              <a:pPr/>
              <a:t>10</a:t>
            </a:fld>
            <a:endParaRPr lang="en-GB"/>
          </a:p>
        </p:txBody>
      </p:sp>
    </p:spTree>
    <p:extLst>
      <p:ext uri="{BB962C8B-B14F-4D97-AF65-F5344CB8AC3E}">
        <p14:creationId xmlns:p14="http://schemas.microsoft.com/office/powerpoint/2010/main" val="12535823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2D084-EC6C-1090-7A29-DC7534CFFF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138CA6-3B6B-38B6-D1E6-F46C9956CC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131916-BC9D-37FC-01F2-3607EFE466A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90C6909-A3EE-F330-670D-F447C829A09B}"/>
              </a:ext>
            </a:extLst>
          </p:cNvPr>
          <p:cNvSpPr>
            <a:spLocks noGrp="1"/>
          </p:cNvSpPr>
          <p:nvPr>
            <p:ph type="sldNum" sz="quarter" idx="5"/>
          </p:nvPr>
        </p:nvSpPr>
        <p:spPr/>
        <p:txBody>
          <a:bodyPr/>
          <a:lstStyle/>
          <a:p>
            <a:fld id="{026B53C8-14E4-49A7-A1A5-3BF810B81EBE}" type="slidenum">
              <a:rPr lang="en-GB" smtClean="0"/>
              <a:pPr/>
              <a:t>11</a:t>
            </a:fld>
            <a:endParaRPr lang="en-GB"/>
          </a:p>
        </p:txBody>
      </p:sp>
    </p:spTree>
    <p:extLst>
      <p:ext uri="{BB962C8B-B14F-4D97-AF65-F5344CB8AC3E}">
        <p14:creationId xmlns:p14="http://schemas.microsoft.com/office/powerpoint/2010/main" val="31322057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A6CBC-FE32-D412-E635-345A355515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3A2734-A57C-4279-D9BF-E2BECAB67B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BC6A07-25B8-19AE-CE60-DA7E9EB1FB2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326C19A-6E60-7D1B-3C86-524AA2DDC31D}"/>
              </a:ext>
            </a:extLst>
          </p:cNvPr>
          <p:cNvSpPr>
            <a:spLocks noGrp="1"/>
          </p:cNvSpPr>
          <p:nvPr>
            <p:ph type="sldNum" sz="quarter" idx="5"/>
          </p:nvPr>
        </p:nvSpPr>
        <p:spPr/>
        <p:txBody>
          <a:bodyPr/>
          <a:lstStyle/>
          <a:p>
            <a:fld id="{026B53C8-14E4-49A7-A1A5-3BF810B81EBE}" type="slidenum">
              <a:rPr lang="en-GB" smtClean="0"/>
              <a:pPr/>
              <a:t>12</a:t>
            </a:fld>
            <a:endParaRPr lang="en-GB"/>
          </a:p>
        </p:txBody>
      </p:sp>
    </p:spTree>
    <p:extLst>
      <p:ext uri="{BB962C8B-B14F-4D97-AF65-F5344CB8AC3E}">
        <p14:creationId xmlns:p14="http://schemas.microsoft.com/office/powerpoint/2010/main" val="37218042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BEAAF-368D-475E-9E25-C9B509883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59C860-DE18-35E4-1F48-D507A3600B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ED8CEE-8A67-CA7A-6D40-34757256E03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0918876-69CF-6A47-8F41-587CBE7EF581}"/>
              </a:ext>
            </a:extLst>
          </p:cNvPr>
          <p:cNvSpPr>
            <a:spLocks noGrp="1"/>
          </p:cNvSpPr>
          <p:nvPr>
            <p:ph type="sldNum" sz="quarter" idx="5"/>
          </p:nvPr>
        </p:nvSpPr>
        <p:spPr/>
        <p:txBody>
          <a:bodyPr/>
          <a:lstStyle/>
          <a:p>
            <a:fld id="{026B53C8-14E4-49A7-A1A5-3BF810B81EBE}" type="slidenum">
              <a:rPr lang="en-GB" smtClean="0"/>
              <a:pPr/>
              <a:t>13</a:t>
            </a:fld>
            <a:endParaRPr lang="en-GB"/>
          </a:p>
        </p:txBody>
      </p:sp>
    </p:spTree>
    <p:extLst>
      <p:ext uri="{BB962C8B-B14F-4D97-AF65-F5344CB8AC3E}">
        <p14:creationId xmlns:p14="http://schemas.microsoft.com/office/powerpoint/2010/main" val="41799666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AE112-D36E-3E14-D3BA-3B635B2277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B0923B-CA23-80BD-3407-5D951B3CAA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3D59F1-A61D-A894-A22D-4BB80A76EE4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27595ED-724A-62FD-1B33-7CEC9C866069}"/>
              </a:ext>
            </a:extLst>
          </p:cNvPr>
          <p:cNvSpPr>
            <a:spLocks noGrp="1"/>
          </p:cNvSpPr>
          <p:nvPr>
            <p:ph type="sldNum" sz="quarter" idx="5"/>
          </p:nvPr>
        </p:nvSpPr>
        <p:spPr/>
        <p:txBody>
          <a:bodyPr/>
          <a:lstStyle/>
          <a:p>
            <a:fld id="{026B53C8-14E4-49A7-A1A5-3BF810B81EBE}" type="slidenum">
              <a:rPr lang="en-GB" smtClean="0"/>
              <a:pPr/>
              <a:t>14</a:t>
            </a:fld>
            <a:endParaRPr lang="en-GB"/>
          </a:p>
        </p:txBody>
      </p:sp>
    </p:spTree>
    <p:extLst>
      <p:ext uri="{BB962C8B-B14F-4D97-AF65-F5344CB8AC3E}">
        <p14:creationId xmlns:p14="http://schemas.microsoft.com/office/powerpoint/2010/main" val="41428044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DF375-1DC8-5DFB-63A5-3BC9536EF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14CF92-2374-E05C-3123-F188C20BD8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CD6CC9-E9D3-EDA1-711C-EBCE0A5A6A3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5E97327-69F7-5808-2310-790BD30EE295}"/>
              </a:ext>
            </a:extLst>
          </p:cNvPr>
          <p:cNvSpPr>
            <a:spLocks noGrp="1"/>
          </p:cNvSpPr>
          <p:nvPr>
            <p:ph type="sldNum" sz="quarter" idx="5"/>
          </p:nvPr>
        </p:nvSpPr>
        <p:spPr/>
        <p:txBody>
          <a:bodyPr/>
          <a:lstStyle/>
          <a:p>
            <a:fld id="{026B53C8-14E4-49A7-A1A5-3BF810B81EBE}" type="slidenum">
              <a:rPr lang="en-GB" smtClean="0"/>
              <a:pPr/>
              <a:t>15</a:t>
            </a:fld>
            <a:endParaRPr lang="en-GB"/>
          </a:p>
        </p:txBody>
      </p:sp>
    </p:spTree>
    <p:extLst>
      <p:ext uri="{BB962C8B-B14F-4D97-AF65-F5344CB8AC3E}">
        <p14:creationId xmlns:p14="http://schemas.microsoft.com/office/powerpoint/2010/main" val="20758653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9D6D5-091F-92F6-9235-BB3BC1E5DF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63FAA5-B686-82CD-4158-3C612DB76C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12A76B-7277-27AD-36AF-C20ECF5CBDA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9E07FFF-BCFA-7BED-B5EC-9555C562937D}"/>
              </a:ext>
            </a:extLst>
          </p:cNvPr>
          <p:cNvSpPr>
            <a:spLocks noGrp="1"/>
          </p:cNvSpPr>
          <p:nvPr>
            <p:ph type="sldNum" sz="quarter" idx="5"/>
          </p:nvPr>
        </p:nvSpPr>
        <p:spPr/>
        <p:txBody>
          <a:bodyPr/>
          <a:lstStyle/>
          <a:p>
            <a:fld id="{026B53C8-14E4-49A7-A1A5-3BF810B81EBE}" type="slidenum">
              <a:rPr lang="en-GB" smtClean="0"/>
              <a:pPr/>
              <a:t>16</a:t>
            </a:fld>
            <a:endParaRPr lang="en-GB"/>
          </a:p>
        </p:txBody>
      </p:sp>
    </p:spTree>
    <p:extLst>
      <p:ext uri="{BB962C8B-B14F-4D97-AF65-F5344CB8AC3E}">
        <p14:creationId xmlns:p14="http://schemas.microsoft.com/office/powerpoint/2010/main" val="19691473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067AB-DB21-1864-7F38-145254AE69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F24A80-E179-6F4A-5DF4-5930D6EF9F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F0E458-EA62-4713-1F86-CDAD311F29C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DD3F3DD-4F3F-947A-3BCB-9575F2F776B8}"/>
              </a:ext>
            </a:extLst>
          </p:cNvPr>
          <p:cNvSpPr>
            <a:spLocks noGrp="1"/>
          </p:cNvSpPr>
          <p:nvPr>
            <p:ph type="sldNum" sz="quarter" idx="5"/>
          </p:nvPr>
        </p:nvSpPr>
        <p:spPr/>
        <p:txBody>
          <a:bodyPr/>
          <a:lstStyle/>
          <a:p>
            <a:fld id="{026B53C8-14E4-49A7-A1A5-3BF810B81EBE}" type="slidenum">
              <a:rPr lang="en-GB" smtClean="0"/>
              <a:pPr/>
              <a:t>17</a:t>
            </a:fld>
            <a:endParaRPr lang="en-GB"/>
          </a:p>
        </p:txBody>
      </p:sp>
    </p:spTree>
    <p:extLst>
      <p:ext uri="{BB962C8B-B14F-4D97-AF65-F5344CB8AC3E}">
        <p14:creationId xmlns:p14="http://schemas.microsoft.com/office/powerpoint/2010/main" val="36425366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7F9B1-C5AE-8351-421A-4905F36AE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2635ED-BC00-BC41-FE7C-192394F939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69043B-725A-4E24-5CFA-B69295D44CA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318EBED-630F-626D-FA49-9B32EB822937}"/>
              </a:ext>
            </a:extLst>
          </p:cNvPr>
          <p:cNvSpPr>
            <a:spLocks noGrp="1"/>
          </p:cNvSpPr>
          <p:nvPr>
            <p:ph type="sldNum" sz="quarter" idx="5"/>
          </p:nvPr>
        </p:nvSpPr>
        <p:spPr/>
        <p:txBody>
          <a:bodyPr/>
          <a:lstStyle/>
          <a:p>
            <a:fld id="{026B53C8-14E4-49A7-A1A5-3BF810B81EBE}" type="slidenum">
              <a:rPr lang="en-GB" smtClean="0"/>
              <a:pPr/>
              <a:t>18</a:t>
            </a:fld>
            <a:endParaRPr lang="en-GB"/>
          </a:p>
        </p:txBody>
      </p:sp>
    </p:spTree>
    <p:extLst>
      <p:ext uri="{BB962C8B-B14F-4D97-AF65-F5344CB8AC3E}">
        <p14:creationId xmlns:p14="http://schemas.microsoft.com/office/powerpoint/2010/main" val="22104669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9CD01-FCFA-244D-7C3A-B8C973CEF4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0569AC-C67D-5211-0082-B2E2110FF6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15A37E-E72F-ECBC-C35E-BDB9F83729E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CA8EBDE-9B0B-DEE7-A4E0-6DD7B677F616}"/>
              </a:ext>
            </a:extLst>
          </p:cNvPr>
          <p:cNvSpPr>
            <a:spLocks noGrp="1"/>
          </p:cNvSpPr>
          <p:nvPr>
            <p:ph type="sldNum" sz="quarter" idx="5"/>
          </p:nvPr>
        </p:nvSpPr>
        <p:spPr/>
        <p:txBody>
          <a:bodyPr/>
          <a:lstStyle/>
          <a:p>
            <a:fld id="{026B53C8-14E4-49A7-A1A5-3BF810B81EBE}" type="slidenum">
              <a:rPr lang="en-GB" smtClean="0"/>
              <a:pPr/>
              <a:t>19</a:t>
            </a:fld>
            <a:endParaRPr lang="en-GB"/>
          </a:p>
        </p:txBody>
      </p:sp>
    </p:spTree>
    <p:extLst>
      <p:ext uri="{BB962C8B-B14F-4D97-AF65-F5344CB8AC3E}">
        <p14:creationId xmlns:p14="http://schemas.microsoft.com/office/powerpoint/2010/main" val="42885621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73F35-5083-4D13-D2C8-49C6592A23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8B40CB-AED8-DF51-942C-3B05454009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F2579C-8D24-24E0-FFFB-7AEFD7612C8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5CD2072-3439-35CA-AAC0-5FABE34CB59C}"/>
              </a:ext>
            </a:extLst>
          </p:cNvPr>
          <p:cNvSpPr>
            <a:spLocks noGrp="1"/>
          </p:cNvSpPr>
          <p:nvPr>
            <p:ph type="sldNum" sz="quarter" idx="5"/>
          </p:nvPr>
        </p:nvSpPr>
        <p:spPr/>
        <p:txBody>
          <a:bodyPr/>
          <a:lstStyle/>
          <a:p>
            <a:fld id="{026B53C8-14E4-49A7-A1A5-3BF810B81EBE}" type="slidenum">
              <a:rPr lang="en-GB" smtClean="0"/>
              <a:pPr/>
              <a:t>20</a:t>
            </a:fld>
            <a:endParaRPr lang="en-GB"/>
          </a:p>
        </p:txBody>
      </p:sp>
    </p:spTree>
    <p:extLst>
      <p:ext uri="{BB962C8B-B14F-4D97-AF65-F5344CB8AC3E}">
        <p14:creationId xmlns:p14="http://schemas.microsoft.com/office/powerpoint/2010/main" val="61449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2BC6E-D252-15EE-0C5C-FB698AEFE8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BBA91B-0845-CB93-8F4B-3DFA1DF495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D96321-8CA6-0361-677D-823000669AE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905D230-F6CF-D05E-F843-0F9DD6BFA7DE}"/>
              </a:ext>
            </a:extLst>
          </p:cNvPr>
          <p:cNvSpPr>
            <a:spLocks noGrp="1"/>
          </p:cNvSpPr>
          <p:nvPr>
            <p:ph type="sldNum" sz="quarter" idx="5"/>
          </p:nvPr>
        </p:nvSpPr>
        <p:spPr/>
        <p:txBody>
          <a:bodyPr/>
          <a:lstStyle/>
          <a:p>
            <a:fld id="{026B53C8-14E4-49A7-A1A5-3BF810B81EBE}" type="slidenum">
              <a:rPr lang="en-GB" smtClean="0"/>
              <a:pPr/>
              <a:t>24</a:t>
            </a:fld>
            <a:endParaRPr lang="en-GB"/>
          </a:p>
        </p:txBody>
      </p:sp>
    </p:spTree>
    <p:extLst>
      <p:ext uri="{BB962C8B-B14F-4D97-AF65-F5344CB8AC3E}">
        <p14:creationId xmlns:p14="http://schemas.microsoft.com/office/powerpoint/2010/main" val="22532171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3EC48-EEBE-0BFB-D095-DCC185AFFD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2FE78-A4C4-F801-E432-829729C3F8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EE04D-338A-7EE2-8ECA-EA245E4FDEF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49C8A5F-E9DB-CF98-2322-9FEF386F6566}"/>
              </a:ext>
            </a:extLst>
          </p:cNvPr>
          <p:cNvSpPr>
            <a:spLocks noGrp="1"/>
          </p:cNvSpPr>
          <p:nvPr>
            <p:ph type="sldNum" sz="quarter" idx="5"/>
          </p:nvPr>
        </p:nvSpPr>
        <p:spPr/>
        <p:txBody>
          <a:bodyPr/>
          <a:lstStyle/>
          <a:p>
            <a:fld id="{026B53C8-14E4-49A7-A1A5-3BF810B81EBE}" type="slidenum">
              <a:rPr lang="en-GB" smtClean="0"/>
              <a:pPr/>
              <a:t>31</a:t>
            </a:fld>
            <a:endParaRPr lang="en-GB"/>
          </a:p>
        </p:txBody>
      </p:sp>
    </p:spTree>
    <p:extLst>
      <p:ext uri="{BB962C8B-B14F-4D97-AF65-F5344CB8AC3E}">
        <p14:creationId xmlns:p14="http://schemas.microsoft.com/office/powerpoint/2010/main" val="41889216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svg"/></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svg"/></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4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1.sv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Master" Target="../slideMasters/slideMaster2.xml"/><Relationship Id="rId1" Type="http://schemas.openxmlformats.org/officeDocument/2006/relationships/tags" Target="../tags/tag22.xml"/><Relationship Id="rId4" Type="http://schemas.openxmlformats.org/officeDocument/2006/relationships/image" Target="../media/image1.svg"/></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3.xml"/></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4.xml"/></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5.xml"/></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6.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7.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8.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3D179B60-1587-941E-A723-1C3CC5C0E0E2}"/>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7" name="Title 1"/>
          <p:cNvSpPr>
            <a:spLocks noGrp="1"/>
          </p:cNvSpPr>
          <p:nvPr>
            <p:ph type="ctrTitle" hasCustomPrompt="1"/>
          </p:nvPr>
        </p:nvSpPr>
        <p:spPr>
          <a:xfrm>
            <a:off x="520700" y="5010784"/>
            <a:ext cx="11150600" cy="548009"/>
          </a:xfrm>
          <a:prstGeom prst="rect">
            <a:avLst/>
          </a:prstGeom>
        </p:spPr>
        <p:txBody>
          <a:bodyPr anchor="b" anchorCtr="0">
            <a:normAutofit/>
          </a:bodyPr>
          <a:lstStyle>
            <a:lvl1pPr>
              <a:lnSpc>
                <a:spcPct val="100000"/>
              </a:lnSpc>
              <a:defRPr sz="3600">
                <a:solidFill>
                  <a:schemeClr val="bg1"/>
                </a:solidFill>
              </a:defRPr>
            </a:lvl1pPr>
          </a:lstStyle>
          <a:p>
            <a:r>
              <a:rPr lang="en-GB"/>
              <a:t>Click to enter presentation title</a:t>
            </a:r>
          </a:p>
        </p:txBody>
      </p:sp>
      <p:sp>
        <p:nvSpPr>
          <p:cNvPr id="20" name="Subtitle 2"/>
          <p:cNvSpPr>
            <a:spLocks noGrp="1"/>
          </p:cNvSpPr>
          <p:nvPr>
            <p:ph type="subTitle" idx="1" hasCustomPrompt="1"/>
          </p:nvPr>
        </p:nvSpPr>
        <p:spPr>
          <a:xfrm>
            <a:off x="520700" y="5558794"/>
            <a:ext cx="11150600" cy="475200"/>
          </a:xfrm>
          <a:prstGeom prst="rect">
            <a:avLst/>
          </a:prstGeom>
        </p:spPr>
        <p:txBody>
          <a:bodyPr wrap="square" lIns="0" tIns="0" rIns="0" bIns="0" anchor="t" anchorCtr="0">
            <a:normAutofit/>
          </a:bodyPr>
          <a:lstStyle>
            <a:lvl1pPr marL="0" indent="0" algn="l">
              <a:spcBef>
                <a:spcPts val="0"/>
              </a:spcBef>
              <a:spcAft>
                <a:spcPts val="0"/>
              </a:spcAft>
              <a:buNone/>
              <a:defRPr sz="24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subtitle / presenter name</a:t>
            </a:r>
          </a:p>
        </p:txBody>
      </p:sp>
      <p:sp>
        <p:nvSpPr>
          <p:cNvPr id="5" name="Rectangle 4">
            <a:extLst>
              <a:ext uri="{FF2B5EF4-FFF2-40B4-BE49-F238E27FC236}">
                <a16:creationId xmlns:a16="http://schemas.microsoft.com/office/drawing/2014/main" id="{B081E81C-A3CE-333A-79BA-25D8F93FB564}"/>
              </a:ext>
            </a:extLst>
          </p:cNvPr>
          <p:cNvSpPr/>
          <p:nvPr userDrawn="1"/>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rgbClr val="FFFFFF"/>
                </a:solidFill>
                <a:latin typeface="+mn-lt"/>
              </a:rPr>
              <a:t>gsk.com</a:t>
            </a:r>
          </a:p>
        </p:txBody>
      </p:sp>
      <p:pic>
        <p:nvPicPr>
          <p:cNvPr id="7" name="Graphic 6">
            <a:extLst>
              <a:ext uri="{FF2B5EF4-FFF2-40B4-BE49-F238E27FC236}">
                <a16:creationId xmlns:a16="http://schemas.microsoft.com/office/drawing/2014/main" id="{8E1FA932-514A-C951-F952-F8A43667EAE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94470" y="243283"/>
            <a:ext cx="159543" cy="159543"/>
          </a:xfrm>
          <a:prstGeom prst="rect">
            <a:avLst/>
          </a:prstGeom>
        </p:spPr>
      </p:pic>
      <p:sp>
        <p:nvSpPr>
          <p:cNvPr id="9" name="Text Placeholder 8">
            <a:extLst>
              <a:ext uri="{FF2B5EF4-FFF2-40B4-BE49-F238E27FC236}">
                <a16:creationId xmlns:a16="http://schemas.microsoft.com/office/drawing/2014/main" id="{C04D693C-2F89-1D26-FDEF-3BF8AB9EE532}"/>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bg1"/>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a:t>Click to insert date</a:t>
            </a:r>
          </a:p>
        </p:txBody>
      </p:sp>
      <p:pic>
        <p:nvPicPr>
          <p:cNvPr id="11" name="Graphic 10">
            <a:extLst>
              <a:ext uri="{FF2B5EF4-FFF2-40B4-BE49-F238E27FC236}">
                <a16:creationId xmlns:a16="http://schemas.microsoft.com/office/drawing/2014/main" id="{6CD1A09A-E74F-DDD9-A7A4-4FD32035ACFA}"/>
              </a:ext>
            </a:extLst>
          </p:cNvPr>
          <p:cNvPicPr>
            <a:picLocks noChangeAspect="1"/>
          </p:cNvPicPr>
          <p:nvPr userDrawn="1"/>
        </p:nvPicPr>
        <p:blipFill>
          <a:blip cstate="print">
            <a:lum bright="100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44399" y="2100263"/>
            <a:ext cx="5303202" cy="1598612"/>
          </a:xfrm>
          <a:prstGeom prst="rect">
            <a:avLst/>
          </a:prstGeom>
        </p:spPr>
      </p:pic>
    </p:spTree>
    <p:extLst>
      <p:ext uri="{BB962C8B-B14F-4D97-AF65-F5344CB8AC3E}">
        <p14:creationId xmlns:p14="http://schemas.microsoft.com/office/powerpoint/2010/main" val="3665715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hit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DC8841-B149-2334-AF59-5558F485A757}"/>
              </a:ext>
            </a:extLst>
          </p:cNvPr>
          <p:cNvSpPr/>
          <p:nvPr userDrawn="1"/>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chemeClr val="tx2"/>
                </a:solidFill>
                <a:latin typeface="+mn-lt"/>
              </a:rPr>
              <a:t>gsk.com</a:t>
            </a:r>
          </a:p>
        </p:txBody>
      </p:sp>
      <p:pic>
        <p:nvPicPr>
          <p:cNvPr id="3" name="Graphic 2">
            <a:extLst>
              <a:ext uri="{FF2B5EF4-FFF2-40B4-BE49-F238E27FC236}">
                <a16:creationId xmlns:a16="http://schemas.microsoft.com/office/drawing/2014/main" id="{E4C205A4-821A-253A-297E-0360320A4D5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94470" y="243283"/>
            <a:ext cx="159543" cy="159543"/>
          </a:xfrm>
          <a:prstGeom prst="rect">
            <a:avLst/>
          </a:prstGeom>
        </p:spPr>
      </p:pic>
      <p:sp>
        <p:nvSpPr>
          <p:cNvPr id="11" name="Text Placeholder 8">
            <a:extLst>
              <a:ext uri="{FF2B5EF4-FFF2-40B4-BE49-F238E27FC236}">
                <a16:creationId xmlns:a16="http://schemas.microsoft.com/office/drawing/2014/main" id="{8D015E68-9B94-B2B9-2F33-1D9732CC14B4}"/>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a:t>Click to insert date</a:t>
            </a:r>
          </a:p>
        </p:txBody>
      </p:sp>
      <p:sp>
        <p:nvSpPr>
          <p:cNvPr id="12" name="Freeform: Shape 11">
            <a:extLst>
              <a:ext uri="{FF2B5EF4-FFF2-40B4-BE49-F238E27FC236}">
                <a16:creationId xmlns:a16="http://schemas.microsoft.com/office/drawing/2014/main" id="{458F29C9-8F7E-1D4B-3005-616565FA7753}"/>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5" name="Title 1">
            <a:extLst>
              <a:ext uri="{FF2B5EF4-FFF2-40B4-BE49-F238E27FC236}">
                <a16:creationId xmlns:a16="http://schemas.microsoft.com/office/drawing/2014/main" id="{4DF7007A-5965-5814-8FF8-29077566CBED}"/>
              </a:ext>
            </a:extLst>
          </p:cNvPr>
          <p:cNvSpPr>
            <a:spLocks noGrp="1"/>
          </p:cNvSpPr>
          <p:nvPr>
            <p:ph type="ctrTitle" hasCustomPrompt="1"/>
          </p:nvPr>
        </p:nvSpPr>
        <p:spPr>
          <a:xfrm>
            <a:off x="520700" y="5010784"/>
            <a:ext cx="11150600" cy="548009"/>
          </a:xfrm>
          <a:prstGeom prst="rect">
            <a:avLst/>
          </a:prstGeom>
        </p:spPr>
        <p:txBody>
          <a:bodyPr anchor="b" anchorCtr="0">
            <a:normAutofit/>
          </a:bodyPr>
          <a:lstStyle>
            <a:lvl1pPr>
              <a:lnSpc>
                <a:spcPct val="100000"/>
              </a:lnSpc>
              <a:defRPr sz="3600">
                <a:solidFill>
                  <a:schemeClr val="tx2"/>
                </a:solidFill>
              </a:defRPr>
            </a:lvl1pPr>
          </a:lstStyle>
          <a:p>
            <a:r>
              <a:rPr lang="en-GB"/>
              <a:t>Click to enter presentation title</a:t>
            </a:r>
          </a:p>
        </p:txBody>
      </p:sp>
      <p:sp>
        <p:nvSpPr>
          <p:cNvPr id="16" name="Subtitle 2">
            <a:extLst>
              <a:ext uri="{FF2B5EF4-FFF2-40B4-BE49-F238E27FC236}">
                <a16:creationId xmlns:a16="http://schemas.microsoft.com/office/drawing/2014/main" id="{F6A64F09-F5D8-B6EE-7ED5-2B69A4668CD5}"/>
              </a:ext>
            </a:extLst>
          </p:cNvPr>
          <p:cNvSpPr>
            <a:spLocks noGrp="1"/>
          </p:cNvSpPr>
          <p:nvPr>
            <p:ph type="subTitle" idx="1" hasCustomPrompt="1"/>
          </p:nvPr>
        </p:nvSpPr>
        <p:spPr>
          <a:xfrm>
            <a:off x="520700" y="5558794"/>
            <a:ext cx="11150600" cy="475200"/>
          </a:xfrm>
          <a:prstGeom prst="rect">
            <a:avLst/>
          </a:prstGeom>
        </p:spPr>
        <p:txBody>
          <a:bodyPr wrap="square" lIns="0" tIns="0" rIns="0" bIns="0" anchor="t" anchorCtr="0">
            <a:norm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subtitle / presenter name</a:t>
            </a:r>
          </a:p>
        </p:txBody>
      </p:sp>
      <p:pic>
        <p:nvPicPr>
          <p:cNvPr id="9" name="Graphic 8">
            <a:extLst>
              <a:ext uri="{FF2B5EF4-FFF2-40B4-BE49-F238E27FC236}">
                <a16:creationId xmlns:a16="http://schemas.microsoft.com/office/drawing/2014/main" id="{9D62EFE5-F00A-570F-E85D-A9685EA9184F}"/>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44399" y="2100263"/>
            <a:ext cx="5303202" cy="1598612"/>
          </a:xfrm>
          <a:prstGeom prst="rect">
            <a:avLst/>
          </a:prstGeom>
        </p:spPr>
      </p:pic>
    </p:spTree>
    <p:extLst>
      <p:ext uri="{BB962C8B-B14F-4D97-AF65-F5344CB8AC3E}">
        <p14:creationId xmlns:p14="http://schemas.microsoft.com/office/powerpoint/2010/main" val="385931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DIA Slide">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A717EDF-9AA4-491F-3311-9F14A5CFB89C}"/>
              </a:ext>
            </a:extLst>
          </p:cNvPr>
          <p:cNvSpPr/>
          <p:nvPr userDrawn="1"/>
        </p:nvSpPr>
        <p:spPr bwMode="auto">
          <a:xfrm>
            <a:off x="523973" y="6107998"/>
            <a:ext cx="1806576" cy="505527"/>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a:solidFill>
                  <a:schemeClr val="tx2"/>
                </a:solidFill>
              </a:rPr>
              <a:t>Owner</a:t>
            </a:r>
          </a:p>
        </p:txBody>
      </p:sp>
      <p:sp>
        <p:nvSpPr>
          <p:cNvPr id="47" name="Rectangle 46">
            <a:extLst>
              <a:ext uri="{FF2B5EF4-FFF2-40B4-BE49-F238E27FC236}">
                <a16:creationId xmlns:a16="http://schemas.microsoft.com/office/drawing/2014/main" id="{D4AC67F3-7D0E-A071-327B-17B446179DB8}"/>
              </a:ext>
            </a:extLst>
          </p:cNvPr>
          <p:cNvSpPr/>
          <p:nvPr userDrawn="1"/>
        </p:nvSpPr>
        <p:spPr bwMode="auto">
          <a:xfrm>
            <a:off x="523973" y="4557510"/>
            <a:ext cx="1806576" cy="14736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a:solidFill>
                  <a:schemeClr val="tx2"/>
                </a:solidFill>
              </a:rPr>
              <a:t>Objectives</a:t>
            </a:r>
          </a:p>
        </p:txBody>
      </p:sp>
      <p:sp>
        <p:nvSpPr>
          <p:cNvPr id="25" name="Text Placeholder 24">
            <a:extLst>
              <a:ext uri="{FF2B5EF4-FFF2-40B4-BE49-F238E27FC236}">
                <a16:creationId xmlns:a16="http://schemas.microsoft.com/office/drawing/2014/main" id="{4E30BA3B-88CD-41DE-E089-7100E3E52AF4}"/>
              </a:ext>
            </a:extLst>
          </p:cNvPr>
          <p:cNvSpPr>
            <a:spLocks noGrp="1"/>
          </p:cNvSpPr>
          <p:nvPr>
            <p:ph type="body" sz="quarter" idx="13" hasCustomPrompt="1"/>
          </p:nvPr>
        </p:nvSpPr>
        <p:spPr>
          <a:xfrm>
            <a:off x="2407432" y="4557510"/>
            <a:ext cx="9414362" cy="1473605"/>
          </a:xfrm>
          <a:prstGeom prst="rect">
            <a:avLst/>
          </a:prstGeom>
          <a:solidFill>
            <a:schemeClr val="bg1">
              <a:lumMod val="95000"/>
            </a:schemeClr>
          </a:solidFill>
          <a:ln>
            <a:noFill/>
          </a:ln>
        </p:spPr>
        <p:txBody>
          <a:bodyPr wrap="square" lIns="180000" tIns="144000" rIns="180000" bIns="72000" anchor="t" anchorCtr="0">
            <a:norm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a:t>DECISION: To seek X’s [single point accountable decision maker] decision to implement A</a:t>
            </a:r>
            <a:br>
              <a:rPr lang="en-US"/>
            </a:br>
            <a:r>
              <a:rPr lang="en-US"/>
              <a:t>INPUT: To receive input to the proposed plan for B</a:t>
            </a:r>
            <a:br>
              <a:rPr lang="en-US"/>
            </a:br>
            <a:r>
              <a:rPr lang="en-US"/>
              <a:t>AWARENESS: To update XXX regarding C</a:t>
            </a:r>
          </a:p>
        </p:txBody>
      </p:sp>
      <p:sp>
        <p:nvSpPr>
          <p:cNvPr id="31" name="Text Placeholder 30">
            <a:extLst>
              <a:ext uri="{FF2B5EF4-FFF2-40B4-BE49-F238E27FC236}">
                <a16:creationId xmlns:a16="http://schemas.microsoft.com/office/drawing/2014/main" id="{DC6E06B6-BD9A-7A5E-5A90-56308009FF5E}"/>
              </a:ext>
            </a:extLst>
          </p:cNvPr>
          <p:cNvSpPr>
            <a:spLocks noGrp="1"/>
          </p:cNvSpPr>
          <p:nvPr>
            <p:ph type="body" sz="quarter" idx="41" hasCustomPrompt="1"/>
          </p:nvPr>
        </p:nvSpPr>
        <p:spPr>
          <a:xfrm>
            <a:off x="2407432" y="6107998"/>
            <a:ext cx="9414362" cy="505527"/>
          </a:xfrm>
          <a:prstGeom prst="rect">
            <a:avLst/>
          </a:prstGeom>
          <a:solidFill>
            <a:schemeClr val="bg1">
              <a:lumMod val="95000"/>
            </a:schemeClr>
          </a:solidFill>
          <a:ln>
            <a:noFill/>
          </a:ln>
        </p:spPr>
        <p:txBody>
          <a:bodyPr wrap="square" lIns="180000" tIns="72000" rIns="180000" bIns="72000" anchor="ctr" anchorCtr="0">
            <a:normAutofit/>
          </a:bodyPr>
          <a:lstStyle>
            <a:lvl1pPr marL="0" indent="0">
              <a:buFont typeface="+mj-lt"/>
              <a:buNone/>
              <a:defRPr sz="1200"/>
            </a:lvl1pPr>
            <a:lvl2pPr marL="357542" indent="0">
              <a:buNone/>
              <a:defRPr/>
            </a:lvl2pPr>
          </a:lstStyle>
          <a:p>
            <a:pPr lvl="0"/>
            <a:r>
              <a:rPr lang="en-US"/>
              <a:t>Single person accountable for this topic / paper</a:t>
            </a:r>
          </a:p>
        </p:txBody>
      </p:sp>
      <p:sp>
        <p:nvSpPr>
          <p:cNvPr id="23" name="Text Placeholder 6">
            <a:extLst>
              <a:ext uri="{FF2B5EF4-FFF2-40B4-BE49-F238E27FC236}">
                <a16:creationId xmlns:a16="http://schemas.microsoft.com/office/drawing/2014/main" id="{472F201F-277F-F24E-085D-8160B5FF4CE6}"/>
              </a:ext>
            </a:extLst>
          </p:cNvPr>
          <p:cNvSpPr>
            <a:spLocks noGrp="1"/>
          </p:cNvSpPr>
          <p:nvPr>
            <p:ph type="body" sz="quarter" idx="36" hasCustomPrompt="1"/>
          </p:nvPr>
        </p:nvSpPr>
        <p:spPr>
          <a:xfrm>
            <a:off x="523973" y="4990763"/>
            <a:ext cx="1806576" cy="1040352"/>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a:t>Up to 5 clear, focused objectives </a:t>
            </a:r>
            <a:br>
              <a:rPr lang="en-US"/>
            </a:br>
            <a:r>
              <a:rPr lang="en-US"/>
              <a:t>(</a:t>
            </a:r>
            <a:r>
              <a:rPr lang="en-US" err="1"/>
              <a:t>i</a:t>
            </a:r>
            <a:r>
              <a:rPr lang="en-US"/>
              <a:t>) for decision, </a:t>
            </a:r>
            <a:br>
              <a:rPr lang="en-US"/>
            </a:br>
            <a:r>
              <a:rPr lang="en-US"/>
              <a:t>(ii) for input </a:t>
            </a:r>
            <a:br>
              <a:rPr lang="en-US"/>
            </a:br>
            <a:r>
              <a:rPr lang="en-US"/>
              <a:t>(iii) for awareness</a:t>
            </a:r>
          </a:p>
        </p:txBody>
      </p:sp>
      <p:sp>
        <p:nvSpPr>
          <p:cNvPr id="52" name="Freeform: Shape 51">
            <a:extLst>
              <a:ext uri="{FF2B5EF4-FFF2-40B4-BE49-F238E27FC236}">
                <a16:creationId xmlns:a16="http://schemas.microsoft.com/office/drawing/2014/main" id="{4E683597-5ADE-F2A0-A01C-FD8E476ABB8B}"/>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0" name="Rectangle 19">
            <a:extLst>
              <a:ext uri="{FF2B5EF4-FFF2-40B4-BE49-F238E27FC236}">
                <a16:creationId xmlns:a16="http://schemas.microsoft.com/office/drawing/2014/main" id="{165F316B-6E9C-D66E-FE22-B16477918817}"/>
              </a:ext>
            </a:extLst>
          </p:cNvPr>
          <p:cNvSpPr/>
          <p:nvPr userDrawn="1"/>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chemeClr val="tx2"/>
                </a:solidFill>
                <a:latin typeface="+mn-lt"/>
              </a:rPr>
              <a:t>gsk.com</a:t>
            </a:r>
          </a:p>
        </p:txBody>
      </p:sp>
      <p:pic>
        <p:nvPicPr>
          <p:cNvPr id="21" name="Graphic 20">
            <a:extLst>
              <a:ext uri="{FF2B5EF4-FFF2-40B4-BE49-F238E27FC236}">
                <a16:creationId xmlns:a16="http://schemas.microsoft.com/office/drawing/2014/main" id="{7E4B35B0-1B56-815F-BA6C-0E89CBE6AA6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94470" y="243283"/>
            <a:ext cx="159543" cy="159543"/>
          </a:xfrm>
          <a:prstGeom prst="rect">
            <a:avLst/>
          </a:prstGeom>
        </p:spPr>
      </p:pic>
      <p:sp>
        <p:nvSpPr>
          <p:cNvPr id="22" name="Text Placeholder 8">
            <a:extLst>
              <a:ext uri="{FF2B5EF4-FFF2-40B4-BE49-F238E27FC236}">
                <a16:creationId xmlns:a16="http://schemas.microsoft.com/office/drawing/2014/main" id="{7A99F019-A435-B954-ABA9-68CA4DD19B21}"/>
              </a:ext>
            </a:extLst>
          </p:cNvPr>
          <p:cNvSpPr>
            <a:spLocks noGrp="1"/>
          </p:cNvSpPr>
          <p:nvPr>
            <p:ph type="body" sz="quarter" idx="42"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a:t>Click to insert date</a:t>
            </a:r>
          </a:p>
        </p:txBody>
      </p:sp>
      <p:pic>
        <p:nvPicPr>
          <p:cNvPr id="32" name="Graphic 31">
            <a:extLst>
              <a:ext uri="{FF2B5EF4-FFF2-40B4-BE49-F238E27FC236}">
                <a16:creationId xmlns:a16="http://schemas.microsoft.com/office/drawing/2014/main" id="{8B53D05A-F4B0-150E-FE9F-AB4DED266762}"/>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44399" y="2100263"/>
            <a:ext cx="5303202" cy="1598612"/>
          </a:xfrm>
          <a:prstGeom prst="rect">
            <a:avLst/>
          </a:prstGeom>
        </p:spPr>
      </p:pic>
    </p:spTree>
    <p:custDataLst>
      <p:tags r:id="rId1"/>
    </p:custDataLst>
    <p:extLst>
      <p:ext uri="{BB962C8B-B14F-4D97-AF65-F5344CB8AC3E}">
        <p14:creationId xmlns:p14="http://schemas.microsoft.com/office/powerpoint/2010/main" val="1901832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SPADM">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0AC59E1C-A015-4BA4-AB7D-EC00F37B815F}"/>
              </a:ext>
            </a:extLst>
          </p:cNvPr>
          <p:cNvSpPr/>
          <p:nvPr userDrawn="1"/>
        </p:nvSpPr>
        <p:spPr bwMode="auto">
          <a:xfrm>
            <a:off x="365126" y="1307574"/>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Objectives</a:t>
            </a:r>
          </a:p>
        </p:txBody>
      </p:sp>
      <p:sp>
        <p:nvSpPr>
          <p:cNvPr id="34" name="Rectangle 33">
            <a:extLst>
              <a:ext uri="{FF2B5EF4-FFF2-40B4-BE49-F238E27FC236}">
                <a16:creationId xmlns:a16="http://schemas.microsoft.com/office/drawing/2014/main" id="{D4EBA022-30B3-B17F-5D7C-3A3D869D35FA}"/>
              </a:ext>
            </a:extLst>
          </p:cNvPr>
          <p:cNvSpPr>
            <a:spLocks/>
          </p:cNvSpPr>
          <p:nvPr userDrawn="1"/>
        </p:nvSpPr>
        <p:spPr bwMode="auto">
          <a:xfrm>
            <a:off x="365126" y="2778690"/>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Key questions</a:t>
            </a:r>
          </a:p>
        </p:txBody>
      </p:sp>
      <p:sp>
        <p:nvSpPr>
          <p:cNvPr id="35" name="Rectangle 34">
            <a:extLst>
              <a:ext uri="{FF2B5EF4-FFF2-40B4-BE49-F238E27FC236}">
                <a16:creationId xmlns:a16="http://schemas.microsoft.com/office/drawing/2014/main" id="{FF5A742C-A049-77AC-C2E5-4272D118CC96}"/>
              </a:ext>
            </a:extLst>
          </p:cNvPr>
          <p:cNvSpPr>
            <a:spLocks/>
          </p:cNvSpPr>
          <p:nvPr userDrawn="1"/>
        </p:nvSpPr>
        <p:spPr bwMode="auto">
          <a:xfrm>
            <a:off x="365126" y="4249806"/>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Next steps</a:t>
            </a:r>
          </a:p>
        </p:txBody>
      </p:sp>
      <p:sp>
        <p:nvSpPr>
          <p:cNvPr id="21" name="Rectangle 20">
            <a:extLst>
              <a:ext uri="{FF2B5EF4-FFF2-40B4-BE49-F238E27FC236}">
                <a16:creationId xmlns:a16="http://schemas.microsoft.com/office/drawing/2014/main" id="{E66507E6-44A7-B4B5-33F1-9F0C0DC0FDE1}"/>
              </a:ext>
            </a:extLst>
          </p:cNvPr>
          <p:cNvSpPr/>
          <p:nvPr userDrawn="1"/>
        </p:nvSpPr>
        <p:spPr bwMode="auto">
          <a:xfrm>
            <a:off x="365126" y="5720922"/>
            <a:ext cx="1806576" cy="363373"/>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72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Owner</a:t>
            </a:r>
          </a:p>
        </p:txBody>
      </p:sp>
      <p:sp>
        <p:nvSpPr>
          <p:cNvPr id="3" name="Footer Placeholder 2">
            <a:extLst>
              <a:ext uri="{FF2B5EF4-FFF2-40B4-BE49-F238E27FC236}">
                <a16:creationId xmlns:a16="http://schemas.microsoft.com/office/drawing/2014/main" id="{9B773ECA-2D04-B6E9-1FB4-377F08AA5D14}"/>
              </a:ext>
            </a:extLst>
          </p:cNvPr>
          <p:cNvSpPr>
            <a:spLocks noGrp="1"/>
          </p:cNvSpPr>
          <p:nvPr>
            <p:ph type="ftr" sz="quarter" idx="10"/>
          </p:nvPr>
        </p:nvSpPr>
        <p:spPr/>
        <p:txBody>
          <a:bodyPr/>
          <a:lstStyle/>
          <a:p>
            <a:r>
              <a:rPr lang="en-GB"/>
              <a:t>Confidential under GSK NDA</a:t>
            </a:r>
          </a:p>
        </p:txBody>
      </p:sp>
      <p:sp>
        <p:nvSpPr>
          <p:cNvPr id="4" name="Slide Number Placeholder 3">
            <a:extLst>
              <a:ext uri="{FF2B5EF4-FFF2-40B4-BE49-F238E27FC236}">
                <a16:creationId xmlns:a16="http://schemas.microsoft.com/office/drawing/2014/main" id="{C3976886-926E-8975-E95D-5BCD6F82EEEF}"/>
              </a:ext>
            </a:extLst>
          </p:cNvPr>
          <p:cNvSpPr>
            <a:spLocks noGrp="1"/>
          </p:cNvSpPr>
          <p:nvPr>
            <p:ph type="sldNum" sz="quarter" idx="11"/>
          </p:nvPr>
        </p:nvSpPr>
        <p:spPr/>
        <p:txBody>
          <a:bodyPr/>
          <a:lstStyle/>
          <a:p>
            <a:fld id="{9F9F533D-B52E-4A2F-BF72-0ADD2D94BD75}" type="slidenum">
              <a:rPr lang="en-GB" smtClean="0"/>
              <a:pPr/>
              <a:t>‹#›</a:t>
            </a:fld>
            <a:endParaRPr lang="en-GB"/>
          </a:p>
        </p:txBody>
      </p:sp>
      <p:sp>
        <p:nvSpPr>
          <p:cNvPr id="5" name="Date Placeholder 4">
            <a:extLst>
              <a:ext uri="{FF2B5EF4-FFF2-40B4-BE49-F238E27FC236}">
                <a16:creationId xmlns:a16="http://schemas.microsoft.com/office/drawing/2014/main" id="{A15E9B4D-B613-11AE-72F8-5A0C3EBFD95A}"/>
              </a:ext>
            </a:extLst>
          </p:cNvPr>
          <p:cNvSpPr>
            <a:spLocks noGrp="1"/>
          </p:cNvSpPr>
          <p:nvPr>
            <p:ph type="dt" sz="half" idx="12"/>
          </p:nvPr>
        </p:nvSpPr>
        <p:spPr/>
        <p:txBody>
          <a:bodyPr/>
          <a:lstStyle/>
          <a:p>
            <a:fld id="{5F4A68DB-2C2C-4E85-864F-07A96D602161}" type="datetime4">
              <a:rPr lang="en-GB" smtClean="0"/>
              <a:t>20 July 2026</a:t>
            </a:fld>
            <a:endParaRPr lang="en-GB"/>
          </a:p>
        </p:txBody>
      </p:sp>
      <p:sp>
        <p:nvSpPr>
          <p:cNvPr id="6" name="Title 1">
            <a:extLst>
              <a:ext uri="{FF2B5EF4-FFF2-40B4-BE49-F238E27FC236}">
                <a16:creationId xmlns:a16="http://schemas.microsoft.com/office/drawing/2014/main" id="{25ABB6F2-78D4-BCC3-D950-5FAF7FCB8FDD}"/>
              </a:ext>
            </a:extLst>
          </p:cNvPr>
          <p:cNvSpPr>
            <a:spLocks noGrp="1"/>
          </p:cNvSpPr>
          <p:nvPr>
            <p:ph type="title" hasCustomPrompt="1"/>
          </p:nvPr>
        </p:nvSpPr>
        <p:spPr>
          <a:xfrm>
            <a:off x="365126" y="242888"/>
            <a:ext cx="7554912" cy="430887"/>
          </a:xfrm>
        </p:spPr>
        <p:txBody>
          <a:bodyPr/>
          <a:lstStyle>
            <a:lvl1pPr>
              <a:defRPr/>
            </a:lvl1pPr>
          </a:lstStyle>
          <a:p>
            <a:r>
              <a:rPr lang="en-US"/>
              <a:t>Click to add topic / paper title</a:t>
            </a:r>
          </a:p>
        </p:txBody>
      </p:sp>
      <p:sp>
        <p:nvSpPr>
          <p:cNvPr id="7" name="Subtitle 2">
            <a:extLst>
              <a:ext uri="{FF2B5EF4-FFF2-40B4-BE49-F238E27FC236}">
                <a16:creationId xmlns:a16="http://schemas.microsoft.com/office/drawing/2014/main" id="{FA46E8B4-4C83-8DD1-80BB-CC03BD24AFCC}"/>
              </a:ext>
            </a:extLst>
          </p:cNvPr>
          <p:cNvSpPr>
            <a:spLocks noGrp="1"/>
          </p:cNvSpPr>
          <p:nvPr>
            <p:ph type="subTitle" idx="1" hasCustomPrompt="1"/>
          </p:nvPr>
        </p:nvSpPr>
        <p:spPr>
          <a:xfrm>
            <a:off x="365125" y="694950"/>
            <a:ext cx="7554913"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0" name="Text Placeholder 9">
            <a:extLst>
              <a:ext uri="{FF2B5EF4-FFF2-40B4-BE49-F238E27FC236}">
                <a16:creationId xmlns:a16="http://schemas.microsoft.com/office/drawing/2014/main" id="{8E19B5E4-F2A8-7F44-855D-F41DDE3B3D9F}"/>
              </a:ext>
            </a:extLst>
          </p:cNvPr>
          <p:cNvSpPr>
            <a:spLocks noGrp="1"/>
          </p:cNvSpPr>
          <p:nvPr>
            <p:ph type="body" sz="quarter" idx="34" hasCustomPrompt="1"/>
          </p:nvPr>
        </p:nvSpPr>
        <p:spPr>
          <a:xfrm>
            <a:off x="8172450" y="694948"/>
            <a:ext cx="3649661" cy="352801"/>
          </a:xfrm>
        </p:spPr>
        <p:txBody>
          <a:bodyPr lIns="0" tIns="0" rIns="0" bIns="18000" anchor="b" anchorCtr="0">
            <a:noAutofit/>
          </a:bodyPr>
          <a:lstStyle>
            <a:lvl1pPr marL="0" indent="0" algn="r">
              <a:buNone/>
              <a:defRPr sz="1400" b="0">
                <a:solidFill>
                  <a:schemeClr val="tx1"/>
                </a:solidFill>
              </a:defRPr>
            </a:lvl1pPr>
          </a:lstStyle>
          <a:p>
            <a:pPr lvl="0"/>
            <a:r>
              <a:rPr lang="en-US"/>
              <a:t>Click to insert date of session </a:t>
            </a:r>
          </a:p>
        </p:txBody>
      </p:sp>
      <p:sp>
        <p:nvSpPr>
          <p:cNvPr id="23" name="Text Placeholder 6">
            <a:extLst>
              <a:ext uri="{FF2B5EF4-FFF2-40B4-BE49-F238E27FC236}">
                <a16:creationId xmlns:a16="http://schemas.microsoft.com/office/drawing/2014/main" id="{472F201F-277F-F24E-085D-8160B5FF4CE6}"/>
              </a:ext>
            </a:extLst>
          </p:cNvPr>
          <p:cNvSpPr>
            <a:spLocks noGrp="1"/>
          </p:cNvSpPr>
          <p:nvPr>
            <p:ph type="body" sz="quarter" idx="36" hasCustomPrompt="1"/>
          </p:nvPr>
        </p:nvSpPr>
        <p:spPr>
          <a:xfrm>
            <a:off x="365126" y="1777158"/>
            <a:ext cx="1695450" cy="926921"/>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a:t>Up to 5 clear, focused objectives </a:t>
            </a:r>
            <a:br>
              <a:rPr lang="en-US"/>
            </a:br>
            <a:r>
              <a:rPr lang="en-US"/>
              <a:t>(</a:t>
            </a:r>
            <a:r>
              <a:rPr lang="en-US" err="1"/>
              <a:t>i</a:t>
            </a:r>
            <a:r>
              <a:rPr lang="en-US"/>
              <a:t>) for decision, </a:t>
            </a:r>
            <a:br>
              <a:rPr lang="en-US"/>
            </a:br>
            <a:r>
              <a:rPr lang="en-US"/>
              <a:t>(ii) for input </a:t>
            </a:r>
            <a:br>
              <a:rPr lang="en-US"/>
            </a:br>
            <a:r>
              <a:rPr lang="en-US"/>
              <a:t>(iii) for awareness</a:t>
            </a:r>
          </a:p>
        </p:txBody>
      </p:sp>
      <p:sp>
        <p:nvSpPr>
          <p:cNvPr id="25" name="Rectangle 24">
            <a:extLst>
              <a:ext uri="{FF2B5EF4-FFF2-40B4-BE49-F238E27FC236}">
                <a16:creationId xmlns:a16="http://schemas.microsoft.com/office/drawing/2014/main" id="{1BD6FC89-B057-E6C5-C8EA-1FC8CB31B6CA}"/>
              </a:ext>
            </a:extLst>
          </p:cNvPr>
          <p:cNvSpPr/>
          <p:nvPr userDrawn="1"/>
        </p:nvSpPr>
        <p:spPr bwMode="auto">
          <a:xfrm>
            <a:off x="8172450" y="242888"/>
            <a:ext cx="3654425" cy="452059"/>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54000" numCol="1" spcCol="0" rtlCol="0" fromWordArt="0" anchor="b" anchorCtr="0" forceAA="0" compatLnSpc="1">
            <a:prstTxWarp prst="textNoShape">
              <a:avLst/>
            </a:prstTxWarp>
            <a:noAutofit/>
          </a:bodyPr>
          <a:lstStyle/>
          <a:p>
            <a:pPr algn="r" eaLnBrk="0" fontAlgn="auto" hangingPunct="0">
              <a:spcBef>
                <a:spcPts val="300"/>
              </a:spcBef>
              <a:spcAft>
                <a:spcPts val="300"/>
              </a:spcAft>
              <a:buClr>
                <a:schemeClr val="bg1"/>
              </a:buClr>
            </a:pPr>
            <a:r>
              <a:rPr lang="en-US" sz="1800" b="1" kern="0">
                <a:solidFill>
                  <a:schemeClr val="tx2"/>
                </a:solidFill>
              </a:rPr>
              <a:t>Session date:</a:t>
            </a:r>
          </a:p>
        </p:txBody>
      </p:sp>
      <p:sp>
        <p:nvSpPr>
          <p:cNvPr id="24" name="Text Placeholder 6">
            <a:extLst>
              <a:ext uri="{FF2B5EF4-FFF2-40B4-BE49-F238E27FC236}">
                <a16:creationId xmlns:a16="http://schemas.microsoft.com/office/drawing/2014/main" id="{B166E02B-F260-FEAF-DDEB-67922AA11E6E}"/>
              </a:ext>
            </a:extLst>
          </p:cNvPr>
          <p:cNvSpPr>
            <a:spLocks noGrp="1"/>
          </p:cNvSpPr>
          <p:nvPr userDrawn="1">
            <p:ph type="body" sz="quarter" idx="37" hasCustomPrompt="1"/>
          </p:nvPr>
        </p:nvSpPr>
        <p:spPr>
          <a:xfrm>
            <a:off x="365126" y="3337172"/>
            <a:ext cx="1695450" cy="838023"/>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a:t>Up to 5 key questions to be addressed at the meeting</a:t>
            </a:r>
          </a:p>
        </p:txBody>
      </p:sp>
      <p:sp>
        <p:nvSpPr>
          <p:cNvPr id="90" name="Freeform: Shape 89">
            <a:extLst>
              <a:ext uri="{FF2B5EF4-FFF2-40B4-BE49-F238E27FC236}">
                <a16:creationId xmlns:a16="http://schemas.microsoft.com/office/drawing/2014/main" id="{9EA22563-2363-AB1F-DC9F-7A5457933645}"/>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4" name="Text Placeholder 53">
            <a:extLst>
              <a:ext uri="{FF2B5EF4-FFF2-40B4-BE49-F238E27FC236}">
                <a16:creationId xmlns:a16="http://schemas.microsoft.com/office/drawing/2014/main" id="{82C5C591-14F5-449A-187A-1D9A683E961E}"/>
              </a:ext>
            </a:extLst>
          </p:cNvPr>
          <p:cNvSpPr>
            <a:spLocks noGrp="1"/>
          </p:cNvSpPr>
          <p:nvPr>
            <p:ph type="body" sz="quarter" idx="44" hasCustomPrompt="1"/>
          </p:nvPr>
        </p:nvSpPr>
        <p:spPr>
          <a:xfrm>
            <a:off x="2260405" y="1307574"/>
            <a:ext cx="9557738" cy="1396505"/>
          </a:xfrm>
          <a:prstGeom prst="rect">
            <a:avLst/>
          </a:prstGeom>
          <a:solidFill>
            <a:schemeClr val="bg1">
              <a:lumMod val="95000"/>
            </a:schemeClr>
          </a:solidFill>
          <a:ln>
            <a:noFill/>
          </a:ln>
        </p:spPr>
        <p:txBody>
          <a:bodyPr wrap="square" lIns="180000" tIns="144000" rIns="0" bIns="72000" anchor="t" anchorCtr="0">
            <a:norm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a:t>DECISION: To seek X’s [single point accountable decision maker] decision to implement A</a:t>
            </a:r>
            <a:br>
              <a:rPr lang="en-US"/>
            </a:br>
            <a:r>
              <a:rPr lang="en-US"/>
              <a:t>INPUT: To receive input to the proposed plan for B</a:t>
            </a:r>
            <a:br>
              <a:rPr lang="en-US"/>
            </a:br>
            <a:r>
              <a:rPr lang="en-US"/>
              <a:t>AWARENESS: To update XXX regarding C</a:t>
            </a:r>
          </a:p>
        </p:txBody>
      </p:sp>
      <p:sp>
        <p:nvSpPr>
          <p:cNvPr id="55" name="Text Placeholder 54">
            <a:extLst>
              <a:ext uri="{FF2B5EF4-FFF2-40B4-BE49-F238E27FC236}">
                <a16:creationId xmlns:a16="http://schemas.microsoft.com/office/drawing/2014/main" id="{54077D3A-2E14-68B6-5E16-413475F36C3A}"/>
              </a:ext>
            </a:extLst>
          </p:cNvPr>
          <p:cNvSpPr>
            <a:spLocks noGrp="1"/>
          </p:cNvSpPr>
          <p:nvPr>
            <p:ph type="body" sz="quarter" idx="45" hasCustomPrompt="1"/>
          </p:nvPr>
        </p:nvSpPr>
        <p:spPr>
          <a:xfrm>
            <a:off x="2260405" y="2778690"/>
            <a:ext cx="9557738" cy="1396505"/>
          </a:xfrm>
          <a:prstGeom prst="rect">
            <a:avLst/>
          </a:prstGeom>
          <a:solidFill>
            <a:schemeClr val="bg1">
              <a:lumMod val="95000"/>
            </a:schemeClr>
          </a:solidFill>
          <a:ln>
            <a:noFill/>
          </a:ln>
        </p:spPr>
        <p:txBody>
          <a:bodyPr wrap="square" lIns="180000" tIns="144000" rIns="0" bIns="72000" anchor="t" anchorCtr="0">
            <a:norm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a:t>Does XXX have further input on the proposals set out or require additional information?</a:t>
            </a:r>
            <a:br>
              <a:rPr lang="en-US"/>
            </a:br>
            <a:r>
              <a:rPr lang="en-US"/>
              <a:t>Is XXX supportive of the recommendation to x, y, z?</a:t>
            </a:r>
            <a:br>
              <a:rPr lang="en-US"/>
            </a:br>
            <a:r>
              <a:rPr lang="en-US"/>
              <a:t>Does XXX support the approach outlined to x, y, z?</a:t>
            </a:r>
          </a:p>
        </p:txBody>
      </p:sp>
      <p:sp>
        <p:nvSpPr>
          <p:cNvPr id="56" name="Text Placeholder 55">
            <a:extLst>
              <a:ext uri="{FF2B5EF4-FFF2-40B4-BE49-F238E27FC236}">
                <a16:creationId xmlns:a16="http://schemas.microsoft.com/office/drawing/2014/main" id="{5DE7D720-AF89-6DE4-D2E5-33C7B01B7E91}"/>
              </a:ext>
            </a:extLst>
          </p:cNvPr>
          <p:cNvSpPr>
            <a:spLocks noGrp="1"/>
          </p:cNvSpPr>
          <p:nvPr>
            <p:ph type="body" sz="quarter" idx="46" hasCustomPrompt="1"/>
          </p:nvPr>
        </p:nvSpPr>
        <p:spPr>
          <a:xfrm>
            <a:off x="2260405" y="4249806"/>
            <a:ext cx="9557738" cy="1396505"/>
          </a:xfrm>
          <a:prstGeom prst="rect">
            <a:avLst/>
          </a:prstGeom>
          <a:solidFill>
            <a:schemeClr val="bg1">
              <a:lumMod val="95000"/>
            </a:schemeClr>
          </a:solidFill>
          <a:ln>
            <a:noFill/>
          </a:ln>
        </p:spPr>
        <p:txBody>
          <a:bodyPr wrap="square" lIns="180000" tIns="144000" rIns="0" bIns="72000" anchor="t" anchorCtr="0">
            <a:norm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a:t>Key steps following XXX review / decision</a:t>
            </a:r>
          </a:p>
        </p:txBody>
      </p:sp>
      <p:sp>
        <p:nvSpPr>
          <p:cNvPr id="57" name="Text Placeholder 56">
            <a:extLst>
              <a:ext uri="{FF2B5EF4-FFF2-40B4-BE49-F238E27FC236}">
                <a16:creationId xmlns:a16="http://schemas.microsoft.com/office/drawing/2014/main" id="{8C53FB3B-975B-80D5-29B3-81DC27DCAC8F}"/>
              </a:ext>
            </a:extLst>
          </p:cNvPr>
          <p:cNvSpPr>
            <a:spLocks noGrp="1"/>
          </p:cNvSpPr>
          <p:nvPr>
            <p:ph type="body" sz="quarter" idx="48" hasCustomPrompt="1"/>
          </p:nvPr>
        </p:nvSpPr>
        <p:spPr>
          <a:xfrm>
            <a:off x="2260405" y="5720922"/>
            <a:ext cx="9557738" cy="363373"/>
          </a:xfrm>
          <a:prstGeom prst="rect">
            <a:avLst/>
          </a:prstGeom>
          <a:solidFill>
            <a:schemeClr val="bg1">
              <a:lumMod val="95000"/>
            </a:schemeClr>
          </a:solidFill>
          <a:ln>
            <a:noFill/>
          </a:ln>
        </p:spPr>
        <p:txBody>
          <a:bodyPr wrap="square" lIns="180000" tIns="36000" rIns="0" bIns="36000" anchor="ctr" anchorCtr="0">
            <a:normAutofit/>
          </a:bodyPr>
          <a:lstStyle>
            <a:lvl1pPr marL="0" indent="0">
              <a:spcBef>
                <a:spcPts val="0"/>
              </a:spcBef>
              <a:spcAft>
                <a:spcPts val="0"/>
              </a:spcAft>
              <a:buSzPct val="100000"/>
              <a:buFont typeface="+mj-lt"/>
              <a:buNone/>
              <a:defRPr sz="1200"/>
            </a:lvl1pPr>
            <a:lvl2pPr marL="357542" indent="0">
              <a:buNone/>
              <a:defRPr/>
            </a:lvl2pPr>
          </a:lstStyle>
          <a:p>
            <a:pPr lvl="0"/>
            <a:r>
              <a:rPr lang="en-US"/>
              <a:t>Single person accountable for this topic / paper</a:t>
            </a:r>
          </a:p>
        </p:txBody>
      </p:sp>
    </p:spTree>
    <p:custDataLst>
      <p:tags r:id="rId1"/>
    </p:custDataLst>
    <p:extLst>
      <p:ext uri="{BB962C8B-B14F-4D97-AF65-F5344CB8AC3E}">
        <p14:creationId xmlns:p14="http://schemas.microsoft.com/office/powerpoint/2010/main" val="3562571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E000430-8A32-4EA0-BAD1-A7727B812F8C}"/>
              </a:ext>
            </a:extLst>
          </p:cNvPr>
          <p:cNvSpPr>
            <a:spLocks noGrp="1"/>
          </p:cNvSpPr>
          <p:nvPr>
            <p:ph type="dt" sz="half" idx="10"/>
          </p:nvPr>
        </p:nvSpPr>
        <p:spPr/>
        <p:txBody>
          <a:bodyPr/>
          <a:lstStyle/>
          <a:p>
            <a:fld id="{D8764974-D193-47C8-9108-815EEB761C05}" type="datetime4">
              <a:rPr lang="en-GB" smtClean="0"/>
              <a:t>20 July 2026</a:t>
            </a:fld>
            <a:endParaRPr lang="en-GB"/>
          </a:p>
        </p:txBody>
      </p:sp>
      <p:sp>
        <p:nvSpPr>
          <p:cNvPr id="4" name="Footer Placeholder 3">
            <a:extLst>
              <a:ext uri="{FF2B5EF4-FFF2-40B4-BE49-F238E27FC236}">
                <a16:creationId xmlns:a16="http://schemas.microsoft.com/office/drawing/2014/main" id="{F706E0BB-62AD-47AF-909C-4F33FB5616E5}"/>
              </a:ext>
            </a:extLst>
          </p:cNvPr>
          <p:cNvSpPr>
            <a:spLocks noGrp="1"/>
          </p:cNvSpPr>
          <p:nvPr>
            <p:ph type="ftr" sz="quarter" idx="11"/>
          </p:nvPr>
        </p:nvSpPr>
        <p:spPr/>
        <p:txBody>
          <a:bodyPr/>
          <a:lstStyle/>
          <a:p>
            <a:r>
              <a:rPr lang="en-GB"/>
              <a:t>Confidential under GSK NDA</a:t>
            </a:r>
          </a:p>
        </p:txBody>
      </p:sp>
      <p:sp>
        <p:nvSpPr>
          <p:cNvPr id="6" name="Slide Number Placeholder 5">
            <a:extLst>
              <a:ext uri="{FF2B5EF4-FFF2-40B4-BE49-F238E27FC236}">
                <a16:creationId xmlns:a16="http://schemas.microsoft.com/office/drawing/2014/main" id="{253CEE5C-8451-457A-BD36-F438731DB091}"/>
              </a:ext>
            </a:extLst>
          </p:cNvPr>
          <p:cNvSpPr>
            <a:spLocks noGrp="1"/>
          </p:cNvSpPr>
          <p:nvPr>
            <p:ph type="sldNum" sz="quarter" idx="12"/>
          </p:nvPr>
        </p:nvSpPr>
        <p:spPr/>
        <p:txBody>
          <a:bodyPr/>
          <a:lstStyle/>
          <a:p>
            <a:fld id="{9F9F533D-B52E-4A2F-BF72-0ADD2D94BD75}" type="slidenum">
              <a:rPr lang="en-GB" smtClean="0"/>
              <a:pPr/>
              <a:t>‹#›</a:t>
            </a:fld>
            <a:endParaRPr lang="en-GB"/>
          </a:p>
        </p:txBody>
      </p:sp>
      <p:sp>
        <p:nvSpPr>
          <p:cNvPr id="19" name="Text Placeholder 18">
            <a:extLst>
              <a:ext uri="{FF2B5EF4-FFF2-40B4-BE49-F238E27FC236}">
                <a16:creationId xmlns:a16="http://schemas.microsoft.com/office/drawing/2014/main" id="{61071252-BD8E-4D3D-BF35-8427544DDF49}"/>
              </a:ext>
            </a:extLst>
          </p:cNvPr>
          <p:cNvSpPr>
            <a:spLocks noGrp="1"/>
          </p:cNvSpPr>
          <p:nvPr>
            <p:ph type="body" sz="quarter" idx="13" hasCustomPrompt="1"/>
          </p:nvPr>
        </p:nvSpPr>
        <p:spPr>
          <a:xfrm>
            <a:off x="5113176" y="242888"/>
            <a:ext cx="6712112" cy="5848350"/>
          </a:xfrm>
        </p:spPr>
        <p:txBody>
          <a:bodyPr lIns="0" tIns="180000" rIns="0" bIns="180000" anchor="t">
            <a:noAutofit/>
          </a:bodyPr>
          <a:lstStyle>
            <a:lvl1pPr marL="720000" indent="-720000">
              <a:spcBef>
                <a:spcPts val="1200"/>
              </a:spcBef>
              <a:spcAft>
                <a:spcPts val="1200"/>
              </a:spcAft>
              <a:buClr>
                <a:schemeClr val="tx2"/>
              </a:buClr>
              <a:buSzPct val="100000"/>
              <a:buFont typeface="+mj-lt"/>
              <a:buAutoNum type="arabicPeriod"/>
              <a:defRPr sz="2800"/>
            </a:lvl1pPr>
            <a:lvl2pPr marL="814742" indent="-457200">
              <a:buClr>
                <a:schemeClr val="tx2"/>
              </a:buClr>
              <a:buFont typeface="+mj-lt"/>
              <a:buAutoNum type="arabicPeriod"/>
              <a:defRPr/>
            </a:lvl2pPr>
            <a:lvl3pPr marL="1177182" indent="-457200">
              <a:buClr>
                <a:schemeClr val="tx2"/>
              </a:buClr>
              <a:buFont typeface="+mj-lt"/>
              <a:buAutoNum type="arabicPeriod"/>
              <a:defRPr/>
            </a:lvl3pPr>
            <a:lvl4pPr>
              <a:buClr>
                <a:schemeClr val="tx2"/>
              </a:buClr>
              <a:buFont typeface="+mj-lt"/>
              <a:buAutoNum type="arabicPeriod"/>
              <a:defRPr/>
            </a:lvl4pPr>
            <a:lvl5pPr>
              <a:buClr>
                <a:schemeClr val="tx2"/>
              </a:buClr>
              <a:buFont typeface="+mj-lt"/>
              <a:buAutoNum type="arabicPeriod"/>
              <a:defRPr/>
            </a:lvl5pPr>
          </a:lstStyle>
          <a:p>
            <a:pPr lvl="0"/>
            <a:r>
              <a:rPr lang="en-GB"/>
              <a:t>Agenda point 1, add text here.</a:t>
            </a:r>
            <a:br>
              <a:rPr lang="en-GB"/>
            </a:br>
            <a:r>
              <a:rPr lang="en-GB"/>
              <a:t>Agenda point 2, add text here.</a:t>
            </a:r>
            <a:br>
              <a:rPr lang="en-GB"/>
            </a:br>
            <a:r>
              <a:rPr lang="en-GB"/>
              <a:t>Agenda point 3, add text here.</a:t>
            </a:r>
            <a:br>
              <a:rPr lang="en-GB"/>
            </a:br>
            <a:r>
              <a:rPr lang="en-GB"/>
              <a:t>Agenda point 4, add text here.</a:t>
            </a:r>
            <a:br>
              <a:rPr lang="en-GB"/>
            </a:br>
            <a:r>
              <a:rPr lang="en-GB"/>
              <a:t>Agenda point 5, add text here.</a:t>
            </a:r>
          </a:p>
        </p:txBody>
      </p:sp>
      <p:sp>
        <p:nvSpPr>
          <p:cNvPr id="8" name="Title 1">
            <a:extLst>
              <a:ext uri="{FF2B5EF4-FFF2-40B4-BE49-F238E27FC236}">
                <a16:creationId xmlns:a16="http://schemas.microsoft.com/office/drawing/2014/main" id="{0630E13A-9E76-B161-1416-CBE84BD22827}"/>
              </a:ext>
            </a:extLst>
          </p:cNvPr>
          <p:cNvSpPr>
            <a:spLocks noGrp="1"/>
          </p:cNvSpPr>
          <p:nvPr>
            <p:ph type="title"/>
          </p:nvPr>
        </p:nvSpPr>
        <p:spPr>
          <a:xfrm>
            <a:off x="365126" y="242888"/>
            <a:ext cx="4748050" cy="430887"/>
          </a:xfrm>
        </p:spPr>
        <p:txBody>
          <a:bodyPr/>
          <a:lstStyle/>
          <a:p>
            <a:r>
              <a:rPr lang="en-US"/>
              <a:t>Click to edit Master title style</a:t>
            </a:r>
          </a:p>
        </p:txBody>
      </p:sp>
      <p:sp>
        <p:nvSpPr>
          <p:cNvPr id="9" name="Subtitle 2">
            <a:extLst>
              <a:ext uri="{FF2B5EF4-FFF2-40B4-BE49-F238E27FC236}">
                <a16:creationId xmlns:a16="http://schemas.microsoft.com/office/drawing/2014/main" id="{2202868D-ACDF-6434-3575-872690D6A783}"/>
              </a:ext>
            </a:extLst>
          </p:cNvPr>
          <p:cNvSpPr>
            <a:spLocks noGrp="1"/>
          </p:cNvSpPr>
          <p:nvPr>
            <p:ph type="subTitle" idx="1" hasCustomPrompt="1"/>
          </p:nvPr>
        </p:nvSpPr>
        <p:spPr>
          <a:xfrm>
            <a:off x="365125" y="694950"/>
            <a:ext cx="4748050"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1" name="Freeform: Shape 10">
            <a:extLst>
              <a:ext uri="{FF2B5EF4-FFF2-40B4-BE49-F238E27FC236}">
                <a16:creationId xmlns:a16="http://schemas.microsoft.com/office/drawing/2014/main" id="{B674B05C-AADA-DE64-7CCE-6E374DE8A94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3680473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0DD48070-D695-60C2-898C-9832D9369B0C}"/>
              </a:ext>
            </a:extLst>
          </p:cNvPr>
          <p:cNvSpPr>
            <a:spLocks noGrp="1"/>
          </p:cNvSpPr>
          <p:nvPr>
            <p:ph type="body" sz="quarter" idx="22" hasCustomPrompt="1"/>
          </p:nvPr>
        </p:nvSpPr>
        <p:spPr>
          <a:xfrm>
            <a:off x="365125" y="1311162"/>
            <a:ext cx="11460164" cy="4484800"/>
          </a:xfrm>
          <a:custGeom>
            <a:avLst/>
            <a:gdLst>
              <a:gd name="connsiteX0" fmla="*/ 185682 w 11460164"/>
              <a:gd name="connsiteY0" fmla="*/ 0 h 4484800"/>
              <a:gd name="connsiteX1" fmla="*/ 11274482 w 11460164"/>
              <a:gd name="connsiteY1" fmla="*/ 0 h 4484800"/>
              <a:gd name="connsiteX2" fmla="*/ 11460164 w 11460164"/>
              <a:gd name="connsiteY2" fmla="*/ 185682 h 4484800"/>
              <a:gd name="connsiteX3" fmla="*/ 11460164 w 11460164"/>
              <a:gd name="connsiteY3" fmla="*/ 456183 h 4484800"/>
              <a:gd name="connsiteX4" fmla="*/ 11460164 w 11460164"/>
              <a:gd name="connsiteY4" fmla="*/ 715601 h 4484800"/>
              <a:gd name="connsiteX5" fmla="*/ 11460164 w 11460164"/>
              <a:gd name="connsiteY5" fmla="*/ 4299118 h 4484800"/>
              <a:gd name="connsiteX6" fmla="*/ 11274482 w 11460164"/>
              <a:gd name="connsiteY6" fmla="*/ 4484800 h 4484800"/>
              <a:gd name="connsiteX7" fmla="*/ 185682 w 11460164"/>
              <a:gd name="connsiteY7" fmla="*/ 4484800 h 4484800"/>
              <a:gd name="connsiteX8" fmla="*/ 0 w 11460164"/>
              <a:gd name="connsiteY8" fmla="*/ 4299118 h 4484800"/>
              <a:gd name="connsiteX9" fmla="*/ 0 w 11460164"/>
              <a:gd name="connsiteY9" fmla="*/ 715601 h 4484800"/>
              <a:gd name="connsiteX10" fmla="*/ 0 w 11460164"/>
              <a:gd name="connsiteY10" fmla="*/ 456183 h 4484800"/>
              <a:gd name="connsiteX11" fmla="*/ 0 w 11460164"/>
              <a:gd name="connsiteY11" fmla="*/ 185682 h 4484800"/>
              <a:gd name="connsiteX12" fmla="*/ 185682 w 11460164"/>
              <a:gd name="connsiteY12" fmla="*/ 0 h 448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60164" h="4484800">
                <a:moveTo>
                  <a:pt x="185682" y="0"/>
                </a:moveTo>
                <a:lnTo>
                  <a:pt x="11274482" y="0"/>
                </a:lnTo>
                <a:cubicBezTo>
                  <a:pt x="11377031" y="0"/>
                  <a:pt x="11460164" y="83133"/>
                  <a:pt x="11460164" y="185682"/>
                </a:cubicBezTo>
                <a:lnTo>
                  <a:pt x="11460164" y="456183"/>
                </a:lnTo>
                <a:lnTo>
                  <a:pt x="11460164" y="715601"/>
                </a:lnTo>
                <a:lnTo>
                  <a:pt x="11460164" y="4299118"/>
                </a:lnTo>
                <a:cubicBezTo>
                  <a:pt x="11460164" y="4401667"/>
                  <a:pt x="11377031" y="4484800"/>
                  <a:pt x="11274482" y="4484800"/>
                </a:cubicBezTo>
                <a:lnTo>
                  <a:pt x="185682" y="4484800"/>
                </a:lnTo>
                <a:cubicBezTo>
                  <a:pt x="83133" y="4484800"/>
                  <a:pt x="0" y="4401667"/>
                  <a:pt x="0" y="4299118"/>
                </a:cubicBezTo>
                <a:lnTo>
                  <a:pt x="0" y="715601"/>
                </a:lnTo>
                <a:lnTo>
                  <a:pt x="0" y="456183"/>
                </a:lnTo>
                <a:lnTo>
                  <a:pt x="0" y="185682"/>
                </a:lnTo>
                <a:cubicBezTo>
                  <a:pt x="0" y="83133"/>
                  <a:pt x="83133" y="0"/>
                  <a:pt x="185682" y="0"/>
                </a:cubicBezTo>
                <a:close/>
              </a:path>
            </a:pathLst>
          </a:custGeom>
          <a:solidFill>
            <a:schemeClr val="bg1">
              <a:lumMod val="95000"/>
            </a:schemeClr>
          </a:solidFill>
          <a:ln>
            <a:noFill/>
          </a:ln>
        </p:spPr>
        <p:txBody>
          <a:bodyPr wrap="square" tIns="180000">
            <a:noAutofit/>
          </a:bodyPr>
          <a:lstStyle>
            <a:lvl1pPr>
              <a:defRPr/>
            </a:lvl1pPr>
          </a:lstStyle>
          <a:p>
            <a:pPr lvl="0"/>
            <a:r>
              <a:rPr lang="en-US"/>
              <a:t>Click to enter TEXT content ONLY.</a:t>
            </a:r>
            <a:br>
              <a:rPr lang="en-US"/>
            </a:br>
            <a:r>
              <a:rPr lang="en-US"/>
              <a:t>If text content appears outside of grey holder please reduce the size of the font.</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Date Placeholder 2">
            <a:extLst>
              <a:ext uri="{FF2B5EF4-FFF2-40B4-BE49-F238E27FC236}">
                <a16:creationId xmlns:a16="http://schemas.microsoft.com/office/drawing/2014/main" id="{341B731B-8FAA-4A1B-8740-D7002967C1CA}"/>
              </a:ext>
            </a:extLst>
          </p:cNvPr>
          <p:cNvSpPr>
            <a:spLocks noGrp="1"/>
          </p:cNvSpPr>
          <p:nvPr>
            <p:ph type="dt" sz="half" idx="19"/>
          </p:nvPr>
        </p:nvSpPr>
        <p:spPr/>
        <p:txBody>
          <a:bodyPr/>
          <a:lstStyle/>
          <a:p>
            <a:fld id="{3CF52E0F-7072-49C9-AD32-FFC480E74F0C}" type="datetime4">
              <a:rPr lang="en-GB" smtClean="0"/>
              <a:t>20 July 2026</a:t>
            </a:fld>
            <a:endParaRPr lang="en-GB"/>
          </a:p>
        </p:txBody>
      </p:sp>
      <p:sp>
        <p:nvSpPr>
          <p:cNvPr id="5" name="Footer Placeholder 4">
            <a:extLst>
              <a:ext uri="{FF2B5EF4-FFF2-40B4-BE49-F238E27FC236}">
                <a16:creationId xmlns:a16="http://schemas.microsoft.com/office/drawing/2014/main" id="{D1C84BE9-25CA-45B1-9061-9DCABA70A1E6}"/>
              </a:ext>
            </a:extLst>
          </p:cNvPr>
          <p:cNvSpPr>
            <a:spLocks noGrp="1"/>
          </p:cNvSpPr>
          <p:nvPr>
            <p:ph type="ftr" sz="quarter" idx="20"/>
          </p:nvPr>
        </p:nvSpPr>
        <p:spPr/>
        <p:txBody>
          <a:bodyPr/>
          <a:lstStyle/>
          <a:p>
            <a:r>
              <a:rPr lang="en-GB"/>
              <a:t>Confidential under GSK NDA</a:t>
            </a:r>
          </a:p>
        </p:txBody>
      </p:sp>
      <p:sp>
        <p:nvSpPr>
          <p:cNvPr id="11" name="Slide Number Placeholder 10">
            <a:extLst>
              <a:ext uri="{FF2B5EF4-FFF2-40B4-BE49-F238E27FC236}">
                <a16:creationId xmlns:a16="http://schemas.microsoft.com/office/drawing/2014/main" id="{BF0296A1-E119-4AEC-80A5-65FD719F9631}"/>
              </a:ext>
            </a:extLst>
          </p:cNvPr>
          <p:cNvSpPr>
            <a:spLocks noGrp="1"/>
          </p:cNvSpPr>
          <p:nvPr>
            <p:ph type="sldNum" sz="quarter" idx="21"/>
          </p:nvPr>
        </p:nvSpPr>
        <p:spPr/>
        <p:txBody>
          <a:bodyPr/>
          <a:lstStyle/>
          <a:p>
            <a:fld id="{9F9F533D-B52E-4A2F-BF72-0ADD2D94BD75}" type="slidenum">
              <a:rPr lang="en-GB" smtClean="0"/>
              <a:pPr/>
              <a:t>‹#›</a:t>
            </a:fld>
            <a:endParaRPr lang="en-GB"/>
          </a:p>
        </p:txBody>
      </p:sp>
      <p:sp>
        <p:nvSpPr>
          <p:cNvPr id="12" name="Title 1">
            <a:extLst>
              <a:ext uri="{FF2B5EF4-FFF2-40B4-BE49-F238E27FC236}">
                <a16:creationId xmlns:a16="http://schemas.microsoft.com/office/drawing/2014/main" id="{88C0D48C-007D-FEEC-D1DF-C00891876F0F}"/>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1F6E4BF1-5B10-6CC3-60CB-FA773CAB8AF3}"/>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099DCD39-6F77-D442-9C41-7FE9A4CBB7F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3314054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Bullet">
    <p:spTree>
      <p:nvGrpSpPr>
        <p:cNvPr id="1" name=""/>
        <p:cNvGrpSpPr/>
        <p:nvPr/>
      </p:nvGrpSpPr>
      <p:grpSpPr>
        <a:xfrm>
          <a:off x="0" y="0"/>
          <a:ext cx="0" cy="0"/>
          <a:chOff x="0" y="0"/>
          <a:chExt cx="0" cy="0"/>
        </a:xfrm>
      </p:grpSpPr>
      <p:sp>
        <p:nvSpPr>
          <p:cNvPr id="15" name="Text Placeholder 5"/>
          <p:cNvSpPr>
            <a:spLocks noGrp="1"/>
          </p:cNvSpPr>
          <p:nvPr>
            <p:ph type="body" sz="quarter" idx="18" hasCustomPrompt="1"/>
          </p:nvPr>
        </p:nvSpPr>
        <p:spPr>
          <a:xfrm>
            <a:off x="365125" y="5792438"/>
            <a:ext cx="11460163"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2" name="Date Placeholder 1">
            <a:extLst>
              <a:ext uri="{FF2B5EF4-FFF2-40B4-BE49-F238E27FC236}">
                <a16:creationId xmlns:a16="http://schemas.microsoft.com/office/drawing/2014/main" id="{2E151742-951B-4B8B-93F8-F6814A0074E2}"/>
              </a:ext>
            </a:extLst>
          </p:cNvPr>
          <p:cNvSpPr>
            <a:spLocks noGrp="1"/>
          </p:cNvSpPr>
          <p:nvPr>
            <p:ph type="dt" sz="half" idx="19"/>
          </p:nvPr>
        </p:nvSpPr>
        <p:spPr/>
        <p:txBody>
          <a:bodyPr/>
          <a:lstStyle/>
          <a:p>
            <a:fld id="{FCF78865-1C1C-415B-B08F-8914742F7BAA}" type="datetime4">
              <a:rPr lang="en-GB" smtClean="0"/>
              <a:t>20 July 2026</a:t>
            </a:fld>
            <a:endParaRPr lang="en-GB"/>
          </a:p>
        </p:txBody>
      </p:sp>
      <p:sp>
        <p:nvSpPr>
          <p:cNvPr id="3" name="Footer Placeholder 2">
            <a:extLst>
              <a:ext uri="{FF2B5EF4-FFF2-40B4-BE49-F238E27FC236}">
                <a16:creationId xmlns:a16="http://schemas.microsoft.com/office/drawing/2014/main" id="{5E4920F6-7DEA-40DB-B124-F0789E56046F}"/>
              </a:ext>
            </a:extLst>
          </p:cNvPr>
          <p:cNvSpPr>
            <a:spLocks noGrp="1"/>
          </p:cNvSpPr>
          <p:nvPr>
            <p:ph type="ftr" sz="quarter" idx="20"/>
          </p:nvPr>
        </p:nvSpPr>
        <p:spPr/>
        <p:txBody>
          <a:bodyPr/>
          <a:lstStyle/>
          <a:p>
            <a:r>
              <a:rPr lang="en-GB"/>
              <a:t>Confidential under GSK NDA</a:t>
            </a:r>
          </a:p>
        </p:txBody>
      </p:sp>
      <p:sp>
        <p:nvSpPr>
          <p:cNvPr id="4" name="Slide Number Placeholder 3">
            <a:extLst>
              <a:ext uri="{FF2B5EF4-FFF2-40B4-BE49-F238E27FC236}">
                <a16:creationId xmlns:a16="http://schemas.microsoft.com/office/drawing/2014/main" id="{D4DDB722-CBB2-49EC-937E-10206DEB6BD1}"/>
              </a:ext>
            </a:extLst>
          </p:cNvPr>
          <p:cNvSpPr>
            <a:spLocks noGrp="1"/>
          </p:cNvSpPr>
          <p:nvPr>
            <p:ph type="sldNum" sz="quarter" idx="21"/>
          </p:nvPr>
        </p:nvSpPr>
        <p:spPr/>
        <p:txBody>
          <a:bodyPr/>
          <a:lstStyle/>
          <a:p>
            <a:fld id="{9F9F533D-B52E-4A2F-BF72-0ADD2D94BD75}" type="slidenum">
              <a:rPr lang="en-GB" smtClean="0"/>
              <a:pPr/>
              <a:t>‹#›</a:t>
            </a:fld>
            <a:endParaRPr lang="en-GB"/>
          </a:p>
        </p:txBody>
      </p:sp>
      <p:sp>
        <p:nvSpPr>
          <p:cNvPr id="7" name="Text Placeholder 6">
            <a:extLst>
              <a:ext uri="{FF2B5EF4-FFF2-40B4-BE49-F238E27FC236}">
                <a16:creationId xmlns:a16="http://schemas.microsoft.com/office/drawing/2014/main" id="{D4E53DDB-FDB6-66D3-FC50-5426FF978D71}"/>
              </a:ext>
            </a:extLst>
          </p:cNvPr>
          <p:cNvSpPr>
            <a:spLocks noGrp="1"/>
          </p:cNvSpPr>
          <p:nvPr>
            <p:ph type="body" sz="quarter" idx="22" hasCustomPrompt="1"/>
          </p:nvPr>
        </p:nvSpPr>
        <p:spPr>
          <a:xfrm>
            <a:off x="365125" y="1303338"/>
            <a:ext cx="11460163" cy="4489450"/>
          </a:xfrm>
        </p:spPr>
        <p:txBody>
          <a:bodyPr lIns="0" tIns="180000" rIns="0" bIns="180000">
            <a:noAutofit/>
          </a:bodyPr>
          <a:lstStyle>
            <a:lvl1pPr>
              <a:defRPr/>
            </a:lvl1pPr>
          </a:lstStyle>
          <a:p>
            <a:pPr lvl="0"/>
            <a:r>
              <a:rPr lang="en-US"/>
              <a:t>Click to enter TEXT content ONLY. </a:t>
            </a:r>
            <a:br>
              <a:rPr lang="en-US"/>
            </a:br>
            <a:r>
              <a:rPr lang="en-US"/>
              <a:t>If text content appears too large please reduce the size of this font. </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itle 1">
            <a:extLst>
              <a:ext uri="{FF2B5EF4-FFF2-40B4-BE49-F238E27FC236}">
                <a16:creationId xmlns:a16="http://schemas.microsoft.com/office/drawing/2014/main" id="{3A7A86B9-637F-F18A-3604-5A44F7C4442F}"/>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0" name="Subtitle 2">
            <a:extLst>
              <a:ext uri="{FF2B5EF4-FFF2-40B4-BE49-F238E27FC236}">
                <a16:creationId xmlns:a16="http://schemas.microsoft.com/office/drawing/2014/main" id="{5A89E078-B97D-529E-FF83-DF5AD69D51F2}"/>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3" name="Freeform: Shape 12">
            <a:extLst>
              <a:ext uri="{FF2B5EF4-FFF2-40B4-BE49-F238E27FC236}">
                <a16:creationId xmlns:a16="http://schemas.microsoft.com/office/drawing/2014/main" id="{22D601A5-6CEE-D258-CCEB-85D1BB27BD8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3317225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Subheading">
    <p:spTree>
      <p:nvGrpSpPr>
        <p:cNvPr id="1" name=""/>
        <p:cNvGrpSpPr/>
        <p:nvPr/>
      </p:nvGrpSpPr>
      <p:grpSpPr>
        <a:xfrm>
          <a:off x="0" y="0"/>
          <a:ext cx="0" cy="0"/>
          <a:chOff x="0" y="0"/>
          <a:chExt cx="0" cy="0"/>
        </a:xfrm>
      </p:grpSpPr>
      <p:sp>
        <p:nvSpPr>
          <p:cNvPr id="11" name="Text Placeholder 2"/>
          <p:cNvSpPr>
            <a:spLocks noGrp="1"/>
          </p:cNvSpPr>
          <p:nvPr>
            <p:ph type="body" sz="quarter" idx="13" hasCustomPrompt="1"/>
          </p:nvPr>
        </p:nvSpPr>
        <p:spPr>
          <a:xfrm>
            <a:off x="365456" y="1303338"/>
            <a:ext cx="11460701" cy="399600"/>
          </a:xfrm>
          <a:prstGeom prst="rect">
            <a:avLst/>
          </a:prstGeom>
        </p:spPr>
        <p:txBody>
          <a:bodyPr lIns="0" tIns="72000" rIns="0" bIns="72000" anchor="t" anchorCtr="0">
            <a:noAutofit/>
          </a:bodyPr>
          <a:lstStyle>
            <a:lvl1pPr marL="0" indent="0">
              <a:spcBef>
                <a:spcPts val="0"/>
              </a:spcBef>
              <a:spcAft>
                <a:spcPts val="0"/>
              </a:spcAft>
              <a:buNone/>
              <a:defRPr sz="2400" b="1">
                <a:solidFill>
                  <a:schemeClr val="tx2"/>
                </a:solidFill>
              </a:defRPr>
            </a:lvl1pPr>
            <a:lvl2pPr marL="361942" indent="0">
              <a:buNone/>
              <a:defRPr/>
            </a:lvl2pPr>
            <a:lvl3pPr marL="711182" indent="0">
              <a:buNone/>
              <a:defRPr/>
            </a:lvl3pPr>
            <a:lvl4pPr marL="1087939" indent="0">
              <a:buNone/>
              <a:defRPr/>
            </a:lvl4pPr>
            <a:lvl5pPr marL="1473163" indent="0">
              <a:buNone/>
              <a:defRPr/>
            </a:lvl5pPr>
          </a:lstStyle>
          <a:p>
            <a:pPr lvl="0"/>
            <a:r>
              <a:rPr lang="en-GB"/>
              <a:t>Click to enter subheading text </a:t>
            </a:r>
          </a:p>
        </p:txBody>
      </p:sp>
      <p:sp>
        <p:nvSpPr>
          <p:cNvPr id="1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Date Placeholder 2">
            <a:extLst>
              <a:ext uri="{FF2B5EF4-FFF2-40B4-BE49-F238E27FC236}">
                <a16:creationId xmlns:a16="http://schemas.microsoft.com/office/drawing/2014/main" id="{3C475D1F-3C7D-443F-9C73-9160E439AE1B}"/>
              </a:ext>
            </a:extLst>
          </p:cNvPr>
          <p:cNvSpPr>
            <a:spLocks noGrp="1"/>
          </p:cNvSpPr>
          <p:nvPr>
            <p:ph type="dt" sz="half" idx="20"/>
          </p:nvPr>
        </p:nvSpPr>
        <p:spPr/>
        <p:txBody>
          <a:bodyPr/>
          <a:lstStyle/>
          <a:p>
            <a:fld id="{3128C942-FB78-4493-BDB3-67D99B1F576C}" type="datetime4">
              <a:rPr lang="en-GB" smtClean="0"/>
              <a:t>20 July 2026</a:t>
            </a:fld>
            <a:endParaRPr lang="en-GB"/>
          </a:p>
        </p:txBody>
      </p:sp>
      <p:sp>
        <p:nvSpPr>
          <p:cNvPr id="4" name="Footer Placeholder 3">
            <a:extLst>
              <a:ext uri="{FF2B5EF4-FFF2-40B4-BE49-F238E27FC236}">
                <a16:creationId xmlns:a16="http://schemas.microsoft.com/office/drawing/2014/main" id="{8E10FAE2-40C5-48E8-A896-0682681B6AC4}"/>
              </a:ext>
            </a:extLst>
          </p:cNvPr>
          <p:cNvSpPr>
            <a:spLocks noGrp="1"/>
          </p:cNvSpPr>
          <p:nvPr>
            <p:ph type="ftr" sz="quarter" idx="21"/>
          </p:nvPr>
        </p:nvSpPr>
        <p:spPr/>
        <p:txBody>
          <a:bodyPr/>
          <a:lstStyle/>
          <a:p>
            <a:r>
              <a:rPr lang="en-GB"/>
              <a:t>Confidential under GSK NDA</a:t>
            </a:r>
          </a:p>
        </p:txBody>
      </p:sp>
      <p:sp>
        <p:nvSpPr>
          <p:cNvPr id="8" name="Slide Number Placeholder 7">
            <a:extLst>
              <a:ext uri="{FF2B5EF4-FFF2-40B4-BE49-F238E27FC236}">
                <a16:creationId xmlns:a16="http://schemas.microsoft.com/office/drawing/2014/main" id="{2AF230C5-C173-4CDF-8F46-DDF8D7240B63}"/>
              </a:ext>
            </a:extLst>
          </p:cNvPr>
          <p:cNvSpPr>
            <a:spLocks noGrp="1"/>
          </p:cNvSpPr>
          <p:nvPr>
            <p:ph type="sldNum" sz="quarter" idx="22"/>
          </p:nvPr>
        </p:nvSpPr>
        <p:spPr/>
        <p:txBody>
          <a:bodyPr/>
          <a:lstStyle/>
          <a:p>
            <a:fld id="{9F9F533D-B52E-4A2F-BF72-0ADD2D94BD75}" type="slidenum">
              <a:rPr lang="en-GB" smtClean="0"/>
              <a:pPr/>
              <a:t>‹#›</a:t>
            </a:fld>
            <a:endParaRPr lang="en-GB"/>
          </a:p>
        </p:txBody>
      </p:sp>
      <p:sp>
        <p:nvSpPr>
          <p:cNvPr id="5" name="Text Placeholder 4">
            <a:extLst>
              <a:ext uri="{FF2B5EF4-FFF2-40B4-BE49-F238E27FC236}">
                <a16:creationId xmlns:a16="http://schemas.microsoft.com/office/drawing/2014/main" id="{81E07AE8-19F2-04D9-93C9-C4F2357C2ADF}"/>
              </a:ext>
            </a:extLst>
          </p:cNvPr>
          <p:cNvSpPr>
            <a:spLocks noGrp="1"/>
          </p:cNvSpPr>
          <p:nvPr>
            <p:ph type="body" sz="quarter" idx="23" hasCustomPrompt="1"/>
          </p:nvPr>
        </p:nvSpPr>
        <p:spPr>
          <a:xfrm>
            <a:off x="365125" y="1702938"/>
            <a:ext cx="11460163" cy="4089850"/>
          </a:xfrm>
        </p:spPr>
        <p:txBody>
          <a:bodyPr lIns="0" tIns="180000" rIns="0" bIns="180000">
            <a:noAutofit/>
          </a:bodyPr>
          <a:lstStyle>
            <a:lvl1pPr>
              <a:defRPr/>
            </a:lvl1pPr>
          </a:lstStyle>
          <a:p>
            <a:pPr lvl="0"/>
            <a:r>
              <a:rPr lang="en-US"/>
              <a:t>Click to edit TEXT content ONLY.</a:t>
            </a:r>
            <a:br>
              <a:rPr lang="en-US"/>
            </a:br>
            <a:r>
              <a:rPr lang="en-US"/>
              <a:t>If text content appears too large please reduce the size of the font. </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itle 1">
            <a:extLst>
              <a:ext uri="{FF2B5EF4-FFF2-40B4-BE49-F238E27FC236}">
                <a16:creationId xmlns:a16="http://schemas.microsoft.com/office/drawing/2014/main" id="{E4BDB392-CCE1-B2F2-5843-4AF9AE7D4921}"/>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29D93444-D1FE-4C3C-7B81-D2693144C1F0}"/>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C45A9796-316D-7A43-F981-F6A071B72BB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3512332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44152BBA-B0F3-390F-177B-A659A0DA6DDB}"/>
              </a:ext>
            </a:extLst>
          </p:cNvPr>
          <p:cNvSpPr>
            <a:spLocks noGrp="1"/>
          </p:cNvSpPr>
          <p:nvPr>
            <p:ph type="body" sz="quarter" idx="25" hasCustomPrompt="1"/>
          </p:nvPr>
        </p:nvSpPr>
        <p:spPr>
          <a:xfrm>
            <a:off x="8172451" y="1303338"/>
            <a:ext cx="3652838" cy="4477804"/>
          </a:xfrm>
          <a:prstGeom prst="roundRect">
            <a:avLst>
              <a:gd name="adj" fmla="val 4585"/>
            </a:avLst>
          </a:prstGeom>
          <a:solidFill>
            <a:schemeClr val="bg1">
              <a:lumMod val="95000"/>
            </a:schemeClr>
          </a:solidFill>
          <a:ln>
            <a:noFill/>
          </a:ln>
        </p:spPr>
        <p:txBody>
          <a:bodyPr wrap="square">
            <a:noAutofit/>
          </a:bodyPr>
          <a:lstStyle>
            <a:lvl1pPr>
              <a:defRPr/>
            </a:lvl1pPr>
          </a:lstStyle>
          <a:p>
            <a:pPr lvl="0"/>
            <a:r>
              <a:rPr lang="en-US"/>
              <a:t>Click to edit TEXT content ONLY. </a:t>
            </a:r>
            <a:br>
              <a:rPr lang="en-US"/>
            </a:br>
            <a:r>
              <a:rPr lang="en-US"/>
              <a:t>If text content appears outside of the grey placeholder please reduce the size of the font. </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5"/>
          <p:cNvSpPr>
            <a:spLocks noGrp="1"/>
          </p:cNvSpPr>
          <p:nvPr>
            <p:ph type="body" sz="quarter" idx="20" hasCustomPrompt="1"/>
          </p:nvPr>
        </p:nvSpPr>
        <p:spPr>
          <a:xfrm>
            <a:off x="8172451" y="5791943"/>
            <a:ext cx="3652837"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6" name="Date Placeholder 5">
            <a:extLst>
              <a:ext uri="{FF2B5EF4-FFF2-40B4-BE49-F238E27FC236}">
                <a16:creationId xmlns:a16="http://schemas.microsoft.com/office/drawing/2014/main" id="{101A55F3-CAC9-450A-8B8C-0D0326082407}"/>
              </a:ext>
            </a:extLst>
          </p:cNvPr>
          <p:cNvSpPr>
            <a:spLocks noGrp="1"/>
          </p:cNvSpPr>
          <p:nvPr>
            <p:ph type="dt" sz="half" idx="21"/>
          </p:nvPr>
        </p:nvSpPr>
        <p:spPr/>
        <p:txBody>
          <a:bodyPr/>
          <a:lstStyle/>
          <a:p>
            <a:fld id="{269364CF-3179-45C8-8A8D-C9FADA6B3BBF}" type="datetime4">
              <a:rPr lang="en-GB" smtClean="0"/>
              <a:t>20 July 2026</a:t>
            </a:fld>
            <a:endParaRPr lang="en-GB"/>
          </a:p>
        </p:txBody>
      </p:sp>
      <p:sp>
        <p:nvSpPr>
          <p:cNvPr id="7" name="Footer Placeholder 6">
            <a:extLst>
              <a:ext uri="{FF2B5EF4-FFF2-40B4-BE49-F238E27FC236}">
                <a16:creationId xmlns:a16="http://schemas.microsoft.com/office/drawing/2014/main" id="{FA6F4AF4-B7CB-44A2-A774-A5EE13FDE7C2}"/>
              </a:ext>
            </a:extLst>
          </p:cNvPr>
          <p:cNvSpPr>
            <a:spLocks noGrp="1"/>
          </p:cNvSpPr>
          <p:nvPr>
            <p:ph type="ftr" sz="quarter" idx="22"/>
          </p:nvPr>
        </p:nvSpPr>
        <p:spPr/>
        <p:txBody>
          <a:bodyPr/>
          <a:lstStyle/>
          <a:p>
            <a:r>
              <a:rPr lang="en-GB"/>
              <a:t>Confidential under GSK NDA</a:t>
            </a:r>
          </a:p>
        </p:txBody>
      </p:sp>
      <p:sp>
        <p:nvSpPr>
          <p:cNvPr id="8" name="Slide Number Placeholder 7">
            <a:extLst>
              <a:ext uri="{FF2B5EF4-FFF2-40B4-BE49-F238E27FC236}">
                <a16:creationId xmlns:a16="http://schemas.microsoft.com/office/drawing/2014/main" id="{1A690446-B95A-4BA4-8B97-68649C262B11}"/>
              </a:ext>
            </a:extLst>
          </p:cNvPr>
          <p:cNvSpPr>
            <a:spLocks noGrp="1"/>
          </p:cNvSpPr>
          <p:nvPr>
            <p:ph type="sldNum" sz="quarter" idx="23"/>
          </p:nvPr>
        </p:nvSpPr>
        <p:spPr/>
        <p:txBody>
          <a:bodyPr/>
          <a:lstStyle/>
          <a:p>
            <a:fld id="{9F9F533D-B52E-4A2F-BF72-0ADD2D94BD75}" type="slidenum">
              <a:rPr lang="en-GB" smtClean="0"/>
              <a:pPr/>
              <a:t>‹#›</a:t>
            </a:fld>
            <a:endParaRPr lang="en-GB"/>
          </a:p>
        </p:txBody>
      </p:sp>
      <p:sp>
        <p:nvSpPr>
          <p:cNvPr id="19" name="Text Placeholder 5"/>
          <p:cNvSpPr>
            <a:spLocks noGrp="1"/>
          </p:cNvSpPr>
          <p:nvPr>
            <p:ph type="body" sz="quarter" idx="19" hasCustomPrompt="1"/>
          </p:nvPr>
        </p:nvSpPr>
        <p:spPr>
          <a:xfrm>
            <a:off x="365125" y="5791943"/>
            <a:ext cx="7554913"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Text Placeholder 2">
            <a:extLst>
              <a:ext uri="{FF2B5EF4-FFF2-40B4-BE49-F238E27FC236}">
                <a16:creationId xmlns:a16="http://schemas.microsoft.com/office/drawing/2014/main" id="{3B643D66-CBAC-8A3C-D941-445E2D7EFCEE}"/>
              </a:ext>
            </a:extLst>
          </p:cNvPr>
          <p:cNvSpPr>
            <a:spLocks noGrp="1"/>
          </p:cNvSpPr>
          <p:nvPr>
            <p:ph type="body" sz="quarter" idx="24" hasCustomPrompt="1"/>
          </p:nvPr>
        </p:nvSpPr>
        <p:spPr>
          <a:xfrm>
            <a:off x="365125" y="1303338"/>
            <a:ext cx="7554913" cy="4478337"/>
          </a:xfrm>
        </p:spPr>
        <p:txBody>
          <a:bodyPr lIns="0" tIns="234000" rIns="0" bIns="180000">
            <a:noAutofit/>
          </a:bodyPr>
          <a:lstStyle>
            <a:lvl1pPr>
              <a:defRPr/>
            </a:lvl1pPr>
          </a:lstStyle>
          <a:p>
            <a:pPr lvl="0"/>
            <a:r>
              <a:rPr lang="en-US"/>
              <a:t>Click to enter TEXT content ONLY.</a:t>
            </a:r>
            <a:br>
              <a:rPr lang="en-US"/>
            </a:br>
            <a:r>
              <a:rPr lang="en-US"/>
              <a:t>If text content appears too large please reduce the size of the font. </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itle 1">
            <a:extLst>
              <a:ext uri="{FF2B5EF4-FFF2-40B4-BE49-F238E27FC236}">
                <a16:creationId xmlns:a16="http://schemas.microsoft.com/office/drawing/2014/main" id="{8C40724D-5874-C573-BE68-E74D3056C42C}"/>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6DDC75F0-FC33-50C5-4836-14CADF87FA85}"/>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7ED293B4-51DD-6A15-3268-DC88E0FC951D}"/>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3706052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44152BBA-B0F3-390F-177B-A659A0DA6DDB}"/>
              </a:ext>
            </a:extLst>
          </p:cNvPr>
          <p:cNvSpPr>
            <a:spLocks noGrp="1"/>
          </p:cNvSpPr>
          <p:nvPr>
            <p:ph type="body" sz="quarter" idx="25" hasCustomPrompt="1"/>
          </p:nvPr>
        </p:nvSpPr>
        <p:spPr>
          <a:xfrm>
            <a:off x="365125" y="1303338"/>
            <a:ext cx="3652838" cy="4477804"/>
          </a:xfrm>
          <a:prstGeom prst="roundRect">
            <a:avLst>
              <a:gd name="adj" fmla="val 4585"/>
            </a:avLst>
          </a:prstGeom>
          <a:solidFill>
            <a:schemeClr val="tx2"/>
          </a:solidFill>
          <a:ln>
            <a:noFill/>
          </a:ln>
        </p:spPr>
        <p:txBody>
          <a:bodyPr wrap="square">
            <a:no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TEXT content ONLY. </a:t>
            </a:r>
            <a:br>
              <a:rPr lang="en-US"/>
            </a:br>
            <a:r>
              <a:rPr lang="en-US"/>
              <a:t>If text content appears outside of the grey placeholder please reduce the size of the font. </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5"/>
          <p:cNvSpPr>
            <a:spLocks noGrp="1"/>
          </p:cNvSpPr>
          <p:nvPr>
            <p:ph type="body" sz="quarter" idx="20" hasCustomPrompt="1"/>
          </p:nvPr>
        </p:nvSpPr>
        <p:spPr>
          <a:xfrm>
            <a:off x="365125" y="5791943"/>
            <a:ext cx="3652837"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6" name="Date Placeholder 5">
            <a:extLst>
              <a:ext uri="{FF2B5EF4-FFF2-40B4-BE49-F238E27FC236}">
                <a16:creationId xmlns:a16="http://schemas.microsoft.com/office/drawing/2014/main" id="{101A55F3-CAC9-450A-8B8C-0D0326082407}"/>
              </a:ext>
            </a:extLst>
          </p:cNvPr>
          <p:cNvSpPr>
            <a:spLocks noGrp="1"/>
          </p:cNvSpPr>
          <p:nvPr>
            <p:ph type="dt" sz="half" idx="21"/>
          </p:nvPr>
        </p:nvSpPr>
        <p:spPr/>
        <p:txBody>
          <a:bodyPr/>
          <a:lstStyle/>
          <a:p>
            <a:fld id="{D3E465F1-4B22-46B7-BFFE-99CBD54A056D}" type="datetime4">
              <a:rPr lang="en-GB" smtClean="0"/>
              <a:t>20 July 2026</a:t>
            </a:fld>
            <a:endParaRPr lang="en-GB"/>
          </a:p>
        </p:txBody>
      </p:sp>
      <p:sp>
        <p:nvSpPr>
          <p:cNvPr id="7" name="Footer Placeholder 6">
            <a:extLst>
              <a:ext uri="{FF2B5EF4-FFF2-40B4-BE49-F238E27FC236}">
                <a16:creationId xmlns:a16="http://schemas.microsoft.com/office/drawing/2014/main" id="{FA6F4AF4-B7CB-44A2-A774-A5EE13FDE7C2}"/>
              </a:ext>
            </a:extLst>
          </p:cNvPr>
          <p:cNvSpPr>
            <a:spLocks noGrp="1"/>
          </p:cNvSpPr>
          <p:nvPr>
            <p:ph type="ftr" sz="quarter" idx="22"/>
          </p:nvPr>
        </p:nvSpPr>
        <p:spPr/>
        <p:txBody>
          <a:bodyPr/>
          <a:lstStyle/>
          <a:p>
            <a:r>
              <a:rPr lang="en-GB"/>
              <a:t>Confidential under GSK NDA</a:t>
            </a:r>
          </a:p>
        </p:txBody>
      </p:sp>
      <p:sp>
        <p:nvSpPr>
          <p:cNvPr id="8" name="Slide Number Placeholder 7">
            <a:extLst>
              <a:ext uri="{FF2B5EF4-FFF2-40B4-BE49-F238E27FC236}">
                <a16:creationId xmlns:a16="http://schemas.microsoft.com/office/drawing/2014/main" id="{1A690446-B95A-4BA4-8B97-68649C262B11}"/>
              </a:ext>
            </a:extLst>
          </p:cNvPr>
          <p:cNvSpPr>
            <a:spLocks noGrp="1"/>
          </p:cNvSpPr>
          <p:nvPr>
            <p:ph type="sldNum" sz="quarter" idx="23"/>
          </p:nvPr>
        </p:nvSpPr>
        <p:spPr/>
        <p:txBody>
          <a:bodyPr/>
          <a:lstStyle/>
          <a:p>
            <a:fld id="{9F9F533D-B52E-4A2F-BF72-0ADD2D94BD75}" type="slidenum">
              <a:rPr lang="en-GB" smtClean="0"/>
              <a:pPr/>
              <a:t>‹#›</a:t>
            </a:fld>
            <a:endParaRPr lang="en-GB"/>
          </a:p>
        </p:txBody>
      </p:sp>
      <p:sp>
        <p:nvSpPr>
          <p:cNvPr id="19" name="Text Placeholder 5"/>
          <p:cNvSpPr>
            <a:spLocks noGrp="1"/>
          </p:cNvSpPr>
          <p:nvPr>
            <p:ph type="body" sz="quarter" idx="19" hasCustomPrompt="1"/>
          </p:nvPr>
        </p:nvSpPr>
        <p:spPr>
          <a:xfrm>
            <a:off x="4270374" y="5791943"/>
            <a:ext cx="7554913"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Text Placeholder 2">
            <a:extLst>
              <a:ext uri="{FF2B5EF4-FFF2-40B4-BE49-F238E27FC236}">
                <a16:creationId xmlns:a16="http://schemas.microsoft.com/office/drawing/2014/main" id="{3B643D66-CBAC-8A3C-D941-445E2D7EFCEE}"/>
              </a:ext>
            </a:extLst>
          </p:cNvPr>
          <p:cNvSpPr>
            <a:spLocks noGrp="1"/>
          </p:cNvSpPr>
          <p:nvPr>
            <p:ph type="body" sz="quarter" idx="24" hasCustomPrompt="1"/>
          </p:nvPr>
        </p:nvSpPr>
        <p:spPr>
          <a:xfrm>
            <a:off x="4270374" y="1303338"/>
            <a:ext cx="7554913" cy="4478337"/>
          </a:xfrm>
        </p:spPr>
        <p:txBody>
          <a:bodyPr lIns="252000" tIns="234000" rIns="0" bIns="180000">
            <a:noAutofit/>
          </a:bodyPr>
          <a:lstStyle>
            <a:lvl1pPr>
              <a:defRPr/>
            </a:lvl1pPr>
          </a:lstStyle>
          <a:p>
            <a:pPr lvl="0"/>
            <a:r>
              <a:rPr lang="en-US"/>
              <a:t>Click to enter TEXT content ONLY.</a:t>
            </a:r>
            <a:br>
              <a:rPr lang="en-US"/>
            </a:br>
            <a:r>
              <a:rPr lang="en-US"/>
              <a:t>If text content appears too large please reduce the size of the font. </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itle 1">
            <a:extLst>
              <a:ext uri="{FF2B5EF4-FFF2-40B4-BE49-F238E27FC236}">
                <a16:creationId xmlns:a16="http://schemas.microsoft.com/office/drawing/2014/main" id="{8C40724D-5874-C573-BE68-E74D3056C42C}"/>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6DDC75F0-FC33-50C5-4836-14CADF87FA85}"/>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7ED293B4-51DD-6A15-3268-DC88E0FC951D}"/>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4" name="Freeform: Shape 13">
            <a:extLst>
              <a:ext uri="{FF2B5EF4-FFF2-40B4-BE49-F238E27FC236}">
                <a16:creationId xmlns:a16="http://schemas.microsoft.com/office/drawing/2014/main" id="{17107491-B576-4FBA-DF55-410D54CA7B16}"/>
              </a:ext>
            </a:extLst>
          </p:cNvPr>
          <p:cNvSpPr/>
          <p:nvPr userDrawn="1"/>
        </p:nvSpPr>
        <p:spPr>
          <a:xfrm>
            <a:off x="4017963" y="1820564"/>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2238325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1A35D6C9-1CA0-9878-3F7C-4F790C689C5F}"/>
              </a:ext>
            </a:extLst>
          </p:cNvPr>
          <p:cNvSpPr>
            <a:spLocks noGrp="1"/>
          </p:cNvSpPr>
          <p:nvPr>
            <p:ph type="body" sz="quarter" idx="36" hasCustomPrompt="1"/>
          </p:nvPr>
        </p:nvSpPr>
        <p:spPr>
          <a:xfrm>
            <a:off x="6223000" y="1303338"/>
            <a:ext cx="5602288" cy="4488605"/>
          </a:xfrm>
          <a:prstGeom prst="roundRect">
            <a:avLst>
              <a:gd name="adj" fmla="val 4253"/>
            </a:avLst>
          </a:prstGeom>
          <a:solidFill>
            <a:schemeClr val="bg1">
              <a:lumMod val="95000"/>
            </a:schemeClr>
          </a:solidFill>
          <a:ln>
            <a:noFill/>
          </a:ln>
        </p:spPr>
        <p:txBody>
          <a:bodyPr wrap="square" tIns="1080000">
            <a:noAutofit/>
          </a:bodyPr>
          <a:lstStyle>
            <a:lvl1pPr>
              <a:defRPr/>
            </a:lvl1pPr>
          </a:lstStyle>
          <a:p>
            <a:pPr lvl="0"/>
            <a:r>
              <a:rPr lang="en-US"/>
              <a:t>Click to enter TEXT content ONLY.</a:t>
            </a:r>
            <a:br>
              <a:rPr lang="en-US"/>
            </a:br>
            <a:r>
              <a:rPr lang="en-US"/>
              <a:t>If text appears outside of grey placeholder please reduce the size of the font.</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21">
            <a:extLst>
              <a:ext uri="{FF2B5EF4-FFF2-40B4-BE49-F238E27FC236}">
                <a16:creationId xmlns:a16="http://schemas.microsoft.com/office/drawing/2014/main" id="{3637B329-27DE-51CE-F4B6-EB1199B2177F}"/>
              </a:ext>
            </a:extLst>
          </p:cNvPr>
          <p:cNvSpPr>
            <a:spLocks noGrp="1"/>
          </p:cNvSpPr>
          <p:nvPr>
            <p:ph type="body" sz="quarter" idx="35" hasCustomPrompt="1"/>
          </p:nvPr>
        </p:nvSpPr>
        <p:spPr>
          <a:xfrm>
            <a:off x="365125" y="1303338"/>
            <a:ext cx="5601600" cy="4488605"/>
          </a:xfrm>
          <a:prstGeom prst="roundRect">
            <a:avLst>
              <a:gd name="adj" fmla="val 3915"/>
            </a:avLst>
          </a:prstGeom>
          <a:solidFill>
            <a:schemeClr val="bg1">
              <a:lumMod val="95000"/>
            </a:schemeClr>
          </a:solidFill>
          <a:ln>
            <a:noFill/>
          </a:ln>
        </p:spPr>
        <p:txBody>
          <a:bodyPr wrap="square" tIns="1080000">
            <a:noAutofit/>
          </a:bodyPr>
          <a:lstStyle>
            <a:lvl1pPr>
              <a:defRPr/>
            </a:lvl1pPr>
          </a:lstStyle>
          <a:p>
            <a:pPr lvl="0"/>
            <a:r>
              <a:rPr lang="en-US"/>
              <a:t>Click to enter TEXT content ONLY.</a:t>
            </a:r>
            <a:br>
              <a:rPr lang="en-US"/>
            </a:br>
            <a:r>
              <a:rPr lang="en-US"/>
              <a:t>If text appears outside of grey placeholder please reduce the size of the font.</a:t>
            </a:r>
          </a:p>
          <a:p>
            <a:pPr lvl="1"/>
            <a:r>
              <a:rPr lang="en-US"/>
              <a:t>Second level</a:t>
            </a:r>
          </a:p>
          <a:p>
            <a:pPr lvl="2"/>
            <a:r>
              <a:rPr lang="en-US"/>
              <a:t>Third level</a:t>
            </a:r>
          </a:p>
          <a:p>
            <a:pPr lvl="3"/>
            <a:r>
              <a:rPr lang="en-US"/>
              <a:t>Fourth level</a:t>
            </a:r>
          </a:p>
          <a:p>
            <a:pPr lvl="4"/>
            <a:r>
              <a:rPr lang="en-US"/>
              <a:t>Fifth level</a:t>
            </a:r>
            <a:endParaRPr lang="en-GB"/>
          </a:p>
        </p:txBody>
      </p:sp>
      <p:sp>
        <p:nvSpPr>
          <p:cNvPr id="23" name="Text Placeholder 5"/>
          <p:cNvSpPr>
            <a:spLocks noGrp="1"/>
          </p:cNvSpPr>
          <p:nvPr>
            <p:ph type="body" sz="quarter" idx="31" hasCustomPrompt="1"/>
          </p:nvPr>
        </p:nvSpPr>
        <p:spPr>
          <a:xfrm>
            <a:off x="365125" y="5791943"/>
            <a:ext cx="5607050"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24" name="Text Placeholder 5"/>
          <p:cNvSpPr>
            <a:spLocks noGrp="1"/>
          </p:cNvSpPr>
          <p:nvPr>
            <p:ph type="body" sz="quarter" idx="20" hasCustomPrompt="1"/>
          </p:nvPr>
        </p:nvSpPr>
        <p:spPr>
          <a:xfrm>
            <a:off x="6216325" y="5792438"/>
            <a:ext cx="5608963"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4" name="Date Placeholder 3">
            <a:extLst>
              <a:ext uri="{FF2B5EF4-FFF2-40B4-BE49-F238E27FC236}">
                <a16:creationId xmlns:a16="http://schemas.microsoft.com/office/drawing/2014/main" id="{888E3DBB-00A9-4F08-A07C-9ED9733E007D}"/>
              </a:ext>
            </a:extLst>
          </p:cNvPr>
          <p:cNvSpPr>
            <a:spLocks noGrp="1"/>
          </p:cNvSpPr>
          <p:nvPr>
            <p:ph type="dt" sz="half" idx="32"/>
          </p:nvPr>
        </p:nvSpPr>
        <p:spPr/>
        <p:txBody>
          <a:bodyPr/>
          <a:lstStyle/>
          <a:p>
            <a:fld id="{EEBFFBFA-D03B-4CF3-ACFE-7F38C18E9D1C}" type="datetime4">
              <a:rPr lang="en-GB" smtClean="0"/>
              <a:t>20 July 2026</a:t>
            </a:fld>
            <a:endParaRPr lang="en-GB"/>
          </a:p>
        </p:txBody>
      </p:sp>
      <p:sp>
        <p:nvSpPr>
          <p:cNvPr id="5" name="Footer Placeholder 4">
            <a:extLst>
              <a:ext uri="{FF2B5EF4-FFF2-40B4-BE49-F238E27FC236}">
                <a16:creationId xmlns:a16="http://schemas.microsoft.com/office/drawing/2014/main" id="{6EE37A7E-4BE8-4B01-BC5B-6FE33BA2DB0A}"/>
              </a:ext>
            </a:extLst>
          </p:cNvPr>
          <p:cNvSpPr>
            <a:spLocks noGrp="1"/>
          </p:cNvSpPr>
          <p:nvPr>
            <p:ph type="ftr" sz="quarter" idx="33"/>
          </p:nvPr>
        </p:nvSpPr>
        <p:spPr/>
        <p:txBody>
          <a:bodyPr/>
          <a:lstStyle/>
          <a:p>
            <a:r>
              <a:rPr lang="en-GB"/>
              <a:t>Confidential under GSK NDA</a:t>
            </a:r>
          </a:p>
        </p:txBody>
      </p:sp>
      <p:sp>
        <p:nvSpPr>
          <p:cNvPr id="9" name="Slide Number Placeholder 8">
            <a:extLst>
              <a:ext uri="{FF2B5EF4-FFF2-40B4-BE49-F238E27FC236}">
                <a16:creationId xmlns:a16="http://schemas.microsoft.com/office/drawing/2014/main" id="{2D87596A-DFCB-4141-B4D9-E82973630099}"/>
              </a:ext>
            </a:extLst>
          </p:cNvPr>
          <p:cNvSpPr>
            <a:spLocks noGrp="1"/>
          </p:cNvSpPr>
          <p:nvPr>
            <p:ph type="sldNum" sz="quarter" idx="34"/>
          </p:nvPr>
        </p:nvSpPr>
        <p:spPr/>
        <p:txBody>
          <a:bodyPr/>
          <a:lstStyle/>
          <a:p>
            <a:fld id="{9F9F533D-B52E-4A2F-BF72-0ADD2D94BD75}" type="slidenum">
              <a:rPr lang="en-GB" smtClean="0"/>
              <a:pPr/>
              <a:t>‹#›</a:t>
            </a:fld>
            <a:endParaRPr lang="en-GB"/>
          </a:p>
        </p:txBody>
      </p:sp>
      <p:sp>
        <p:nvSpPr>
          <p:cNvPr id="29" name="Text Placeholder 2">
            <a:extLst>
              <a:ext uri="{FF2B5EF4-FFF2-40B4-BE49-F238E27FC236}">
                <a16:creationId xmlns:a16="http://schemas.microsoft.com/office/drawing/2014/main" id="{ED8B1503-3382-4C3A-A672-A88D048E0DA0}"/>
              </a:ext>
            </a:extLst>
          </p:cNvPr>
          <p:cNvSpPr>
            <a:spLocks noGrp="1"/>
          </p:cNvSpPr>
          <p:nvPr>
            <p:ph type="body" idx="19" hasCustomPrompt="1"/>
          </p:nvPr>
        </p:nvSpPr>
        <p:spPr>
          <a:xfrm>
            <a:off x="532525" y="1454538"/>
            <a:ext cx="5266800" cy="781200"/>
          </a:xfrm>
          <a:prstGeom prst="rect">
            <a:avLst/>
          </a:prstGeom>
        </p:spPr>
        <p:txBody>
          <a:bodyPr wrap="square" lIns="0" tIns="72000" rIns="0" bIns="72000" anchor="t" anchorCtr="0">
            <a:noAutofit/>
          </a:bodyPr>
          <a:lstStyle>
            <a:lvl1pPr marL="0" indent="0">
              <a:spcBef>
                <a:spcPts val="0"/>
              </a:spcBef>
              <a:spcAft>
                <a:spcPts val="0"/>
              </a:spcAft>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enter</a:t>
            </a:r>
            <a:br>
              <a:rPr lang="en-GB"/>
            </a:br>
            <a:r>
              <a:rPr lang="en-GB"/>
              <a:t>subheading text</a:t>
            </a:r>
          </a:p>
        </p:txBody>
      </p:sp>
      <p:sp>
        <p:nvSpPr>
          <p:cNvPr id="30" name="Text Placeholder 2">
            <a:extLst>
              <a:ext uri="{FF2B5EF4-FFF2-40B4-BE49-F238E27FC236}">
                <a16:creationId xmlns:a16="http://schemas.microsoft.com/office/drawing/2014/main" id="{7CC1C57B-5831-4901-8605-655DBB075B25}"/>
              </a:ext>
            </a:extLst>
          </p:cNvPr>
          <p:cNvSpPr>
            <a:spLocks noGrp="1"/>
          </p:cNvSpPr>
          <p:nvPr>
            <p:ph type="body" idx="21" hasCustomPrompt="1"/>
          </p:nvPr>
        </p:nvSpPr>
        <p:spPr>
          <a:xfrm>
            <a:off x="6391644" y="1454538"/>
            <a:ext cx="5265000" cy="781200"/>
          </a:xfrm>
          <a:prstGeom prst="rect">
            <a:avLst/>
          </a:prstGeom>
        </p:spPr>
        <p:txBody>
          <a:bodyPr wrap="square" lIns="0" tIns="72000" rIns="0" bIns="72000" anchor="t" anchorCtr="0">
            <a:noAutofit/>
          </a:bodyPr>
          <a:lstStyle>
            <a:lvl1pPr marL="0" indent="0">
              <a:spcBef>
                <a:spcPts val="0"/>
              </a:spcBef>
              <a:spcAft>
                <a:spcPts val="0"/>
              </a:spcAft>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enter</a:t>
            </a:r>
            <a:br>
              <a:rPr lang="en-GB"/>
            </a:br>
            <a:r>
              <a:rPr lang="en-GB"/>
              <a:t>subheading text</a:t>
            </a:r>
          </a:p>
        </p:txBody>
      </p:sp>
      <p:sp>
        <p:nvSpPr>
          <p:cNvPr id="15" name="Title 1">
            <a:extLst>
              <a:ext uri="{FF2B5EF4-FFF2-40B4-BE49-F238E27FC236}">
                <a16:creationId xmlns:a16="http://schemas.microsoft.com/office/drawing/2014/main" id="{2B8AF01B-B7EE-69F0-3113-1E07C2D58722}"/>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6" name="Subtitle 2">
            <a:extLst>
              <a:ext uri="{FF2B5EF4-FFF2-40B4-BE49-F238E27FC236}">
                <a16:creationId xmlns:a16="http://schemas.microsoft.com/office/drawing/2014/main" id="{A10D87C1-85C7-40B7-3EF5-0997E04A30B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7" name="Freeform: Shape 16">
            <a:extLst>
              <a:ext uri="{FF2B5EF4-FFF2-40B4-BE49-F238E27FC236}">
                <a16:creationId xmlns:a16="http://schemas.microsoft.com/office/drawing/2014/main" id="{00DBE383-AB10-CC3B-D342-10443E02C93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3618036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ideo, Title and Subtitle (16x9)">
    <p:spTree>
      <p:nvGrpSpPr>
        <p:cNvPr id="1" name=""/>
        <p:cNvGrpSpPr/>
        <p:nvPr/>
      </p:nvGrpSpPr>
      <p:grpSpPr>
        <a:xfrm>
          <a:off x="0" y="0"/>
          <a:ext cx="0" cy="0"/>
          <a:chOff x="0" y="0"/>
          <a:chExt cx="0" cy="0"/>
        </a:xfrm>
      </p:grpSpPr>
      <p:sp>
        <p:nvSpPr>
          <p:cNvPr id="6" name="Media Placeholder 5"/>
          <p:cNvSpPr>
            <a:spLocks noGrp="1" noChangeAspect="1"/>
          </p:cNvSpPr>
          <p:nvPr>
            <p:ph type="media" sz="quarter" idx="12" hasCustomPrompt="1"/>
          </p:nvPr>
        </p:nvSpPr>
        <p:spPr>
          <a:xfrm>
            <a:off x="2106790" y="1303338"/>
            <a:ext cx="7978421" cy="4487862"/>
          </a:xfrm>
          <a:prstGeom prst="roundRect">
            <a:avLst>
              <a:gd name="adj" fmla="val 3818"/>
            </a:avLst>
          </a:prstGeom>
          <a:solidFill>
            <a:schemeClr val="bg1">
              <a:lumMod val="95000"/>
            </a:schemeClr>
          </a:solidFill>
          <a:ln>
            <a:noFill/>
          </a:ln>
        </p:spPr>
        <p:txBody>
          <a:bodyPr lIns="108000" tIns="1008000">
            <a:normAutofit/>
          </a:bodyPr>
          <a:lstStyle>
            <a:lvl1pPr marL="0" indent="0" algn="ctr">
              <a:buNone/>
              <a:defRPr sz="2200" baseline="0">
                <a:solidFill>
                  <a:schemeClr val="tx1"/>
                </a:solidFill>
              </a:defRPr>
            </a:lvl1pPr>
          </a:lstStyle>
          <a:p>
            <a:r>
              <a:rPr lang="en-GB"/>
              <a:t>[Click on the film icon to insert video]</a:t>
            </a:r>
          </a:p>
        </p:txBody>
      </p:sp>
      <p:sp>
        <p:nvSpPr>
          <p:cNvPr id="3" name="Date Placeholder 2">
            <a:extLst>
              <a:ext uri="{FF2B5EF4-FFF2-40B4-BE49-F238E27FC236}">
                <a16:creationId xmlns:a16="http://schemas.microsoft.com/office/drawing/2014/main" id="{EFF92204-289D-4897-A24D-92B4E89E417A}"/>
              </a:ext>
            </a:extLst>
          </p:cNvPr>
          <p:cNvSpPr>
            <a:spLocks noGrp="1"/>
          </p:cNvSpPr>
          <p:nvPr>
            <p:ph type="dt" sz="half" idx="15"/>
          </p:nvPr>
        </p:nvSpPr>
        <p:spPr/>
        <p:txBody>
          <a:bodyPr/>
          <a:lstStyle/>
          <a:p>
            <a:fld id="{3E4E3728-7892-4781-B2CE-B438210D7E47}" type="datetime4">
              <a:rPr lang="en-GB" smtClean="0"/>
              <a:t>20 July 2026</a:t>
            </a:fld>
            <a:endParaRPr lang="en-GB"/>
          </a:p>
        </p:txBody>
      </p:sp>
      <p:sp>
        <p:nvSpPr>
          <p:cNvPr id="4" name="Footer Placeholder 3">
            <a:extLst>
              <a:ext uri="{FF2B5EF4-FFF2-40B4-BE49-F238E27FC236}">
                <a16:creationId xmlns:a16="http://schemas.microsoft.com/office/drawing/2014/main" id="{9D8A5764-43D8-49B1-8CCF-1E44D258B4F9}"/>
              </a:ext>
            </a:extLst>
          </p:cNvPr>
          <p:cNvSpPr>
            <a:spLocks noGrp="1"/>
          </p:cNvSpPr>
          <p:nvPr>
            <p:ph type="ftr" sz="quarter" idx="16"/>
          </p:nvPr>
        </p:nvSpPr>
        <p:spPr/>
        <p:txBody>
          <a:bodyPr/>
          <a:lstStyle/>
          <a:p>
            <a:r>
              <a:rPr lang="en-GB"/>
              <a:t>Confidential under GSK NDA</a:t>
            </a:r>
          </a:p>
        </p:txBody>
      </p:sp>
      <p:sp>
        <p:nvSpPr>
          <p:cNvPr id="9" name="Slide Number Placeholder 8">
            <a:extLst>
              <a:ext uri="{FF2B5EF4-FFF2-40B4-BE49-F238E27FC236}">
                <a16:creationId xmlns:a16="http://schemas.microsoft.com/office/drawing/2014/main" id="{2BA25ACE-65A6-48E3-AD24-12A240BC4B44}"/>
              </a:ext>
            </a:extLst>
          </p:cNvPr>
          <p:cNvSpPr>
            <a:spLocks noGrp="1"/>
          </p:cNvSpPr>
          <p:nvPr>
            <p:ph type="sldNum" sz="quarter" idx="17"/>
          </p:nvPr>
        </p:nvSpPr>
        <p:spPr/>
        <p:txBody>
          <a:bodyPr/>
          <a:lstStyle/>
          <a:p>
            <a:fld id="{9F9F533D-B52E-4A2F-BF72-0ADD2D94BD75}" type="slidenum">
              <a:rPr lang="en-GB" smtClean="0"/>
              <a:pPr/>
              <a:t>‹#›</a:t>
            </a:fld>
            <a:endParaRPr lang="en-GB"/>
          </a:p>
        </p:txBody>
      </p:sp>
      <p:sp>
        <p:nvSpPr>
          <p:cNvPr id="11" name="Title 1">
            <a:extLst>
              <a:ext uri="{FF2B5EF4-FFF2-40B4-BE49-F238E27FC236}">
                <a16:creationId xmlns:a16="http://schemas.microsoft.com/office/drawing/2014/main" id="{BF9DC526-9754-7DE6-EAC5-B9EB6B6E3CF3}"/>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F9C0347F-097D-6010-8D87-88D141F8B2F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3" name="Text Placeholder 5">
            <a:extLst>
              <a:ext uri="{FF2B5EF4-FFF2-40B4-BE49-F238E27FC236}">
                <a16:creationId xmlns:a16="http://schemas.microsoft.com/office/drawing/2014/main" id="{A123D2E9-B2C7-255F-E578-0BCEF8C8BFCD}"/>
              </a:ext>
            </a:extLst>
          </p:cNvPr>
          <p:cNvSpPr>
            <a:spLocks noGrp="1"/>
          </p:cNvSpPr>
          <p:nvPr>
            <p:ph type="body" sz="quarter" idx="18" hasCustomPrompt="1"/>
          </p:nvPr>
        </p:nvSpPr>
        <p:spPr>
          <a:xfrm>
            <a:off x="365125" y="5792438"/>
            <a:ext cx="11460163"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15" name="Freeform: Shape 14">
            <a:extLst>
              <a:ext uri="{FF2B5EF4-FFF2-40B4-BE49-F238E27FC236}">
                <a16:creationId xmlns:a16="http://schemas.microsoft.com/office/drawing/2014/main" id="{73180677-148E-F381-0168-9327D51EF5C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285134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Video Widescreen (16x9)">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85344A2-1C9C-FB10-07A8-CED6CF027454}"/>
              </a:ext>
            </a:extLst>
          </p:cNvPr>
          <p:cNvSpPr>
            <a:spLocks noGrp="1"/>
          </p:cNvSpPr>
          <p:nvPr>
            <p:ph type="sldNum" sz="quarter" idx="15"/>
          </p:nvPr>
        </p:nvSpPr>
        <p:spPr/>
        <p:txBody>
          <a:bodyPr/>
          <a:lstStyle/>
          <a:p>
            <a:fld id="{9F9F533D-B52E-4A2F-BF72-0ADD2D94BD75}" type="slidenum">
              <a:rPr lang="en-GB" smtClean="0"/>
              <a:pPr/>
              <a:t>‹#›</a:t>
            </a:fld>
            <a:endParaRPr lang="en-GB"/>
          </a:p>
        </p:txBody>
      </p:sp>
      <p:sp>
        <p:nvSpPr>
          <p:cNvPr id="5" name="Media Placeholder 5"/>
          <p:cNvSpPr>
            <a:spLocks noGrp="1" noChangeAspect="1"/>
          </p:cNvSpPr>
          <p:nvPr>
            <p:ph type="media" sz="quarter" idx="12" hasCustomPrompt="1"/>
          </p:nvPr>
        </p:nvSpPr>
        <p:spPr>
          <a:xfrm>
            <a:off x="242888" y="242888"/>
            <a:ext cx="11352439" cy="6384013"/>
          </a:xfrm>
          <a:prstGeom prst="roundRect">
            <a:avLst>
              <a:gd name="adj" fmla="val 2727"/>
            </a:avLst>
          </a:prstGeom>
          <a:solidFill>
            <a:schemeClr val="bg1">
              <a:lumMod val="95000"/>
            </a:schemeClr>
          </a:solidFill>
          <a:ln>
            <a:noFill/>
          </a:ln>
        </p:spPr>
        <p:txBody>
          <a:bodyPr lIns="108000" tIns="108000" bIns="1224000" anchor="ctr">
            <a:normAutofit/>
          </a:bodyPr>
          <a:lstStyle>
            <a:lvl1pPr marL="0" indent="0" algn="ctr">
              <a:buNone/>
              <a:defRPr sz="2200" i="0" baseline="0">
                <a:solidFill>
                  <a:schemeClr val="tx1"/>
                </a:solidFill>
              </a:defRPr>
            </a:lvl1pPr>
          </a:lstStyle>
          <a:p>
            <a:r>
              <a:rPr lang="en-GB"/>
              <a:t>[Click on the film icon to insert video]</a:t>
            </a:r>
          </a:p>
        </p:txBody>
      </p:sp>
    </p:spTree>
    <p:extLst>
      <p:ext uri="{BB962C8B-B14F-4D97-AF65-F5344CB8AC3E}">
        <p14:creationId xmlns:p14="http://schemas.microsoft.com/office/powerpoint/2010/main" val="259932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mage and Text 1">
    <p:spTree>
      <p:nvGrpSpPr>
        <p:cNvPr id="1" name=""/>
        <p:cNvGrpSpPr/>
        <p:nvPr/>
      </p:nvGrpSpPr>
      <p:grpSpPr>
        <a:xfrm>
          <a:off x="0" y="0"/>
          <a:ext cx="0" cy="0"/>
          <a:chOff x="0" y="0"/>
          <a:chExt cx="0" cy="0"/>
        </a:xfrm>
      </p:grpSpPr>
      <p:sp>
        <p:nvSpPr>
          <p:cNvPr id="13" name="Picture Placeholder 8"/>
          <p:cNvSpPr>
            <a:spLocks noGrp="1"/>
          </p:cNvSpPr>
          <p:nvPr>
            <p:ph type="pic" sz="quarter" idx="14" hasCustomPrompt="1"/>
          </p:nvPr>
        </p:nvSpPr>
        <p:spPr>
          <a:xfrm>
            <a:off x="8172451" y="1303338"/>
            <a:ext cx="3652838" cy="4787862"/>
          </a:xfrm>
          <a:prstGeom prst="roundRect">
            <a:avLst>
              <a:gd name="adj" fmla="val 4782"/>
            </a:avLst>
          </a:prstGeom>
          <a:solidFill>
            <a:schemeClr val="bg1">
              <a:lumMod val="95000"/>
            </a:schemeClr>
          </a:solidFill>
          <a:ln>
            <a:noFill/>
          </a:ln>
        </p:spPr>
        <p:txBody>
          <a:bodyPr lIns="180000" tIns="576000" bIns="72000" anchor="ctr">
            <a:noAutofit/>
          </a:bodyPr>
          <a:lstStyle>
            <a:lvl1pPr marL="0" indent="0" algn="ctr">
              <a:buNone/>
              <a:defRPr sz="2000" i="0" baseline="0">
                <a:solidFill>
                  <a:schemeClr val="tx1"/>
                </a:solidFill>
              </a:defRPr>
            </a:lvl1pPr>
          </a:lstStyle>
          <a:p>
            <a:r>
              <a:rPr lang="en-GB"/>
              <a:t>[Click here to insert image]</a:t>
            </a:r>
            <a:br>
              <a:rPr lang="en-GB"/>
            </a:br>
            <a:br>
              <a:rPr lang="en-GB"/>
            </a:br>
            <a:br>
              <a:rPr lang="en-GB"/>
            </a:br>
            <a:br>
              <a:rPr lang="en-GB"/>
            </a:br>
            <a:br>
              <a:rPr lang="en-GB"/>
            </a:br>
            <a:r>
              <a:rPr lang="en-GB"/>
              <a:t>[The image can then be scaled within the frame by using the ‘Crop’ feature in the ‘Picture Format’ tab of the ribbon.</a:t>
            </a:r>
            <a:r>
              <a:rPr lang="en-US"/>
              <a:t> Right click on image to add/edit alt text</a:t>
            </a:r>
            <a:r>
              <a:rPr lang="en-GB"/>
              <a:t>]</a:t>
            </a:r>
          </a:p>
        </p:txBody>
      </p:sp>
      <p:sp>
        <p:nvSpPr>
          <p:cNvPr id="9" name="Text Placeholder 6"/>
          <p:cNvSpPr>
            <a:spLocks noGrp="1"/>
          </p:cNvSpPr>
          <p:nvPr>
            <p:ph type="body" sz="quarter" idx="13" hasCustomPrompt="1"/>
          </p:nvPr>
        </p:nvSpPr>
        <p:spPr>
          <a:xfrm>
            <a:off x="365125" y="1304101"/>
            <a:ext cx="7554913" cy="449073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a:t>Click to enter text content.</a:t>
            </a:r>
            <a:br>
              <a:rPr lang="en-GB"/>
            </a:br>
            <a:r>
              <a:rPr lang="en-US"/>
              <a:t>If text content appears too large please reduce the size of the font.</a:t>
            </a:r>
            <a:endParaRPr lang="en-GB"/>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18028571-CAC2-4896-B317-E7D2A63BDDF9}" type="datetime4">
              <a:rPr lang="en-GB" smtClean="0"/>
              <a:t>20 July 2026</a:t>
            </a:fld>
            <a:endParaRPr lang="en-GB"/>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r>
              <a:rPr lang="en-GB"/>
              <a:t>Confidential under GSK NDA</a:t>
            </a:r>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5" y="5792400"/>
            <a:ext cx="7555231" cy="298800"/>
          </a:xfrm>
        </p:spPr>
        <p:txBody>
          <a:bodyPr lIns="0" tIns="72000" rIns="0" bIns="72000" anchor="b">
            <a:noAutofit/>
          </a:bodyPr>
          <a:lstStyle>
            <a:lvl1pPr marL="0" indent="0">
              <a:spcBef>
                <a:spcPts val="0"/>
              </a:spcBef>
              <a:spcAft>
                <a:spcPts val="0"/>
              </a:spcAft>
              <a:buNone/>
              <a:defRPr sz="12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a:t>Insert Source text</a:t>
            </a:r>
          </a:p>
        </p:txBody>
      </p:sp>
      <p:sp>
        <p:nvSpPr>
          <p:cNvPr id="10" name="Title 1">
            <a:extLst>
              <a:ext uri="{FF2B5EF4-FFF2-40B4-BE49-F238E27FC236}">
                <a16:creationId xmlns:a16="http://schemas.microsoft.com/office/drawing/2014/main" id="{175B623F-E1ED-BC6F-EAB9-2F7C7BB5A0A7}"/>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4" name="Subtitle 2">
            <a:extLst>
              <a:ext uri="{FF2B5EF4-FFF2-40B4-BE49-F238E27FC236}">
                <a16:creationId xmlns:a16="http://schemas.microsoft.com/office/drawing/2014/main" id="{05B934E4-D94D-494D-8E16-6927D2105C4A}"/>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34C03FD5-9F96-2D56-07D6-C43A8485D860}"/>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490162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mage and Text 2">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1303338"/>
            <a:ext cx="3652838" cy="4489062"/>
          </a:xfrm>
          <a:prstGeom prst="rect">
            <a:avLst/>
          </a:prstGeom>
        </p:spPr>
        <p:txBody>
          <a:bodyPr lIns="0" tIns="180000" rIns="0" bIns="180000">
            <a:noAutofit/>
          </a:bodyPr>
          <a:lstStyle>
            <a:lvl1pPr marL="0" indent="0">
              <a:buNone/>
              <a:defRPr sz="2200"/>
            </a:lvl1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88D4743F-BAC3-4708-88BE-3F5BD10941F4}" type="datetime4">
              <a:rPr lang="en-GB" smtClean="0"/>
              <a:t>20 July 2026</a:t>
            </a:fld>
            <a:endParaRPr lang="en-GB"/>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r>
              <a:rPr lang="en-GB"/>
              <a:t>Confidential under GSK NDA</a:t>
            </a:r>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18" name="Picture Placeholder 17">
            <a:extLst>
              <a:ext uri="{FF2B5EF4-FFF2-40B4-BE49-F238E27FC236}">
                <a16:creationId xmlns:a16="http://schemas.microsoft.com/office/drawing/2014/main" id="{E219C323-6E00-D14B-433A-AFFED48030D6}"/>
              </a:ext>
            </a:extLst>
          </p:cNvPr>
          <p:cNvSpPr>
            <a:spLocks noGrp="1"/>
          </p:cNvSpPr>
          <p:nvPr>
            <p:ph type="pic" sz="quarter" idx="14" hasCustomPrompt="1"/>
          </p:nvPr>
        </p:nvSpPr>
        <p:spPr>
          <a:xfrm>
            <a:off x="4270375" y="1303337"/>
            <a:ext cx="7554913" cy="4788000"/>
          </a:xfrm>
          <a:custGeom>
            <a:avLst/>
            <a:gdLst>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26638 w 7554913"/>
              <a:gd name="connsiteY8" fmla="*/ 1402309 h 4788000"/>
              <a:gd name="connsiteX9" fmla="*/ 807326 w 7554913"/>
              <a:gd name="connsiteY9" fmla="*/ 937371 h 4788000"/>
              <a:gd name="connsiteX10" fmla="*/ 850924 w 7554913"/>
              <a:gd name="connsiteY10" fmla="*/ 893772 h 4788000"/>
              <a:gd name="connsiteX11" fmla="*/ 850924 w 7554913"/>
              <a:gd name="connsiteY11" fmla="*/ 639447 h 4788000"/>
              <a:gd name="connsiteX12" fmla="*/ 1360669 w 7554913"/>
              <a:gd name="connsiteY12" fmla="*/ 12872 h 4788000"/>
              <a:gd name="connsiteX13" fmla="*/ 1482160 w 7554913"/>
              <a:gd name="connsiteY13" fmla="*/ 815 h 4788000"/>
              <a:gd name="connsiteX14" fmla="*/ 1697038 w 7554913"/>
              <a:gd name="connsiteY14" fmla="*/ 815 h 47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54913" h="4788000">
                <a:moveTo>
                  <a:pt x="1697038" y="0"/>
                </a:moveTo>
                <a:lnTo>
                  <a:pt x="7378379" y="0"/>
                </a:lnTo>
                <a:cubicBezTo>
                  <a:pt x="7475876" y="0"/>
                  <a:pt x="7554913" y="79037"/>
                  <a:pt x="7554913" y="176534"/>
                </a:cubicBezTo>
                <a:lnTo>
                  <a:pt x="7554913" y="4611466"/>
                </a:lnTo>
                <a:cubicBezTo>
                  <a:pt x="7554913" y="4708963"/>
                  <a:pt x="7475876" y="4788000"/>
                  <a:pt x="7378379" y="4788000"/>
                </a:cubicBezTo>
                <a:lnTo>
                  <a:pt x="176534" y="4788000"/>
                </a:lnTo>
                <a:cubicBezTo>
                  <a:pt x="79037" y="4788000"/>
                  <a:pt x="0" y="4708963"/>
                  <a:pt x="0" y="4611466"/>
                </a:cubicBezTo>
                <a:lnTo>
                  <a:pt x="0" y="1489211"/>
                </a:lnTo>
                <a:lnTo>
                  <a:pt x="26638" y="1402309"/>
                </a:lnTo>
                <a:cubicBezTo>
                  <a:pt x="160159" y="1094053"/>
                  <a:pt x="469438" y="948270"/>
                  <a:pt x="807326" y="937371"/>
                </a:cubicBezTo>
                <a:cubicBezTo>
                  <a:pt x="836392" y="937371"/>
                  <a:pt x="850924" y="915573"/>
                  <a:pt x="850924" y="893772"/>
                </a:cubicBezTo>
                <a:lnTo>
                  <a:pt x="850924" y="639447"/>
                </a:lnTo>
                <a:cubicBezTo>
                  <a:pt x="850924" y="327898"/>
                  <a:pt x="1067897" y="71983"/>
                  <a:pt x="1360669" y="12872"/>
                </a:cubicBezTo>
                <a:lnTo>
                  <a:pt x="1482160" y="815"/>
                </a:lnTo>
                <a:lnTo>
                  <a:pt x="1697038" y="815"/>
                </a:lnTo>
                <a:close/>
              </a:path>
            </a:pathLst>
          </a:custGeom>
          <a:solidFill>
            <a:schemeClr val="bg1">
              <a:lumMod val="95000"/>
            </a:schemeClr>
          </a:solidFill>
          <a:ln>
            <a:noFill/>
          </a:ln>
        </p:spPr>
        <p:txBody>
          <a:bodyPr wrap="square" lIns="72000" tIns="216000" rIns="72000" bIns="72000" anchor="ctr">
            <a:noAutofit/>
          </a:bodyPr>
          <a:lstStyle>
            <a:lvl1pPr marL="0" indent="0" algn="ctr">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r>
              <a:rPr lang="en-GB"/>
              <a:t>]</a:t>
            </a:r>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72000" rIns="0" bIns="72000" anchor="b">
            <a:noAutofit/>
          </a:bodyPr>
          <a:lstStyle>
            <a:lvl1pPr marL="0" indent="0">
              <a:spcBef>
                <a:spcPts val="0"/>
              </a:spcBef>
              <a:spcAft>
                <a:spcPts val="0"/>
              </a:spcAft>
              <a:buNone/>
              <a:defRPr sz="1200"/>
            </a:lvl1pPr>
            <a:lvl2pPr marL="357542" indent="0">
              <a:buNone/>
              <a:defRPr/>
            </a:lvl2pPr>
            <a:lvl3pPr marL="719982" indent="0">
              <a:buNone/>
              <a:defRPr/>
            </a:lvl3pPr>
            <a:lvl4pPr marL="1081424" indent="0">
              <a:buNone/>
              <a:defRPr/>
            </a:lvl4pPr>
            <a:lvl5pPr marL="1439964" indent="0">
              <a:buNone/>
              <a:defRPr/>
            </a:lvl5pPr>
          </a:lstStyle>
          <a:p>
            <a:pPr lvl="0"/>
            <a:r>
              <a:rPr lang="en-US"/>
              <a:t>Insert Source text</a:t>
            </a:r>
          </a:p>
        </p:txBody>
      </p:sp>
      <p:sp>
        <p:nvSpPr>
          <p:cNvPr id="10" name="Title 1">
            <a:extLst>
              <a:ext uri="{FF2B5EF4-FFF2-40B4-BE49-F238E27FC236}">
                <a16:creationId xmlns:a16="http://schemas.microsoft.com/office/drawing/2014/main" id="{A2B84926-EEA3-D13A-C1FB-3FEC18A73AF9}"/>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1" name="Subtitle 2">
            <a:extLst>
              <a:ext uri="{FF2B5EF4-FFF2-40B4-BE49-F238E27FC236}">
                <a16:creationId xmlns:a16="http://schemas.microsoft.com/office/drawing/2014/main" id="{E1464933-1F00-DED1-00C8-C81A38AE38F7}"/>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62DCCF40-1773-437E-7AB4-DDD201CB4D42}"/>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41240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and Text 3">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1303338"/>
            <a:ext cx="3652838" cy="4489062"/>
          </a:xfrm>
          <a:prstGeom prst="rect">
            <a:avLst/>
          </a:prstGeom>
        </p:spPr>
        <p:txBody>
          <a:bodyPr lIns="0" tIns="180000" rIns="0" bIns="180000">
            <a:noAutofit/>
          </a:bodyPr>
          <a:lstStyle>
            <a:lvl1pPr marL="0" indent="0">
              <a:buNone/>
              <a:defRPr sz="2200"/>
            </a:lvl1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62AA4BF2-07D6-4FCF-8269-9D4E26553026}" type="datetime4">
              <a:rPr lang="en-GB" smtClean="0"/>
              <a:t>20 July 2026</a:t>
            </a:fld>
            <a:endParaRPr lang="en-GB"/>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r>
              <a:rPr lang="en-GB"/>
              <a:t>Confidential under GSK NDA</a:t>
            </a:r>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17" name="Picture Placeholder 16">
            <a:extLst>
              <a:ext uri="{FF2B5EF4-FFF2-40B4-BE49-F238E27FC236}">
                <a16:creationId xmlns:a16="http://schemas.microsoft.com/office/drawing/2014/main" id="{78DB8D52-5A42-AF02-A231-C38CC50C6F79}"/>
              </a:ext>
            </a:extLst>
          </p:cNvPr>
          <p:cNvSpPr>
            <a:spLocks noGrp="1"/>
          </p:cNvSpPr>
          <p:nvPr>
            <p:ph type="pic" sz="quarter" idx="14" hasCustomPrompt="1"/>
          </p:nvPr>
        </p:nvSpPr>
        <p:spPr>
          <a:xfrm>
            <a:off x="4270375" y="1303337"/>
            <a:ext cx="7554913" cy="4787900"/>
          </a:xfrm>
          <a:custGeom>
            <a:avLst/>
            <a:gdLst>
              <a:gd name="connsiteX0" fmla="*/ 176482 w 7554913"/>
              <a:gd name="connsiteY0" fmla="*/ 0 h 4787900"/>
              <a:gd name="connsiteX1" fmla="*/ 7378431 w 7554913"/>
              <a:gd name="connsiteY1" fmla="*/ 0 h 4787900"/>
              <a:gd name="connsiteX2" fmla="*/ 7554913 w 7554913"/>
              <a:gd name="connsiteY2" fmla="*/ 176482 h 4787900"/>
              <a:gd name="connsiteX3" fmla="*/ 7554913 w 7554913"/>
              <a:gd name="connsiteY3" fmla="*/ 4611418 h 4787900"/>
              <a:gd name="connsiteX4" fmla="*/ 7378431 w 7554913"/>
              <a:gd name="connsiteY4" fmla="*/ 4787900 h 4787900"/>
              <a:gd name="connsiteX5" fmla="*/ 176482 w 7554913"/>
              <a:gd name="connsiteY5" fmla="*/ 4787900 h 4787900"/>
              <a:gd name="connsiteX6" fmla="*/ 0 w 7554913"/>
              <a:gd name="connsiteY6" fmla="*/ 4611418 h 4787900"/>
              <a:gd name="connsiteX7" fmla="*/ 0 w 7554913"/>
              <a:gd name="connsiteY7" fmla="*/ 2799479 h 4787900"/>
              <a:gd name="connsiteX8" fmla="*/ 3012 w 7554913"/>
              <a:gd name="connsiteY8" fmla="*/ 2763995 h 4787900"/>
              <a:gd name="connsiteX9" fmla="*/ 415133 w 7554913"/>
              <a:gd name="connsiteY9" fmla="*/ 2402680 h 4787900"/>
              <a:gd name="connsiteX10" fmla="*/ 415133 w 7554913"/>
              <a:gd name="connsiteY10" fmla="*/ 2385217 h 4787900"/>
              <a:gd name="connsiteX11" fmla="*/ 3012 w 7554913"/>
              <a:gd name="connsiteY11" fmla="*/ 2023907 h 4787900"/>
              <a:gd name="connsiteX12" fmla="*/ 0 w 7554913"/>
              <a:gd name="connsiteY12" fmla="*/ 1988423 h 4787900"/>
              <a:gd name="connsiteX13" fmla="*/ 0 w 7554913"/>
              <a:gd name="connsiteY13" fmla="*/ 176482 h 4787900"/>
              <a:gd name="connsiteX14" fmla="*/ 176482 w 7554913"/>
              <a:gd name="connsiteY14" fmla="*/ 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54913" h="4787900">
                <a:moveTo>
                  <a:pt x="176482" y="0"/>
                </a:moveTo>
                <a:lnTo>
                  <a:pt x="7378431" y="0"/>
                </a:lnTo>
                <a:cubicBezTo>
                  <a:pt x="7475899" y="0"/>
                  <a:pt x="7554913" y="79014"/>
                  <a:pt x="7554913" y="176482"/>
                </a:cubicBezTo>
                <a:lnTo>
                  <a:pt x="7554913" y="4611418"/>
                </a:lnTo>
                <a:cubicBezTo>
                  <a:pt x="7554913" y="4708886"/>
                  <a:pt x="7475899" y="4787900"/>
                  <a:pt x="7378431" y="4787900"/>
                </a:cubicBezTo>
                <a:lnTo>
                  <a:pt x="176482" y="4787900"/>
                </a:lnTo>
                <a:cubicBezTo>
                  <a:pt x="79014" y="4787900"/>
                  <a:pt x="0" y="4708886"/>
                  <a:pt x="0" y="4611418"/>
                </a:cubicBezTo>
                <a:lnTo>
                  <a:pt x="0" y="2799479"/>
                </a:lnTo>
                <a:lnTo>
                  <a:pt x="3012" y="2763995"/>
                </a:lnTo>
                <a:cubicBezTo>
                  <a:pt x="35433" y="2581833"/>
                  <a:pt x="179824" y="2466853"/>
                  <a:pt x="415133" y="2402680"/>
                </a:cubicBezTo>
                <a:cubicBezTo>
                  <a:pt x="425612" y="2399188"/>
                  <a:pt x="425612" y="2388709"/>
                  <a:pt x="415133" y="2385217"/>
                </a:cubicBezTo>
                <a:cubicBezTo>
                  <a:pt x="179824" y="2321043"/>
                  <a:pt x="35433" y="2206068"/>
                  <a:pt x="3012" y="2023907"/>
                </a:cubicBezTo>
                <a:lnTo>
                  <a:pt x="0" y="1988423"/>
                </a:lnTo>
                <a:lnTo>
                  <a:pt x="0" y="176482"/>
                </a:lnTo>
                <a:cubicBezTo>
                  <a:pt x="0" y="79014"/>
                  <a:pt x="79014" y="0"/>
                  <a:pt x="176482" y="0"/>
                </a:cubicBezTo>
                <a:close/>
              </a:path>
            </a:pathLst>
          </a:custGeom>
          <a:solidFill>
            <a:schemeClr val="bg1">
              <a:lumMod val="95000"/>
            </a:schemeClr>
          </a:solidFill>
          <a:ln>
            <a:noFill/>
          </a:ln>
        </p:spPr>
        <p:txBody>
          <a:bodyPr wrap="square" lIns="72000" tIns="216000" rIns="72000" bIns="72000" anchor="ctr">
            <a:noAutofit/>
          </a:bodyPr>
          <a:lstStyle>
            <a:lvl1pPr marL="0" indent="0" algn="ctr">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r>
              <a:rPr lang="en-GB"/>
              <a:t>]</a:t>
            </a:r>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72000" rIns="0" bIns="72000" anchor="b">
            <a:noAutofit/>
          </a:bodyPr>
          <a:lstStyle>
            <a:lvl1pPr marL="0" indent="0">
              <a:spcBef>
                <a:spcPts val="0"/>
              </a:spcBef>
              <a:spcAft>
                <a:spcPts val="0"/>
              </a:spcAft>
              <a:buNone/>
              <a:defRPr sz="1200"/>
            </a:lvl1pPr>
            <a:lvl2pPr marL="357542" indent="0">
              <a:buNone/>
              <a:defRPr/>
            </a:lvl2pPr>
            <a:lvl3pPr marL="719982" indent="0">
              <a:buNone/>
              <a:defRPr/>
            </a:lvl3pPr>
            <a:lvl4pPr marL="1081424" indent="0">
              <a:buNone/>
              <a:defRPr/>
            </a:lvl4pPr>
            <a:lvl5pPr marL="1439964" indent="0">
              <a:buNone/>
              <a:defRPr/>
            </a:lvl5pPr>
          </a:lstStyle>
          <a:p>
            <a:pPr lvl="0"/>
            <a:r>
              <a:rPr lang="en-US"/>
              <a:t>Insert Source text</a:t>
            </a:r>
          </a:p>
        </p:txBody>
      </p:sp>
      <p:sp>
        <p:nvSpPr>
          <p:cNvPr id="10" name="Title 1">
            <a:extLst>
              <a:ext uri="{FF2B5EF4-FFF2-40B4-BE49-F238E27FC236}">
                <a16:creationId xmlns:a16="http://schemas.microsoft.com/office/drawing/2014/main" id="{D7744E32-9E6E-5A11-A7A0-D8AFCFEDB909}"/>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1" name="Subtitle 2">
            <a:extLst>
              <a:ext uri="{FF2B5EF4-FFF2-40B4-BE49-F238E27FC236}">
                <a16:creationId xmlns:a16="http://schemas.microsoft.com/office/drawing/2014/main" id="{89AF8F91-23D2-DD88-482D-7FAFF27C5132}"/>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9FB64EB2-7F66-5CCC-3945-F5156896877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1602049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mage and Text 4">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CDFB8F13-AB38-63DB-D1F1-86B6EF73DD2A}"/>
              </a:ext>
            </a:extLst>
          </p:cNvPr>
          <p:cNvSpPr>
            <a:spLocks noGrp="1"/>
          </p:cNvSpPr>
          <p:nvPr>
            <p:ph type="pic" sz="quarter" idx="14" hasCustomPrompt="1"/>
          </p:nvPr>
        </p:nvSpPr>
        <p:spPr>
          <a:xfrm>
            <a:off x="8172451" y="242888"/>
            <a:ext cx="3652838" cy="5848312"/>
          </a:xfrm>
          <a:custGeom>
            <a:avLst/>
            <a:gdLst>
              <a:gd name="connsiteX0" fmla="*/ 190569 w 3652838"/>
              <a:gd name="connsiteY0" fmla="*/ 0 h 5848312"/>
              <a:gd name="connsiteX1" fmla="*/ 3462269 w 3652838"/>
              <a:gd name="connsiteY1" fmla="*/ 0 h 5848312"/>
              <a:gd name="connsiteX2" fmla="*/ 3652838 w 3652838"/>
              <a:gd name="connsiteY2" fmla="*/ 190569 h 5848312"/>
              <a:gd name="connsiteX3" fmla="*/ 3652838 w 3652838"/>
              <a:gd name="connsiteY3" fmla="*/ 5657743 h 5848312"/>
              <a:gd name="connsiteX4" fmla="*/ 3462269 w 3652838"/>
              <a:gd name="connsiteY4" fmla="*/ 5848312 h 5848312"/>
              <a:gd name="connsiteX5" fmla="*/ 190569 w 3652838"/>
              <a:gd name="connsiteY5" fmla="*/ 5848312 h 5848312"/>
              <a:gd name="connsiteX6" fmla="*/ 0 w 3652838"/>
              <a:gd name="connsiteY6" fmla="*/ 5657743 h 5848312"/>
              <a:gd name="connsiteX7" fmla="*/ 0 w 3652838"/>
              <a:gd name="connsiteY7" fmla="*/ 3402065 h 5848312"/>
              <a:gd name="connsiteX8" fmla="*/ 7373 w 3652838"/>
              <a:gd name="connsiteY8" fmla="*/ 3315183 h 5848312"/>
              <a:gd name="connsiteX9" fmla="*/ 442863 w 3652838"/>
              <a:gd name="connsiteY9" fmla="*/ 2933380 h 5848312"/>
              <a:gd name="connsiteX10" fmla="*/ 442863 w 3652838"/>
              <a:gd name="connsiteY10" fmla="*/ 2914928 h 5848312"/>
              <a:gd name="connsiteX11" fmla="*/ 7373 w 3652838"/>
              <a:gd name="connsiteY11" fmla="*/ 2533130 h 5848312"/>
              <a:gd name="connsiteX12" fmla="*/ 0 w 3652838"/>
              <a:gd name="connsiteY12" fmla="*/ 2446249 h 5848312"/>
              <a:gd name="connsiteX13" fmla="*/ 0 w 3652838"/>
              <a:gd name="connsiteY13" fmla="*/ 190569 h 5848312"/>
              <a:gd name="connsiteX14" fmla="*/ 190569 w 3652838"/>
              <a:gd name="connsiteY14" fmla="*/ 0 h 584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52838" h="5848312">
                <a:moveTo>
                  <a:pt x="190569" y="0"/>
                </a:moveTo>
                <a:lnTo>
                  <a:pt x="3462269" y="0"/>
                </a:lnTo>
                <a:cubicBezTo>
                  <a:pt x="3567517" y="0"/>
                  <a:pt x="3652838" y="85321"/>
                  <a:pt x="3652838" y="190569"/>
                </a:cubicBezTo>
                <a:lnTo>
                  <a:pt x="3652838" y="5657743"/>
                </a:lnTo>
                <a:cubicBezTo>
                  <a:pt x="3652838" y="5762991"/>
                  <a:pt x="3567517" y="5848312"/>
                  <a:pt x="3462269" y="5848312"/>
                </a:cubicBezTo>
                <a:lnTo>
                  <a:pt x="190569" y="5848312"/>
                </a:lnTo>
                <a:cubicBezTo>
                  <a:pt x="85321" y="5848312"/>
                  <a:pt x="0" y="5762991"/>
                  <a:pt x="0" y="5657743"/>
                </a:cubicBezTo>
                <a:lnTo>
                  <a:pt x="0" y="3402065"/>
                </a:lnTo>
                <a:lnTo>
                  <a:pt x="7373" y="3315183"/>
                </a:lnTo>
                <a:cubicBezTo>
                  <a:pt x="41632" y="3122692"/>
                  <a:pt x="194211" y="3001193"/>
                  <a:pt x="442863" y="2933380"/>
                </a:cubicBezTo>
                <a:cubicBezTo>
                  <a:pt x="453936" y="2929691"/>
                  <a:pt x="453936" y="2918617"/>
                  <a:pt x="442863" y="2914928"/>
                </a:cubicBezTo>
                <a:cubicBezTo>
                  <a:pt x="194211" y="2847115"/>
                  <a:pt x="41632" y="2725620"/>
                  <a:pt x="7373" y="2533130"/>
                </a:cubicBezTo>
                <a:lnTo>
                  <a:pt x="0" y="2446249"/>
                </a:lnTo>
                <a:lnTo>
                  <a:pt x="0" y="190569"/>
                </a:lnTo>
                <a:cubicBezTo>
                  <a:pt x="0" y="85321"/>
                  <a:pt x="85321" y="0"/>
                  <a:pt x="190569" y="0"/>
                </a:cubicBezTo>
                <a:close/>
              </a:path>
            </a:pathLst>
          </a:custGeom>
          <a:solidFill>
            <a:schemeClr val="bg1">
              <a:lumMod val="95000"/>
            </a:schemeClr>
          </a:solidFill>
          <a:ln>
            <a:noFill/>
          </a:ln>
        </p:spPr>
        <p:txBody>
          <a:bodyPr wrap="square" lIns="108000" tIns="576000" rIns="108000" bIns="72000" anchor="ctr">
            <a:noAutofit/>
          </a:bodyPr>
          <a:lstStyle>
            <a:lvl1pPr marL="0" indent="0" algn="ctr">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endParaRPr lang="en-GB"/>
          </a:p>
        </p:txBody>
      </p:sp>
      <p:sp>
        <p:nvSpPr>
          <p:cNvPr id="9" name="Text Placeholder 6"/>
          <p:cNvSpPr>
            <a:spLocks noGrp="1"/>
          </p:cNvSpPr>
          <p:nvPr>
            <p:ph type="body" sz="quarter" idx="13" hasCustomPrompt="1"/>
          </p:nvPr>
        </p:nvSpPr>
        <p:spPr>
          <a:xfrm>
            <a:off x="365125" y="1304101"/>
            <a:ext cx="7554913" cy="449073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a:t>Click to enter text content.</a:t>
            </a:r>
            <a:br>
              <a:rPr lang="en-GB"/>
            </a:br>
            <a:r>
              <a:rPr lang="en-US"/>
              <a:t>If text content appears too large please reduce the size of the font.</a:t>
            </a:r>
            <a:endParaRPr lang="en-GB"/>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881D18CF-9B90-4C95-AA1A-941AF88927E5}" type="datetime4">
              <a:rPr lang="en-GB" smtClean="0"/>
              <a:t>20 July 2026</a:t>
            </a:fld>
            <a:endParaRPr lang="en-GB"/>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r>
              <a:rPr lang="en-GB"/>
              <a:t>Confidential under GSK NDA</a:t>
            </a:r>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5" y="5792400"/>
            <a:ext cx="7555231" cy="298800"/>
          </a:xfrm>
        </p:spPr>
        <p:txBody>
          <a:bodyPr lIns="0" tIns="72000" rIns="0" bIns="72000" anchor="b">
            <a:noAutofit/>
          </a:bodyPr>
          <a:lstStyle>
            <a:lvl1pPr marL="0" indent="0">
              <a:spcBef>
                <a:spcPts val="0"/>
              </a:spcBef>
              <a:spcAft>
                <a:spcPts val="0"/>
              </a:spcAft>
              <a:buNone/>
              <a:defRPr sz="12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a:t>Insert Source text</a:t>
            </a:r>
          </a:p>
        </p:txBody>
      </p:sp>
      <p:sp>
        <p:nvSpPr>
          <p:cNvPr id="10" name="Title 1">
            <a:extLst>
              <a:ext uri="{FF2B5EF4-FFF2-40B4-BE49-F238E27FC236}">
                <a16:creationId xmlns:a16="http://schemas.microsoft.com/office/drawing/2014/main" id="{C102126E-B6A8-2921-6EF1-1AB371E2B266}"/>
              </a:ext>
            </a:extLst>
          </p:cNvPr>
          <p:cNvSpPr>
            <a:spLocks noGrp="1"/>
          </p:cNvSpPr>
          <p:nvPr>
            <p:ph type="title"/>
          </p:nvPr>
        </p:nvSpPr>
        <p:spPr>
          <a:xfrm>
            <a:off x="365126" y="242888"/>
            <a:ext cx="7554912"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6475D3A0-2D66-AC67-134B-77A55D269BD2}"/>
              </a:ext>
            </a:extLst>
          </p:cNvPr>
          <p:cNvSpPr>
            <a:spLocks noGrp="1"/>
          </p:cNvSpPr>
          <p:nvPr>
            <p:ph type="subTitle" idx="1" hasCustomPrompt="1"/>
          </p:nvPr>
        </p:nvSpPr>
        <p:spPr>
          <a:xfrm>
            <a:off x="365125" y="694950"/>
            <a:ext cx="7554913"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721FF2E9-41D3-FCB0-8100-2CB5AD7B063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4110501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and Text 5">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C1E2B43-F98E-82F3-DBAA-FC13402D7C79}"/>
              </a:ext>
            </a:extLst>
          </p:cNvPr>
          <p:cNvSpPr>
            <a:spLocks noGrp="1"/>
          </p:cNvSpPr>
          <p:nvPr>
            <p:ph type="pic" sz="quarter" idx="14" hasCustomPrompt="1"/>
          </p:nvPr>
        </p:nvSpPr>
        <p:spPr>
          <a:xfrm>
            <a:off x="4270375" y="242888"/>
            <a:ext cx="7554914" cy="5848312"/>
          </a:xfrm>
          <a:custGeom>
            <a:avLst/>
            <a:gdLst>
              <a:gd name="connsiteX0" fmla="*/ 2145019 w 7554914"/>
              <a:gd name="connsiteY0" fmla="*/ 0 h 5848312"/>
              <a:gd name="connsiteX1" fmla="*/ 7370751 w 7554914"/>
              <a:gd name="connsiteY1" fmla="*/ 0 h 5848312"/>
              <a:gd name="connsiteX2" fmla="*/ 7554914 w 7554914"/>
              <a:gd name="connsiteY2" fmla="*/ 184163 h 5848312"/>
              <a:gd name="connsiteX3" fmla="*/ 7554914 w 7554914"/>
              <a:gd name="connsiteY3" fmla="*/ 5664149 h 5848312"/>
              <a:gd name="connsiteX4" fmla="*/ 7370751 w 7554914"/>
              <a:gd name="connsiteY4" fmla="*/ 5848312 h 5848312"/>
              <a:gd name="connsiteX5" fmla="*/ 184163 w 7554914"/>
              <a:gd name="connsiteY5" fmla="*/ 5848312 h 5848312"/>
              <a:gd name="connsiteX6" fmla="*/ 0 w 7554914"/>
              <a:gd name="connsiteY6" fmla="*/ 5664149 h 5848312"/>
              <a:gd name="connsiteX7" fmla="*/ 0 w 7554914"/>
              <a:gd name="connsiteY7" fmla="*/ 2161063 h 5848312"/>
              <a:gd name="connsiteX8" fmla="*/ 38324 w 7554914"/>
              <a:gd name="connsiteY8" fmla="*/ 2036037 h 5848312"/>
              <a:gd name="connsiteX9" fmla="*/ 1172960 w 7554914"/>
              <a:gd name="connsiteY9" fmla="*/ 1360305 h 5848312"/>
              <a:gd name="connsiteX10" fmla="*/ 1236325 w 7554914"/>
              <a:gd name="connsiteY10" fmla="*/ 1296939 h 5848312"/>
              <a:gd name="connsiteX11" fmla="*/ 1236325 w 7554914"/>
              <a:gd name="connsiteY11" fmla="*/ 927309 h 5848312"/>
              <a:gd name="connsiteX12" fmla="*/ 1977178 w 7554914"/>
              <a:gd name="connsiteY12" fmla="*/ 16657 h 584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554914" h="5848312">
                <a:moveTo>
                  <a:pt x="2145019" y="0"/>
                </a:moveTo>
                <a:lnTo>
                  <a:pt x="7370751" y="0"/>
                </a:lnTo>
                <a:cubicBezTo>
                  <a:pt x="7472461" y="0"/>
                  <a:pt x="7554914" y="82453"/>
                  <a:pt x="7554914" y="184163"/>
                </a:cubicBezTo>
                <a:lnTo>
                  <a:pt x="7554914" y="5664149"/>
                </a:lnTo>
                <a:cubicBezTo>
                  <a:pt x="7554914" y="5765859"/>
                  <a:pt x="7472461" y="5848312"/>
                  <a:pt x="7370751" y="5848312"/>
                </a:cubicBezTo>
                <a:lnTo>
                  <a:pt x="184163" y="5848312"/>
                </a:lnTo>
                <a:cubicBezTo>
                  <a:pt x="82453" y="5848312"/>
                  <a:pt x="0" y="5765859"/>
                  <a:pt x="0" y="5664149"/>
                </a:cubicBezTo>
                <a:lnTo>
                  <a:pt x="0" y="2161063"/>
                </a:lnTo>
                <a:lnTo>
                  <a:pt x="38324" y="2036037"/>
                </a:lnTo>
                <a:cubicBezTo>
                  <a:pt x="232381" y="1588024"/>
                  <a:pt x="681881" y="1376146"/>
                  <a:pt x="1172960" y="1360305"/>
                </a:cubicBezTo>
                <a:cubicBezTo>
                  <a:pt x="1215204" y="1360305"/>
                  <a:pt x="1236325" y="1328624"/>
                  <a:pt x="1236325" y="1296939"/>
                </a:cubicBezTo>
                <a:lnTo>
                  <a:pt x="1236325" y="927309"/>
                </a:lnTo>
                <a:cubicBezTo>
                  <a:pt x="1236325" y="474509"/>
                  <a:pt x="1551669" y="102568"/>
                  <a:pt x="1977178" y="16657"/>
                </a:cubicBezTo>
                <a:close/>
              </a:path>
            </a:pathLst>
          </a:custGeom>
          <a:solidFill>
            <a:schemeClr val="bg1">
              <a:lumMod val="95000"/>
            </a:schemeClr>
          </a:solidFill>
          <a:ln>
            <a:noFill/>
          </a:ln>
        </p:spPr>
        <p:txBody>
          <a:bodyPr wrap="square" lIns="180000" tIns="576000" bIns="72000" anchor="ctr">
            <a:noAutofit/>
          </a:bodyPr>
          <a:lstStyle>
            <a:lvl1pPr marL="0" indent="0" algn="ctr">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r>
              <a:rPr lang="en-GB"/>
              <a:t>]</a:t>
            </a:r>
          </a:p>
        </p:txBody>
      </p:sp>
      <p:sp>
        <p:nvSpPr>
          <p:cNvPr id="9" name="Text Placeholder 6"/>
          <p:cNvSpPr>
            <a:spLocks noGrp="1"/>
          </p:cNvSpPr>
          <p:nvPr>
            <p:ph type="body" sz="quarter" idx="13" hasCustomPrompt="1"/>
          </p:nvPr>
        </p:nvSpPr>
        <p:spPr>
          <a:xfrm>
            <a:off x="365126" y="1304101"/>
            <a:ext cx="3652839" cy="449073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a:t>Click to enter text content.</a:t>
            </a:r>
            <a:br>
              <a:rPr lang="en-GB"/>
            </a:br>
            <a:r>
              <a:rPr lang="en-US"/>
              <a:t>If text content appears too large please reduce the size of the font.</a:t>
            </a:r>
            <a:endParaRPr lang="en-GB"/>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A251707B-A814-4AAE-B502-D194F1068F5A}" type="datetime4">
              <a:rPr lang="en-GB" smtClean="0"/>
              <a:t>20 July 2026</a:t>
            </a:fld>
            <a:endParaRPr lang="en-GB"/>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r>
              <a:rPr lang="en-GB"/>
              <a:t>Confidential under GSK NDA</a:t>
            </a:r>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6" y="5792400"/>
            <a:ext cx="3652993" cy="298800"/>
          </a:xfrm>
        </p:spPr>
        <p:txBody>
          <a:bodyPr lIns="0" tIns="72000" rIns="0" bIns="72000" anchor="b">
            <a:noAutofit/>
          </a:bodyPr>
          <a:lstStyle>
            <a:lvl1pPr marL="0" indent="0">
              <a:spcBef>
                <a:spcPts val="0"/>
              </a:spcBef>
              <a:spcAft>
                <a:spcPts val="0"/>
              </a:spcAft>
              <a:buNone/>
              <a:defRPr sz="12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a:t>Insert Source text</a:t>
            </a:r>
          </a:p>
        </p:txBody>
      </p:sp>
      <p:sp>
        <p:nvSpPr>
          <p:cNvPr id="10" name="Title 1">
            <a:extLst>
              <a:ext uri="{FF2B5EF4-FFF2-40B4-BE49-F238E27FC236}">
                <a16:creationId xmlns:a16="http://schemas.microsoft.com/office/drawing/2014/main" id="{D08CFF33-B49E-9711-53F9-19D0CC0A16DD}"/>
              </a:ext>
            </a:extLst>
          </p:cNvPr>
          <p:cNvSpPr>
            <a:spLocks noGrp="1"/>
          </p:cNvSpPr>
          <p:nvPr>
            <p:ph type="title" hasCustomPrompt="1"/>
          </p:nvPr>
        </p:nvSpPr>
        <p:spPr>
          <a:xfrm>
            <a:off x="365126" y="242888"/>
            <a:ext cx="3905250" cy="430887"/>
          </a:xfrm>
        </p:spPr>
        <p:txBody>
          <a:bodyPr/>
          <a:lstStyle>
            <a:lvl1pPr>
              <a:defRPr/>
            </a:lvl1pPr>
          </a:lstStyle>
          <a:p>
            <a:r>
              <a:rPr lang="en-US"/>
              <a:t>Click to add title</a:t>
            </a:r>
          </a:p>
        </p:txBody>
      </p:sp>
      <p:sp>
        <p:nvSpPr>
          <p:cNvPr id="13" name="Subtitle 2">
            <a:extLst>
              <a:ext uri="{FF2B5EF4-FFF2-40B4-BE49-F238E27FC236}">
                <a16:creationId xmlns:a16="http://schemas.microsoft.com/office/drawing/2014/main" id="{FA3CE1FB-D5F5-92E1-9D34-DB8E8889C90B}"/>
              </a:ext>
            </a:extLst>
          </p:cNvPr>
          <p:cNvSpPr>
            <a:spLocks noGrp="1"/>
          </p:cNvSpPr>
          <p:nvPr>
            <p:ph type="subTitle" idx="1" hasCustomPrompt="1"/>
          </p:nvPr>
        </p:nvSpPr>
        <p:spPr>
          <a:xfrm>
            <a:off x="365125" y="694950"/>
            <a:ext cx="3905250"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CB91AF96-43AB-49E0-5AA2-71826DA9639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4263191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and Text with Subheading">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2100262"/>
            <a:ext cx="3652838" cy="3692137"/>
          </a:xfrm>
          <a:prstGeom prst="rect">
            <a:avLst/>
          </a:prstGeom>
        </p:spPr>
        <p:txBody>
          <a:bodyPr lIns="0" tIns="180000" rIns="0" bIns="180000">
            <a:noAutofit/>
          </a:bodyPr>
          <a:lstStyle>
            <a:lvl1pPr marL="0" indent="0">
              <a:buNone/>
              <a:defRPr sz="2200"/>
            </a:lvl1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31821F7A-9642-4A4D-9306-6D207CC6D22F}" type="datetime4">
              <a:rPr lang="en-GB" smtClean="0"/>
              <a:t>20 July 2026</a:t>
            </a:fld>
            <a:endParaRPr lang="en-GB"/>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r>
              <a:rPr lang="en-GB"/>
              <a:t>Confidential under GSK NDA</a:t>
            </a:r>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72000" rIns="0" bIns="72000" anchor="b">
            <a:noAutofit/>
          </a:bodyPr>
          <a:lstStyle>
            <a:lvl1pPr marL="0" indent="0">
              <a:spcBef>
                <a:spcPts val="0"/>
              </a:spcBef>
              <a:spcAft>
                <a:spcPts val="0"/>
              </a:spcAft>
              <a:buNone/>
              <a:defRPr sz="1200"/>
            </a:lvl1pPr>
            <a:lvl2pPr marL="357542" indent="0">
              <a:buNone/>
              <a:defRPr/>
            </a:lvl2pPr>
            <a:lvl3pPr marL="719982" indent="0">
              <a:buNone/>
              <a:defRPr/>
            </a:lvl3pPr>
            <a:lvl4pPr marL="1081424" indent="0">
              <a:buNone/>
              <a:defRPr/>
            </a:lvl4pPr>
            <a:lvl5pPr marL="1439964" indent="0">
              <a:buNone/>
              <a:defRPr/>
            </a:lvl5pPr>
          </a:lstStyle>
          <a:p>
            <a:pPr lvl="0"/>
            <a:r>
              <a:rPr lang="en-US"/>
              <a:t>Insert Source text</a:t>
            </a:r>
          </a:p>
        </p:txBody>
      </p:sp>
      <p:sp>
        <p:nvSpPr>
          <p:cNvPr id="25" name="Text Placeholder 24">
            <a:extLst>
              <a:ext uri="{FF2B5EF4-FFF2-40B4-BE49-F238E27FC236}">
                <a16:creationId xmlns:a16="http://schemas.microsoft.com/office/drawing/2014/main" id="{0FC42DF1-9B7E-9A5C-E40E-35292FD97B55}"/>
              </a:ext>
            </a:extLst>
          </p:cNvPr>
          <p:cNvSpPr>
            <a:spLocks noGrp="1"/>
          </p:cNvSpPr>
          <p:nvPr>
            <p:ph type="body" sz="quarter" idx="32" hasCustomPrompt="1"/>
          </p:nvPr>
        </p:nvSpPr>
        <p:spPr>
          <a:xfrm>
            <a:off x="365126" y="1303338"/>
            <a:ext cx="3480970" cy="796925"/>
          </a:xfrm>
        </p:spPr>
        <p:txBody>
          <a:bodyPr lIns="0" tIns="72000" rIns="0" bIns="72000">
            <a:noAutofit/>
          </a:bodyPr>
          <a:lstStyle>
            <a:lvl1pPr marL="0" indent="0">
              <a:buNone/>
              <a:defRPr sz="2400" b="1">
                <a:solidFill>
                  <a:schemeClr val="tx2"/>
                </a:solidFill>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edit subheading text</a:t>
            </a:r>
            <a:endParaRPr lang="en-GB"/>
          </a:p>
        </p:txBody>
      </p:sp>
      <p:sp>
        <p:nvSpPr>
          <p:cNvPr id="19" name="Picture Placeholder 18">
            <a:extLst>
              <a:ext uri="{FF2B5EF4-FFF2-40B4-BE49-F238E27FC236}">
                <a16:creationId xmlns:a16="http://schemas.microsoft.com/office/drawing/2014/main" id="{842A83F9-173D-2F5C-840B-653949B4C528}"/>
              </a:ext>
            </a:extLst>
          </p:cNvPr>
          <p:cNvSpPr>
            <a:spLocks noGrp="1"/>
          </p:cNvSpPr>
          <p:nvPr>
            <p:ph type="pic" sz="quarter" idx="14" hasCustomPrompt="1"/>
          </p:nvPr>
        </p:nvSpPr>
        <p:spPr>
          <a:xfrm>
            <a:off x="3848179" y="1303337"/>
            <a:ext cx="7977108" cy="4787900"/>
          </a:xfrm>
          <a:custGeom>
            <a:avLst/>
            <a:gdLst>
              <a:gd name="connsiteX0" fmla="*/ 594703 w 7977108"/>
              <a:gd name="connsiteY0" fmla="*/ 0 h 4787900"/>
              <a:gd name="connsiteX1" fmla="*/ 7804600 w 7977108"/>
              <a:gd name="connsiteY1" fmla="*/ 0 h 4787900"/>
              <a:gd name="connsiteX2" fmla="*/ 7977108 w 7977108"/>
              <a:gd name="connsiteY2" fmla="*/ 172508 h 4787900"/>
              <a:gd name="connsiteX3" fmla="*/ 7977108 w 7977108"/>
              <a:gd name="connsiteY3" fmla="*/ 4615392 h 4787900"/>
              <a:gd name="connsiteX4" fmla="*/ 7804600 w 7977108"/>
              <a:gd name="connsiteY4" fmla="*/ 4787900 h 4787900"/>
              <a:gd name="connsiteX5" fmla="*/ 594703 w 7977108"/>
              <a:gd name="connsiteY5" fmla="*/ 4787900 h 4787900"/>
              <a:gd name="connsiteX6" fmla="*/ 422195 w 7977108"/>
              <a:gd name="connsiteY6" fmla="*/ 4615392 h 4787900"/>
              <a:gd name="connsiteX7" fmla="*/ 422195 w 7977108"/>
              <a:gd name="connsiteY7" fmla="*/ 1002316 h 4787900"/>
              <a:gd name="connsiteX8" fmla="*/ 419981 w 7977108"/>
              <a:gd name="connsiteY8" fmla="*/ 976226 h 4787900"/>
              <a:gd name="connsiteX9" fmla="*/ 7859 w 7977108"/>
              <a:gd name="connsiteY9" fmla="*/ 614915 h 4787900"/>
              <a:gd name="connsiteX10" fmla="*/ 7859 w 7977108"/>
              <a:gd name="connsiteY10" fmla="*/ 597453 h 4787900"/>
              <a:gd name="connsiteX11" fmla="*/ 419981 w 7977108"/>
              <a:gd name="connsiteY11" fmla="*/ 236137 h 4787900"/>
              <a:gd name="connsiteX12" fmla="*/ 422195 w 7977108"/>
              <a:gd name="connsiteY12" fmla="*/ 210041 h 4787900"/>
              <a:gd name="connsiteX13" fmla="*/ 422195 w 7977108"/>
              <a:gd name="connsiteY13" fmla="*/ 172508 h 4787900"/>
              <a:gd name="connsiteX14" fmla="*/ 594703 w 7977108"/>
              <a:gd name="connsiteY14" fmla="*/ 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977108" h="4787900">
                <a:moveTo>
                  <a:pt x="594703" y="0"/>
                </a:moveTo>
                <a:lnTo>
                  <a:pt x="7804600" y="0"/>
                </a:lnTo>
                <a:cubicBezTo>
                  <a:pt x="7899874" y="0"/>
                  <a:pt x="7977108" y="77234"/>
                  <a:pt x="7977108" y="172508"/>
                </a:cubicBezTo>
                <a:lnTo>
                  <a:pt x="7977108" y="4615392"/>
                </a:lnTo>
                <a:cubicBezTo>
                  <a:pt x="7977108" y="4710666"/>
                  <a:pt x="7899874" y="4787900"/>
                  <a:pt x="7804600" y="4787900"/>
                </a:cubicBezTo>
                <a:lnTo>
                  <a:pt x="594703" y="4787900"/>
                </a:lnTo>
                <a:cubicBezTo>
                  <a:pt x="499429" y="4787900"/>
                  <a:pt x="422195" y="4710666"/>
                  <a:pt x="422195" y="4615392"/>
                </a:cubicBezTo>
                <a:lnTo>
                  <a:pt x="422195" y="1002316"/>
                </a:lnTo>
                <a:lnTo>
                  <a:pt x="419981" y="976226"/>
                </a:lnTo>
                <a:cubicBezTo>
                  <a:pt x="387560" y="794064"/>
                  <a:pt x="243169" y="679089"/>
                  <a:pt x="7859" y="614915"/>
                </a:cubicBezTo>
                <a:cubicBezTo>
                  <a:pt x="-2620" y="611423"/>
                  <a:pt x="-2620" y="600944"/>
                  <a:pt x="7859" y="597453"/>
                </a:cubicBezTo>
                <a:cubicBezTo>
                  <a:pt x="243169" y="533278"/>
                  <a:pt x="387560" y="418299"/>
                  <a:pt x="419981" y="236137"/>
                </a:cubicBezTo>
                <a:lnTo>
                  <a:pt x="422195" y="210041"/>
                </a:lnTo>
                <a:lnTo>
                  <a:pt x="422195" y="172508"/>
                </a:lnTo>
                <a:cubicBezTo>
                  <a:pt x="422195" y="77234"/>
                  <a:pt x="499429" y="0"/>
                  <a:pt x="594703" y="0"/>
                </a:cubicBezTo>
                <a:close/>
              </a:path>
            </a:pathLst>
          </a:custGeom>
          <a:solidFill>
            <a:schemeClr val="bg1">
              <a:lumMod val="95000"/>
            </a:schemeClr>
          </a:solidFill>
          <a:ln>
            <a:noFill/>
          </a:ln>
        </p:spPr>
        <p:txBody>
          <a:bodyPr wrap="square" lIns="900000" tIns="216000" rIns="540000" bIns="72000" anchor="ctr">
            <a:noAutofit/>
          </a:bodyPr>
          <a:lstStyle>
            <a:lvl1pPr marL="0" indent="0" algn="ctr">
              <a:lnSpc>
                <a:spcPct val="100000"/>
              </a:lnSpc>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r>
              <a:rPr lang="en-GB"/>
              <a:t>]</a:t>
            </a:r>
          </a:p>
        </p:txBody>
      </p:sp>
      <p:sp>
        <p:nvSpPr>
          <p:cNvPr id="11" name="Title 1">
            <a:extLst>
              <a:ext uri="{FF2B5EF4-FFF2-40B4-BE49-F238E27FC236}">
                <a16:creationId xmlns:a16="http://schemas.microsoft.com/office/drawing/2014/main" id="{7E92BEDA-CC1A-B239-4AEA-C3F37E214629}"/>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0750812B-2C47-57D4-77B8-4674E64952E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7DE5D052-D1E8-918C-87BF-6E3142B87FE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4124558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Image and Text 1">
    <p:spTree>
      <p:nvGrpSpPr>
        <p:cNvPr id="1" name=""/>
        <p:cNvGrpSpPr/>
        <p:nvPr/>
      </p:nvGrpSpPr>
      <p:grpSpPr>
        <a:xfrm>
          <a:off x="0" y="0"/>
          <a:ext cx="0" cy="0"/>
          <a:chOff x="0" y="0"/>
          <a:chExt cx="0" cy="0"/>
        </a:xfrm>
      </p:grpSpPr>
      <p:sp>
        <p:nvSpPr>
          <p:cNvPr id="19" name="Text Placeholder 6"/>
          <p:cNvSpPr>
            <a:spLocks noGrp="1"/>
          </p:cNvSpPr>
          <p:nvPr>
            <p:ph type="body" sz="quarter" idx="13" hasCustomPrompt="1"/>
          </p:nvPr>
        </p:nvSpPr>
        <p:spPr>
          <a:xfrm>
            <a:off x="365126" y="1303338"/>
            <a:ext cx="5602288" cy="478592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a:t>Click to enter text content. </a:t>
            </a:r>
            <a:r>
              <a:rPr lang="en-US"/>
              <a:t>If text content appears too large please reduce the size of the font.</a:t>
            </a:r>
            <a:endParaRPr lang="en-GB"/>
          </a:p>
          <a:p>
            <a:pPr lvl="1"/>
            <a:r>
              <a:rPr lang="en-GB"/>
              <a:t>Second level</a:t>
            </a:r>
          </a:p>
          <a:p>
            <a:pPr lvl="2"/>
            <a:r>
              <a:rPr lang="en-GB"/>
              <a:t>Third level</a:t>
            </a:r>
          </a:p>
          <a:p>
            <a:pPr lvl="3"/>
            <a:r>
              <a:rPr lang="en-GB"/>
              <a:t>Fourth level</a:t>
            </a:r>
          </a:p>
          <a:p>
            <a:pPr lvl="4"/>
            <a:r>
              <a:rPr lang="en-GB"/>
              <a:t>Fifth level</a:t>
            </a:r>
          </a:p>
        </p:txBody>
      </p:sp>
      <p:sp>
        <p:nvSpPr>
          <p:cNvPr id="20" name="Picture Placeholder 8"/>
          <p:cNvSpPr>
            <a:spLocks noGrp="1"/>
          </p:cNvSpPr>
          <p:nvPr>
            <p:ph type="pic" sz="quarter" idx="14" hasCustomPrompt="1"/>
          </p:nvPr>
        </p:nvSpPr>
        <p:spPr>
          <a:xfrm>
            <a:off x="6223001" y="1303338"/>
            <a:ext cx="5602288" cy="2049077"/>
          </a:xfrm>
          <a:prstGeom prst="roundRect">
            <a:avLst>
              <a:gd name="adj" fmla="val 8542"/>
            </a:avLst>
          </a:prstGeom>
          <a:solidFill>
            <a:schemeClr val="bg1">
              <a:lumMod val="95000"/>
            </a:schemeClr>
          </a:solidFill>
          <a:ln>
            <a:noFill/>
          </a:ln>
        </p:spPr>
        <p:txBody>
          <a:bodyPr lIns="0" tIns="180000" rIns="0" bIns="72000" anchor="ctr">
            <a:noAutofit/>
          </a:bodyPr>
          <a:lstStyle>
            <a:lvl1pPr marL="0" indent="0" algn="ctr">
              <a:buNone/>
              <a:defRPr sz="1600" i="0" baseline="0">
                <a:solidFill>
                  <a:schemeClr val="tx1"/>
                </a:solidFill>
              </a:defRPr>
            </a:lvl1pPr>
          </a:lstStyle>
          <a:p>
            <a:r>
              <a:rPr lang="en-GB"/>
              <a:t>[Click here to insert image]</a:t>
            </a:r>
            <a:br>
              <a:rPr lang="en-GB"/>
            </a:br>
            <a:br>
              <a:rPr lang="en-GB"/>
            </a:br>
            <a:br>
              <a:rPr lang="en-GB"/>
            </a:br>
            <a:r>
              <a:rPr lang="en-GB"/>
              <a:t>[</a:t>
            </a:r>
            <a:r>
              <a:rPr lang="en-US"/>
              <a:t>The image can then be scaled within the frame by </a:t>
            </a:r>
            <a:br>
              <a:rPr lang="en-US"/>
            </a:br>
            <a:r>
              <a:rPr lang="en-US"/>
              <a:t>using the ‘Crop’ feature in the ‘Picture Format’ tab </a:t>
            </a:r>
            <a:br>
              <a:rPr lang="en-US"/>
            </a:br>
            <a:r>
              <a:rPr lang="en-US"/>
              <a:t>of the ribbon. Right click on image to add/edit alt text]</a:t>
            </a:r>
            <a:endParaRPr lang="en-GB"/>
          </a:p>
        </p:txBody>
      </p:sp>
      <p:sp>
        <p:nvSpPr>
          <p:cNvPr id="21" name="Text Placeholder 7"/>
          <p:cNvSpPr>
            <a:spLocks noGrp="1"/>
          </p:cNvSpPr>
          <p:nvPr>
            <p:ph type="body" sz="quarter" idx="26" hasCustomPrompt="1"/>
          </p:nvPr>
        </p:nvSpPr>
        <p:spPr>
          <a:xfrm>
            <a:off x="6223001" y="3383480"/>
            <a:ext cx="5602287"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a:t>Insert Source text</a:t>
            </a:r>
          </a:p>
        </p:txBody>
      </p:sp>
      <p:sp>
        <p:nvSpPr>
          <p:cNvPr id="35" name="Picture Placeholder 8"/>
          <p:cNvSpPr>
            <a:spLocks noGrp="1" noChangeAspect="1"/>
          </p:cNvSpPr>
          <p:nvPr>
            <p:ph type="pic" sz="quarter" idx="27" hasCustomPrompt="1"/>
          </p:nvPr>
        </p:nvSpPr>
        <p:spPr>
          <a:xfrm>
            <a:off x="6223001" y="3713345"/>
            <a:ext cx="5602288" cy="2048029"/>
          </a:xfrm>
          <a:prstGeom prst="roundRect">
            <a:avLst>
              <a:gd name="adj" fmla="val 8498"/>
            </a:avLst>
          </a:prstGeom>
          <a:solidFill>
            <a:schemeClr val="bg1">
              <a:lumMod val="95000"/>
            </a:schemeClr>
          </a:solidFill>
          <a:ln>
            <a:noFill/>
          </a:ln>
        </p:spPr>
        <p:txBody>
          <a:bodyPr lIns="0" tIns="180000" rIns="0" bIns="72000" anchor="ctr">
            <a:noAutofit/>
          </a:bodyPr>
          <a:lstStyle>
            <a:lvl1pPr marL="0" indent="0" algn="ctr">
              <a:buNone/>
              <a:defRPr sz="1600" i="0" baseline="0">
                <a:solidFill>
                  <a:schemeClr val="tx1"/>
                </a:solidFill>
              </a:defRPr>
            </a:lvl1pPr>
          </a:lstStyle>
          <a:p>
            <a:r>
              <a:rPr lang="en-GB"/>
              <a:t>[Click here to insert image]</a:t>
            </a:r>
            <a:br>
              <a:rPr lang="en-GB"/>
            </a:br>
            <a:br>
              <a:rPr lang="en-GB"/>
            </a:br>
            <a:br>
              <a:rPr lang="en-GB"/>
            </a:br>
            <a:r>
              <a:rPr lang="en-GB"/>
              <a:t>[</a:t>
            </a:r>
            <a:r>
              <a:rPr lang="en-US"/>
              <a:t>The image can then be scaled within the frame by </a:t>
            </a:r>
            <a:br>
              <a:rPr lang="en-US"/>
            </a:br>
            <a:r>
              <a:rPr lang="en-US"/>
              <a:t>using the ‘Crop’ feature in the ‘Picture Format’ tab </a:t>
            </a:r>
            <a:br>
              <a:rPr lang="en-US"/>
            </a:br>
            <a:r>
              <a:rPr lang="en-US"/>
              <a:t>of the ribbon. Right click on image to add/edit alt text]</a:t>
            </a:r>
            <a:endParaRPr lang="en-GB"/>
          </a:p>
        </p:txBody>
      </p:sp>
      <p:sp>
        <p:nvSpPr>
          <p:cNvPr id="36" name="Text Placeholder 7"/>
          <p:cNvSpPr>
            <a:spLocks noGrp="1"/>
          </p:cNvSpPr>
          <p:nvPr>
            <p:ph type="body" sz="quarter" idx="28" hasCustomPrompt="1"/>
          </p:nvPr>
        </p:nvSpPr>
        <p:spPr>
          <a:xfrm>
            <a:off x="6223001" y="5792438"/>
            <a:ext cx="5602287"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a:t>Insert Source text</a:t>
            </a:r>
          </a:p>
        </p:txBody>
      </p:sp>
      <p:sp>
        <p:nvSpPr>
          <p:cNvPr id="5" name="Date Placeholder 4"/>
          <p:cNvSpPr>
            <a:spLocks noGrp="1"/>
          </p:cNvSpPr>
          <p:nvPr>
            <p:ph type="dt" sz="half" idx="30"/>
          </p:nvPr>
        </p:nvSpPr>
        <p:spPr/>
        <p:txBody>
          <a:bodyPr/>
          <a:lstStyle>
            <a:lvl1pPr algn="r">
              <a:defRPr/>
            </a:lvl1pPr>
          </a:lstStyle>
          <a:p>
            <a:fld id="{15AB0347-6BC4-4226-BDAC-D86F23F5791B}" type="datetime4">
              <a:rPr lang="en-GB" smtClean="0"/>
              <a:t>20 July 2026</a:t>
            </a:fld>
            <a:endParaRPr lang="en-GB"/>
          </a:p>
        </p:txBody>
      </p:sp>
      <p:sp>
        <p:nvSpPr>
          <p:cNvPr id="7" name="Footer Placeholder 6"/>
          <p:cNvSpPr>
            <a:spLocks noGrp="1"/>
          </p:cNvSpPr>
          <p:nvPr>
            <p:ph type="ftr" sz="quarter" idx="31"/>
          </p:nvPr>
        </p:nvSpPr>
        <p:spPr/>
        <p:txBody>
          <a:bodyPr/>
          <a:lstStyle>
            <a:lvl1pPr>
              <a:defRPr/>
            </a:lvl1pPr>
          </a:lstStyle>
          <a:p>
            <a:r>
              <a:rPr lang="en-GB"/>
              <a:t>Confidential under GSK NDA</a:t>
            </a:r>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a:p>
        </p:txBody>
      </p:sp>
      <p:sp>
        <p:nvSpPr>
          <p:cNvPr id="12" name="Title 1">
            <a:extLst>
              <a:ext uri="{FF2B5EF4-FFF2-40B4-BE49-F238E27FC236}">
                <a16:creationId xmlns:a16="http://schemas.microsoft.com/office/drawing/2014/main" id="{A6A279A2-5C44-FF2E-B384-6E6E2D4B3927}"/>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AA0BC10E-676C-5CAF-16CC-96A54F223F7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3C5935EB-46DA-41B4-C62C-331192886E84}"/>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1127212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Image and Text 2">
    <p:spTree>
      <p:nvGrpSpPr>
        <p:cNvPr id="1" name=""/>
        <p:cNvGrpSpPr/>
        <p:nvPr/>
      </p:nvGrpSpPr>
      <p:grpSpPr>
        <a:xfrm>
          <a:off x="0" y="0"/>
          <a:ext cx="0" cy="0"/>
          <a:chOff x="0" y="0"/>
          <a:chExt cx="0" cy="0"/>
        </a:xfrm>
      </p:grpSpPr>
      <p:sp>
        <p:nvSpPr>
          <p:cNvPr id="19" name="Text Placeholder 6"/>
          <p:cNvSpPr>
            <a:spLocks noGrp="1"/>
          </p:cNvSpPr>
          <p:nvPr>
            <p:ph type="body" sz="quarter" idx="13" hasCustomPrompt="1"/>
          </p:nvPr>
        </p:nvSpPr>
        <p:spPr>
          <a:xfrm>
            <a:off x="365125" y="1303338"/>
            <a:ext cx="3652838" cy="478592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a:t>Click to enter text content. </a:t>
            </a:r>
            <a:r>
              <a:rPr lang="en-US"/>
              <a:t>If text content appears too large please reduce the size of the font.</a:t>
            </a:r>
            <a:endParaRPr lang="en-GB"/>
          </a:p>
          <a:p>
            <a:pPr lvl="1"/>
            <a:r>
              <a:rPr lang="en-GB"/>
              <a:t>Second level</a:t>
            </a:r>
          </a:p>
          <a:p>
            <a:pPr lvl="2"/>
            <a:r>
              <a:rPr lang="en-GB"/>
              <a:t>Third level</a:t>
            </a:r>
          </a:p>
          <a:p>
            <a:pPr lvl="3"/>
            <a:r>
              <a:rPr lang="en-GB"/>
              <a:t>Fourth level</a:t>
            </a:r>
          </a:p>
          <a:p>
            <a:pPr lvl="4"/>
            <a:r>
              <a:rPr lang="en-GB"/>
              <a:t>Fifth level</a:t>
            </a:r>
          </a:p>
        </p:txBody>
      </p:sp>
      <p:sp>
        <p:nvSpPr>
          <p:cNvPr id="20" name="Picture Placeholder 8"/>
          <p:cNvSpPr>
            <a:spLocks noGrp="1"/>
          </p:cNvSpPr>
          <p:nvPr>
            <p:ph type="pic" sz="quarter" idx="14" hasCustomPrompt="1"/>
          </p:nvPr>
        </p:nvSpPr>
        <p:spPr>
          <a:xfrm>
            <a:off x="4270375" y="1303338"/>
            <a:ext cx="3649663" cy="4471820"/>
          </a:xfrm>
          <a:prstGeom prst="roundRect">
            <a:avLst>
              <a:gd name="adj" fmla="val 4843"/>
            </a:avLst>
          </a:prstGeom>
          <a:solidFill>
            <a:schemeClr val="bg1">
              <a:lumMod val="95000"/>
            </a:schemeClr>
          </a:solidFill>
          <a:ln>
            <a:noFill/>
          </a:ln>
        </p:spPr>
        <p:txBody>
          <a:bodyPr lIns="0" tIns="180000" rIns="0" bIns="72000" anchor="ctr">
            <a:normAutofit/>
          </a:bodyPr>
          <a:lstStyle>
            <a:lvl1pPr marL="0" indent="0" algn="ctr">
              <a:buNone/>
              <a:defRPr sz="18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endParaRPr lang="en-GB"/>
          </a:p>
        </p:txBody>
      </p:sp>
      <p:sp>
        <p:nvSpPr>
          <p:cNvPr id="21" name="Text Placeholder 7"/>
          <p:cNvSpPr>
            <a:spLocks noGrp="1"/>
          </p:cNvSpPr>
          <p:nvPr>
            <p:ph type="body" sz="quarter" idx="26" hasCustomPrompt="1"/>
          </p:nvPr>
        </p:nvSpPr>
        <p:spPr>
          <a:xfrm>
            <a:off x="4270376" y="5790465"/>
            <a:ext cx="3650970"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a:t>Insert Source text</a:t>
            </a:r>
          </a:p>
        </p:txBody>
      </p:sp>
      <p:sp>
        <p:nvSpPr>
          <p:cNvPr id="35" name="Picture Placeholder 8"/>
          <p:cNvSpPr>
            <a:spLocks noGrp="1"/>
          </p:cNvSpPr>
          <p:nvPr>
            <p:ph type="pic" sz="quarter" idx="27" hasCustomPrompt="1"/>
          </p:nvPr>
        </p:nvSpPr>
        <p:spPr>
          <a:xfrm>
            <a:off x="8172450" y="1303338"/>
            <a:ext cx="3650400" cy="4471200"/>
          </a:xfrm>
          <a:prstGeom prst="roundRect">
            <a:avLst>
              <a:gd name="adj" fmla="val 5084"/>
            </a:avLst>
          </a:prstGeom>
          <a:solidFill>
            <a:schemeClr val="bg1">
              <a:lumMod val="95000"/>
            </a:schemeClr>
          </a:solidFill>
          <a:ln>
            <a:noFill/>
          </a:ln>
        </p:spPr>
        <p:txBody>
          <a:bodyPr lIns="0" tIns="180000" rIns="0" bIns="72000" anchor="ctr">
            <a:normAutofit/>
          </a:bodyPr>
          <a:lstStyle>
            <a:lvl1pPr marL="0" indent="0" algn="ctr">
              <a:buNone/>
              <a:defRPr sz="18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endParaRPr lang="en-GB"/>
          </a:p>
        </p:txBody>
      </p:sp>
      <p:sp>
        <p:nvSpPr>
          <p:cNvPr id="36" name="Text Placeholder 7"/>
          <p:cNvSpPr>
            <a:spLocks noGrp="1"/>
          </p:cNvSpPr>
          <p:nvPr>
            <p:ph type="body" sz="quarter" idx="28" hasCustomPrompt="1"/>
          </p:nvPr>
        </p:nvSpPr>
        <p:spPr>
          <a:xfrm>
            <a:off x="8172450" y="5792438"/>
            <a:ext cx="3652838"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a:t>Insert Source text</a:t>
            </a:r>
          </a:p>
        </p:txBody>
      </p:sp>
      <p:sp>
        <p:nvSpPr>
          <p:cNvPr id="5" name="Date Placeholder 4"/>
          <p:cNvSpPr>
            <a:spLocks noGrp="1"/>
          </p:cNvSpPr>
          <p:nvPr>
            <p:ph type="dt" sz="half" idx="30"/>
          </p:nvPr>
        </p:nvSpPr>
        <p:spPr/>
        <p:txBody>
          <a:bodyPr/>
          <a:lstStyle>
            <a:lvl1pPr algn="r">
              <a:defRPr/>
            </a:lvl1pPr>
          </a:lstStyle>
          <a:p>
            <a:fld id="{A8E902E2-9ABD-488E-8332-724F8623D284}" type="datetime4">
              <a:rPr lang="en-GB" smtClean="0"/>
              <a:t>20 July 2026</a:t>
            </a:fld>
            <a:endParaRPr lang="en-GB"/>
          </a:p>
        </p:txBody>
      </p:sp>
      <p:sp>
        <p:nvSpPr>
          <p:cNvPr id="7" name="Footer Placeholder 6"/>
          <p:cNvSpPr>
            <a:spLocks noGrp="1"/>
          </p:cNvSpPr>
          <p:nvPr>
            <p:ph type="ftr" sz="quarter" idx="31"/>
          </p:nvPr>
        </p:nvSpPr>
        <p:spPr/>
        <p:txBody>
          <a:bodyPr/>
          <a:lstStyle>
            <a:lvl1pPr>
              <a:defRPr/>
            </a:lvl1pPr>
          </a:lstStyle>
          <a:p>
            <a:r>
              <a:rPr lang="en-GB"/>
              <a:t>Confidential under GSK NDA</a:t>
            </a:r>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a:p>
        </p:txBody>
      </p:sp>
      <p:sp>
        <p:nvSpPr>
          <p:cNvPr id="12" name="Title 1">
            <a:extLst>
              <a:ext uri="{FF2B5EF4-FFF2-40B4-BE49-F238E27FC236}">
                <a16:creationId xmlns:a16="http://schemas.microsoft.com/office/drawing/2014/main" id="{62258698-286C-88FD-70CB-ECDC7EEFE76B}"/>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9D5C8553-9D06-642B-D0A0-1E6DF4F5CE6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6C8E6EBF-1077-88CA-250A-BC3D173D625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266071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7CB5633-6431-4284-9ADB-4E6151258883}"/>
              </a:ext>
            </a:extLst>
          </p:cNvPr>
          <p:cNvSpPr>
            <a:spLocks noGrp="1"/>
          </p:cNvSpPr>
          <p:nvPr>
            <p:ph type="dt" sz="half" idx="30"/>
          </p:nvPr>
        </p:nvSpPr>
        <p:spPr/>
        <p:txBody>
          <a:bodyPr/>
          <a:lstStyle/>
          <a:p>
            <a:fld id="{E9AA463D-EB39-481A-8F5D-E99FA6D3C4F7}" type="datetime4">
              <a:rPr lang="en-GB" smtClean="0"/>
              <a:t>20 July 2026</a:t>
            </a:fld>
            <a:endParaRPr lang="en-GB"/>
          </a:p>
        </p:txBody>
      </p:sp>
      <p:sp>
        <p:nvSpPr>
          <p:cNvPr id="5" name="Footer Placeholder 4">
            <a:extLst>
              <a:ext uri="{FF2B5EF4-FFF2-40B4-BE49-F238E27FC236}">
                <a16:creationId xmlns:a16="http://schemas.microsoft.com/office/drawing/2014/main" id="{195C4D40-638F-40AA-882E-9A6164C79568}"/>
              </a:ext>
            </a:extLst>
          </p:cNvPr>
          <p:cNvSpPr>
            <a:spLocks noGrp="1"/>
          </p:cNvSpPr>
          <p:nvPr>
            <p:ph type="ftr" sz="quarter" idx="31"/>
          </p:nvPr>
        </p:nvSpPr>
        <p:spPr/>
        <p:txBody>
          <a:bodyPr/>
          <a:lstStyle/>
          <a:p>
            <a:r>
              <a:rPr lang="en-GB"/>
              <a:t>Confidential under GSK NDA</a:t>
            </a:r>
          </a:p>
        </p:txBody>
      </p:sp>
      <p:sp>
        <p:nvSpPr>
          <p:cNvPr id="9" name="Slide Number Placeholder 8">
            <a:extLst>
              <a:ext uri="{FF2B5EF4-FFF2-40B4-BE49-F238E27FC236}">
                <a16:creationId xmlns:a16="http://schemas.microsoft.com/office/drawing/2014/main" id="{223E44AE-F798-4C55-8F91-872E4A737927}"/>
              </a:ext>
            </a:extLst>
          </p:cNvPr>
          <p:cNvSpPr>
            <a:spLocks noGrp="1"/>
          </p:cNvSpPr>
          <p:nvPr>
            <p:ph type="sldNum" sz="quarter" idx="32"/>
          </p:nvPr>
        </p:nvSpPr>
        <p:spPr/>
        <p:txBody>
          <a:bodyPr/>
          <a:lstStyle/>
          <a:p>
            <a:fld id="{9F9F533D-B52E-4A2F-BF72-0ADD2D94BD75}" type="slidenum">
              <a:rPr lang="en-GB" smtClean="0"/>
              <a:pPr/>
              <a:t>‹#›</a:t>
            </a:fld>
            <a:endParaRPr lang="en-GB"/>
          </a:p>
        </p:txBody>
      </p:sp>
      <p:sp>
        <p:nvSpPr>
          <p:cNvPr id="3" name="Text Placeholder 2">
            <a:extLst>
              <a:ext uri="{FF2B5EF4-FFF2-40B4-BE49-F238E27FC236}">
                <a16:creationId xmlns:a16="http://schemas.microsoft.com/office/drawing/2014/main" id="{328B3A39-D8B7-A2C0-89DB-5314F345D351}"/>
              </a:ext>
            </a:extLst>
          </p:cNvPr>
          <p:cNvSpPr>
            <a:spLocks noGrp="1"/>
          </p:cNvSpPr>
          <p:nvPr>
            <p:ph type="body" sz="quarter" idx="33" hasCustomPrompt="1"/>
          </p:nvPr>
        </p:nvSpPr>
        <p:spPr>
          <a:xfrm>
            <a:off x="365125" y="5792400"/>
            <a:ext cx="11460163"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
        <p:nvSpPr>
          <p:cNvPr id="7" name="Table Placeholder 6">
            <a:extLst>
              <a:ext uri="{FF2B5EF4-FFF2-40B4-BE49-F238E27FC236}">
                <a16:creationId xmlns:a16="http://schemas.microsoft.com/office/drawing/2014/main" id="{2E2FA657-3A41-6C8A-7C73-5FF4D5761F76}"/>
              </a:ext>
            </a:extLst>
          </p:cNvPr>
          <p:cNvSpPr>
            <a:spLocks noGrp="1"/>
          </p:cNvSpPr>
          <p:nvPr>
            <p:ph type="tbl" sz="quarter" idx="34" hasCustomPrompt="1"/>
          </p:nvPr>
        </p:nvSpPr>
        <p:spPr>
          <a:xfrm>
            <a:off x="365119" y="1303338"/>
            <a:ext cx="11459625" cy="4489450"/>
          </a:xfrm>
        </p:spPr>
        <p:txBody>
          <a:bodyPr lIns="0" rIns="0">
            <a:noAutofit/>
          </a:bodyPr>
          <a:lstStyle>
            <a:lvl1pPr>
              <a:defRPr/>
            </a:lvl1pPr>
          </a:lstStyle>
          <a:p>
            <a:r>
              <a:rPr lang="en-GB"/>
              <a:t>Click TABLE icon to insert table.</a:t>
            </a:r>
          </a:p>
        </p:txBody>
      </p:sp>
      <p:sp>
        <p:nvSpPr>
          <p:cNvPr id="10" name="Title 1">
            <a:extLst>
              <a:ext uri="{FF2B5EF4-FFF2-40B4-BE49-F238E27FC236}">
                <a16:creationId xmlns:a16="http://schemas.microsoft.com/office/drawing/2014/main" id="{F7A4EB32-D948-C409-F1E5-9F712310D58D}"/>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1E30107F-6B57-65E7-BD35-CCB493B8D6D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0F611BFB-31C6-6656-90B9-BB1C81967B2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1059827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Graph">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7CB5633-6431-4284-9ADB-4E6151258883}"/>
              </a:ext>
            </a:extLst>
          </p:cNvPr>
          <p:cNvSpPr>
            <a:spLocks noGrp="1"/>
          </p:cNvSpPr>
          <p:nvPr>
            <p:ph type="dt" sz="half" idx="30"/>
          </p:nvPr>
        </p:nvSpPr>
        <p:spPr/>
        <p:txBody>
          <a:bodyPr/>
          <a:lstStyle/>
          <a:p>
            <a:fld id="{A5AA8334-93D0-4AD9-A5D2-5021CAE1CD38}" type="datetime4">
              <a:rPr lang="en-GB" smtClean="0"/>
              <a:t>20 July 2026</a:t>
            </a:fld>
            <a:endParaRPr lang="en-GB"/>
          </a:p>
        </p:txBody>
      </p:sp>
      <p:sp>
        <p:nvSpPr>
          <p:cNvPr id="5" name="Footer Placeholder 4">
            <a:extLst>
              <a:ext uri="{FF2B5EF4-FFF2-40B4-BE49-F238E27FC236}">
                <a16:creationId xmlns:a16="http://schemas.microsoft.com/office/drawing/2014/main" id="{195C4D40-638F-40AA-882E-9A6164C79568}"/>
              </a:ext>
            </a:extLst>
          </p:cNvPr>
          <p:cNvSpPr>
            <a:spLocks noGrp="1"/>
          </p:cNvSpPr>
          <p:nvPr>
            <p:ph type="ftr" sz="quarter" idx="31"/>
          </p:nvPr>
        </p:nvSpPr>
        <p:spPr/>
        <p:txBody>
          <a:bodyPr/>
          <a:lstStyle/>
          <a:p>
            <a:r>
              <a:rPr lang="en-GB"/>
              <a:t>Confidential under GSK NDA</a:t>
            </a:r>
          </a:p>
        </p:txBody>
      </p:sp>
      <p:sp>
        <p:nvSpPr>
          <p:cNvPr id="9" name="Slide Number Placeholder 8">
            <a:extLst>
              <a:ext uri="{FF2B5EF4-FFF2-40B4-BE49-F238E27FC236}">
                <a16:creationId xmlns:a16="http://schemas.microsoft.com/office/drawing/2014/main" id="{223E44AE-F798-4C55-8F91-872E4A737927}"/>
              </a:ext>
            </a:extLst>
          </p:cNvPr>
          <p:cNvSpPr>
            <a:spLocks noGrp="1"/>
          </p:cNvSpPr>
          <p:nvPr>
            <p:ph type="sldNum" sz="quarter" idx="32"/>
          </p:nvPr>
        </p:nvSpPr>
        <p:spPr/>
        <p:txBody>
          <a:bodyPr/>
          <a:lstStyle/>
          <a:p>
            <a:fld id="{9F9F533D-B52E-4A2F-BF72-0ADD2D94BD75}" type="slidenum">
              <a:rPr lang="en-GB" smtClean="0"/>
              <a:pPr/>
              <a:t>‹#›</a:t>
            </a:fld>
            <a:endParaRPr lang="en-GB"/>
          </a:p>
        </p:txBody>
      </p:sp>
      <p:sp>
        <p:nvSpPr>
          <p:cNvPr id="3" name="Text Placeholder 2">
            <a:extLst>
              <a:ext uri="{FF2B5EF4-FFF2-40B4-BE49-F238E27FC236}">
                <a16:creationId xmlns:a16="http://schemas.microsoft.com/office/drawing/2014/main" id="{328B3A39-D8B7-A2C0-89DB-5314F345D351}"/>
              </a:ext>
            </a:extLst>
          </p:cNvPr>
          <p:cNvSpPr>
            <a:spLocks noGrp="1"/>
          </p:cNvSpPr>
          <p:nvPr>
            <p:ph type="body" sz="quarter" idx="33" hasCustomPrompt="1"/>
          </p:nvPr>
        </p:nvSpPr>
        <p:spPr>
          <a:xfrm>
            <a:off x="366713" y="5792400"/>
            <a:ext cx="11460164"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
        <p:nvSpPr>
          <p:cNvPr id="7" name="Chart Placeholder 6">
            <a:extLst>
              <a:ext uri="{FF2B5EF4-FFF2-40B4-BE49-F238E27FC236}">
                <a16:creationId xmlns:a16="http://schemas.microsoft.com/office/drawing/2014/main" id="{8994D5C1-7836-1E91-87FA-56E472221EB3}"/>
              </a:ext>
            </a:extLst>
          </p:cNvPr>
          <p:cNvSpPr>
            <a:spLocks noGrp="1"/>
          </p:cNvSpPr>
          <p:nvPr>
            <p:ph type="chart" sz="quarter" idx="34" hasCustomPrompt="1"/>
          </p:nvPr>
        </p:nvSpPr>
        <p:spPr>
          <a:xfrm>
            <a:off x="365125" y="1303338"/>
            <a:ext cx="11460163" cy="4489062"/>
          </a:xfrm>
        </p:spPr>
        <p:txBody>
          <a:bodyPr lIns="0" rIns="0">
            <a:noAutofit/>
          </a:bodyPr>
          <a:lstStyle>
            <a:lvl1pPr>
              <a:defRPr/>
            </a:lvl1pPr>
          </a:lstStyle>
          <a:p>
            <a:r>
              <a:rPr lang="en-GB"/>
              <a:t>Click CHART icons to insert chart.</a:t>
            </a:r>
            <a:br>
              <a:rPr lang="en-GB"/>
            </a:br>
            <a:r>
              <a:rPr lang="en-US"/>
              <a:t>Please ensure your chart title, legend, x and y axis titles are minimum 12 </a:t>
            </a:r>
            <a:r>
              <a:rPr lang="en-US" err="1"/>
              <a:t>pt</a:t>
            </a:r>
            <a:r>
              <a:rPr lang="en-US"/>
              <a:t>, Arial black for accessibility. </a:t>
            </a:r>
          </a:p>
          <a:p>
            <a:endParaRPr lang="en-GB"/>
          </a:p>
          <a:p>
            <a:endParaRPr lang="en-GB"/>
          </a:p>
        </p:txBody>
      </p:sp>
      <p:sp>
        <p:nvSpPr>
          <p:cNvPr id="10" name="Title 1">
            <a:extLst>
              <a:ext uri="{FF2B5EF4-FFF2-40B4-BE49-F238E27FC236}">
                <a16:creationId xmlns:a16="http://schemas.microsoft.com/office/drawing/2014/main" id="{20CCEE79-8221-4C6C-2397-0791C954AA8D}"/>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4091ECF0-259D-F144-9708-B8296C87B04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C3FC0E92-53E2-6353-15B7-7028E9E80A82}"/>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2987482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2E57A6D-CCB0-DF2D-0D9A-6184CE396941}"/>
              </a:ext>
            </a:extLst>
          </p:cNvPr>
          <p:cNvSpPr>
            <a:spLocks noGrp="1"/>
          </p:cNvSpPr>
          <p:nvPr>
            <p:ph type="ftr" sz="quarter" idx="10"/>
          </p:nvPr>
        </p:nvSpPr>
        <p:spPr/>
        <p:txBody>
          <a:bodyPr/>
          <a:lstStyle/>
          <a:p>
            <a:r>
              <a:rPr lang="en-GB"/>
              <a:t>Confidential under GSK NDA</a:t>
            </a:r>
          </a:p>
        </p:txBody>
      </p:sp>
      <p:sp>
        <p:nvSpPr>
          <p:cNvPr id="4" name="Slide Number Placeholder 3">
            <a:extLst>
              <a:ext uri="{FF2B5EF4-FFF2-40B4-BE49-F238E27FC236}">
                <a16:creationId xmlns:a16="http://schemas.microsoft.com/office/drawing/2014/main" id="{FC42BDB7-A7FE-AA4E-3952-EBCCAC237C98}"/>
              </a:ext>
            </a:extLst>
          </p:cNvPr>
          <p:cNvSpPr>
            <a:spLocks noGrp="1"/>
          </p:cNvSpPr>
          <p:nvPr>
            <p:ph type="sldNum" sz="quarter" idx="11"/>
          </p:nvPr>
        </p:nvSpPr>
        <p:spPr/>
        <p:txBody>
          <a:bodyPr/>
          <a:lstStyle/>
          <a:p>
            <a:fld id="{9F9F533D-B52E-4A2F-BF72-0ADD2D94BD75}" type="slidenum">
              <a:rPr lang="en-GB" smtClean="0"/>
              <a:pPr/>
              <a:t>‹#›</a:t>
            </a:fld>
            <a:endParaRPr lang="en-GB"/>
          </a:p>
        </p:txBody>
      </p:sp>
      <p:sp>
        <p:nvSpPr>
          <p:cNvPr id="5" name="Date Placeholder 4">
            <a:extLst>
              <a:ext uri="{FF2B5EF4-FFF2-40B4-BE49-F238E27FC236}">
                <a16:creationId xmlns:a16="http://schemas.microsoft.com/office/drawing/2014/main" id="{676D6505-B9A2-3A36-B9B6-3E3CF07A64AF}"/>
              </a:ext>
            </a:extLst>
          </p:cNvPr>
          <p:cNvSpPr>
            <a:spLocks noGrp="1"/>
          </p:cNvSpPr>
          <p:nvPr>
            <p:ph type="dt" sz="half" idx="12"/>
          </p:nvPr>
        </p:nvSpPr>
        <p:spPr/>
        <p:txBody>
          <a:bodyPr/>
          <a:lstStyle/>
          <a:p>
            <a:fld id="{FB65D0C1-4F3C-44D9-9C6B-35D59C6C9211}" type="datetime4">
              <a:rPr lang="en-GB" smtClean="0"/>
              <a:t>20 July 2026</a:t>
            </a:fld>
            <a:endParaRPr lang="en-GB"/>
          </a:p>
        </p:txBody>
      </p:sp>
      <p:sp>
        <p:nvSpPr>
          <p:cNvPr id="7" name="Text Placeholder 6">
            <a:extLst>
              <a:ext uri="{FF2B5EF4-FFF2-40B4-BE49-F238E27FC236}">
                <a16:creationId xmlns:a16="http://schemas.microsoft.com/office/drawing/2014/main" id="{4B3924AB-56D4-343D-306B-195A924E9EF9}"/>
              </a:ext>
            </a:extLst>
          </p:cNvPr>
          <p:cNvSpPr>
            <a:spLocks noGrp="1"/>
          </p:cNvSpPr>
          <p:nvPr>
            <p:ph type="body" sz="quarter" idx="13" hasCustomPrompt="1"/>
          </p:nvPr>
        </p:nvSpPr>
        <p:spPr>
          <a:xfrm>
            <a:off x="365125" y="5792400"/>
            <a:ext cx="11460164"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
        <p:nvSpPr>
          <p:cNvPr id="8" name="Title 1">
            <a:extLst>
              <a:ext uri="{FF2B5EF4-FFF2-40B4-BE49-F238E27FC236}">
                <a16:creationId xmlns:a16="http://schemas.microsoft.com/office/drawing/2014/main" id="{3484351E-5906-1465-ED52-DA75D3630DE8}"/>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9" name="Subtitle 2">
            <a:extLst>
              <a:ext uri="{FF2B5EF4-FFF2-40B4-BE49-F238E27FC236}">
                <a16:creationId xmlns:a16="http://schemas.microsoft.com/office/drawing/2014/main" id="{62BDBB70-10FD-DDED-C062-9AA92765646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2" name="Freeform: Shape 11">
            <a:extLst>
              <a:ext uri="{FF2B5EF4-FFF2-40B4-BE49-F238E27FC236}">
                <a16:creationId xmlns:a16="http://schemas.microsoft.com/office/drawing/2014/main" id="{8DBDFC7D-EB75-1C71-FBB6-74679DF5FB23}"/>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314041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DFB0EC8B-993B-9701-B3D4-2FBFA2652AA7}"/>
              </a:ext>
            </a:extLst>
          </p:cNvPr>
          <p:cNvSpPr>
            <a:spLocks noGrp="1"/>
          </p:cNvSpPr>
          <p:nvPr>
            <p:ph type="dt" sz="half" idx="11"/>
          </p:nvPr>
        </p:nvSpPr>
        <p:spPr/>
        <p:txBody>
          <a:bodyPr/>
          <a:lstStyle>
            <a:lvl1pPr>
              <a:defRPr>
                <a:solidFill>
                  <a:schemeClr val="bg1"/>
                </a:solidFill>
              </a:defRPr>
            </a:lvl1pPr>
          </a:lstStyle>
          <a:p>
            <a:fld id="{66C0AA5A-87AD-4EF0-A389-2C110D0B1D3F}" type="datetime4">
              <a:rPr lang="en-GB" smtClean="0"/>
              <a:t>20 July 2026</a:t>
            </a:fld>
            <a:endParaRPr lang="en-GB"/>
          </a:p>
        </p:txBody>
      </p:sp>
      <p:sp>
        <p:nvSpPr>
          <p:cNvPr id="11" name="Footer Placeholder 10">
            <a:extLst>
              <a:ext uri="{FF2B5EF4-FFF2-40B4-BE49-F238E27FC236}">
                <a16:creationId xmlns:a16="http://schemas.microsoft.com/office/drawing/2014/main" id="{F4B64CB0-473B-DCCB-4EF6-AD2596727230}"/>
              </a:ext>
            </a:extLst>
          </p:cNvPr>
          <p:cNvSpPr>
            <a:spLocks noGrp="1"/>
          </p:cNvSpPr>
          <p:nvPr>
            <p:ph type="ftr" sz="quarter" idx="12"/>
          </p:nvPr>
        </p:nvSpPr>
        <p:spPr/>
        <p:txBody>
          <a:bodyPr/>
          <a:lstStyle>
            <a:lvl1pPr>
              <a:defRPr>
                <a:solidFill>
                  <a:schemeClr val="bg1"/>
                </a:solidFill>
              </a:defRPr>
            </a:lvl1pPr>
          </a:lstStyle>
          <a:p>
            <a:r>
              <a:rPr lang="en-GB"/>
              <a:t>Confidential under GSK NDA</a:t>
            </a:r>
          </a:p>
        </p:txBody>
      </p:sp>
      <p:sp>
        <p:nvSpPr>
          <p:cNvPr id="12" name="Slide Number Placeholder 11">
            <a:extLst>
              <a:ext uri="{FF2B5EF4-FFF2-40B4-BE49-F238E27FC236}">
                <a16:creationId xmlns:a16="http://schemas.microsoft.com/office/drawing/2014/main" id="{C70C223B-EC3F-01A9-ECD3-7E6A591C405E}"/>
              </a:ext>
            </a:extLst>
          </p:cNvPr>
          <p:cNvSpPr>
            <a:spLocks noGrp="1"/>
          </p:cNvSpPr>
          <p:nvPr>
            <p:ph type="sldNum" sz="quarter" idx="13"/>
          </p:nvPr>
        </p:nvSpPr>
        <p:spPr/>
        <p:txBody>
          <a:bodyPr/>
          <a:lstStyle>
            <a:lvl1pPr>
              <a:defRPr>
                <a:solidFill>
                  <a:schemeClr val="bg1"/>
                </a:solidFill>
              </a:defRPr>
            </a:lvl1pPr>
          </a:lstStyle>
          <a:p>
            <a:fld id="{9F9F533D-B52E-4A2F-BF72-0ADD2D94BD75}" type="slidenum">
              <a:rPr lang="en-GB" smtClean="0"/>
              <a:pPr/>
              <a:t>‹#›</a:t>
            </a:fld>
            <a:endParaRPr lang="en-GB"/>
          </a:p>
        </p:txBody>
      </p:sp>
      <p:sp>
        <p:nvSpPr>
          <p:cNvPr id="13" name="Text Placeholder 2">
            <a:extLst>
              <a:ext uri="{FF2B5EF4-FFF2-40B4-BE49-F238E27FC236}">
                <a16:creationId xmlns:a16="http://schemas.microsoft.com/office/drawing/2014/main" id="{B3466546-C07E-BFBF-4B2F-E4D299013F56}"/>
              </a:ext>
            </a:extLst>
          </p:cNvPr>
          <p:cNvSpPr>
            <a:spLocks noGrp="1"/>
          </p:cNvSpPr>
          <p:nvPr>
            <p:ph type="body" sz="quarter" idx="33" hasCustomPrompt="1"/>
          </p:nvPr>
        </p:nvSpPr>
        <p:spPr>
          <a:xfrm>
            <a:off x="364800" y="5792400"/>
            <a:ext cx="11460164" cy="298800"/>
          </a:xfrm>
        </p:spPr>
        <p:txBody>
          <a:bodyPr lIns="0" tIns="72000" rIns="0" bIns="72000" anchor="b">
            <a:noAutofit/>
          </a:bodyPr>
          <a:lstStyle>
            <a:lvl1pPr marL="0" indent="0">
              <a:buNone/>
              <a:defRPr sz="1200">
                <a:solidFill>
                  <a:schemeClr val="bg1"/>
                </a:solidFill>
              </a:defRPr>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pic>
        <p:nvPicPr>
          <p:cNvPr id="6" name="Graphic 5">
            <a:extLst>
              <a:ext uri="{FF2B5EF4-FFF2-40B4-BE49-F238E27FC236}">
                <a16:creationId xmlns:a16="http://schemas.microsoft.com/office/drawing/2014/main" id="{A8F5241F-6CBA-AE82-8AEE-138E90E20FA2}"/>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7328" t="12162" r="1499" b="12843"/>
          <a:stretch/>
        </p:blipFill>
        <p:spPr>
          <a:xfrm>
            <a:off x="219299" y="6191252"/>
            <a:ext cx="1215582" cy="563804"/>
          </a:xfrm>
          <a:prstGeom prst="rect">
            <a:avLst/>
          </a:prstGeom>
        </p:spPr>
      </p:pic>
      <p:sp>
        <p:nvSpPr>
          <p:cNvPr id="9" name="Title 1">
            <a:extLst>
              <a:ext uri="{FF2B5EF4-FFF2-40B4-BE49-F238E27FC236}">
                <a16:creationId xmlns:a16="http://schemas.microsoft.com/office/drawing/2014/main" id="{70C54E86-8E74-E1E1-9919-BF95D8B21B8F}"/>
              </a:ext>
            </a:extLst>
          </p:cNvPr>
          <p:cNvSpPr>
            <a:spLocks noGrp="1"/>
          </p:cNvSpPr>
          <p:nvPr>
            <p:ph type="title"/>
          </p:nvPr>
        </p:nvSpPr>
        <p:spPr>
          <a:xfrm>
            <a:off x="365125" y="242888"/>
            <a:ext cx="11460163" cy="430887"/>
          </a:xfrm>
        </p:spPr>
        <p:txBody>
          <a:bodyPr/>
          <a:lstStyle>
            <a:lvl1pPr>
              <a:defRPr>
                <a:solidFill>
                  <a:schemeClr val="bg1"/>
                </a:solidFill>
              </a:defRPr>
            </a:lvl1pPr>
          </a:lstStyle>
          <a:p>
            <a:r>
              <a:rPr lang="en-US"/>
              <a:t>Click to edit Master title style</a:t>
            </a:r>
          </a:p>
        </p:txBody>
      </p:sp>
      <p:sp>
        <p:nvSpPr>
          <p:cNvPr id="14" name="Subtitle 2">
            <a:extLst>
              <a:ext uri="{FF2B5EF4-FFF2-40B4-BE49-F238E27FC236}">
                <a16:creationId xmlns:a16="http://schemas.microsoft.com/office/drawing/2014/main" id="{5936C739-784E-0B16-D78E-DAACEC459BEA}"/>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7" name="Freeform: Shape 16">
            <a:extLst>
              <a:ext uri="{FF2B5EF4-FFF2-40B4-BE49-F238E27FC236}">
                <a16:creationId xmlns:a16="http://schemas.microsoft.com/office/drawing/2014/main" id="{A8BE41CA-ABEC-55CB-D62E-31831DAD300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517228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C3EA56-5111-4037-9D95-99472C98B371}"/>
              </a:ext>
            </a:extLst>
          </p:cNvPr>
          <p:cNvSpPr>
            <a:spLocks noGrp="1"/>
          </p:cNvSpPr>
          <p:nvPr>
            <p:ph type="dt" sz="half" idx="10"/>
          </p:nvPr>
        </p:nvSpPr>
        <p:spPr/>
        <p:txBody>
          <a:bodyPr/>
          <a:lstStyle/>
          <a:p>
            <a:fld id="{2581FE44-9703-4A9C-999C-D2315008302E}" type="datetime4">
              <a:rPr lang="en-GB" smtClean="0"/>
              <a:t>20 July 2026</a:t>
            </a:fld>
            <a:endParaRPr lang="en-GB"/>
          </a:p>
        </p:txBody>
      </p:sp>
      <p:sp>
        <p:nvSpPr>
          <p:cNvPr id="3" name="Footer Placeholder 2">
            <a:extLst>
              <a:ext uri="{FF2B5EF4-FFF2-40B4-BE49-F238E27FC236}">
                <a16:creationId xmlns:a16="http://schemas.microsoft.com/office/drawing/2014/main" id="{D0CE7BCF-23E0-421B-8A21-1CDDB167314E}"/>
              </a:ext>
            </a:extLst>
          </p:cNvPr>
          <p:cNvSpPr>
            <a:spLocks noGrp="1"/>
          </p:cNvSpPr>
          <p:nvPr>
            <p:ph type="ftr" sz="quarter" idx="11"/>
          </p:nvPr>
        </p:nvSpPr>
        <p:spPr/>
        <p:txBody>
          <a:bodyPr/>
          <a:lstStyle/>
          <a:p>
            <a:r>
              <a:rPr lang="en-GB"/>
              <a:t>Confidential under GSK NDA</a:t>
            </a:r>
          </a:p>
        </p:txBody>
      </p:sp>
      <p:sp>
        <p:nvSpPr>
          <p:cNvPr id="4" name="Slide Number Placeholder 3">
            <a:extLst>
              <a:ext uri="{FF2B5EF4-FFF2-40B4-BE49-F238E27FC236}">
                <a16:creationId xmlns:a16="http://schemas.microsoft.com/office/drawing/2014/main" id="{FB1F21D1-F1DD-4945-8EF8-43393EDC3F66}"/>
              </a:ext>
            </a:extLst>
          </p:cNvPr>
          <p:cNvSpPr>
            <a:spLocks noGrp="1"/>
          </p:cNvSpPr>
          <p:nvPr>
            <p:ph type="sldNum" sz="quarter" idx="12"/>
          </p:nvPr>
        </p:nvSpPr>
        <p:spPr/>
        <p:txBody>
          <a:bodyPr/>
          <a:lstStyle/>
          <a:p>
            <a:fld id="{9F9F533D-B52E-4A2F-BF72-0ADD2D94BD75}" type="slidenum">
              <a:rPr lang="en-GB" smtClean="0"/>
              <a:pPr/>
              <a:t>‹#›</a:t>
            </a:fld>
            <a:endParaRPr lang="en-GB"/>
          </a:p>
        </p:txBody>
      </p:sp>
      <p:sp>
        <p:nvSpPr>
          <p:cNvPr id="7" name="Text Placeholder 6">
            <a:extLst>
              <a:ext uri="{FF2B5EF4-FFF2-40B4-BE49-F238E27FC236}">
                <a16:creationId xmlns:a16="http://schemas.microsoft.com/office/drawing/2014/main" id="{F2A2858F-078E-2E59-C8A6-5102082DA345}"/>
              </a:ext>
            </a:extLst>
          </p:cNvPr>
          <p:cNvSpPr>
            <a:spLocks noGrp="1"/>
          </p:cNvSpPr>
          <p:nvPr>
            <p:ph type="body" sz="quarter" idx="13" hasCustomPrompt="1"/>
          </p:nvPr>
        </p:nvSpPr>
        <p:spPr>
          <a:xfrm>
            <a:off x="365125" y="5792400"/>
            <a:ext cx="11460164"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Tree>
    <p:extLst>
      <p:ext uri="{BB962C8B-B14F-4D97-AF65-F5344CB8AC3E}">
        <p14:creationId xmlns:p14="http://schemas.microsoft.com/office/powerpoint/2010/main" val="1448223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F7EFD61-0B79-2619-1483-7B804B2C82CE}"/>
              </a:ext>
            </a:extLst>
          </p:cNvPr>
          <p:cNvSpPr>
            <a:spLocks noGrp="1"/>
          </p:cNvSpPr>
          <p:nvPr>
            <p:ph type="title" hasCustomPrompt="1"/>
          </p:nvPr>
        </p:nvSpPr>
        <p:spPr>
          <a:xfrm>
            <a:off x="365125" y="3235800"/>
            <a:ext cx="11460163" cy="1260000"/>
          </a:xfrm>
        </p:spPr>
        <p:txBody>
          <a:bodyPr>
            <a:normAutofit/>
          </a:bodyPr>
          <a:lstStyle>
            <a:lvl1pPr>
              <a:defRPr sz="3600"/>
            </a:lvl1pPr>
          </a:lstStyle>
          <a:p>
            <a:r>
              <a:rPr lang="en-US"/>
              <a:t>Click to enter section header title</a:t>
            </a:r>
          </a:p>
        </p:txBody>
      </p:sp>
      <p:sp>
        <p:nvSpPr>
          <p:cNvPr id="9" name="Subtitle 2">
            <a:extLst>
              <a:ext uri="{FF2B5EF4-FFF2-40B4-BE49-F238E27FC236}">
                <a16:creationId xmlns:a16="http://schemas.microsoft.com/office/drawing/2014/main" id="{BBC9BD8C-031D-7F0A-C46B-D38FB0136781}"/>
              </a:ext>
            </a:extLst>
          </p:cNvPr>
          <p:cNvSpPr>
            <a:spLocks noGrp="1"/>
          </p:cNvSpPr>
          <p:nvPr>
            <p:ph type="subTitle" idx="1" hasCustomPrompt="1"/>
          </p:nvPr>
        </p:nvSpPr>
        <p:spPr>
          <a:xfrm>
            <a:off x="365125" y="4514654"/>
            <a:ext cx="11460164" cy="475200"/>
          </a:xfrm>
          <a:prstGeom prst="rect">
            <a:avLst/>
          </a:prstGeom>
        </p:spPr>
        <p:txBody>
          <a:bodyPr wrap="square" lIns="0" tIns="0" rIns="0" bIns="0" anchor="t" anchorCtr="0">
            <a:normAutofit/>
          </a:bodyPr>
          <a:lstStyle>
            <a:lvl1pPr marL="0" indent="0" algn="l">
              <a:spcBef>
                <a:spcPts val="0"/>
              </a:spcBef>
              <a:spcAft>
                <a:spcPts val="0"/>
              </a:spcAft>
              <a:buNone/>
              <a:defRPr sz="2800" i="0">
                <a:solidFill>
                  <a:schemeClr val="tx2"/>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section subtitle</a:t>
            </a:r>
          </a:p>
        </p:txBody>
      </p:sp>
      <p:pic>
        <p:nvPicPr>
          <p:cNvPr id="10" name="Graphic 9">
            <a:extLst>
              <a:ext uri="{FF2B5EF4-FFF2-40B4-BE49-F238E27FC236}">
                <a16:creationId xmlns:a16="http://schemas.microsoft.com/office/drawing/2014/main" id="{0B01FA46-1D8D-93AD-9A24-7740D438F0B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37175" y="5967611"/>
            <a:ext cx="1401150" cy="422366"/>
          </a:xfrm>
          <a:prstGeom prst="rect">
            <a:avLst/>
          </a:prstGeom>
        </p:spPr>
      </p:pic>
    </p:spTree>
    <p:extLst>
      <p:ext uri="{BB962C8B-B14F-4D97-AF65-F5344CB8AC3E}">
        <p14:creationId xmlns:p14="http://schemas.microsoft.com/office/powerpoint/2010/main" val="3239966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Section Head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905DD1F-ADCE-21F5-3B42-348B73562E77}"/>
              </a:ext>
            </a:extLst>
          </p:cNvPr>
          <p:cNvSpPr>
            <a:spLocks noGrp="1"/>
          </p:cNvSpPr>
          <p:nvPr>
            <p:ph type="title" hasCustomPrompt="1"/>
          </p:nvPr>
        </p:nvSpPr>
        <p:spPr>
          <a:xfrm>
            <a:off x="365125" y="3235800"/>
            <a:ext cx="8651875" cy="1260000"/>
          </a:xfrm>
        </p:spPr>
        <p:txBody>
          <a:bodyPr>
            <a:normAutofit/>
          </a:bodyPr>
          <a:lstStyle>
            <a:lvl1pPr>
              <a:defRPr sz="3600">
                <a:solidFill>
                  <a:schemeClr val="bg1"/>
                </a:solidFill>
              </a:defRPr>
            </a:lvl1pPr>
          </a:lstStyle>
          <a:p>
            <a:r>
              <a:rPr lang="en-US"/>
              <a:t>Click to enter section header title</a:t>
            </a:r>
          </a:p>
        </p:txBody>
      </p:sp>
      <p:sp>
        <p:nvSpPr>
          <p:cNvPr id="7" name="Subtitle 2">
            <a:extLst>
              <a:ext uri="{FF2B5EF4-FFF2-40B4-BE49-F238E27FC236}">
                <a16:creationId xmlns:a16="http://schemas.microsoft.com/office/drawing/2014/main" id="{1A65F606-CDCB-0367-61AA-199FECCB3A72}"/>
              </a:ext>
            </a:extLst>
          </p:cNvPr>
          <p:cNvSpPr>
            <a:spLocks noGrp="1"/>
          </p:cNvSpPr>
          <p:nvPr>
            <p:ph type="subTitle" idx="1" hasCustomPrompt="1"/>
          </p:nvPr>
        </p:nvSpPr>
        <p:spPr>
          <a:xfrm>
            <a:off x="365125" y="4514654"/>
            <a:ext cx="8651876" cy="475200"/>
          </a:xfrm>
          <a:prstGeom prst="rect">
            <a:avLst/>
          </a:prstGeom>
        </p:spPr>
        <p:txBody>
          <a:bodyPr wrap="square" lIns="0" tIns="0" rIns="0" bIns="0" anchor="t" anchorCtr="0">
            <a:normAutofit/>
          </a:bodyPr>
          <a:lstStyle>
            <a:lvl1pPr marL="0" indent="0" algn="l">
              <a:spcBef>
                <a:spcPts val="0"/>
              </a:spcBef>
              <a:spcAft>
                <a:spcPts val="0"/>
              </a:spcAft>
              <a:buNone/>
              <a:defRPr sz="28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section subtitle</a:t>
            </a:r>
          </a:p>
        </p:txBody>
      </p:sp>
      <p:pic>
        <p:nvPicPr>
          <p:cNvPr id="8" name="Graphic 7">
            <a:extLst>
              <a:ext uri="{FF2B5EF4-FFF2-40B4-BE49-F238E27FC236}">
                <a16:creationId xmlns:a16="http://schemas.microsoft.com/office/drawing/2014/main" id="{FE066BEF-B097-8826-7B68-974384A3DA4A}"/>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13772" t="25173" r="16016" b="28870"/>
          <a:stretch/>
        </p:blipFill>
        <p:spPr>
          <a:xfrm>
            <a:off x="322824" y="5861243"/>
            <a:ext cx="1586940" cy="585704"/>
          </a:xfrm>
          <a:prstGeom prst="rect">
            <a:avLst/>
          </a:prstGeom>
        </p:spPr>
      </p:pic>
    </p:spTree>
    <p:extLst>
      <p:ext uri="{BB962C8B-B14F-4D97-AF65-F5344CB8AC3E}">
        <p14:creationId xmlns:p14="http://schemas.microsoft.com/office/powerpoint/2010/main" val="2138752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B20AFD6-6925-491B-B024-5E0A32A58D0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17590" t="25173" r="17185" b="31039"/>
          <a:stretch/>
        </p:blipFill>
        <p:spPr>
          <a:xfrm>
            <a:off x="152399" y="2073890"/>
            <a:ext cx="11992273" cy="4539635"/>
          </a:xfrm>
          <a:prstGeom prst="rect">
            <a:avLst/>
          </a:prstGeom>
        </p:spPr>
      </p:pic>
      <p:sp>
        <p:nvSpPr>
          <p:cNvPr id="2" name="Rectangle 1">
            <a:extLst>
              <a:ext uri="{FF2B5EF4-FFF2-40B4-BE49-F238E27FC236}">
                <a16:creationId xmlns:a16="http://schemas.microsoft.com/office/drawing/2014/main" id="{2B90B266-F3BD-2613-5CB9-7E4A4FDFC416}"/>
              </a:ext>
            </a:extLst>
          </p:cNvPr>
          <p:cNvSpPr/>
          <p:nvPr userDrawn="1"/>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rgbClr val="FFFFFF"/>
                </a:solidFill>
                <a:latin typeface="+mn-lt"/>
              </a:rPr>
              <a:t>gsk.com</a:t>
            </a:r>
          </a:p>
        </p:txBody>
      </p:sp>
      <p:pic>
        <p:nvPicPr>
          <p:cNvPr id="3" name="Graphic 2">
            <a:extLst>
              <a:ext uri="{FF2B5EF4-FFF2-40B4-BE49-F238E27FC236}">
                <a16:creationId xmlns:a16="http://schemas.microsoft.com/office/drawing/2014/main" id="{FF8659A8-C764-F3A5-40B7-A3CB7A35D23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094470" y="243283"/>
            <a:ext cx="159543" cy="159543"/>
          </a:xfrm>
          <a:prstGeom prst="rect">
            <a:avLst/>
          </a:prstGeom>
        </p:spPr>
      </p:pic>
    </p:spTree>
    <p:extLst>
      <p:ext uri="{BB962C8B-B14F-4D97-AF65-F5344CB8AC3E}">
        <p14:creationId xmlns:p14="http://schemas.microsoft.com/office/powerpoint/2010/main" val="1887936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WARNING">
    <p:bg>
      <p:bgPr>
        <a:solidFill>
          <a:schemeClr val="accent4"/>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B03810C-0168-8013-6BD1-DF4493DB8F41}"/>
              </a:ext>
            </a:extLst>
          </p:cNvPr>
          <p:cNvSpPr/>
          <p:nvPr userDrawn="1"/>
        </p:nvSpPr>
        <p:spPr bwMode="auto">
          <a:xfrm>
            <a:off x="242888" y="242888"/>
            <a:ext cx="11704637" cy="584835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GB" sz="9600" kern="0">
                <a:solidFill>
                  <a:schemeClr val="bg1"/>
                </a:solidFill>
              </a:rPr>
              <a:t>Do not use </a:t>
            </a:r>
            <a:br>
              <a:rPr lang="en-GB" sz="9600" kern="0">
                <a:solidFill>
                  <a:schemeClr val="bg1"/>
                </a:solidFill>
              </a:rPr>
            </a:br>
            <a:r>
              <a:rPr lang="en-GB" sz="9600" kern="0">
                <a:solidFill>
                  <a:schemeClr val="bg1"/>
                </a:solidFill>
              </a:rPr>
              <a:t>layouts that appear </a:t>
            </a:r>
            <a:br>
              <a:rPr lang="en-GB" sz="9600" kern="0">
                <a:solidFill>
                  <a:schemeClr val="bg1"/>
                </a:solidFill>
              </a:rPr>
            </a:br>
            <a:r>
              <a:rPr lang="en-GB" sz="9600" kern="0">
                <a:solidFill>
                  <a:schemeClr val="bg1"/>
                </a:solidFill>
              </a:rPr>
              <a:t>after this point</a:t>
            </a:r>
          </a:p>
        </p:txBody>
      </p:sp>
      <p:pic>
        <p:nvPicPr>
          <p:cNvPr id="4" name="Graphic 3">
            <a:extLst>
              <a:ext uri="{FF2B5EF4-FFF2-40B4-BE49-F238E27FC236}">
                <a16:creationId xmlns:a16="http://schemas.microsoft.com/office/drawing/2014/main" id="{1AFE542C-8ECE-F9C9-8F96-80B2751FAA98}"/>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7328" t="12162" r="1499" b="12843"/>
          <a:stretch/>
        </p:blipFill>
        <p:spPr>
          <a:xfrm>
            <a:off x="90711" y="6207919"/>
            <a:ext cx="1215582" cy="563804"/>
          </a:xfrm>
          <a:prstGeom prst="rect">
            <a:avLst/>
          </a:prstGeom>
        </p:spPr>
      </p:pic>
    </p:spTree>
    <p:extLst>
      <p:ext uri="{BB962C8B-B14F-4D97-AF65-F5344CB8AC3E}">
        <p14:creationId xmlns:p14="http://schemas.microsoft.com/office/powerpoint/2010/main" val="844819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3D179B60-1587-941E-A723-1C3CC5C0E0E2}"/>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7" name="Title 1"/>
          <p:cNvSpPr>
            <a:spLocks noGrp="1"/>
          </p:cNvSpPr>
          <p:nvPr>
            <p:ph type="ctrTitle" hasCustomPrompt="1"/>
          </p:nvPr>
        </p:nvSpPr>
        <p:spPr>
          <a:xfrm>
            <a:off x="520700" y="5010784"/>
            <a:ext cx="11150600" cy="548009"/>
          </a:xfrm>
          <a:prstGeom prst="rect">
            <a:avLst/>
          </a:prstGeom>
        </p:spPr>
        <p:txBody>
          <a:bodyPr anchor="b" anchorCtr="0">
            <a:normAutofit/>
          </a:bodyPr>
          <a:lstStyle>
            <a:lvl1pPr>
              <a:lnSpc>
                <a:spcPct val="100000"/>
              </a:lnSpc>
              <a:defRPr sz="3600">
                <a:solidFill>
                  <a:schemeClr val="bg1"/>
                </a:solidFill>
              </a:defRPr>
            </a:lvl1pPr>
          </a:lstStyle>
          <a:p>
            <a:r>
              <a:rPr lang="en-GB"/>
              <a:t>Click to enter presentation title</a:t>
            </a:r>
          </a:p>
        </p:txBody>
      </p:sp>
      <p:sp>
        <p:nvSpPr>
          <p:cNvPr id="20" name="Subtitle 2"/>
          <p:cNvSpPr>
            <a:spLocks noGrp="1"/>
          </p:cNvSpPr>
          <p:nvPr>
            <p:ph type="subTitle" idx="1" hasCustomPrompt="1"/>
          </p:nvPr>
        </p:nvSpPr>
        <p:spPr>
          <a:xfrm>
            <a:off x="520700" y="5558794"/>
            <a:ext cx="11150600" cy="475200"/>
          </a:xfrm>
          <a:prstGeom prst="rect">
            <a:avLst/>
          </a:prstGeom>
        </p:spPr>
        <p:txBody>
          <a:bodyPr wrap="square" lIns="0" tIns="0" rIns="0" bIns="0" anchor="t" anchorCtr="0">
            <a:normAutofit/>
          </a:bodyPr>
          <a:lstStyle>
            <a:lvl1pPr marL="0" indent="0" algn="l">
              <a:spcBef>
                <a:spcPts val="0"/>
              </a:spcBef>
              <a:spcAft>
                <a:spcPts val="0"/>
              </a:spcAft>
              <a:buNone/>
              <a:defRPr sz="24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subtitle / presenter name</a:t>
            </a:r>
          </a:p>
        </p:txBody>
      </p:sp>
      <p:sp>
        <p:nvSpPr>
          <p:cNvPr id="5" name="Rectangle 4">
            <a:extLst>
              <a:ext uri="{FF2B5EF4-FFF2-40B4-BE49-F238E27FC236}">
                <a16:creationId xmlns:a16="http://schemas.microsoft.com/office/drawing/2014/main" id="{B081E81C-A3CE-333A-79BA-25D8F93FB564}"/>
              </a:ext>
            </a:extLst>
          </p:cNvPr>
          <p:cNvSpPr/>
          <p:nvPr userDrawn="1"/>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rgbClr val="FFFFFF"/>
                </a:solidFill>
                <a:latin typeface="+mn-lt"/>
              </a:rPr>
              <a:t>gsk.com</a:t>
            </a:r>
          </a:p>
        </p:txBody>
      </p:sp>
      <p:pic>
        <p:nvPicPr>
          <p:cNvPr id="7" name="Graphic 6">
            <a:extLst>
              <a:ext uri="{FF2B5EF4-FFF2-40B4-BE49-F238E27FC236}">
                <a16:creationId xmlns:a16="http://schemas.microsoft.com/office/drawing/2014/main" id="{8E1FA932-514A-C951-F952-F8A43667EAE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94470" y="243283"/>
            <a:ext cx="159543" cy="159543"/>
          </a:xfrm>
          <a:prstGeom prst="rect">
            <a:avLst/>
          </a:prstGeom>
        </p:spPr>
      </p:pic>
      <p:sp>
        <p:nvSpPr>
          <p:cNvPr id="9" name="Text Placeholder 8">
            <a:extLst>
              <a:ext uri="{FF2B5EF4-FFF2-40B4-BE49-F238E27FC236}">
                <a16:creationId xmlns:a16="http://schemas.microsoft.com/office/drawing/2014/main" id="{C04D693C-2F89-1D26-FDEF-3BF8AB9EE532}"/>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bg1"/>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a:t>Click to insert date</a:t>
            </a:r>
          </a:p>
        </p:txBody>
      </p:sp>
      <p:pic>
        <p:nvPicPr>
          <p:cNvPr id="11" name="Graphic 10">
            <a:extLst>
              <a:ext uri="{FF2B5EF4-FFF2-40B4-BE49-F238E27FC236}">
                <a16:creationId xmlns:a16="http://schemas.microsoft.com/office/drawing/2014/main" id="{6CD1A09A-E74F-DDD9-A7A4-4FD32035ACFA}"/>
              </a:ext>
            </a:extLst>
          </p:cNvPr>
          <p:cNvPicPr>
            <a:picLocks noChangeAspect="1"/>
          </p:cNvPicPr>
          <p:nvPr userDrawn="1"/>
        </p:nvPicPr>
        <p:blipFill>
          <a:blip cstate="print">
            <a:lum bright="100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44399" y="2100263"/>
            <a:ext cx="5303202" cy="1598612"/>
          </a:xfrm>
          <a:prstGeom prst="rect">
            <a:avLst/>
          </a:prstGeom>
        </p:spPr>
      </p:pic>
    </p:spTree>
    <p:extLst>
      <p:ext uri="{BB962C8B-B14F-4D97-AF65-F5344CB8AC3E}">
        <p14:creationId xmlns:p14="http://schemas.microsoft.com/office/powerpoint/2010/main" val="3665715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1_Title Slide (Whit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DC8841-B149-2334-AF59-5558F485A757}"/>
              </a:ext>
            </a:extLst>
          </p:cNvPr>
          <p:cNvSpPr/>
          <p:nvPr userDrawn="1"/>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chemeClr val="tx2"/>
                </a:solidFill>
                <a:latin typeface="+mn-lt"/>
              </a:rPr>
              <a:t>gsk.com</a:t>
            </a:r>
          </a:p>
        </p:txBody>
      </p:sp>
      <p:pic>
        <p:nvPicPr>
          <p:cNvPr id="3" name="Graphic 2">
            <a:extLst>
              <a:ext uri="{FF2B5EF4-FFF2-40B4-BE49-F238E27FC236}">
                <a16:creationId xmlns:a16="http://schemas.microsoft.com/office/drawing/2014/main" id="{E4C205A4-821A-253A-297E-0360320A4D5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94470" y="243283"/>
            <a:ext cx="159543" cy="159543"/>
          </a:xfrm>
          <a:prstGeom prst="rect">
            <a:avLst/>
          </a:prstGeom>
        </p:spPr>
      </p:pic>
      <p:sp>
        <p:nvSpPr>
          <p:cNvPr id="11" name="Text Placeholder 8">
            <a:extLst>
              <a:ext uri="{FF2B5EF4-FFF2-40B4-BE49-F238E27FC236}">
                <a16:creationId xmlns:a16="http://schemas.microsoft.com/office/drawing/2014/main" id="{8D015E68-9B94-B2B9-2F33-1D9732CC14B4}"/>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a:t>Click to insert date</a:t>
            </a:r>
          </a:p>
        </p:txBody>
      </p:sp>
      <p:sp>
        <p:nvSpPr>
          <p:cNvPr id="12" name="Freeform: Shape 11">
            <a:extLst>
              <a:ext uri="{FF2B5EF4-FFF2-40B4-BE49-F238E27FC236}">
                <a16:creationId xmlns:a16="http://schemas.microsoft.com/office/drawing/2014/main" id="{458F29C9-8F7E-1D4B-3005-616565FA7753}"/>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5" name="Title 1">
            <a:extLst>
              <a:ext uri="{FF2B5EF4-FFF2-40B4-BE49-F238E27FC236}">
                <a16:creationId xmlns:a16="http://schemas.microsoft.com/office/drawing/2014/main" id="{4DF7007A-5965-5814-8FF8-29077566CBED}"/>
              </a:ext>
            </a:extLst>
          </p:cNvPr>
          <p:cNvSpPr>
            <a:spLocks noGrp="1"/>
          </p:cNvSpPr>
          <p:nvPr>
            <p:ph type="ctrTitle" hasCustomPrompt="1"/>
          </p:nvPr>
        </p:nvSpPr>
        <p:spPr>
          <a:xfrm>
            <a:off x="520700" y="5010784"/>
            <a:ext cx="11150600" cy="548009"/>
          </a:xfrm>
          <a:prstGeom prst="rect">
            <a:avLst/>
          </a:prstGeom>
        </p:spPr>
        <p:txBody>
          <a:bodyPr anchor="b" anchorCtr="0">
            <a:normAutofit/>
          </a:bodyPr>
          <a:lstStyle>
            <a:lvl1pPr>
              <a:lnSpc>
                <a:spcPct val="100000"/>
              </a:lnSpc>
              <a:defRPr sz="3600">
                <a:solidFill>
                  <a:schemeClr val="tx2"/>
                </a:solidFill>
              </a:defRPr>
            </a:lvl1pPr>
          </a:lstStyle>
          <a:p>
            <a:r>
              <a:rPr lang="en-GB"/>
              <a:t>Click to enter presentation title</a:t>
            </a:r>
          </a:p>
        </p:txBody>
      </p:sp>
      <p:sp>
        <p:nvSpPr>
          <p:cNvPr id="16" name="Subtitle 2">
            <a:extLst>
              <a:ext uri="{FF2B5EF4-FFF2-40B4-BE49-F238E27FC236}">
                <a16:creationId xmlns:a16="http://schemas.microsoft.com/office/drawing/2014/main" id="{F6A64F09-F5D8-B6EE-7ED5-2B69A4668CD5}"/>
              </a:ext>
            </a:extLst>
          </p:cNvPr>
          <p:cNvSpPr>
            <a:spLocks noGrp="1"/>
          </p:cNvSpPr>
          <p:nvPr>
            <p:ph type="subTitle" idx="1" hasCustomPrompt="1"/>
          </p:nvPr>
        </p:nvSpPr>
        <p:spPr>
          <a:xfrm>
            <a:off x="520700" y="5558794"/>
            <a:ext cx="11150600" cy="475200"/>
          </a:xfrm>
          <a:prstGeom prst="rect">
            <a:avLst/>
          </a:prstGeom>
        </p:spPr>
        <p:txBody>
          <a:bodyPr wrap="square" lIns="0" tIns="0" rIns="0" bIns="0" anchor="t" anchorCtr="0">
            <a:norm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subtitle / presenter name</a:t>
            </a:r>
          </a:p>
        </p:txBody>
      </p:sp>
      <p:pic>
        <p:nvPicPr>
          <p:cNvPr id="9" name="Graphic 8">
            <a:extLst>
              <a:ext uri="{FF2B5EF4-FFF2-40B4-BE49-F238E27FC236}">
                <a16:creationId xmlns:a16="http://schemas.microsoft.com/office/drawing/2014/main" id="{9D62EFE5-F00A-570F-E85D-A9685EA9184F}"/>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44399" y="2100263"/>
            <a:ext cx="5303202" cy="1598612"/>
          </a:xfrm>
          <a:prstGeom prst="rect">
            <a:avLst/>
          </a:prstGeom>
        </p:spPr>
      </p:pic>
    </p:spTree>
    <p:extLst>
      <p:ext uri="{BB962C8B-B14F-4D97-AF65-F5344CB8AC3E}">
        <p14:creationId xmlns:p14="http://schemas.microsoft.com/office/powerpoint/2010/main" val="385931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1_Title DIA Slide">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A717EDF-9AA4-491F-3311-9F14A5CFB89C}"/>
              </a:ext>
            </a:extLst>
          </p:cNvPr>
          <p:cNvSpPr/>
          <p:nvPr userDrawn="1"/>
        </p:nvSpPr>
        <p:spPr bwMode="auto">
          <a:xfrm>
            <a:off x="523973" y="6107998"/>
            <a:ext cx="1806576" cy="505527"/>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a:solidFill>
                  <a:schemeClr val="tx2"/>
                </a:solidFill>
              </a:rPr>
              <a:t>Owner</a:t>
            </a:r>
          </a:p>
        </p:txBody>
      </p:sp>
      <p:sp>
        <p:nvSpPr>
          <p:cNvPr id="47" name="Rectangle 46">
            <a:extLst>
              <a:ext uri="{FF2B5EF4-FFF2-40B4-BE49-F238E27FC236}">
                <a16:creationId xmlns:a16="http://schemas.microsoft.com/office/drawing/2014/main" id="{D4AC67F3-7D0E-A071-327B-17B446179DB8}"/>
              </a:ext>
            </a:extLst>
          </p:cNvPr>
          <p:cNvSpPr/>
          <p:nvPr userDrawn="1"/>
        </p:nvSpPr>
        <p:spPr bwMode="auto">
          <a:xfrm>
            <a:off x="523973" y="4557510"/>
            <a:ext cx="1806576" cy="14736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a:solidFill>
                  <a:schemeClr val="tx2"/>
                </a:solidFill>
              </a:rPr>
              <a:t>Objectives</a:t>
            </a:r>
          </a:p>
        </p:txBody>
      </p:sp>
      <p:sp>
        <p:nvSpPr>
          <p:cNvPr id="25" name="Text Placeholder 24">
            <a:extLst>
              <a:ext uri="{FF2B5EF4-FFF2-40B4-BE49-F238E27FC236}">
                <a16:creationId xmlns:a16="http://schemas.microsoft.com/office/drawing/2014/main" id="{4E30BA3B-88CD-41DE-E089-7100E3E52AF4}"/>
              </a:ext>
            </a:extLst>
          </p:cNvPr>
          <p:cNvSpPr>
            <a:spLocks noGrp="1"/>
          </p:cNvSpPr>
          <p:nvPr>
            <p:ph type="body" sz="quarter" idx="13" hasCustomPrompt="1"/>
          </p:nvPr>
        </p:nvSpPr>
        <p:spPr>
          <a:xfrm>
            <a:off x="2407432" y="4557510"/>
            <a:ext cx="9414362" cy="1473605"/>
          </a:xfrm>
          <a:prstGeom prst="rect">
            <a:avLst/>
          </a:prstGeom>
          <a:solidFill>
            <a:schemeClr val="bg1">
              <a:lumMod val="95000"/>
            </a:schemeClr>
          </a:solidFill>
          <a:ln>
            <a:noFill/>
          </a:ln>
        </p:spPr>
        <p:txBody>
          <a:bodyPr wrap="square" lIns="180000" tIns="144000" rIns="180000" bIns="72000" anchor="t" anchorCtr="0">
            <a:norm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a:t>DECISION: To seek X’s [single point accountable decision maker] decision to implement A</a:t>
            </a:r>
            <a:br>
              <a:rPr lang="en-US"/>
            </a:br>
            <a:r>
              <a:rPr lang="en-US"/>
              <a:t>INPUT: To receive input to the proposed plan for B</a:t>
            </a:r>
            <a:br>
              <a:rPr lang="en-US"/>
            </a:br>
            <a:r>
              <a:rPr lang="en-US"/>
              <a:t>AWARENESS: To update XXX regarding C</a:t>
            </a:r>
          </a:p>
        </p:txBody>
      </p:sp>
      <p:sp>
        <p:nvSpPr>
          <p:cNvPr id="31" name="Text Placeholder 30">
            <a:extLst>
              <a:ext uri="{FF2B5EF4-FFF2-40B4-BE49-F238E27FC236}">
                <a16:creationId xmlns:a16="http://schemas.microsoft.com/office/drawing/2014/main" id="{DC6E06B6-BD9A-7A5E-5A90-56308009FF5E}"/>
              </a:ext>
            </a:extLst>
          </p:cNvPr>
          <p:cNvSpPr>
            <a:spLocks noGrp="1"/>
          </p:cNvSpPr>
          <p:nvPr>
            <p:ph type="body" sz="quarter" idx="41" hasCustomPrompt="1"/>
          </p:nvPr>
        </p:nvSpPr>
        <p:spPr>
          <a:xfrm>
            <a:off x="2407432" y="6107998"/>
            <a:ext cx="9414362" cy="505527"/>
          </a:xfrm>
          <a:prstGeom prst="rect">
            <a:avLst/>
          </a:prstGeom>
          <a:solidFill>
            <a:schemeClr val="bg1">
              <a:lumMod val="95000"/>
            </a:schemeClr>
          </a:solidFill>
          <a:ln>
            <a:noFill/>
          </a:ln>
        </p:spPr>
        <p:txBody>
          <a:bodyPr wrap="square" lIns="180000" tIns="72000" rIns="180000" bIns="72000" anchor="ctr" anchorCtr="0">
            <a:normAutofit/>
          </a:bodyPr>
          <a:lstStyle>
            <a:lvl1pPr marL="0" indent="0">
              <a:buFont typeface="+mj-lt"/>
              <a:buNone/>
              <a:defRPr sz="1200"/>
            </a:lvl1pPr>
            <a:lvl2pPr marL="357542" indent="0">
              <a:buNone/>
              <a:defRPr/>
            </a:lvl2pPr>
          </a:lstStyle>
          <a:p>
            <a:pPr lvl="0"/>
            <a:r>
              <a:rPr lang="en-US"/>
              <a:t>Single person accountable for this topic / paper</a:t>
            </a:r>
          </a:p>
        </p:txBody>
      </p:sp>
      <p:sp>
        <p:nvSpPr>
          <p:cNvPr id="23" name="Text Placeholder 6">
            <a:extLst>
              <a:ext uri="{FF2B5EF4-FFF2-40B4-BE49-F238E27FC236}">
                <a16:creationId xmlns:a16="http://schemas.microsoft.com/office/drawing/2014/main" id="{472F201F-277F-F24E-085D-8160B5FF4CE6}"/>
              </a:ext>
            </a:extLst>
          </p:cNvPr>
          <p:cNvSpPr>
            <a:spLocks noGrp="1"/>
          </p:cNvSpPr>
          <p:nvPr>
            <p:ph type="body" sz="quarter" idx="36" hasCustomPrompt="1"/>
          </p:nvPr>
        </p:nvSpPr>
        <p:spPr>
          <a:xfrm>
            <a:off x="523973" y="4990763"/>
            <a:ext cx="1806576" cy="1040352"/>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a:t>Up to 5 clear, focused objectives </a:t>
            </a:r>
            <a:br>
              <a:rPr lang="en-US"/>
            </a:br>
            <a:r>
              <a:rPr lang="en-US"/>
              <a:t>(</a:t>
            </a:r>
            <a:r>
              <a:rPr lang="en-US" err="1"/>
              <a:t>i</a:t>
            </a:r>
            <a:r>
              <a:rPr lang="en-US"/>
              <a:t>) for decision, </a:t>
            </a:r>
            <a:br>
              <a:rPr lang="en-US"/>
            </a:br>
            <a:r>
              <a:rPr lang="en-US"/>
              <a:t>(ii) for input </a:t>
            </a:r>
            <a:br>
              <a:rPr lang="en-US"/>
            </a:br>
            <a:r>
              <a:rPr lang="en-US"/>
              <a:t>(iii) for awareness</a:t>
            </a:r>
          </a:p>
        </p:txBody>
      </p:sp>
      <p:sp>
        <p:nvSpPr>
          <p:cNvPr id="52" name="Freeform: Shape 51">
            <a:extLst>
              <a:ext uri="{FF2B5EF4-FFF2-40B4-BE49-F238E27FC236}">
                <a16:creationId xmlns:a16="http://schemas.microsoft.com/office/drawing/2014/main" id="{4E683597-5ADE-F2A0-A01C-FD8E476ABB8B}"/>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0" name="Rectangle 19">
            <a:extLst>
              <a:ext uri="{FF2B5EF4-FFF2-40B4-BE49-F238E27FC236}">
                <a16:creationId xmlns:a16="http://schemas.microsoft.com/office/drawing/2014/main" id="{165F316B-6E9C-D66E-FE22-B16477918817}"/>
              </a:ext>
            </a:extLst>
          </p:cNvPr>
          <p:cNvSpPr/>
          <p:nvPr userDrawn="1"/>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chemeClr val="tx2"/>
                </a:solidFill>
                <a:latin typeface="+mn-lt"/>
              </a:rPr>
              <a:t>gsk.com</a:t>
            </a:r>
          </a:p>
        </p:txBody>
      </p:sp>
      <p:pic>
        <p:nvPicPr>
          <p:cNvPr id="21" name="Graphic 20">
            <a:extLst>
              <a:ext uri="{FF2B5EF4-FFF2-40B4-BE49-F238E27FC236}">
                <a16:creationId xmlns:a16="http://schemas.microsoft.com/office/drawing/2014/main" id="{7E4B35B0-1B56-815F-BA6C-0E89CBE6AA6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94470" y="243283"/>
            <a:ext cx="159543" cy="159543"/>
          </a:xfrm>
          <a:prstGeom prst="rect">
            <a:avLst/>
          </a:prstGeom>
        </p:spPr>
      </p:pic>
      <p:sp>
        <p:nvSpPr>
          <p:cNvPr id="22" name="Text Placeholder 8">
            <a:extLst>
              <a:ext uri="{FF2B5EF4-FFF2-40B4-BE49-F238E27FC236}">
                <a16:creationId xmlns:a16="http://schemas.microsoft.com/office/drawing/2014/main" id="{7A99F019-A435-B954-ABA9-68CA4DD19B21}"/>
              </a:ext>
            </a:extLst>
          </p:cNvPr>
          <p:cNvSpPr>
            <a:spLocks noGrp="1"/>
          </p:cNvSpPr>
          <p:nvPr>
            <p:ph type="body" sz="quarter" idx="42"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a:t>Click to insert date</a:t>
            </a:r>
          </a:p>
        </p:txBody>
      </p:sp>
      <p:pic>
        <p:nvPicPr>
          <p:cNvPr id="32" name="Graphic 31">
            <a:extLst>
              <a:ext uri="{FF2B5EF4-FFF2-40B4-BE49-F238E27FC236}">
                <a16:creationId xmlns:a16="http://schemas.microsoft.com/office/drawing/2014/main" id="{8B53D05A-F4B0-150E-FE9F-AB4DED266762}"/>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44399" y="2100263"/>
            <a:ext cx="5303202" cy="1598612"/>
          </a:xfrm>
          <a:prstGeom prst="rect">
            <a:avLst/>
          </a:prstGeom>
        </p:spPr>
      </p:pic>
    </p:spTree>
    <p:custDataLst>
      <p:tags r:id="rId1"/>
    </p:custDataLst>
    <p:extLst>
      <p:ext uri="{BB962C8B-B14F-4D97-AF65-F5344CB8AC3E}">
        <p14:creationId xmlns:p14="http://schemas.microsoft.com/office/powerpoint/2010/main" val="1901832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DIA/SPADM">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0AC59E1C-A015-4BA4-AB7D-EC00F37B815F}"/>
              </a:ext>
            </a:extLst>
          </p:cNvPr>
          <p:cNvSpPr/>
          <p:nvPr userDrawn="1"/>
        </p:nvSpPr>
        <p:spPr bwMode="auto">
          <a:xfrm>
            <a:off x="365126" y="1307574"/>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Objectives</a:t>
            </a:r>
          </a:p>
        </p:txBody>
      </p:sp>
      <p:sp>
        <p:nvSpPr>
          <p:cNvPr id="34" name="Rectangle 33">
            <a:extLst>
              <a:ext uri="{FF2B5EF4-FFF2-40B4-BE49-F238E27FC236}">
                <a16:creationId xmlns:a16="http://schemas.microsoft.com/office/drawing/2014/main" id="{D4EBA022-30B3-B17F-5D7C-3A3D869D35FA}"/>
              </a:ext>
            </a:extLst>
          </p:cNvPr>
          <p:cNvSpPr>
            <a:spLocks/>
          </p:cNvSpPr>
          <p:nvPr userDrawn="1"/>
        </p:nvSpPr>
        <p:spPr bwMode="auto">
          <a:xfrm>
            <a:off x="365126" y="2778690"/>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Key questions</a:t>
            </a:r>
          </a:p>
        </p:txBody>
      </p:sp>
      <p:sp>
        <p:nvSpPr>
          <p:cNvPr id="35" name="Rectangle 34">
            <a:extLst>
              <a:ext uri="{FF2B5EF4-FFF2-40B4-BE49-F238E27FC236}">
                <a16:creationId xmlns:a16="http://schemas.microsoft.com/office/drawing/2014/main" id="{FF5A742C-A049-77AC-C2E5-4272D118CC96}"/>
              </a:ext>
            </a:extLst>
          </p:cNvPr>
          <p:cNvSpPr>
            <a:spLocks/>
          </p:cNvSpPr>
          <p:nvPr userDrawn="1"/>
        </p:nvSpPr>
        <p:spPr bwMode="auto">
          <a:xfrm>
            <a:off x="365126" y="4249806"/>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Next steps</a:t>
            </a:r>
          </a:p>
        </p:txBody>
      </p:sp>
      <p:sp>
        <p:nvSpPr>
          <p:cNvPr id="21" name="Rectangle 20">
            <a:extLst>
              <a:ext uri="{FF2B5EF4-FFF2-40B4-BE49-F238E27FC236}">
                <a16:creationId xmlns:a16="http://schemas.microsoft.com/office/drawing/2014/main" id="{E66507E6-44A7-B4B5-33F1-9F0C0DC0FDE1}"/>
              </a:ext>
            </a:extLst>
          </p:cNvPr>
          <p:cNvSpPr/>
          <p:nvPr userDrawn="1"/>
        </p:nvSpPr>
        <p:spPr bwMode="auto">
          <a:xfrm>
            <a:off x="365126" y="5720922"/>
            <a:ext cx="1806576" cy="363373"/>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72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Owner</a:t>
            </a:r>
          </a:p>
        </p:txBody>
      </p:sp>
      <p:sp>
        <p:nvSpPr>
          <p:cNvPr id="3" name="Footer Placeholder 2">
            <a:extLst>
              <a:ext uri="{FF2B5EF4-FFF2-40B4-BE49-F238E27FC236}">
                <a16:creationId xmlns:a16="http://schemas.microsoft.com/office/drawing/2014/main" id="{9B773ECA-2D04-B6E9-1FB4-377F08AA5D14}"/>
              </a:ext>
            </a:extLst>
          </p:cNvPr>
          <p:cNvSpPr>
            <a:spLocks noGrp="1"/>
          </p:cNvSpPr>
          <p:nvPr>
            <p:ph type="ftr" sz="quarter" idx="10"/>
          </p:nvPr>
        </p:nvSpPr>
        <p:spPr/>
        <p:txBody>
          <a:bodyPr/>
          <a:lstStyle/>
          <a:p>
            <a:r>
              <a:rPr lang="en-GB"/>
              <a:t>Confidential under GSK NDA</a:t>
            </a:r>
          </a:p>
        </p:txBody>
      </p:sp>
      <p:sp>
        <p:nvSpPr>
          <p:cNvPr id="4" name="Slide Number Placeholder 3">
            <a:extLst>
              <a:ext uri="{FF2B5EF4-FFF2-40B4-BE49-F238E27FC236}">
                <a16:creationId xmlns:a16="http://schemas.microsoft.com/office/drawing/2014/main" id="{C3976886-926E-8975-E95D-5BCD6F82EEEF}"/>
              </a:ext>
            </a:extLst>
          </p:cNvPr>
          <p:cNvSpPr>
            <a:spLocks noGrp="1"/>
          </p:cNvSpPr>
          <p:nvPr>
            <p:ph type="sldNum" sz="quarter" idx="11"/>
          </p:nvPr>
        </p:nvSpPr>
        <p:spPr/>
        <p:txBody>
          <a:bodyPr/>
          <a:lstStyle/>
          <a:p>
            <a:fld id="{9F9F533D-B52E-4A2F-BF72-0ADD2D94BD75}" type="slidenum">
              <a:rPr lang="en-GB" smtClean="0"/>
              <a:pPr/>
              <a:t>‹#›</a:t>
            </a:fld>
            <a:endParaRPr lang="en-GB"/>
          </a:p>
        </p:txBody>
      </p:sp>
      <p:sp>
        <p:nvSpPr>
          <p:cNvPr id="5" name="Date Placeholder 4">
            <a:extLst>
              <a:ext uri="{FF2B5EF4-FFF2-40B4-BE49-F238E27FC236}">
                <a16:creationId xmlns:a16="http://schemas.microsoft.com/office/drawing/2014/main" id="{A15E9B4D-B613-11AE-72F8-5A0C3EBFD95A}"/>
              </a:ext>
            </a:extLst>
          </p:cNvPr>
          <p:cNvSpPr>
            <a:spLocks noGrp="1"/>
          </p:cNvSpPr>
          <p:nvPr>
            <p:ph type="dt" sz="half" idx="12"/>
          </p:nvPr>
        </p:nvSpPr>
        <p:spPr/>
        <p:txBody>
          <a:bodyPr/>
          <a:lstStyle/>
          <a:p>
            <a:fld id="{5F4A68DB-2C2C-4E85-864F-07A96D602161}" type="datetime4">
              <a:rPr lang="en-GB" smtClean="0"/>
              <a:t>20 July 2026</a:t>
            </a:fld>
            <a:endParaRPr lang="en-GB"/>
          </a:p>
        </p:txBody>
      </p:sp>
      <p:sp>
        <p:nvSpPr>
          <p:cNvPr id="6" name="Title 1">
            <a:extLst>
              <a:ext uri="{FF2B5EF4-FFF2-40B4-BE49-F238E27FC236}">
                <a16:creationId xmlns:a16="http://schemas.microsoft.com/office/drawing/2014/main" id="{25ABB6F2-78D4-BCC3-D950-5FAF7FCB8FDD}"/>
              </a:ext>
            </a:extLst>
          </p:cNvPr>
          <p:cNvSpPr>
            <a:spLocks noGrp="1"/>
          </p:cNvSpPr>
          <p:nvPr>
            <p:ph type="title" hasCustomPrompt="1"/>
          </p:nvPr>
        </p:nvSpPr>
        <p:spPr>
          <a:xfrm>
            <a:off x="365126" y="242888"/>
            <a:ext cx="7554912" cy="430887"/>
          </a:xfrm>
        </p:spPr>
        <p:txBody>
          <a:bodyPr/>
          <a:lstStyle>
            <a:lvl1pPr>
              <a:defRPr/>
            </a:lvl1pPr>
          </a:lstStyle>
          <a:p>
            <a:r>
              <a:rPr lang="en-US"/>
              <a:t>Click to add topic / paper title</a:t>
            </a:r>
          </a:p>
        </p:txBody>
      </p:sp>
      <p:sp>
        <p:nvSpPr>
          <p:cNvPr id="7" name="Subtitle 2">
            <a:extLst>
              <a:ext uri="{FF2B5EF4-FFF2-40B4-BE49-F238E27FC236}">
                <a16:creationId xmlns:a16="http://schemas.microsoft.com/office/drawing/2014/main" id="{FA46E8B4-4C83-8DD1-80BB-CC03BD24AFCC}"/>
              </a:ext>
            </a:extLst>
          </p:cNvPr>
          <p:cNvSpPr>
            <a:spLocks noGrp="1"/>
          </p:cNvSpPr>
          <p:nvPr>
            <p:ph type="subTitle" idx="1" hasCustomPrompt="1"/>
          </p:nvPr>
        </p:nvSpPr>
        <p:spPr>
          <a:xfrm>
            <a:off x="365125" y="694950"/>
            <a:ext cx="7554913"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0" name="Text Placeholder 9">
            <a:extLst>
              <a:ext uri="{FF2B5EF4-FFF2-40B4-BE49-F238E27FC236}">
                <a16:creationId xmlns:a16="http://schemas.microsoft.com/office/drawing/2014/main" id="{8E19B5E4-F2A8-7F44-855D-F41DDE3B3D9F}"/>
              </a:ext>
            </a:extLst>
          </p:cNvPr>
          <p:cNvSpPr>
            <a:spLocks noGrp="1"/>
          </p:cNvSpPr>
          <p:nvPr>
            <p:ph type="body" sz="quarter" idx="34" hasCustomPrompt="1"/>
          </p:nvPr>
        </p:nvSpPr>
        <p:spPr>
          <a:xfrm>
            <a:off x="8172450" y="694948"/>
            <a:ext cx="3649661" cy="352801"/>
          </a:xfrm>
        </p:spPr>
        <p:txBody>
          <a:bodyPr lIns="0" tIns="0" rIns="0" bIns="18000" anchor="b" anchorCtr="0">
            <a:noAutofit/>
          </a:bodyPr>
          <a:lstStyle>
            <a:lvl1pPr marL="0" indent="0" algn="r">
              <a:buNone/>
              <a:defRPr sz="1400" b="0">
                <a:solidFill>
                  <a:schemeClr val="tx1"/>
                </a:solidFill>
              </a:defRPr>
            </a:lvl1pPr>
          </a:lstStyle>
          <a:p>
            <a:pPr lvl="0"/>
            <a:r>
              <a:rPr lang="en-US"/>
              <a:t>Click to insert date of session </a:t>
            </a:r>
          </a:p>
        </p:txBody>
      </p:sp>
      <p:sp>
        <p:nvSpPr>
          <p:cNvPr id="23" name="Text Placeholder 6">
            <a:extLst>
              <a:ext uri="{FF2B5EF4-FFF2-40B4-BE49-F238E27FC236}">
                <a16:creationId xmlns:a16="http://schemas.microsoft.com/office/drawing/2014/main" id="{472F201F-277F-F24E-085D-8160B5FF4CE6}"/>
              </a:ext>
            </a:extLst>
          </p:cNvPr>
          <p:cNvSpPr>
            <a:spLocks noGrp="1"/>
          </p:cNvSpPr>
          <p:nvPr>
            <p:ph type="body" sz="quarter" idx="36" hasCustomPrompt="1"/>
          </p:nvPr>
        </p:nvSpPr>
        <p:spPr>
          <a:xfrm>
            <a:off x="365126" y="1777158"/>
            <a:ext cx="1695450" cy="926921"/>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a:t>Up to 5 clear, focused objectives </a:t>
            </a:r>
            <a:br>
              <a:rPr lang="en-US"/>
            </a:br>
            <a:r>
              <a:rPr lang="en-US"/>
              <a:t>(</a:t>
            </a:r>
            <a:r>
              <a:rPr lang="en-US" err="1"/>
              <a:t>i</a:t>
            </a:r>
            <a:r>
              <a:rPr lang="en-US"/>
              <a:t>) for decision, </a:t>
            </a:r>
            <a:br>
              <a:rPr lang="en-US"/>
            </a:br>
            <a:r>
              <a:rPr lang="en-US"/>
              <a:t>(ii) for input </a:t>
            </a:r>
            <a:br>
              <a:rPr lang="en-US"/>
            </a:br>
            <a:r>
              <a:rPr lang="en-US"/>
              <a:t>(iii) for awareness</a:t>
            </a:r>
          </a:p>
        </p:txBody>
      </p:sp>
      <p:sp>
        <p:nvSpPr>
          <p:cNvPr id="25" name="Rectangle 24">
            <a:extLst>
              <a:ext uri="{FF2B5EF4-FFF2-40B4-BE49-F238E27FC236}">
                <a16:creationId xmlns:a16="http://schemas.microsoft.com/office/drawing/2014/main" id="{1BD6FC89-B057-E6C5-C8EA-1FC8CB31B6CA}"/>
              </a:ext>
            </a:extLst>
          </p:cNvPr>
          <p:cNvSpPr/>
          <p:nvPr userDrawn="1"/>
        </p:nvSpPr>
        <p:spPr bwMode="auto">
          <a:xfrm>
            <a:off x="8172450" y="242888"/>
            <a:ext cx="3654425" cy="452059"/>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54000" numCol="1" spcCol="0" rtlCol="0" fromWordArt="0" anchor="b" anchorCtr="0" forceAA="0" compatLnSpc="1">
            <a:prstTxWarp prst="textNoShape">
              <a:avLst/>
            </a:prstTxWarp>
            <a:noAutofit/>
          </a:bodyPr>
          <a:lstStyle/>
          <a:p>
            <a:pPr algn="r" eaLnBrk="0" fontAlgn="auto" hangingPunct="0">
              <a:spcBef>
                <a:spcPts val="300"/>
              </a:spcBef>
              <a:spcAft>
                <a:spcPts val="300"/>
              </a:spcAft>
              <a:buClr>
                <a:schemeClr val="bg1"/>
              </a:buClr>
            </a:pPr>
            <a:r>
              <a:rPr lang="en-US" sz="1800" b="1" kern="0">
                <a:solidFill>
                  <a:schemeClr val="tx2"/>
                </a:solidFill>
              </a:rPr>
              <a:t>Session date:</a:t>
            </a:r>
          </a:p>
        </p:txBody>
      </p:sp>
      <p:sp>
        <p:nvSpPr>
          <p:cNvPr id="24" name="Text Placeholder 6">
            <a:extLst>
              <a:ext uri="{FF2B5EF4-FFF2-40B4-BE49-F238E27FC236}">
                <a16:creationId xmlns:a16="http://schemas.microsoft.com/office/drawing/2014/main" id="{B166E02B-F260-FEAF-DDEB-67922AA11E6E}"/>
              </a:ext>
            </a:extLst>
          </p:cNvPr>
          <p:cNvSpPr>
            <a:spLocks noGrp="1"/>
          </p:cNvSpPr>
          <p:nvPr userDrawn="1">
            <p:ph type="body" sz="quarter" idx="37" hasCustomPrompt="1"/>
          </p:nvPr>
        </p:nvSpPr>
        <p:spPr>
          <a:xfrm>
            <a:off x="365126" y="3337172"/>
            <a:ext cx="1695450" cy="838023"/>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a:t>Up to 5 key questions to be addressed at the meeting</a:t>
            </a:r>
          </a:p>
        </p:txBody>
      </p:sp>
      <p:sp>
        <p:nvSpPr>
          <p:cNvPr id="90" name="Freeform: Shape 89">
            <a:extLst>
              <a:ext uri="{FF2B5EF4-FFF2-40B4-BE49-F238E27FC236}">
                <a16:creationId xmlns:a16="http://schemas.microsoft.com/office/drawing/2014/main" id="{9EA22563-2363-AB1F-DC9F-7A5457933645}"/>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4" name="Text Placeholder 53">
            <a:extLst>
              <a:ext uri="{FF2B5EF4-FFF2-40B4-BE49-F238E27FC236}">
                <a16:creationId xmlns:a16="http://schemas.microsoft.com/office/drawing/2014/main" id="{82C5C591-14F5-449A-187A-1D9A683E961E}"/>
              </a:ext>
            </a:extLst>
          </p:cNvPr>
          <p:cNvSpPr>
            <a:spLocks noGrp="1"/>
          </p:cNvSpPr>
          <p:nvPr>
            <p:ph type="body" sz="quarter" idx="44" hasCustomPrompt="1"/>
          </p:nvPr>
        </p:nvSpPr>
        <p:spPr>
          <a:xfrm>
            <a:off x="2260405" y="1307574"/>
            <a:ext cx="9557738" cy="1396505"/>
          </a:xfrm>
          <a:prstGeom prst="rect">
            <a:avLst/>
          </a:prstGeom>
          <a:solidFill>
            <a:schemeClr val="bg1">
              <a:lumMod val="95000"/>
            </a:schemeClr>
          </a:solidFill>
          <a:ln>
            <a:noFill/>
          </a:ln>
        </p:spPr>
        <p:txBody>
          <a:bodyPr wrap="square" lIns="180000" tIns="144000" rIns="0" bIns="72000" anchor="t" anchorCtr="0">
            <a:norm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a:t>DECISION: To seek X’s [single point accountable decision maker] decision to implement A</a:t>
            </a:r>
            <a:br>
              <a:rPr lang="en-US"/>
            </a:br>
            <a:r>
              <a:rPr lang="en-US"/>
              <a:t>INPUT: To receive input to the proposed plan for B</a:t>
            </a:r>
            <a:br>
              <a:rPr lang="en-US"/>
            </a:br>
            <a:r>
              <a:rPr lang="en-US"/>
              <a:t>AWARENESS: To update XXX regarding C</a:t>
            </a:r>
          </a:p>
        </p:txBody>
      </p:sp>
      <p:sp>
        <p:nvSpPr>
          <p:cNvPr id="55" name="Text Placeholder 54">
            <a:extLst>
              <a:ext uri="{FF2B5EF4-FFF2-40B4-BE49-F238E27FC236}">
                <a16:creationId xmlns:a16="http://schemas.microsoft.com/office/drawing/2014/main" id="{54077D3A-2E14-68B6-5E16-413475F36C3A}"/>
              </a:ext>
            </a:extLst>
          </p:cNvPr>
          <p:cNvSpPr>
            <a:spLocks noGrp="1"/>
          </p:cNvSpPr>
          <p:nvPr>
            <p:ph type="body" sz="quarter" idx="45" hasCustomPrompt="1"/>
          </p:nvPr>
        </p:nvSpPr>
        <p:spPr>
          <a:xfrm>
            <a:off x="2260405" y="2778690"/>
            <a:ext cx="9557738" cy="1396505"/>
          </a:xfrm>
          <a:prstGeom prst="rect">
            <a:avLst/>
          </a:prstGeom>
          <a:solidFill>
            <a:schemeClr val="bg1">
              <a:lumMod val="95000"/>
            </a:schemeClr>
          </a:solidFill>
          <a:ln>
            <a:noFill/>
          </a:ln>
        </p:spPr>
        <p:txBody>
          <a:bodyPr wrap="square" lIns="180000" tIns="144000" rIns="0" bIns="72000" anchor="t" anchorCtr="0">
            <a:norm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a:t>Does XXX have further input on the proposals set out or require additional information?</a:t>
            </a:r>
            <a:br>
              <a:rPr lang="en-US"/>
            </a:br>
            <a:r>
              <a:rPr lang="en-US"/>
              <a:t>Is XXX supportive of the recommendation to x, y, z?</a:t>
            </a:r>
            <a:br>
              <a:rPr lang="en-US"/>
            </a:br>
            <a:r>
              <a:rPr lang="en-US"/>
              <a:t>Does XXX support the approach outlined to x, y, z?</a:t>
            </a:r>
          </a:p>
        </p:txBody>
      </p:sp>
      <p:sp>
        <p:nvSpPr>
          <p:cNvPr id="56" name="Text Placeholder 55">
            <a:extLst>
              <a:ext uri="{FF2B5EF4-FFF2-40B4-BE49-F238E27FC236}">
                <a16:creationId xmlns:a16="http://schemas.microsoft.com/office/drawing/2014/main" id="{5DE7D720-AF89-6DE4-D2E5-33C7B01B7E91}"/>
              </a:ext>
            </a:extLst>
          </p:cNvPr>
          <p:cNvSpPr>
            <a:spLocks noGrp="1"/>
          </p:cNvSpPr>
          <p:nvPr>
            <p:ph type="body" sz="quarter" idx="46" hasCustomPrompt="1"/>
          </p:nvPr>
        </p:nvSpPr>
        <p:spPr>
          <a:xfrm>
            <a:off x="2260405" y="4249806"/>
            <a:ext cx="9557738" cy="1396505"/>
          </a:xfrm>
          <a:prstGeom prst="rect">
            <a:avLst/>
          </a:prstGeom>
          <a:solidFill>
            <a:schemeClr val="bg1">
              <a:lumMod val="95000"/>
            </a:schemeClr>
          </a:solidFill>
          <a:ln>
            <a:noFill/>
          </a:ln>
        </p:spPr>
        <p:txBody>
          <a:bodyPr wrap="square" lIns="180000" tIns="144000" rIns="0" bIns="72000" anchor="t" anchorCtr="0">
            <a:norm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a:t>Key steps following XXX review / decision</a:t>
            </a:r>
          </a:p>
        </p:txBody>
      </p:sp>
      <p:sp>
        <p:nvSpPr>
          <p:cNvPr id="57" name="Text Placeholder 56">
            <a:extLst>
              <a:ext uri="{FF2B5EF4-FFF2-40B4-BE49-F238E27FC236}">
                <a16:creationId xmlns:a16="http://schemas.microsoft.com/office/drawing/2014/main" id="{8C53FB3B-975B-80D5-29B3-81DC27DCAC8F}"/>
              </a:ext>
            </a:extLst>
          </p:cNvPr>
          <p:cNvSpPr>
            <a:spLocks noGrp="1"/>
          </p:cNvSpPr>
          <p:nvPr>
            <p:ph type="body" sz="quarter" idx="48" hasCustomPrompt="1"/>
          </p:nvPr>
        </p:nvSpPr>
        <p:spPr>
          <a:xfrm>
            <a:off x="2260405" y="5720922"/>
            <a:ext cx="9557738" cy="363373"/>
          </a:xfrm>
          <a:prstGeom prst="rect">
            <a:avLst/>
          </a:prstGeom>
          <a:solidFill>
            <a:schemeClr val="bg1">
              <a:lumMod val="95000"/>
            </a:schemeClr>
          </a:solidFill>
          <a:ln>
            <a:noFill/>
          </a:ln>
        </p:spPr>
        <p:txBody>
          <a:bodyPr wrap="square" lIns="180000" tIns="36000" rIns="0" bIns="36000" anchor="ctr" anchorCtr="0">
            <a:normAutofit/>
          </a:bodyPr>
          <a:lstStyle>
            <a:lvl1pPr marL="0" indent="0">
              <a:spcBef>
                <a:spcPts val="0"/>
              </a:spcBef>
              <a:spcAft>
                <a:spcPts val="0"/>
              </a:spcAft>
              <a:buSzPct val="100000"/>
              <a:buFont typeface="+mj-lt"/>
              <a:buNone/>
              <a:defRPr sz="1200"/>
            </a:lvl1pPr>
            <a:lvl2pPr marL="357542" indent="0">
              <a:buNone/>
              <a:defRPr/>
            </a:lvl2pPr>
          </a:lstStyle>
          <a:p>
            <a:pPr lvl="0"/>
            <a:r>
              <a:rPr lang="en-US"/>
              <a:t>Single person accountable for this topic / paper</a:t>
            </a:r>
          </a:p>
        </p:txBody>
      </p:sp>
    </p:spTree>
    <p:custDataLst>
      <p:tags r:id="rId1"/>
    </p:custDataLst>
    <p:extLst>
      <p:ext uri="{BB962C8B-B14F-4D97-AF65-F5344CB8AC3E}">
        <p14:creationId xmlns:p14="http://schemas.microsoft.com/office/powerpoint/2010/main" val="3562571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E000430-8A32-4EA0-BAD1-A7727B812F8C}"/>
              </a:ext>
            </a:extLst>
          </p:cNvPr>
          <p:cNvSpPr>
            <a:spLocks noGrp="1"/>
          </p:cNvSpPr>
          <p:nvPr>
            <p:ph type="dt" sz="half" idx="10"/>
          </p:nvPr>
        </p:nvSpPr>
        <p:spPr/>
        <p:txBody>
          <a:bodyPr/>
          <a:lstStyle/>
          <a:p>
            <a:fld id="{D8764974-D193-47C8-9108-815EEB761C05}" type="datetime4">
              <a:rPr lang="en-GB" smtClean="0"/>
              <a:t>20 July 2026</a:t>
            </a:fld>
            <a:endParaRPr lang="en-GB"/>
          </a:p>
        </p:txBody>
      </p:sp>
      <p:sp>
        <p:nvSpPr>
          <p:cNvPr id="4" name="Footer Placeholder 3">
            <a:extLst>
              <a:ext uri="{FF2B5EF4-FFF2-40B4-BE49-F238E27FC236}">
                <a16:creationId xmlns:a16="http://schemas.microsoft.com/office/drawing/2014/main" id="{F706E0BB-62AD-47AF-909C-4F33FB5616E5}"/>
              </a:ext>
            </a:extLst>
          </p:cNvPr>
          <p:cNvSpPr>
            <a:spLocks noGrp="1"/>
          </p:cNvSpPr>
          <p:nvPr>
            <p:ph type="ftr" sz="quarter" idx="11"/>
          </p:nvPr>
        </p:nvSpPr>
        <p:spPr/>
        <p:txBody>
          <a:bodyPr/>
          <a:lstStyle/>
          <a:p>
            <a:r>
              <a:rPr lang="en-GB"/>
              <a:t>Confidential under GSK NDA</a:t>
            </a:r>
          </a:p>
        </p:txBody>
      </p:sp>
      <p:sp>
        <p:nvSpPr>
          <p:cNvPr id="6" name="Slide Number Placeholder 5">
            <a:extLst>
              <a:ext uri="{FF2B5EF4-FFF2-40B4-BE49-F238E27FC236}">
                <a16:creationId xmlns:a16="http://schemas.microsoft.com/office/drawing/2014/main" id="{253CEE5C-8451-457A-BD36-F438731DB091}"/>
              </a:ext>
            </a:extLst>
          </p:cNvPr>
          <p:cNvSpPr>
            <a:spLocks noGrp="1"/>
          </p:cNvSpPr>
          <p:nvPr>
            <p:ph type="sldNum" sz="quarter" idx="12"/>
          </p:nvPr>
        </p:nvSpPr>
        <p:spPr/>
        <p:txBody>
          <a:bodyPr/>
          <a:lstStyle/>
          <a:p>
            <a:fld id="{9F9F533D-B52E-4A2F-BF72-0ADD2D94BD75}" type="slidenum">
              <a:rPr lang="en-GB" smtClean="0"/>
              <a:pPr/>
              <a:t>‹#›</a:t>
            </a:fld>
            <a:endParaRPr lang="en-GB"/>
          </a:p>
        </p:txBody>
      </p:sp>
      <p:sp>
        <p:nvSpPr>
          <p:cNvPr id="19" name="Text Placeholder 18">
            <a:extLst>
              <a:ext uri="{FF2B5EF4-FFF2-40B4-BE49-F238E27FC236}">
                <a16:creationId xmlns:a16="http://schemas.microsoft.com/office/drawing/2014/main" id="{61071252-BD8E-4D3D-BF35-8427544DDF49}"/>
              </a:ext>
            </a:extLst>
          </p:cNvPr>
          <p:cNvSpPr>
            <a:spLocks noGrp="1"/>
          </p:cNvSpPr>
          <p:nvPr>
            <p:ph type="body" sz="quarter" idx="13" hasCustomPrompt="1"/>
          </p:nvPr>
        </p:nvSpPr>
        <p:spPr>
          <a:xfrm>
            <a:off x="5113176" y="242888"/>
            <a:ext cx="6712112" cy="5848350"/>
          </a:xfrm>
        </p:spPr>
        <p:txBody>
          <a:bodyPr lIns="0" tIns="180000" rIns="0" bIns="180000" anchor="t">
            <a:noAutofit/>
          </a:bodyPr>
          <a:lstStyle>
            <a:lvl1pPr marL="720000" indent="-720000">
              <a:spcBef>
                <a:spcPts val="1200"/>
              </a:spcBef>
              <a:spcAft>
                <a:spcPts val="1200"/>
              </a:spcAft>
              <a:buClr>
                <a:schemeClr val="tx2"/>
              </a:buClr>
              <a:buSzPct val="100000"/>
              <a:buFont typeface="+mj-lt"/>
              <a:buAutoNum type="arabicPeriod"/>
              <a:defRPr sz="2800"/>
            </a:lvl1pPr>
            <a:lvl2pPr marL="814742" indent="-457200">
              <a:buClr>
                <a:schemeClr val="tx2"/>
              </a:buClr>
              <a:buFont typeface="+mj-lt"/>
              <a:buAutoNum type="arabicPeriod"/>
              <a:defRPr/>
            </a:lvl2pPr>
            <a:lvl3pPr marL="1177182" indent="-457200">
              <a:buClr>
                <a:schemeClr val="tx2"/>
              </a:buClr>
              <a:buFont typeface="+mj-lt"/>
              <a:buAutoNum type="arabicPeriod"/>
              <a:defRPr/>
            </a:lvl3pPr>
            <a:lvl4pPr>
              <a:buClr>
                <a:schemeClr val="tx2"/>
              </a:buClr>
              <a:buFont typeface="+mj-lt"/>
              <a:buAutoNum type="arabicPeriod"/>
              <a:defRPr/>
            </a:lvl4pPr>
            <a:lvl5pPr>
              <a:buClr>
                <a:schemeClr val="tx2"/>
              </a:buClr>
              <a:buFont typeface="+mj-lt"/>
              <a:buAutoNum type="arabicPeriod"/>
              <a:defRPr/>
            </a:lvl5pPr>
          </a:lstStyle>
          <a:p>
            <a:pPr lvl="0"/>
            <a:r>
              <a:rPr lang="en-GB"/>
              <a:t>Agenda point 1, add text here.</a:t>
            </a:r>
            <a:br>
              <a:rPr lang="en-GB"/>
            </a:br>
            <a:r>
              <a:rPr lang="en-GB"/>
              <a:t>Agenda point 2, add text here.</a:t>
            </a:r>
            <a:br>
              <a:rPr lang="en-GB"/>
            </a:br>
            <a:r>
              <a:rPr lang="en-GB"/>
              <a:t>Agenda point 3, add text here.</a:t>
            </a:r>
            <a:br>
              <a:rPr lang="en-GB"/>
            </a:br>
            <a:r>
              <a:rPr lang="en-GB"/>
              <a:t>Agenda point 4, add text here.</a:t>
            </a:r>
            <a:br>
              <a:rPr lang="en-GB"/>
            </a:br>
            <a:r>
              <a:rPr lang="en-GB"/>
              <a:t>Agenda point 5, add text here.</a:t>
            </a:r>
          </a:p>
        </p:txBody>
      </p:sp>
      <p:sp>
        <p:nvSpPr>
          <p:cNvPr id="8" name="Title 1">
            <a:extLst>
              <a:ext uri="{FF2B5EF4-FFF2-40B4-BE49-F238E27FC236}">
                <a16:creationId xmlns:a16="http://schemas.microsoft.com/office/drawing/2014/main" id="{0630E13A-9E76-B161-1416-CBE84BD22827}"/>
              </a:ext>
            </a:extLst>
          </p:cNvPr>
          <p:cNvSpPr>
            <a:spLocks noGrp="1"/>
          </p:cNvSpPr>
          <p:nvPr>
            <p:ph type="title"/>
          </p:nvPr>
        </p:nvSpPr>
        <p:spPr>
          <a:xfrm>
            <a:off x="365126" y="242888"/>
            <a:ext cx="4748050" cy="430887"/>
          </a:xfrm>
        </p:spPr>
        <p:txBody>
          <a:bodyPr/>
          <a:lstStyle/>
          <a:p>
            <a:r>
              <a:rPr lang="en-US"/>
              <a:t>Click to edit Master title style</a:t>
            </a:r>
          </a:p>
        </p:txBody>
      </p:sp>
      <p:sp>
        <p:nvSpPr>
          <p:cNvPr id="9" name="Subtitle 2">
            <a:extLst>
              <a:ext uri="{FF2B5EF4-FFF2-40B4-BE49-F238E27FC236}">
                <a16:creationId xmlns:a16="http://schemas.microsoft.com/office/drawing/2014/main" id="{2202868D-ACDF-6434-3575-872690D6A783}"/>
              </a:ext>
            </a:extLst>
          </p:cNvPr>
          <p:cNvSpPr>
            <a:spLocks noGrp="1"/>
          </p:cNvSpPr>
          <p:nvPr>
            <p:ph type="subTitle" idx="1" hasCustomPrompt="1"/>
          </p:nvPr>
        </p:nvSpPr>
        <p:spPr>
          <a:xfrm>
            <a:off x="365125" y="694950"/>
            <a:ext cx="4748050"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1" name="Freeform: Shape 10">
            <a:extLst>
              <a:ext uri="{FF2B5EF4-FFF2-40B4-BE49-F238E27FC236}">
                <a16:creationId xmlns:a16="http://schemas.microsoft.com/office/drawing/2014/main" id="{B674B05C-AADA-DE64-7CCE-6E374DE8A94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3680473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and Content ">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0DD48070-D695-60C2-898C-9832D9369B0C}"/>
              </a:ext>
            </a:extLst>
          </p:cNvPr>
          <p:cNvSpPr>
            <a:spLocks noGrp="1"/>
          </p:cNvSpPr>
          <p:nvPr>
            <p:ph type="body" sz="quarter" idx="22" hasCustomPrompt="1"/>
          </p:nvPr>
        </p:nvSpPr>
        <p:spPr>
          <a:xfrm>
            <a:off x="365125" y="1311162"/>
            <a:ext cx="11460164" cy="4484800"/>
          </a:xfrm>
          <a:custGeom>
            <a:avLst/>
            <a:gdLst>
              <a:gd name="connsiteX0" fmla="*/ 185682 w 11460164"/>
              <a:gd name="connsiteY0" fmla="*/ 0 h 4484800"/>
              <a:gd name="connsiteX1" fmla="*/ 11274482 w 11460164"/>
              <a:gd name="connsiteY1" fmla="*/ 0 h 4484800"/>
              <a:gd name="connsiteX2" fmla="*/ 11460164 w 11460164"/>
              <a:gd name="connsiteY2" fmla="*/ 185682 h 4484800"/>
              <a:gd name="connsiteX3" fmla="*/ 11460164 w 11460164"/>
              <a:gd name="connsiteY3" fmla="*/ 456183 h 4484800"/>
              <a:gd name="connsiteX4" fmla="*/ 11460164 w 11460164"/>
              <a:gd name="connsiteY4" fmla="*/ 715601 h 4484800"/>
              <a:gd name="connsiteX5" fmla="*/ 11460164 w 11460164"/>
              <a:gd name="connsiteY5" fmla="*/ 4299118 h 4484800"/>
              <a:gd name="connsiteX6" fmla="*/ 11274482 w 11460164"/>
              <a:gd name="connsiteY6" fmla="*/ 4484800 h 4484800"/>
              <a:gd name="connsiteX7" fmla="*/ 185682 w 11460164"/>
              <a:gd name="connsiteY7" fmla="*/ 4484800 h 4484800"/>
              <a:gd name="connsiteX8" fmla="*/ 0 w 11460164"/>
              <a:gd name="connsiteY8" fmla="*/ 4299118 h 4484800"/>
              <a:gd name="connsiteX9" fmla="*/ 0 w 11460164"/>
              <a:gd name="connsiteY9" fmla="*/ 715601 h 4484800"/>
              <a:gd name="connsiteX10" fmla="*/ 0 w 11460164"/>
              <a:gd name="connsiteY10" fmla="*/ 456183 h 4484800"/>
              <a:gd name="connsiteX11" fmla="*/ 0 w 11460164"/>
              <a:gd name="connsiteY11" fmla="*/ 185682 h 4484800"/>
              <a:gd name="connsiteX12" fmla="*/ 185682 w 11460164"/>
              <a:gd name="connsiteY12" fmla="*/ 0 h 448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60164" h="4484800">
                <a:moveTo>
                  <a:pt x="185682" y="0"/>
                </a:moveTo>
                <a:lnTo>
                  <a:pt x="11274482" y="0"/>
                </a:lnTo>
                <a:cubicBezTo>
                  <a:pt x="11377031" y="0"/>
                  <a:pt x="11460164" y="83133"/>
                  <a:pt x="11460164" y="185682"/>
                </a:cubicBezTo>
                <a:lnTo>
                  <a:pt x="11460164" y="456183"/>
                </a:lnTo>
                <a:lnTo>
                  <a:pt x="11460164" y="715601"/>
                </a:lnTo>
                <a:lnTo>
                  <a:pt x="11460164" y="4299118"/>
                </a:lnTo>
                <a:cubicBezTo>
                  <a:pt x="11460164" y="4401667"/>
                  <a:pt x="11377031" y="4484800"/>
                  <a:pt x="11274482" y="4484800"/>
                </a:cubicBezTo>
                <a:lnTo>
                  <a:pt x="185682" y="4484800"/>
                </a:lnTo>
                <a:cubicBezTo>
                  <a:pt x="83133" y="4484800"/>
                  <a:pt x="0" y="4401667"/>
                  <a:pt x="0" y="4299118"/>
                </a:cubicBezTo>
                <a:lnTo>
                  <a:pt x="0" y="715601"/>
                </a:lnTo>
                <a:lnTo>
                  <a:pt x="0" y="456183"/>
                </a:lnTo>
                <a:lnTo>
                  <a:pt x="0" y="185682"/>
                </a:lnTo>
                <a:cubicBezTo>
                  <a:pt x="0" y="83133"/>
                  <a:pt x="83133" y="0"/>
                  <a:pt x="185682" y="0"/>
                </a:cubicBezTo>
                <a:close/>
              </a:path>
            </a:pathLst>
          </a:custGeom>
          <a:solidFill>
            <a:schemeClr val="bg1">
              <a:lumMod val="95000"/>
            </a:schemeClr>
          </a:solidFill>
          <a:ln>
            <a:noFill/>
          </a:ln>
        </p:spPr>
        <p:txBody>
          <a:bodyPr wrap="square" tIns="180000">
            <a:noAutofit/>
          </a:bodyPr>
          <a:lstStyle>
            <a:lvl1pPr>
              <a:defRPr/>
            </a:lvl1pPr>
          </a:lstStyle>
          <a:p>
            <a:pPr lvl="0"/>
            <a:r>
              <a:rPr lang="en-US"/>
              <a:t>Click to enter TEXT content ONLY.</a:t>
            </a:r>
            <a:br>
              <a:rPr lang="en-US"/>
            </a:br>
            <a:r>
              <a:rPr lang="en-US"/>
              <a:t>If text content appears outside of grey holder please reduce the size of the font.</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Date Placeholder 2">
            <a:extLst>
              <a:ext uri="{FF2B5EF4-FFF2-40B4-BE49-F238E27FC236}">
                <a16:creationId xmlns:a16="http://schemas.microsoft.com/office/drawing/2014/main" id="{341B731B-8FAA-4A1B-8740-D7002967C1CA}"/>
              </a:ext>
            </a:extLst>
          </p:cNvPr>
          <p:cNvSpPr>
            <a:spLocks noGrp="1"/>
          </p:cNvSpPr>
          <p:nvPr>
            <p:ph type="dt" sz="half" idx="19"/>
          </p:nvPr>
        </p:nvSpPr>
        <p:spPr/>
        <p:txBody>
          <a:bodyPr/>
          <a:lstStyle/>
          <a:p>
            <a:fld id="{3CF52E0F-7072-49C9-AD32-FFC480E74F0C}" type="datetime4">
              <a:rPr lang="en-GB" smtClean="0"/>
              <a:t>20 July 2026</a:t>
            </a:fld>
            <a:endParaRPr lang="en-GB"/>
          </a:p>
        </p:txBody>
      </p:sp>
      <p:sp>
        <p:nvSpPr>
          <p:cNvPr id="5" name="Footer Placeholder 4">
            <a:extLst>
              <a:ext uri="{FF2B5EF4-FFF2-40B4-BE49-F238E27FC236}">
                <a16:creationId xmlns:a16="http://schemas.microsoft.com/office/drawing/2014/main" id="{D1C84BE9-25CA-45B1-9061-9DCABA70A1E6}"/>
              </a:ext>
            </a:extLst>
          </p:cNvPr>
          <p:cNvSpPr>
            <a:spLocks noGrp="1"/>
          </p:cNvSpPr>
          <p:nvPr>
            <p:ph type="ftr" sz="quarter" idx="20"/>
          </p:nvPr>
        </p:nvSpPr>
        <p:spPr/>
        <p:txBody>
          <a:bodyPr/>
          <a:lstStyle/>
          <a:p>
            <a:r>
              <a:rPr lang="en-GB"/>
              <a:t>Confidential under GSK NDA</a:t>
            </a:r>
          </a:p>
        </p:txBody>
      </p:sp>
      <p:sp>
        <p:nvSpPr>
          <p:cNvPr id="11" name="Slide Number Placeholder 10">
            <a:extLst>
              <a:ext uri="{FF2B5EF4-FFF2-40B4-BE49-F238E27FC236}">
                <a16:creationId xmlns:a16="http://schemas.microsoft.com/office/drawing/2014/main" id="{BF0296A1-E119-4AEC-80A5-65FD719F9631}"/>
              </a:ext>
            </a:extLst>
          </p:cNvPr>
          <p:cNvSpPr>
            <a:spLocks noGrp="1"/>
          </p:cNvSpPr>
          <p:nvPr>
            <p:ph type="sldNum" sz="quarter" idx="21"/>
          </p:nvPr>
        </p:nvSpPr>
        <p:spPr/>
        <p:txBody>
          <a:bodyPr/>
          <a:lstStyle/>
          <a:p>
            <a:fld id="{9F9F533D-B52E-4A2F-BF72-0ADD2D94BD75}" type="slidenum">
              <a:rPr lang="en-GB" smtClean="0"/>
              <a:pPr/>
              <a:t>‹#›</a:t>
            </a:fld>
            <a:endParaRPr lang="en-GB"/>
          </a:p>
        </p:txBody>
      </p:sp>
      <p:sp>
        <p:nvSpPr>
          <p:cNvPr id="12" name="Title 1">
            <a:extLst>
              <a:ext uri="{FF2B5EF4-FFF2-40B4-BE49-F238E27FC236}">
                <a16:creationId xmlns:a16="http://schemas.microsoft.com/office/drawing/2014/main" id="{88C0D48C-007D-FEEC-D1DF-C00891876F0F}"/>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1F6E4BF1-5B10-6CC3-60CB-FA773CAB8AF3}"/>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099DCD39-6F77-D442-9C41-7FE9A4CBB7F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3314054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Large Bullet">
    <p:spTree>
      <p:nvGrpSpPr>
        <p:cNvPr id="1" name=""/>
        <p:cNvGrpSpPr/>
        <p:nvPr/>
      </p:nvGrpSpPr>
      <p:grpSpPr>
        <a:xfrm>
          <a:off x="0" y="0"/>
          <a:ext cx="0" cy="0"/>
          <a:chOff x="0" y="0"/>
          <a:chExt cx="0" cy="0"/>
        </a:xfrm>
      </p:grpSpPr>
      <p:sp>
        <p:nvSpPr>
          <p:cNvPr id="15" name="Text Placeholder 5"/>
          <p:cNvSpPr>
            <a:spLocks noGrp="1"/>
          </p:cNvSpPr>
          <p:nvPr>
            <p:ph type="body" sz="quarter" idx="18" hasCustomPrompt="1"/>
          </p:nvPr>
        </p:nvSpPr>
        <p:spPr>
          <a:xfrm>
            <a:off x="365125" y="5792438"/>
            <a:ext cx="11460163"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2" name="Date Placeholder 1">
            <a:extLst>
              <a:ext uri="{FF2B5EF4-FFF2-40B4-BE49-F238E27FC236}">
                <a16:creationId xmlns:a16="http://schemas.microsoft.com/office/drawing/2014/main" id="{2E151742-951B-4B8B-93F8-F6814A0074E2}"/>
              </a:ext>
            </a:extLst>
          </p:cNvPr>
          <p:cNvSpPr>
            <a:spLocks noGrp="1"/>
          </p:cNvSpPr>
          <p:nvPr>
            <p:ph type="dt" sz="half" idx="19"/>
          </p:nvPr>
        </p:nvSpPr>
        <p:spPr/>
        <p:txBody>
          <a:bodyPr/>
          <a:lstStyle/>
          <a:p>
            <a:fld id="{FCF78865-1C1C-415B-B08F-8914742F7BAA}" type="datetime4">
              <a:rPr lang="en-GB" smtClean="0"/>
              <a:t>20 July 2026</a:t>
            </a:fld>
            <a:endParaRPr lang="en-GB"/>
          </a:p>
        </p:txBody>
      </p:sp>
      <p:sp>
        <p:nvSpPr>
          <p:cNvPr id="3" name="Footer Placeholder 2">
            <a:extLst>
              <a:ext uri="{FF2B5EF4-FFF2-40B4-BE49-F238E27FC236}">
                <a16:creationId xmlns:a16="http://schemas.microsoft.com/office/drawing/2014/main" id="{5E4920F6-7DEA-40DB-B124-F0789E56046F}"/>
              </a:ext>
            </a:extLst>
          </p:cNvPr>
          <p:cNvSpPr>
            <a:spLocks noGrp="1"/>
          </p:cNvSpPr>
          <p:nvPr>
            <p:ph type="ftr" sz="quarter" idx="20"/>
          </p:nvPr>
        </p:nvSpPr>
        <p:spPr/>
        <p:txBody>
          <a:bodyPr/>
          <a:lstStyle/>
          <a:p>
            <a:r>
              <a:rPr lang="en-GB"/>
              <a:t>Confidential under GSK NDA</a:t>
            </a:r>
          </a:p>
        </p:txBody>
      </p:sp>
      <p:sp>
        <p:nvSpPr>
          <p:cNvPr id="4" name="Slide Number Placeholder 3">
            <a:extLst>
              <a:ext uri="{FF2B5EF4-FFF2-40B4-BE49-F238E27FC236}">
                <a16:creationId xmlns:a16="http://schemas.microsoft.com/office/drawing/2014/main" id="{D4DDB722-CBB2-49EC-937E-10206DEB6BD1}"/>
              </a:ext>
            </a:extLst>
          </p:cNvPr>
          <p:cNvSpPr>
            <a:spLocks noGrp="1"/>
          </p:cNvSpPr>
          <p:nvPr>
            <p:ph type="sldNum" sz="quarter" idx="21"/>
          </p:nvPr>
        </p:nvSpPr>
        <p:spPr/>
        <p:txBody>
          <a:bodyPr/>
          <a:lstStyle/>
          <a:p>
            <a:fld id="{9F9F533D-B52E-4A2F-BF72-0ADD2D94BD75}" type="slidenum">
              <a:rPr lang="en-GB" smtClean="0"/>
              <a:pPr/>
              <a:t>‹#›</a:t>
            </a:fld>
            <a:endParaRPr lang="en-GB"/>
          </a:p>
        </p:txBody>
      </p:sp>
      <p:sp>
        <p:nvSpPr>
          <p:cNvPr id="7" name="Text Placeholder 6">
            <a:extLst>
              <a:ext uri="{FF2B5EF4-FFF2-40B4-BE49-F238E27FC236}">
                <a16:creationId xmlns:a16="http://schemas.microsoft.com/office/drawing/2014/main" id="{D4E53DDB-FDB6-66D3-FC50-5426FF978D71}"/>
              </a:ext>
            </a:extLst>
          </p:cNvPr>
          <p:cNvSpPr>
            <a:spLocks noGrp="1"/>
          </p:cNvSpPr>
          <p:nvPr>
            <p:ph type="body" sz="quarter" idx="22" hasCustomPrompt="1"/>
          </p:nvPr>
        </p:nvSpPr>
        <p:spPr>
          <a:xfrm>
            <a:off x="365125" y="1303338"/>
            <a:ext cx="11460163" cy="4489450"/>
          </a:xfrm>
        </p:spPr>
        <p:txBody>
          <a:bodyPr lIns="0" tIns="180000" rIns="0" bIns="180000">
            <a:noAutofit/>
          </a:bodyPr>
          <a:lstStyle>
            <a:lvl1pPr>
              <a:defRPr/>
            </a:lvl1pPr>
          </a:lstStyle>
          <a:p>
            <a:pPr lvl="0"/>
            <a:r>
              <a:rPr lang="en-US"/>
              <a:t>Click to enter TEXT content ONLY. </a:t>
            </a:r>
            <a:br>
              <a:rPr lang="en-US"/>
            </a:br>
            <a:r>
              <a:rPr lang="en-US"/>
              <a:t>If text content appears too large please reduce the size of this font. </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itle 1">
            <a:extLst>
              <a:ext uri="{FF2B5EF4-FFF2-40B4-BE49-F238E27FC236}">
                <a16:creationId xmlns:a16="http://schemas.microsoft.com/office/drawing/2014/main" id="{3A7A86B9-637F-F18A-3604-5A44F7C4442F}"/>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0" name="Subtitle 2">
            <a:extLst>
              <a:ext uri="{FF2B5EF4-FFF2-40B4-BE49-F238E27FC236}">
                <a16:creationId xmlns:a16="http://schemas.microsoft.com/office/drawing/2014/main" id="{5A89E078-B97D-529E-FF83-DF5AD69D51F2}"/>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3" name="Freeform: Shape 12">
            <a:extLst>
              <a:ext uri="{FF2B5EF4-FFF2-40B4-BE49-F238E27FC236}">
                <a16:creationId xmlns:a16="http://schemas.microsoft.com/office/drawing/2014/main" id="{22D601A5-6CEE-D258-CCEB-85D1BB27BD8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3317225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itle and Content with Subheading">
    <p:spTree>
      <p:nvGrpSpPr>
        <p:cNvPr id="1" name=""/>
        <p:cNvGrpSpPr/>
        <p:nvPr/>
      </p:nvGrpSpPr>
      <p:grpSpPr>
        <a:xfrm>
          <a:off x="0" y="0"/>
          <a:ext cx="0" cy="0"/>
          <a:chOff x="0" y="0"/>
          <a:chExt cx="0" cy="0"/>
        </a:xfrm>
      </p:grpSpPr>
      <p:sp>
        <p:nvSpPr>
          <p:cNvPr id="11" name="Text Placeholder 2"/>
          <p:cNvSpPr>
            <a:spLocks noGrp="1"/>
          </p:cNvSpPr>
          <p:nvPr>
            <p:ph type="body" sz="quarter" idx="13" hasCustomPrompt="1"/>
          </p:nvPr>
        </p:nvSpPr>
        <p:spPr>
          <a:xfrm>
            <a:off x="365456" y="1303338"/>
            <a:ext cx="11460701" cy="399600"/>
          </a:xfrm>
          <a:prstGeom prst="rect">
            <a:avLst/>
          </a:prstGeom>
        </p:spPr>
        <p:txBody>
          <a:bodyPr lIns="0" tIns="72000" rIns="0" bIns="72000" anchor="t" anchorCtr="0">
            <a:noAutofit/>
          </a:bodyPr>
          <a:lstStyle>
            <a:lvl1pPr marL="0" indent="0">
              <a:spcBef>
                <a:spcPts val="0"/>
              </a:spcBef>
              <a:spcAft>
                <a:spcPts val="0"/>
              </a:spcAft>
              <a:buNone/>
              <a:defRPr sz="2400" b="1">
                <a:solidFill>
                  <a:schemeClr val="tx2"/>
                </a:solidFill>
              </a:defRPr>
            </a:lvl1pPr>
            <a:lvl2pPr marL="361942" indent="0">
              <a:buNone/>
              <a:defRPr/>
            </a:lvl2pPr>
            <a:lvl3pPr marL="711182" indent="0">
              <a:buNone/>
              <a:defRPr/>
            </a:lvl3pPr>
            <a:lvl4pPr marL="1087939" indent="0">
              <a:buNone/>
              <a:defRPr/>
            </a:lvl4pPr>
            <a:lvl5pPr marL="1473163" indent="0">
              <a:buNone/>
              <a:defRPr/>
            </a:lvl5pPr>
          </a:lstStyle>
          <a:p>
            <a:pPr lvl="0"/>
            <a:r>
              <a:rPr lang="en-GB"/>
              <a:t>Click to enter subheading text </a:t>
            </a:r>
          </a:p>
        </p:txBody>
      </p:sp>
      <p:sp>
        <p:nvSpPr>
          <p:cNvPr id="1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Date Placeholder 2">
            <a:extLst>
              <a:ext uri="{FF2B5EF4-FFF2-40B4-BE49-F238E27FC236}">
                <a16:creationId xmlns:a16="http://schemas.microsoft.com/office/drawing/2014/main" id="{3C475D1F-3C7D-443F-9C73-9160E439AE1B}"/>
              </a:ext>
            </a:extLst>
          </p:cNvPr>
          <p:cNvSpPr>
            <a:spLocks noGrp="1"/>
          </p:cNvSpPr>
          <p:nvPr>
            <p:ph type="dt" sz="half" idx="20"/>
          </p:nvPr>
        </p:nvSpPr>
        <p:spPr/>
        <p:txBody>
          <a:bodyPr/>
          <a:lstStyle/>
          <a:p>
            <a:fld id="{3128C942-FB78-4493-BDB3-67D99B1F576C}" type="datetime4">
              <a:rPr lang="en-GB" smtClean="0"/>
              <a:t>20 July 2026</a:t>
            </a:fld>
            <a:endParaRPr lang="en-GB"/>
          </a:p>
        </p:txBody>
      </p:sp>
      <p:sp>
        <p:nvSpPr>
          <p:cNvPr id="4" name="Footer Placeholder 3">
            <a:extLst>
              <a:ext uri="{FF2B5EF4-FFF2-40B4-BE49-F238E27FC236}">
                <a16:creationId xmlns:a16="http://schemas.microsoft.com/office/drawing/2014/main" id="{8E10FAE2-40C5-48E8-A896-0682681B6AC4}"/>
              </a:ext>
            </a:extLst>
          </p:cNvPr>
          <p:cNvSpPr>
            <a:spLocks noGrp="1"/>
          </p:cNvSpPr>
          <p:nvPr>
            <p:ph type="ftr" sz="quarter" idx="21"/>
          </p:nvPr>
        </p:nvSpPr>
        <p:spPr/>
        <p:txBody>
          <a:bodyPr/>
          <a:lstStyle/>
          <a:p>
            <a:r>
              <a:rPr lang="en-GB"/>
              <a:t>Confidential under GSK NDA</a:t>
            </a:r>
          </a:p>
        </p:txBody>
      </p:sp>
      <p:sp>
        <p:nvSpPr>
          <p:cNvPr id="8" name="Slide Number Placeholder 7">
            <a:extLst>
              <a:ext uri="{FF2B5EF4-FFF2-40B4-BE49-F238E27FC236}">
                <a16:creationId xmlns:a16="http://schemas.microsoft.com/office/drawing/2014/main" id="{2AF230C5-C173-4CDF-8F46-DDF8D7240B63}"/>
              </a:ext>
            </a:extLst>
          </p:cNvPr>
          <p:cNvSpPr>
            <a:spLocks noGrp="1"/>
          </p:cNvSpPr>
          <p:nvPr>
            <p:ph type="sldNum" sz="quarter" idx="22"/>
          </p:nvPr>
        </p:nvSpPr>
        <p:spPr/>
        <p:txBody>
          <a:bodyPr/>
          <a:lstStyle/>
          <a:p>
            <a:fld id="{9F9F533D-B52E-4A2F-BF72-0ADD2D94BD75}" type="slidenum">
              <a:rPr lang="en-GB" smtClean="0"/>
              <a:pPr/>
              <a:t>‹#›</a:t>
            </a:fld>
            <a:endParaRPr lang="en-GB"/>
          </a:p>
        </p:txBody>
      </p:sp>
      <p:sp>
        <p:nvSpPr>
          <p:cNvPr id="5" name="Text Placeholder 4">
            <a:extLst>
              <a:ext uri="{FF2B5EF4-FFF2-40B4-BE49-F238E27FC236}">
                <a16:creationId xmlns:a16="http://schemas.microsoft.com/office/drawing/2014/main" id="{81E07AE8-19F2-04D9-93C9-C4F2357C2ADF}"/>
              </a:ext>
            </a:extLst>
          </p:cNvPr>
          <p:cNvSpPr>
            <a:spLocks noGrp="1"/>
          </p:cNvSpPr>
          <p:nvPr>
            <p:ph type="body" sz="quarter" idx="23" hasCustomPrompt="1"/>
          </p:nvPr>
        </p:nvSpPr>
        <p:spPr>
          <a:xfrm>
            <a:off x="365125" y="1702938"/>
            <a:ext cx="11460163" cy="4089850"/>
          </a:xfrm>
        </p:spPr>
        <p:txBody>
          <a:bodyPr lIns="0" tIns="180000" rIns="0" bIns="180000">
            <a:noAutofit/>
          </a:bodyPr>
          <a:lstStyle>
            <a:lvl1pPr>
              <a:defRPr/>
            </a:lvl1pPr>
          </a:lstStyle>
          <a:p>
            <a:pPr lvl="0"/>
            <a:r>
              <a:rPr lang="en-US"/>
              <a:t>Click to edit TEXT content ONLY.</a:t>
            </a:r>
            <a:br>
              <a:rPr lang="en-US"/>
            </a:br>
            <a:r>
              <a:rPr lang="en-US"/>
              <a:t>If text content appears too large please reduce the size of the font. </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itle 1">
            <a:extLst>
              <a:ext uri="{FF2B5EF4-FFF2-40B4-BE49-F238E27FC236}">
                <a16:creationId xmlns:a16="http://schemas.microsoft.com/office/drawing/2014/main" id="{E4BDB392-CCE1-B2F2-5843-4AF9AE7D4921}"/>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29D93444-D1FE-4C3C-7B81-D2693144C1F0}"/>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C45A9796-316D-7A43-F981-F6A071B72BB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3512332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wo Content 1">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44152BBA-B0F3-390F-177B-A659A0DA6DDB}"/>
              </a:ext>
            </a:extLst>
          </p:cNvPr>
          <p:cNvSpPr>
            <a:spLocks noGrp="1"/>
          </p:cNvSpPr>
          <p:nvPr>
            <p:ph type="body" sz="quarter" idx="25" hasCustomPrompt="1"/>
          </p:nvPr>
        </p:nvSpPr>
        <p:spPr>
          <a:xfrm>
            <a:off x="8172451" y="1303338"/>
            <a:ext cx="3652838" cy="4477804"/>
          </a:xfrm>
          <a:prstGeom prst="roundRect">
            <a:avLst>
              <a:gd name="adj" fmla="val 4585"/>
            </a:avLst>
          </a:prstGeom>
          <a:solidFill>
            <a:schemeClr val="bg1">
              <a:lumMod val="95000"/>
            </a:schemeClr>
          </a:solidFill>
          <a:ln>
            <a:noFill/>
          </a:ln>
        </p:spPr>
        <p:txBody>
          <a:bodyPr wrap="square">
            <a:noAutofit/>
          </a:bodyPr>
          <a:lstStyle>
            <a:lvl1pPr>
              <a:defRPr/>
            </a:lvl1pPr>
          </a:lstStyle>
          <a:p>
            <a:pPr lvl="0"/>
            <a:r>
              <a:rPr lang="en-US"/>
              <a:t>Click to edit TEXT content ONLY. </a:t>
            </a:r>
            <a:br>
              <a:rPr lang="en-US"/>
            </a:br>
            <a:r>
              <a:rPr lang="en-US"/>
              <a:t>If text content appears outside of the grey placeholder please reduce the size of the font. </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5"/>
          <p:cNvSpPr>
            <a:spLocks noGrp="1"/>
          </p:cNvSpPr>
          <p:nvPr>
            <p:ph type="body" sz="quarter" idx="20" hasCustomPrompt="1"/>
          </p:nvPr>
        </p:nvSpPr>
        <p:spPr>
          <a:xfrm>
            <a:off x="8172451" y="5791943"/>
            <a:ext cx="3652837"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6" name="Date Placeholder 5">
            <a:extLst>
              <a:ext uri="{FF2B5EF4-FFF2-40B4-BE49-F238E27FC236}">
                <a16:creationId xmlns:a16="http://schemas.microsoft.com/office/drawing/2014/main" id="{101A55F3-CAC9-450A-8B8C-0D0326082407}"/>
              </a:ext>
            </a:extLst>
          </p:cNvPr>
          <p:cNvSpPr>
            <a:spLocks noGrp="1"/>
          </p:cNvSpPr>
          <p:nvPr>
            <p:ph type="dt" sz="half" idx="21"/>
          </p:nvPr>
        </p:nvSpPr>
        <p:spPr/>
        <p:txBody>
          <a:bodyPr/>
          <a:lstStyle/>
          <a:p>
            <a:fld id="{269364CF-3179-45C8-8A8D-C9FADA6B3BBF}" type="datetime4">
              <a:rPr lang="en-GB" smtClean="0"/>
              <a:t>20 July 2026</a:t>
            </a:fld>
            <a:endParaRPr lang="en-GB"/>
          </a:p>
        </p:txBody>
      </p:sp>
      <p:sp>
        <p:nvSpPr>
          <p:cNvPr id="7" name="Footer Placeholder 6">
            <a:extLst>
              <a:ext uri="{FF2B5EF4-FFF2-40B4-BE49-F238E27FC236}">
                <a16:creationId xmlns:a16="http://schemas.microsoft.com/office/drawing/2014/main" id="{FA6F4AF4-B7CB-44A2-A774-A5EE13FDE7C2}"/>
              </a:ext>
            </a:extLst>
          </p:cNvPr>
          <p:cNvSpPr>
            <a:spLocks noGrp="1"/>
          </p:cNvSpPr>
          <p:nvPr>
            <p:ph type="ftr" sz="quarter" idx="22"/>
          </p:nvPr>
        </p:nvSpPr>
        <p:spPr/>
        <p:txBody>
          <a:bodyPr/>
          <a:lstStyle/>
          <a:p>
            <a:r>
              <a:rPr lang="en-GB"/>
              <a:t>Confidential under GSK NDA</a:t>
            </a:r>
          </a:p>
        </p:txBody>
      </p:sp>
      <p:sp>
        <p:nvSpPr>
          <p:cNvPr id="8" name="Slide Number Placeholder 7">
            <a:extLst>
              <a:ext uri="{FF2B5EF4-FFF2-40B4-BE49-F238E27FC236}">
                <a16:creationId xmlns:a16="http://schemas.microsoft.com/office/drawing/2014/main" id="{1A690446-B95A-4BA4-8B97-68649C262B11}"/>
              </a:ext>
            </a:extLst>
          </p:cNvPr>
          <p:cNvSpPr>
            <a:spLocks noGrp="1"/>
          </p:cNvSpPr>
          <p:nvPr>
            <p:ph type="sldNum" sz="quarter" idx="23"/>
          </p:nvPr>
        </p:nvSpPr>
        <p:spPr/>
        <p:txBody>
          <a:bodyPr/>
          <a:lstStyle/>
          <a:p>
            <a:fld id="{9F9F533D-B52E-4A2F-BF72-0ADD2D94BD75}" type="slidenum">
              <a:rPr lang="en-GB" smtClean="0"/>
              <a:pPr/>
              <a:t>‹#›</a:t>
            </a:fld>
            <a:endParaRPr lang="en-GB"/>
          </a:p>
        </p:txBody>
      </p:sp>
      <p:sp>
        <p:nvSpPr>
          <p:cNvPr id="19" name="Text Placeholder 5"/>
          <p:cNvSpPr>
            <a:spLocks noGrp="1"/>
          </p:cNvSpPr>
          <p:nvPr>
            <p:ph type="body" sz="quarter" idx="19" hasCustomPrompt="1"/>
          </p:nvPr>
        </p:nvSpPr>
        <p:spPr>
          <a:xfrm>
            <a:off x="365125" y="5791943"/>
            <a:ext cx="7554913"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Text Placeholder 2">
            <a:extLst>
              <a:ext uri="{FF2B5EF4-FFF2-40B4-BE49-F238E27FC236}">
                <a16:creationId xmlns:a16="http://schemas.microsoft.com/office/drawing/2014/main" id="{3B643D66-CBAC-8A3C-D941-445E2D7EFCEE}"/>
              </a:ext>
            </a:extLst>
          </p:cNvPr>
          <p:cNvSpPr>
            <a:spLocks noGrp="1"/>
          </p:cNvSpPr>
          <p:nvPr>
            <p:ph type="body" sz="quarter" idx="24" hasCustomPrompt="1"/>
          </p:nvPr>
        </p:nvSpPr>
        <p:spPr>
          <a:xfrm>
            <a:off x="365125" y="1303338"/>
            <a:ext cx="7554913" cy="4478337"/>
          </a:xfrm>
        </p:spPr>
        <p:txBody>
          <a:bodyPr lIns="0" tIns="234000" rIns="0" bIns="180000">
            <a:noAutofit/>
          </a:bodyPr>
          <a:lstStyle>
            <a:lvl1pPr>
              <a:defRPr/>
            </a:lvl1pPr>
          </a:lstStyle>
          <a:p>
            <a:pPr lvl="0"/>
            <a:r>
              <a:rPr lang="en-US"/>
              <a:t>Click to enter TEXT content ONLY.</a:t>
            </a:r>
            <a:br>
              <a:rPr lang="en-US"/>
            </a:br>
            <a:r>
              <a:rPr lang="en-US"/>
              <a:t>If text content appears too large please reduce the size of the font. </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itle 1">
            <a:extLst>
              <a:ext uri="{FF2B5EF4-FFF2-40B4-BE49-F238E27FC236}">
                <a16:creationId xmlns:a16="http://schemas.microsoft.com/office/drawing/2014/main" id="{8C40724D-5874-C573-BE68-E74D3056C42C}"/>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6DDC75F0-FC33-50C5-4836-14CADF87FA85}"/>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7ED293B4-51DD-6A15-3268-DC88E0FC951D}"/>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3706052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Two Content 2">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44152BBA-B0F3-390F-177B-A659A0DA6DDB}"/>
              </a:ext>
            </a:extLst>
          </p:cNvPr>
          <p:cNvSpPr>
            <a:spLocks noGrp="1"/>
          </p:cNvSpPr>
          <p:nvPr>
            <p:ph type="body" sz="quarter" idx="25" hasCustomPrompt="1"/>
          </p:nvPr>
        </p:nvSpPr>
        <p:spPr>
          <a:xfrm>
            <a:off x="365125" y="1303338"/>
            <a:ext cx="3652838" cy="4477804"/>
          </a:xfrm>
          <a:prstGeom prst="roundRect">
            <a:avLst>
              <a:gd name="adj" fmla="val 4585"/>
            </a:avLst>
          </a:prstGeom>
          <a:solidFill>
            <a:schemeClr val="tx2"/>
          </a:solidFill>
          <a:ln>
            <a:noFill/>
          </a:ln>
        </p:spPr>
        <p:txBody>
          <a:bodyPr wrap="square">
            <a:no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TEXT content ONLY. </a:t>
            </a:r>
            <a:br>
              <a:rPr lang="en-US"/>
            </a:br>
            <a:r>
              <a:rPr lang="en-US"/>
              <a:t>If text content appears outside of the grey placeholder please reduce the size of the font. </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5"/>
          <p:cNvSpPr>
            <a:spLocks noGrp="1"/>
          </p:cNvSpPr>
          <p:nvPr>
            <p:ph type="body" sz="quarter" idx="20" hasCustomPrompt="1"/>
          </p:nvPr>
        </p:nvSpPr>
        <p:spPr>
          <a:xfrm>
            <a:off x="365125" y="5791943"/>
            <a:ext cx="3652837"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6" name="Date Placeholder 5">
            <a:extLst>
              <a:ext uri="{FF2B5EF4-FFF2-40B4-BE49-F238E27FC236}">
                <a16:creationId xmlns:a16="http://schemas.microsoft.com/office/drawing/2014/main" id="{101A55F3-CAC9-450A-8B8C-0D0326082407}"/>
              </a:ext>
            </a:extLst>
          </p:cNvPr>
          <p:cNvSpPr>
            <a:spLocks noGrp="1"/>
          </p:cNvSpPr>
          <p:nvPr>
            <p:ph type="dt" sz="half" idx="21"/>
          </p:nvPr>
        </p:nvSpPr>
        <p:spPr/>
        <p:txBody>
          <a:bodyPr/>
          <a:lstStyle/>
          <a:p>
            <a:fld id="{D3E465F1-4B22-46B7-BFFE-99CBD54A056D}" type="datetime4">
              <a:rPr lang="en-GB" smtClean="0"/>
              <a:t>20 July 2026</a:t>
            </a:fld>
            <a:endParaRPr lang="en-GB"/>
          </a:p>
        </p:txBody>
      </p:sp>
      <p:sp>
        <p:nvSpPr>
          <p:cNvPr id="7" name="Footer Placeholder 6">
            <a:extLst>
              <a:ext uri="{FF2B5EF4-FFF2-40B4-BE49-F238E27FC236}">
                <a16:creationId xmlns:a16="http://schemas.microsoft.com/office/drawing/2014/main" id="{FA6F4AF4-B7CB-44A2-A774-A5EE13FDE7C2}"/>
              </a:ext>
            </a:extLst>
          </p:cNvPr>
          <p:cNvSpPr>
            <a:spLocks noGrp="1"/>
          </p:cNvSpPr>
          <p:nvPr>
            <p:ph type="ftr" sz="quarter" idx="22"/>
          </p:nvPr>
        </p:nvSpPr>
        <p:spPr/>
        <p:txBody>
          <a:bodyPr/>
          <a:lstStyle/>
          <a:p>
            <a:r>
              <a:rPr lang="en-GB"/>
              <a:t>Confidential under GSK NDA</a:t>
            </a:r>
          </a:p>
        </p:txBody>
      </p:sp>
      <p:sp>
        <p:nvSpPr>
          <p:cNvPr id="8" name="Slide Number Placeholder 7">
            <a:extLst>
              <a:ext uri="{FF2B5EF4-FFF2-40B4-BE49-F238E27FC236}">
                <a16:creationId xmlns:a16="http://schemas.microsoft.com/office/drawing/2014/main" id="{1A690446-B95A-4BA4-8B97-68649C262B11}"/>
              </a:ext>
            </a:extLst>
          </p:cNvPr>
          <p:cNvSpPr>
            <a:spLocks noGrp="1"/>
          </p:cNvSpPr>
          <p:nvPr>
            <p:ph type="sldNum" sz="quarter" idx="23"/>
          </p:nvPr>
        </p:nvSpPr>
        <p:spPr/>
        <p:txBody>
          <a:bodyPr/>
          <a:lstStyle/>
          <a:p>
            <a:fld id="{9F9F533D-B52E-4A2F-BF72-0ADD2D94BD75}" type="slidenum">
              <a:rPr lang="en-GB" smtClean="0"/>
              <a:pPr/>
              <a:t>‹#›</a:t>
            </a:fld>
            <a:endParaRPr lang="en-GB"/>
          </a:p>
        </p:txBody>
      </p:sp>
      <p:sp>
        <p:nvSpPr>
          <p:cNvPr id="19" name="Text Placeholder 5"/>
          <p:cNvSpPr>
            <a:spLocks noGrp="1"/>
          </p:cNvSpPr>
          <p:nvPr>
            <p:ph type="body" sz="quarter" idx="19" hasCustomPrompt="1"/>
          </p:nvPr>
        </p:nvSpPr>
        <p:spPr>
          <a:xfrm>
            <a:off x="4270374" y="5791943"/>
            <a:ext cx="7554913"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Text Placeholder 2">
            <a:extLst>
              <a:ext uri="{FF2B5EF4-FFF2-40B4-BE49-F238E27FC236}">
                <a16:creationId xmlns:a16="http://schemas.microsoft.com/office/drawing/2014/main" id="{3B643D66-CBAC-8A3C-D941-445E2D7EFCEE}"/>
              </a:ext>
            </a:extLst>
          </p:cNvPr>
          <p:cNvSpPr>
            <a:spLocks noGrp="1"/>
          </p:cNvSpPr>
          <p:nvPr>
            <p:ph type="body" sz="quarter" idx="24" hasCustomPrompt="1"/>
          </p:nvPr>
        </p:nvSpPr>
        <p:spPr>
          <a:xfrm>
            <a:off x="4270374" y="1303338"/>
            <a:ext cx="7554913" cy="4478337"/>
          </a:xfrm>
        </p:spPr>
        <p:txBody>
          <a:bodyPr lIns="252000" tIns="234000" rIns="0" bIns="180000">
            <a:noAutofit/>
          </a:bodyPr>
          <a:lstStyle>
            <a:lvl1pPr>
              <a:defRPr/>
            </a:lvl1pPr>
          </a:lstStyle>
          <a:p>
            <a:pPr lvl="0"/>
            <a:r>
              <a:rPr lang="en-US"/>
              <a:t>Click to enter TEXT content ONLY.</a:t>
            </a:r>
            <a:br>
              <a:rPr lang="en-US"/>
            </a:br>
            <a:r>
              <a:rPr lang="en-US"/>
              <a:t>If text content appears too large please reduce the size of the font. </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itle 1">
            <a:extLst>
              <a:ext uri="{FF2B5EF4-FFF2-40B4-BE49-F238E27FC236}">
                <a16:creationId xmlns:a16="http://schemas.microsoft.com/office/drawing/2014/main" id="{8C40724D-5874-C573-BE68-E74D3056C42C}"/>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6DDC75F0-FC33-50C5-4836-14CADF87FA85}"/>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7ED293B4-51DD-6A15-3268-DC88E0FC951D}"/>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4" name="Freeform: Shape 13">
            <a:extLst>
              <a:ext uri="{FF2B5EF4-FFF2-40B4-BE49-F238E27FC236}">
                <a16:creationId xmlns:a16="http://schemas.microsoft.com/office/drawing/2014/main" id="{17107491-B576-4FBA-DF55-410D54CA7B16}"/>
              </a:ext>
            </a:extLst>
          </p:cNvPr>
          <p:cNvSpPr/>
          <p:nvPr userDrawn="1"/>
        </p:nvSpPr>
        <p:spPr>
          <a:xfrm>
            <a:off x="4017963" y="1820564"/>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2238325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Title and Content with Subheading">
    <p:spTree>
      <p:nvGrpSpPr>
        <p:cNvPr id="1" name=""/>
        <p:cNvGrpSpPr/>
        <p:nvPr/>
      </p:nvGrpSpPr>
      <p:grpSpPr>
        <a:xfrm>
          <a:off x="0" y="0"/>
          <a:ext cx="0" cy="0"/>
          <a:chOff x="0" y="0"/>
          <a:chExt cx="0" cy="0"/>
        </a:xfrm>
      </p:grpSpPr>
      <p:sp>
        <p:nvSpPr>
          <p:cNvPr id="11" name="Text Placeholder 2"/>
          <p:cNvSpPr>
            <a:spLocks noGrp="1"/>
          </p:cNvSpPr>
          <p:nvPr>
            <p:ph type="body" sz="quarter" idx="13" hasCustomPrompt="1"/>
          </p:nvPr>
        </p:nvSpPr>
        <p:spPr>
          <a:xfrm>
            <a:off x="365456" y="1303338"/>
            <a:ext cx="11460701" cy="399600"/>
          </a:xfrm>
          <a:prstGeom prst="rect">
            <a:avLst/>
          </a:prstGeom>
        </p:spPr>
        <p:txBody>
          <a:bodyPr lIns="0" tIns="72000" rIns="0" bIns="72000" anchor="t" anchorCtr="0">
            <a:noAutofit/>
          </a:bodyPr>
          <a:lstStyle>
            <a:lvl1pPr marL="0" indent="0">
              <a:spcBef>
                <a:spcPts val="0"/>
              </a:spcBef>
              <a:spcAft>
                <a:spcPts val="0"/>
              </a:spcAft>
              <a:buNone/>
              <a:defRPr sz="2400" b="1">
                <a:solidFill>
                  <a:schemeClr val="tx2"/>
                </a:solidFill>
              </a:defRPr>
            </a:lvl1pPr>
            <a:lvl2pPr marL="361942" indent="0">
              <a:buNone/>
              <a:defRPr/>
            </a:lvl2pPr>
            <a:lvl3pPr marL="711182" indent="0">
              <a:buNone/>
              <a:defRPr/>
            </a:lvl3pPr>
            <a:lvl4pPr marL="1087939" indent="0">
              <a:buNone/>
              <a:defRPr/>
            </a:lvl4pPr>
            <a:lvl5pPr marL="1473163" indent="0">
              <a:buNone/>
              <a:defRPr/>
            </a:lvl5pPr>
          </a:lstStyle>
          <a:p>
            <a:pPr lvl="0"/>
            <a:r>
              <a:rPr lang="en-GB"/>
              <a:t>Click to enter subheading text </a:t>
            </a:r>
          </a:p>
        </p:txBody>
      </p:sp>
      <p:sp>
        <p:nvSpPr>
          <p:cNvPr id="1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Date Placeholder 2">
            <a:extLst>
              <a:ext uri="{FF2B5EF4-FFF2-40B4-BE49-F238E27FC236}">
                <a16:creationId xmlns:a16="http://schemas.microsoft.com/office/drawing/2014/main" id="{3C475D1F-3C7D-443F-9C73-9160E439AE1B}"/>
              </a:ext>
            </a:extLst>
          </p:cNvPr>
          <p:cNvSpPr>
            <a:spLocks noGrp="1"/>
          </p:cNvSpPr>
          <p:nvPr>
            <p:ph type="dt" sz="half" idx="20"/>
          </p:nvPr>
        </p:nvSpPr>
        <p:spPr/>
        <p:txBody>
          <a:bodyPr/>
          <a:lstStyle/>
          <a:p>
            <a:fld id="{3128C942-FB78-4493-BDB3-67D99B1F576C}" type="datetime4">
              <a:rPr lang="en-GB" smtClean="0"/>
              <a:t>20 July 2026</a:t>
            </a:fld>
            <a:endParaRPr lang="en-GB"/>
          </a:p>
        </p:txBody>
      </p:sp>
      <p:sp>
        <p:nvSpPr>
          <p:cNvPr id="4" name="Footer Placeholder 3">
            <a:extLst>
              <a:ext uri="{FF2B5EF4-FFF2-40B4-BE49-F238E27FC236}">
                <a16:creationId xmlns:a16="http://schemas.microsoft.com/office/drawing/2014/main" id="{8E10FAE2-40C5-48E8-A896-0682681B6AC4}"/>
              </a:ext>
            </a:extLst>
          </p:cNvPr>
          <p:cNvSpPr>
            <a:spLocks noGrp="1"/>
          </p:cNvSpPr>
          <p:nvPr>
            <p:ph type="ftr" sz="quarter" idx="21"/>
          </p:nvPr>
        </p:nvSpPr>
        <p:spPr/>
        <p:txBody>
          <a:bodyPr/>
          <a:lstStyle/>
          <a:p>
            <a:r>
              <a:rPr lang="en-GB"/>
              <a:t>Confidential under GSK NDA</a:t>
            </a:r>
          </a:p>
        </p:txBody>
      </p:sp>
      <p:sp>
        <p:nvSpPr>
          <p:cNvPr id="8" name="Slide Number Placeholder 7">
            <a:extLst>
              <a:ext uri="{FF2B5EF4-FFF2-40B4-BE49-F238E27FC236}">
                <a16:creationId xmlns:a16="http://schemas.microsoft.com/office/drawing/2014/main" id="{2AF230C5-C173-4CDF-8F46-DDF8D7240B63}"/>
              </a:ext>
            </a:extLst>
          </p:cNvPr>
          <p:cNvSpPr>
            <a:spLocks noGrp="1"/>
          </p:cNvSpPr>
          <p:nvPr>
            <p:ph type="sldNum" sz="quarter" idx="22"/>
          </p:nvPr>
        </p:nvSpPr>
        <p:spPr/>
        <p:txBody>
          <a:bodyPr/>
          <a:lstStyle/>
          <a:p>
            <a:fld id="{9F9F533D-B52E-4A2F-BF72-0ADD2D94BD75}" type="slidenum">
              <a:rPr lang="en-GB" smtClean="0"/>
              <a:pPr/>
              <a:t>‹#›</a:t>
            </a:fld>
            <a:endParaRPr lang="en-GB"/>
          </a:p>
        </p:txBody>
      </p:sp>
      <p:sp>
        <p:nvSpPr>
          <p:cNvPr id="5" name="Text Placeholder 4">
            <a:extLst>
              <a:ext uri="{FF2B5EF4-FFF2-40B4-BE49-F238E27FC236}">
                <a16:creationId xmlns:a16="http://schemas.microsoft.com/office/drawing/2014/main" id="{81E07AE8-19F2-04D9-93C9-C4F2357C2ADF}"/>
              </a:ext>
            </a:extLst>
          </p:cNvPr>
          <p:cNvSpPr>
            <a:spLocks noGrp="1"/>
          </p:cNvSpPr>
          <p:nvPr>
            <p:ph type="body" sz="quarter" idx="23" hasCustomPrompt="1"/>
          </p:nvPr>
        </p:nvSpPr>
        <p:spPr>
          <a:xfrm>
            <a:off x="365125" y="1702938"/>
            <a:ext cx="11460163" cy="4089850"/>
          </a:xfrm>
        </p:spPr>
        <p:txBody>
          <a:bodyPr lIns="0" tIns="180000" rIns="0" bIns="180000">
            <a:noAutofit/>
          </a:bodyPr>
          <a:lstStyle>
            <a:lvl1pPr>
              <a:defRPr/>
            </a:lvl1pPr>
          </a:lstStyle>
          <a:p>
            <a:pPr lvl="0"/>
            <a:r>
              <a:rPr lang="en-US"/>
              <a:t>Click to edit TEXT content ONLY.</a:t>
            </a:r>
            <a:br>
              <a:rPr lang="en-US"/>
            </a:br>
            <a:r>
              <a:rPr lang="en-US"/>
              <a:t>If text content appears too large please reduce the size of the font. </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itle 1">
            <a:extLst>
              <a:ext uri="{FF2B5EF4-FFF2-40B4-BE49-F238E27FC236}">
                <a16:creationId xmlns:a16="http://schemas.microsoft.com/office/drawing/2014/main" id="{E4BDB392-CCE1-B2F2-5843-4AF9AE7D4921}"/>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29D93444-D1FE-4C3C-7B81-D2693144C1F0}"/>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C45A9796-316D-7A43-F981-F6A071B72BB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3512332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Title and Content with Subheading">
    <p:spTree>
      <p:nvGrpSpPr>
        <p:cNvPr id="1" name=""/>
        <p:cNvGrpSpPr/>
        <p:nvPr/>
      </p:nvGrpSpPr>
      <p:grpSpPr>
        <a:xfrm>
          <a:off x="0" y="0"/>
          <a:ext cx="0" cy="0"/>
          <a:chOff x="0" y="0"/>
          <a:chExt cx="0" cy="0"/>
        </a:xfrm>
      </p:grpSpPr>
      <p:sp>
        <p:nvSpPr>
          <p:cNvPr id="11" name="Text Placeholder 2"/>
          <p:cNvSpPr>
            <a:spLocks noGrp="1"/>
          </p:cNvSpPr>
          <p:nvPr>
            <p:ph type="body" sz="quarter" idx="13" hasCustomPrompt="1"/>
          </p:nvPr>
        </p:nvSpPr>
        <p:spPr>
          <a:xfrm>
            <a:off x="365456" y="1303338"/>
            <a:ext cx="11460701" cy="399600"/>
          </a:xfrm>
          <a:prstGeom prst="rect">
            <a:avLst/>
          </a:prstGeom>
        </p:spPr>
        <p:txBody>
          <a:bodyPr lIns="0" tIns="72000" rIns="0" bIns="72000" anchor="t" anchorCtr="0">
            <a:noAutofit/>
          </a:bodyPr>
          <a:lstStyle>
            <a:lvl1pPr marL="0" indent="0">
              <a:spcBef>
                <a:spcPts val="0"/>
              </a:spcBef>
              <a:spcAft>
                <a:spcPts val="0"/>
              </a:spcAft>
              <a:buNone/>
              <a:defRPr sz="2400" b="1">
                <a:solidFill>
                  <a:schemeClr val="tx2"/>
                </a:solidFill>
              </a:defRPr>
            </a:lvl1pPr>
            <a:lvl2pPr marL="361942" indent="0">
              <a:buNone/>
              <a:defRPr/>
            </a:lvl2pPr>
            <a:lvl3pPr marL="711182" indent="0">
              <a:buNone/>
              <a:defRPr/>
            </a:lvl3pPr>
            <a:lvl4pPr marL="1087939" indent="0">
              <a:buNone/>
              <a:defRPr/>
            </a:lvl4pPr>
            <a:lvl5pPr marL="1473163" indent="0">
              <a:buNone/>
              <a:defRPr/>
            </a:lvl5pPr>
          </a:lstStyle>
          <a:p>
            <a:pPr lvl="0"/>
            <a:r>
              <a:rPr lang="en-GB"/>
              <a:t>Click to enter subheading text </a:t>
            </a:r>
          </a:p>
        </p:txBody>
      </p:sp>
      <p:sp>
        <p:nvSpPr>
          <p:cNvPr id="1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Date Placeholder 2">
            <a:extLst>
              <a:ext uri="{FF2B5EF4-FFF2-40B4-BE49-F238E27FC236}">
                <a16:creationId xmlns:a16="http://schemas.microsoft.com/office/drawing/2014/main" id="{3C475D1F-3C7D-443F-9C73-9160E439AE1B}"/>
              </a:ext>
            </a:extLst>
          </p:cNvPr>
          <p:cNvSpPr>
            <a:spLocks noGrp="1"/>
          </p:cNvSpPr>
          <p:nvPr>
            <p:ph type="dt" sz="half" idx="20"/>
          </p:nvPr>
        </p:nvSpPr>
        <p:spPr/>
        <p:txBody>
          <a:bodyPr/>
          <a:lstStyle/>
          <a:p>
            <a:fld id="{3128C942-FB78-4493-BDB3-67D99B1F576C}" type="datetime4">
              <a:rPr lang="en-GB" smtClean="0"/>
              <a:t>20 July 2026</a:t>
            </a:fld>
            <a:endParaRPr lang="en-GB"/>
          </a:p>
        </p:txBody>
      </p:sp>
      <p:sp>
        <p:nvSpPr>
          <p:cNvPr id="4" name="Footer Placeholder 3">
            <a:extLst>
              <a:ext uri="{FF2B5EF4-FFF2-40B4-BE49-F238E27FC236}">
                <a16:creationId xmlns:a16="http://schemas.microsoft.com/office/drawing/2014/main" id="{8E10FAE2-40C5-48E8-A896-0682681B6AC4}"/>
              </a:ext>
            </a:extLst>
          </p:cNvPr>
          <p:cNvSpPr>
            <a:spLocks noGrp="1"/>
          </p:cNvSpPr>
          <p:nvPr>
            <p:ph type="ftr" sz="quarter" idx="21"/>
          </p:nvPr>
        </p:nvSpPr>
        <p:spPr/>
        <p:txBody>
          <a:bodyPr/>
          <a:lstStyle/>
          <a:p>
            <a:r>
              <a:rPr lang="en-GB"/>
              <a:t>Confidential under GSK NDA</a:t>
            </a:r>
          </a:p>
        </p:txBody>
      </p:sp>
      <p:sp>
        <p:nvSpPr>
          <p:cNvPr id="8" name="Slide Number Placeholder 7">
            <a:extLst>
              <a:ext uri="{FF2B5EF4-FFF2-40B4-BE49-F238E27FC236}">
                <a16:creationId xmlns:a16="http://schemas.microsoft.com/office/drawing/2014/main" id="{2AF230C5-C173-4CDF-8F46-DDF8D7240B63}"/>
              </a:ext>
            </a:extLst>
          </p:cNvPr>
          <p:cNvSpPr>
            <a:spLocks noGrp="1"/>
          </p:cNvSpPr>
          <p:nvPr>
            <p:ph type="sldNum" sz="quarter" idx="22"/>
          </p:nvPr>
        </p:nvSpPr>
        <p:spPr/>
        <p:txBody>
          <a:bodyPr/>
          <a:lstStyle/>
          <a:p>
            <a:fld id="{9F9F533D-B52E-4A2F-BF72-0ADD2D94BD75}" type="slidenum">
              <a:rPr lang="en-GB" smtClean="0"/>
              <a:pPr/>
              <a:t>‹#›</a:t>
            </a:fld>
            <a:endParaRPr lang="en-GB"/>
          </a:p>
        </p:txBody>
      </p:sp>
      <p:sp>
        <p:nvSpPr>
          <p:cNvPr id="5" name="Text Placeholder 4">
            <a:extLst>
              <a:ext uri="{FF2B5EF4-FFF2-40B4-BE49-F238E27FC236}">
                <a16:creationId xmlns:a16="http://schemas.microsoft.com/office/drawing/2014/main" id="{81E07AE8-19F2-04D9-93C9-C4F2357C2ADF}"/>
              </a:ext>
            </a:extLst>
          </p:cNvPr>
          <p:cNvSpPr>
            <a:spLocks noGrp="1"/>
          </p:cNvSpPr>
          <p:nvPr>
            <p:ph type="body" sz="quarter" idx="23" hasCustomPrompt="1"/>
          </p:nvPr>
        </p:nvSpPr>
        <p:spPr>
          <a:xfrm>
            <a:off x="365125" y="1702938"/>
            <a:ext cx="11460163" cy="4089850"/>
          </a:xfrm>
        </p:spPr>
        <p:txBody>
          <a:bodyPr lIns="0" tIns="180000" rIns="0" bIns="180000">
            <a:noAutofit/>
          </a:bodyPr>
          <a:lstStyle>
            <a:lvl1pPr>
              <a:defRPr/>
            </a:lvl1pPr>
          </a:lstStyle>
          <a:p>
            <a:pPr lvl="0"/>
            <a:r>
              <a:rPr lang="en-US"/>
              <a:t>Click to edit TEXT content ONLY.</a:t>
            </a:r>
            <a:br>
              <a:rPr lang="en-US"/>
            </a:br>
            <a:r>
              <a:rPr lang="en-US"/>
              <a:t>If text content appears too large please reduce the size of the font. </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itle 1">
            <a:extLst>
              <a:ext uri="{FF2B5EF4-FFF2-40B4-BE49-F238E27FC236}">
                <a16:creationId xmlns:a16="http://schemas.microsoft.com/office/drawing/2014/main" id="{E4BDB392-CCE1-B2F2-5843-4AF9AE7D4921}"/>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29D93444-D1FE-4C3C-7B81-D2693144C1F0}"/>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C45A9796-316D-7A43-F981-F6A071B72BB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3512332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_Title and Content with Subheading">
    <p:spTree>
      <p:nvGrpSpPr>
        <p:cNvPr id="1" name=""/>
        <p:cNvGrpSpPr/>
        <p:nvPr/>
      </p:nvGrpSpPr>
      <p:grpSpPr>
        <a:xfrm>
          <a:off x="0" y="0"/>
          <a:ext cx="0" cy="0"/>
          <a:chOff x="0" y="0"/>
          <a:chExt cx="0" cy="0"/>
        </a:xfrm>
      </p:grpSpPr>
      <p:sp>
        <p:nvSpPr>
          <p:cNvPr id="11" name="Text Placeholder 2"/>
          <p:cNvSpPr>
            <a:spLocks noGrp="1"/>
          </p:cNvSpPr>
          <p:nvPr>
            <p:ph type="body" sz="quarter" idx="13" hasCustomPrompt="1"/>
          </p:nvPr>
        </p:nvSpPr>
        <p:spPr>
          <a:xfrm>
            <a:off x="365456" y="1303338"/>
            <a:ext cx="11460701" cy="399600"/>
          </a:xfrm>
          <a:prstGeom prst="rect">
            <a:avLst/>
          </a:prstGeom>
        </p:spPr>
        <p:txBody>
          <a:bodyPr lIns="0" tIns="72000" rIns="0" bIns="72000" anchor="t" anchorCtr="0">
            <a:noAutofit/>
          </a:bodyPr>
          <a:lstStyle>
            <a:lvl1pPr marL="0" indent="0">
              <a:spcBef>
                <a:spcPts val="0"/>
              </a:spcBef>
              <a:spcAft>
                <a:spcPts val="0"/>
              </a:spcAft>
              <a:buNone/>
              <a:defRPr sz="2400" b="1">
                <a:solidFill>
                  <a:schemeClr val="tx2"/>
                </a:solidFill>
              </a:defRPr>
            </a:lvl1pPr>
            <a:lvl2pPr marL="361942" indent="0">
              <a:buNone/>
              <a:defRPr/>
            </a:lvl2pPr>
            <a:lvl3pPr marL="711182" indent="0">
              <a:buNone/>
              <a:defRPr/>
            </a:lvl3pPr>
            <a:lvl4pPr marL="1087939" indent="0">
              <a:buNone/>
              <a:defRPr/>
            </a:lvl4pPr>
            <a:lvl5pPr marL="1473163" indent="0">
              <a:buNone/>
              <a:defRPr/>
            </a:lvl5pPr>
          </a:lstStyle>
          <a:p>
            <a:pPr lvl="0"/>
            <a:r>
              <a:rPr lang="en-GB"/>
              <a:t>Click to enter subheading text </a:t>
            </a:r>
          </a:p>
        </p:txBody>
      </p:sp>
      <p:sp>
        <p:nvSpPr>
          <p:cNvPr id="1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Date Placeholder 2">
            <a:extLst>
              <a:ext uri="{FF2B5EF4-FFF2-40B4-BE49-F238E27FC236}">
                <a16:creationId xmlns:a16="http://schemas.microsoft.com/office/drawing/2014/main" id="{3C475D1F-3C7D-443F-9C73-9160E439AE1B}"/>
              </a:ext>
            </a:extLst>
          </p:cNvPr>
          <p:cNvSpPr>
            <a:spLocks noGrp="1"/>
          </p:cNvSpPr>
          <p:nvPr>
            <p:ph type="dt" sz="half" idx="20"/>
          </p:nvPr>
        </p:nvSpPr>
        <p:spPr/>
        <p:txBody>
          <a:bodyPr/>
          <a:lstStyle/>
          <a:p>
            <a:fld id="{3128C942-FB78-4493-BDB3-67D99B1F576C}" type="datetime4">
              <a:rPr lang="en-GB" smtClean="0"/>
              <a:t>20 July 2026</a:t>
            </a:fld>
            <a:endParaRPr lang="en-GB"/>
          </a:p>
        </p:txBody>
      </p:sp>
      <p:sp>
        <p:nvSpPr>
          <p:cNvPr id="4" name="Footer Placeholder 3">
            <a:extLst>
              <a:ext uri="{FF2B5EF4-FFF2-40B4-BE49-F238E27FC236}">
                <a16:creationId xmlns:a16="http://schemas.microsoft.com/office/drawing/2014/main" id="{8E10FAE2-40C5-48E8-A896-0682681B6AC4}"/>
              </a:ext>
            </a:extLst>
          </p:cNvPr>
          <p:cNvSpPr>
            <a:spLocks noGrp="1"/>
          </p:cNvSpPr>
          <p:nvPr>
            <p:ph type="ftr" sz="quarter" idx="21"/>
          </p:nvPr>
        </p:nvSpPr>
        <p:spPr/>
        <p:txBody>
          <a:bodyPr/>
          <a:lstStyle/>
          <a:p>
            <a:r>
              <a:rPr lang="en-GB"/>
              <a:t>Confidential under GSK NDA</a:t>
            </a:r>
          </a:p>
        </p:txBody>
      </p:sp>
      <p:sp>
        <p:nvSpPr>
          <p:cNvPr id="8" name="Slide Number Placeholder 7">
            <a:extLst>
              <a:ext uri="{FF2B5EF4-FFF2-40B4-BE49-F238E27FC236}">
                <a16:creationId xmlns:a16="http://schemas.microsoft.com/office/drawing/2014/main" id="{2AF230C5-C173-4CDF-8F46-DDF8D7240B63}"/>
              </a:ext>
            </a:extLst>
          </p:cNvPr>
          <p:cNvSpPr>
            <a:spLocks noGrp="1"/>
          </p:cNvSpPr>
          <p:nvPr>
            <p:ph type="sldNum" sz="quarter" idx="22"/>
          </p:nvPr>
        </p:nvSpPr>
        <p:spPr/>
        <p:txBody>
          <a:bodyPr/>
          <a:lstStyle/>
          <a:p>
            <a:fld id="{9F9F533D-B52E-4A2F-BF72-0ADD2D94BD75}" type="slidenum">
              <a:rPr lang="en-GB" smtClean="0"/>
              <a:pPr/>
              <a:t>‹#›</a:t>
            </a:fld>
            <a:endParaRPr lang="en-GB"/>
          </a:p>
        </p:txBody>
      </p:sp>
      <p:sp>
        <p:nvSpPr>
          <p:cNvPr id="5" name="Text Placeholder 4">
            <a:extLst>
              <a:ext uri="{FF2B5EF4-FFF2-40B4-BE49-F238E27FC236}">
                <a16:creationId xmlns:a16="http://schemas.microsoft.com/office/drawing/2014/main" id="{81E07AE8-19F2-04D9-93C9-C4F2357C2ADF}"/>
              </a:ext>
            </a:extLst>
          </p:cNvPr>
          <p:cNvSpPr>
            <a:spLocks noGrp="1"/>
          </p:cNvSpPr>
          <p:nvPr>
            <p:ph type="body" sz="quarter" idx="23" hasCustomPrompt="1"/>
          </p:nvPr>
        </p:nvSpPr>
        <p:spPr>
          <a:xfrm>
            <a:off x="365125" y="1702938"/>
            <a:ext cx="11460163" cy="4089850"/>
          </a:xfrm>
        </p:spPr>
        <p:txBody>
          <a:bodyPr lIns="0" tIns="180000" rIns="0" bIns="180000">
            <a:noAutofit/>
          </a:bodyPr>
          <a:lstStyle>
            <a:lvl1pPr>
              <a:defRPr/>
            </a:lvl1pPr>
          </a:lstStyle>
          <a:p>
            <a:pPr lvl="0"/>
            <a:r>
              <a:rPr lang="en-US"/>
              <a:t>Click to edit TEXT content ONLY.</a:t>
            </a:r>
            <a:br>
              <a:rPr lang="en-US"/>
            </a:br>
            <a:r>
              <a:rPr lang="en-US"/>
              <a:t>If text content appears too large please reduce the size of the font. </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itle 1">
            <a:extLst>
              <a:ext uri="{FF2B5EF4-FFF2-40B4-BE49-F238E27FC236}">
                <a16:creationId xmlns:a16="http://schemas.microsoft.com/office/drawing/2014/main" id="{E4BDB392-CCE1-B2F2-5843-4AF9AE7D4921}"/>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29D93444-D1FE-4C3C-7B81-D2693144C1F0}"/>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C45A9796-316D-7A43-F981-F6A071B72BB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3512332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5_Title and Content with Subheading">
    <p:spTree>
      <p:nvGrpSpPr>
        <p:cNvPr id="1" name=""/>
        <p:cNvGrpSpPr/>
        <p:nvPr/>
      </p:nvGrpSpPr>
      <p:grpSpPr>
        <a:xfrm>
          <a:off x="0" y="0"/>
          <a:ext cx="0" cy="0"/>
          <a:chOff x="0" y="0"/>
          <a:chExt cx="0" cy="0"/>
        </a:xfrm>
      </p:grpSpPr>
      <p:sp>
        <p:nvSpPr>
          <p:cNvPr id="11" name="Text Placeholder 2"/>
          <p:cNvSpPr>
            <a:spLocks noGrp="1"/>
          </p:cNvSpPr>
          <p:nvPr>
            <p:ph type="body" sz="quarter" idx="13" hasCustomPrompt="1"/>
          </p:nvPr>
        </p:nvSpPr>
        <p:spPr>
          <a:xfrm>
            <a:off x="365456" y="1303338"/>
            <a:ext cx="11460701" cy="399600"/>
          </a:xfrm>
          <a:prstGeom prst="rect">
            <a:avLst/>
          </a:prstGeom>
        </p:spPr>
        <p:txBody>
          <a:bodyPr lIns="0" tIns="72000" rIns="0" bIns="72000" anchor="t" anchorCtr="0">
            <a:noAutofit/>
          </a:bodyPr>
          <a:lstStyle>
            <a:lvl1pPr marL="0" indent="0">
              <a:spcBef>
                <a:spcPts val="0"/>
              </a:spcBef>
              <a:spcAft>
                <a:spcPts val="0"/>
              </a:spcAft>
              <a:buNone/>
              <a:defRPr sz="2400" b="1">
                <a:solidFill>
                  <a:schemeClr val="tx2"/>
                </a:solidFill>
              </a:defRPr>
            </a:lvl1pPr>
            <a:lvl2pPr marL="361942" indent="0">
              <a:buNone/>
              <a:defRPr/>
            </a:lvl2pPr>
            <a:lvl3pPr marL="711182" indent="0">
              <a:buNone/>
              <a:defRPr/>
            </a:lvl3pPr>
            <a:lvl4pPr marL="1087939" indent="0">
              <a:buNone/>
              <a:defRPr/>
            </a:lvl4pPr>
            <a:lvl5pPr marL="1473163" indent="0">
              <a:buNone/>
              <a:defRPr/>
            </a:lvl5pPr>
          </a:lstStyle>
          <a:p>
            <a:pPr lvl="0"/>
            <a:r>
              <a:rPr lang="en-GB"/>
              <a:t>Click to enter subheading text </a:t>
            </a:r>
          </a:p>
        </p:txBody>
      </p:sp>
      <p:sp>
        <p:nvSpPr>
          <p:cNvPr id="1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Date Placeholder 2">
            <a:extLst>
              <a:ext uri="{FF2B5EF4-FFF2-40B4-BE49-F238E27FC236}">
                <a16:creationId xmlns:a16="http://schemas.microsoft.com/office/drawing/2014/main" id="{3C475D1F-3C7D-443F-9C73-9160E439AE1B}"/>
              </a:ext>
            </a:extLst>
          </p:cNvPr>
          <p:cNvSpPr>
            <a:spLocks noGrp="1"/>
          </p:cNvSpPr>
          <p:nvPr>
            <p:ph type="dt" sz="half" idx="20"/>
          </p:nvPr>
        </p:nvSpPr>
        <p:spPr/>
        <p:txBody>
          <a:bodyPr/>
          <a:lstStyle/>
          <a:p>
            <a:fld id="{3128C942-FB78-4493-BDB3-67D99B1F576C}" type="datetime4">
              <a:rPr lang="en-GB" smtClean="0"/>
              <a:t>20 July 2026</a:t>
            </a:fld>
            <a:endParaRPr lang="en-GB"/>
          </a:p>
        </p:txBody>
      </p:sp>
      <p:sp>
        <p:nvSpPr>
          <p:cNvPr id="4" name="Footer Placeholder 3">
            <a:extLst>
              <a:ext uri="{FF2B5EF4-FFF2-40B4-BE49-F238E27FC236}">
                <a16:creationId xmlns:a16="http://schemas.microsoft.com/office/drawing/2014/main" id="{8E10FAE2-40C5-48E8-A896-0682681B6AC4}"/>
              </a:ext>
            </a:extLst>
          </p:cNvPr>
          <p:cNvSpPr>
            <a:spLocks noGrp="1"/>
          </p:cNvSpPr>
          <p:nvPr>
            <p:ph type="ftr" sz="quarter" idx="21"/>
          </p:nvPr>
        </p:nvSpPr>
        <p:spPr/>
        <p:txBody>
          <a:bodyPr/>
          <a:lstStyle/>
          <a:p>
            <a:r>
              <a:rPr lang="en-GB"/>
              <a:t>Confidential under GSK NDA</a:t>
            </a:r>
          </a:p>
        </p:txBody>
      </p:sp>
      <p:sp>
        <p:nvSpPr>
          <p:cNvPr id="8" name="Slide Number Placeholder 7">
            <a:extLst>
              <a:ext uri="{FF2B5EF4-FFF2-40B4-BE49-F238E27FC236}">
                <a16:creationId xmlns:a16="http://schemas.microsoft.com/office/drawing/2014/main" id="{2AF230C5-C173-4CDF-8F46-DDF8D7240B63}"/>
              </a:ext>
            </a:extLst>
          </p:cNvPr>
          <p:cNvSpPr>
            <a:spLocks noGrp="1"/>
          </p:cNvSpPr>
          <p:nvPr>
            <p:ph type="sldNum" sz="quarter" idx="22"/>
          </p:nvPr>
        </p:nvSpPr>
        <p:spPr/>
        <p:txBody>
          <a:bodyPr/>
          <a:lstStyle/>
          <a:p>
            <a:fld id="{9F9F533D-B52E-4A2F-BF72-0ADD2D94BD75}" type="slidenum">
              <a:rPr lang="en-GB" smtClean="0"/>
              <a:pPr/>
              <a:t>‹#›</a:t>
            </a:fld>
            <a:endParaRPr lang="en-GB"/>
          </a:p>
        </p:txBody>
      </p:sp>
      <p:sp>
        <p:nvSpPr>
          <p:cNvPr id="5" name="Text Placeholder 4">
            <a:extLst>
              <a:ext uri="{FF2B5EF4-FFF2-40B4-BE49-F238E27FC236}">
                <a16:creationId xmlns:a16="http://schemas.microsoft.com/office/drawing/2014/main" id="{81E07AE8-19F2-04D9-93C9-C4F2357C2ADF}"/>
              </a:ext>
            </a:extLst>
          </p:cNvPr>
          <p:cNvSpPr>
            <a:spLocks noGrp="1"/>
          </p:cNvSpPr>
          <p:nvPr>
            <p:ph type="body" sz="quarter" idx="23" hasCustomPrompt="1"/>
          </p:nvPr>
        </p:nvSpPr>
        <p:spPr>
          <a:xfrm>
            <a:off x="365125" y="1702938"/>
            <a:ext cx="11460163" cy="4089850"/>
          </a:xfrm>
        </p:spPr>
        <p:txBody>
          <a:bodyPr lIns="0" tIns="180000" rIns="0" bIns="180000">
            <a:noAutofit/>
          </a:bodyPr>
          <a:lstStyle>
            <a:lvl1pPr>
              <a:defRPr/>
            </a:lvl1pPr>
          </a:lstStyle>
          <a:p>
            <a:pPr lvl="0"/>
            <a:r>
              <a:rPr lang="en-US"/>
              <a:t>Click to edit TEXT content ONLY.</a:t>
            </a:r>
            <a:br>
              <a:rPr lang="en-US"/>
            </a:br>
            <a:r>
              <a:rPr lang="en-US"/>
              <a:t>If text content appears too large please reduce the size of the font. </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itle 1">
            <a:extLst>
              <a:ext uri="{FF2B5EF4-FFF2-40B4-BE49-F238E27FC236}">
                <a16:creationId xmlns:a16="http://schemas.microsoft.com/office/drawing/2014/main" id="{E4BDB392-CCE1-B2F2-5843-4AF9AE7D4921}"/>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29D93444-D1FE-4C3C-7B81-D2693144C1F0}"/>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C45A9796-316D-7A43-F981-F6A071B72BB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3512332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6_Title and Content with Subheading">
    <p:spTree>
      <p:nvGrpSpPr>
        <p:cNvPr id="1" name=""/>
        <p:cNvGrpSpPr/>
        <p:nvPr/>
      </p:nvGrpSpPr>
      <p:grpSpPr>
        <a:xfrm>
          <a:off x="0" y="0"/>
          <a:ext cx="0" cy="0"/>
          <a:chOff x="0" y="0"/>
          <a:chExt cx="0" cy="0"/>
        </a:xfrm>
      </p:grpSpPr>
      <p:sp>
        <p:nvSpPr>
          <p:cNvPr id="11" name="Text Placeholder 2"/>
          <p:cNvSpPr>
            <a:spLocks noGrp="1"/>
          </p:cNvSpPr>
          <p:nvPr>
            <p:ph type="body" sz="quarter" idx="13" hasCustomPrompt="1"/>
          </p:nvPr>
        </p:nvSpPr>
        <p:spPr>
          <a:xfrm>
            <a:off x="365456" y="1303338"/>
            <a:ext cx="11460701" cy="399600"/>
          </a:xfrm>
          <a:prstGeom prst="rect">
            <a:avLst/>
          </a:prstGeom>
        </p:spPr>
        <p:txBody>
          <a:bodyPr lIns="0" tIns="72000" rIns="0" bIns="72000" anchor="t" anchorCtr="0">
            <a:noAutofit/>
          </a:bodyPr>
          <a:lstStyle>
            <a:lvl1pPr marL="0" indent="0">
              <a:spcBef>
                <a:spcPts val="0"/>
              </a:spcBef>
              <a:spcAft>
                <a:spcPts val="0"/>
              </a:spcAft>
              <a:buNone/>
              <a:defRPr sz="2400" b="1">
                <a:solidFill>
                  <a:schemeClr val="tx2"/>
                </a:solidFill>
              </a:defRPr>
            </a:lvl1pPr>
            <a:lvl2pPr marL="361942" indent="0">
              <a:buNone/>
              <a:defRPr/>
            </a:lvl2pPr>
            <a:lvl3pPr marL="711182" indent="0">
              <a:buNone/>
              <a:defRPr/>
            </a:lvl3pPr>
            <a:lvl4pPr marL="1087939" indent="0">
              <a:buNone/>
              <a:defRPr/>
            </a:lvl4pPr>
            <a:lvl5pPr marL="1473163" indent="0">
              <a:buNone/>
              <a:defRPr/>
            </a:lvl5pPr>
          </a:lstStyle>
          <a:p>
            <a:pPr lvl="0"/>
            <a:r>
              <a:rPr lang="en-GB"/>
              <a:t>Click to enter subheading text </a:t>
            </a:r>
          </a:p>
        </p:txBody>
      </p:sp>
      <p:sp>
        <p:nvSpPr>
          <p:cNvPr id="1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Date Placeholder 2">
            <a:extLst>
              <a:ext uri="{FF2B5EF4-FFF2-40B4-BE49-F238E27FC236}">
                <a16:creationId xmlns:a16="http://schemas.microsoft.com/office/drawing/2014/main" id="{3C475D1F-3C7D-443F-9C73-9160E439AE1B}"/>
              </a:ext>
            </a:extLst>
          </p:cNvPr>
          <p:cNvSpPr>
            <a:spLocks noGrp="1"/>
          </p:cNvSpPr>
          <p:nvPr>
            <p:ph type="dt" sz="half" idx="20"/>
          </p:nvPr>
        </p:nvSpPr>
        <p:spPr/>
        <p:txBody>
          <a:bodyPr/>
          <a:lstStyle/>
          <a:p>
            <a:fld id="{3128C942-FB78-4493-BDB3-67D99B1F576C}" type="datetime4">
              <a:rPr lang="en-GB" smtClean="0"/>
              <a:t>20 July 2026</a:t>
            </a:fld>
            <a:endParaRPr lang="en-GB"/>
          </a:p>
        </p:txBody>
      </p:sp>
      <p:sp>
        <p:nvSpPr>
          <p:cNvPr id="4" name="Footer Placeholder 3">
            <a:extLst>
              <a:ext uri="{FF2B5EF4-FFF2-40B4-BE49-F238E27FC236}">
                <a16:creationId xmlns:a16="http://schemas.microsoft.com/office/drawing/2014/main" id="{8E10FAE2-40C5-48E8-A896-0682681B6AC4}"/>
              </a:ext>
            </a:extLst>
          </p:cNvPr>
          <p:cNvSpPr>
            <a:spLocks noGrp="1"/>
          </p:cNvSpPr>
          <p:nvPr>
            <p:ph type="ftr" sz="quarter" idx="21"/>
          </p:nvPr>
        </p:nvSpPr>
        <p:spPr/>
        <p:txBody>
          <a:bodyPr/>
          <a:lstStyle/>
          <a:p>
            <a:r>
              <a:rPr lang="en-GB"/>
              <a:t>Confidential under GSK NDA</a:t>
            </a:r>
          </a:p>
        </p:txBody>
      </p:sp>
      <p:sp>
        <p:nvSpPr>
          <p:cNvPr id="8" name="Slide Number Placeholder 7">
            <a:extLst>
              <a:ext uri="{FF2B5EF4-FFF2-40B4-BE49-F238E27FC236}">
                <a16:creationId xmlns:a16="http://schemas.microsoft.com/office/drawing/2014/main" id="{2AF230C5-C173-4CDF-8F46-DDF8D7240B63}"/>
              </a:ext>
            </a:extLst>
          </p:cNvPr>
          <p:cNvSpPr>
            <a:spLocks noGrp="1"/>
          </p:cNvSpPr>
          <p:nvPr>
            <p:ph type="sldNum" sz="quarter" idx="22"/>
          </p:nvPr>
        </p:nvSpPr>
        <p:spPr/>
        <p:txBody>
          <a:bodyPr/>
          <a:lstStyle/>
          <a:p>
            <a:fld id="{9F9F533D-B52E-4A2F-BF72-0ADD2D94BD75}" type="slidenum">
              <a:rPr lang="en-GB" smtClean="0"/>
              <a:pPr/>
              <a:t>‹#›</a:t>
            </a:fld>
            <a:endParaRPr lang="en-GB"/>
          </a:p>
        </p:txBody>
      </p:sp>
      <p:sp>
        <p:nvSpPr>
          <p:cNvPr id="5" name="Text Placeholder 4">
            <a:extLst>
              <a:ext uri="{FF2B5EF4-FFF2-40B4-BE49-F238E27FC236}">
                <a16:creationId xmlns:a16="http://schemas.microsoft.com/office/drawing/2014/main" id="{81E07AE8-19F2-04D9-93C9-C4F2357C2ADF}"/>
              </a:ext>
            </a:extLst>
          </p:cNvPr>
          <p:cNvSpPr>
            <a:spLocks noGrp="1"/>
          </p:cNvSpPr>
          <p:nvPr>
            <p:ph type="body" sz="quarter" idx="23" hasCustomPrompt="1"/>
          </p:nvPr>
        </p:nvSpPr>
        <p:spPr>
          <a:xfrm>
            <a:off x="365125" y="1702938"/>
            <a:ext cx="11460163" cy="4089850"/>
          </a:xfrm>
        </p:spPr>
        <p:txBody>
          <a:bodyPr lIns="0" tIns="180000" rIns="0" bIns="180000">
            <a:noAutofit/>
          </a:bodyPr>
          <a:lstStyle>
            <a:lvl1pPr>
              <a:defRPr/>
            </a:lvl1pPr>
          </a:lstStyle>
          <a:p>
            <a:pPr lvl="0"/>
            <a:r>
              <a:rPr lang="en-US"/>
              <a:t>Click to edit TEXT content ONLY.</a:t>
            </a:r>
            <a:br>
              <a:rPr lang="en-US"/>
            </a:br>
            <a:r>
              <a:rPr lang="en-US"/>
              <a:t>If text content appears too large please reduce the size of the font. </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itle 1">
            <a:extLst>
              <a:ext uri="{FF2B5EF4-FFF2-40B4-BE49-F238E27FC236}">
                <a16:creationId xmlns:a16="http://schemas.microsoft.com/office/drawing/2014/main" id="{E4BDB392-CCE1-B2F2-5843-4AF9AE7D4921}"/>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29D93444-D1FE-4C3C-7B81-D2693144C1F0}"/>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C45A9796-316D-7A43-F981-F6A071B72BB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3512332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0DD48070-D695-60C2-898C-9832D9369B0C}"/>
              </a:ext>
            </a:extLst>
          </p:cNvPr>
          <p:cNvSpPr>
            <a:spLocks noGrp="1"/>
          </p:cNvSpPr>
          <p:nvPr>
            <p:ph type="body" sz="quarter" idx="22" hasCustomPrompt="1"/>
          </p:nvPr>
        </p:nvSpPr>
        <p:spPr>
          <a:xfrm>
            <a:off x="365125" y="1311162"/>
            <a:ext cx="11460164" cy="4484800"/>
          </a:xfrm>
          <a:custGeom>
            <a:avLst/>
            <a:gdLst>
              <a:gd name="connsiteX0" fmla="*/ 185682 w 11460164"/>
              <a:gd name="connsiteY0" fmla="*/ 0 h 4484800"/>
              <a:gd name="connsiteX1" fmla="*/ 11274482 w 11460164"/>
              <a:gd name="connsiteY1" fmla="*/ 0 h 4484800"/>
              <a:gd name="connsiteX2" fmla="*/ 11460164 w 11460164"/>
              <a:gd name="connsiteY2" fmla="*/ 185682 h 4484800"/>
              <a:gd name="connsiteX3" fmla="*/ 11460164 w 11460164"/>
              <a:gd name="connsiteY3" fmla="*/ 456183 h 4484800"/>
              <a:gd name="connsiteX4" fmla="*/ 11460164 w 11460164"/>
              <a:gd name="connsiteY4" fmla="*/ 715601 h 4484800"/>
              <a:gd name="connsiteX5" fmla="*/ 11460164 w 11460164"/>
              <a:gd name="connsiteY5" fmla="*/ 4299118 h 4484800"/>
              <a:gd name="connsiteX6" fmla="*/ 11274482 w 11460164"/>
              <a:gd name="connsiteY6" fmla="*/ 4484800 h 4484800"/>
              <a:gd name="connsiteX7" fmla="*/ 185682 w 11460164"/>
              <a:gd name="connsiteY7" fmla="*/ 4484800 h 4484800"/>
              <a:gd name="connsiteX8" fmla="*/ 0 w 11460164"/>
              <a:gd name="connsiteY8" fmla="*/ 4299118 h 4484800"/>
              <a:gd name="connsiteX9" fmla="*/ 0 w 11460164"/>
              <a:gd name="connsiteY9" fmla="*/ 715601 h 4484800"/>
              <a:gd name="connsiteX10" fmla="*/ 0 w 11460164"/>
              <a:gd name="connsiteY10" fmla="*/ 456183 h 4484800"/>
              <a:gd name="connsiteX11" fmla="*/ 0 w 11460164"/>
              <a:gd name="connsiteY11" fmla="*/ 185682 h 4484800"/>
              <a:gd name="connsiteX12" fmla="*/ 185682 w 11460164"/>
              <a:gd name="connsiteY12" fmla="*/ 0 h 448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60164" h="4484800">
                <a:moveTo>
                  <a:pt x="185682" y="0"/>
                </a:moveTo>
                <a:lnTo>
                  <a:pt x="11274482" y="0"/>
                </a:lnTo>
                <a:cubicBezTo>
                  <a:pt x="11377031" y="0"/>
                  <a:pt x="11460164" y="83133"/>
                  <a:pt x="11460164" y="185682"/>
                </a:cubicBezTo>
                <a:lnTo>
                  <a:pt x="11460164" y="456183"/>
                </a:lnTo>
                <a:lnTo>
                  <a:pt x="11460164" y="715601"/>
                </a:lnTo>
                <a:lnTo>
                  <a:pt x="11460164" y="4299118"/>
                </a:lnTo>
                <a:cubicBezTo>
                  <a:pt x="11460164" y="4401667"/>
                  <a:pt x="11377031" y="4484800"/>
                  <a:pt x="11274482" y="4484800"/>
                </a:cubicBezTo>
                <a:lnTo>
                  <a:pt x="185682" y="4484800"/>
                </a:lnTo>
                <a:cubicBezTo>
                  <a:pt x="83133" y="4484800"/>
                  <a:pt x="0" y="4401667"/>
                  <a:pt x="0" y="4299118"/>
                </a:cubicBezTo>
                <a:lnTo>
                  <a:pt x="0" y="715601"/>
                </a:lnTo>
                <a:lnTo>
                  <a:pt x="0" y="456183"/>
                </a:lnTo>
                <a:lnTo>
                  <a:pt x="0" y="185682"/>
                </a:lnTo>
                <a:cubicBezTo>
                  <a:pt x="0" y="83133"/>
                  <a:pt x="83133" y="0"/>
                  <a:pt x="185682" y="0"/>
                </a:cubicBezTo>
                <a:close/>
              </a:path>
            </a:pathLst>
          </a:custGeom>
          <a:solidFill>
            <a:schemeClr val="bg1">
              <a:lumMod val="95000"/>
            </a:schemeClr>
          </a:solidFill>
          <a:ln>
            <a:noFill/>
          </a:ln>
        </p:spPr>
        <p:txBody>
          <a:bodyPr wrap="square" tIns="180000">
            <a:noAutofit/>
          </a:bodyPr>
          <a:lstStyle>
            <a:lvl1pPr>
              <a:defRPr/>
            </a:lvl1pPr>
          </a:lstStyle>
          <a:p>
            <a:pPr lvl="0"/>
            <a:r>
              <a:rPr lang="en-US"/>
              <a:t>Click to enter TEXT content ONLY.</a:t>
            </a:r>
            <a:br>
              <a:rPr lang="en-US"/>
            </a:br>
            <a:r>
              <a:rPr lang="en-US"/>
              <a:t>If text content appears outside of grey holder please reduce the size of the font.</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Date Placeholder 2">
            <a:extLst>
              <a:ext uri="{FF2B5EF4-FFF2-40B4-BE49-F238E27FC236}">
                <a16:creationId xmlns:a16="http://schemas.microsoft.com/office/drawing/2014/main" id="{341B731B-8FAA-4A1B-8740-D7002967C1CA}"/>
              </a:ext>
            </a:extLst>
          </p:cNvPr>
          <p:cNvSpPr>
            <a:spLocks noGrp="1"/>
          </p:cNvSpPr>
          <p:nvPr>
            <p:ph type="dt" sz="half" idx="19"/>
          </p:nvPr>
        </p:nvSpPr>
        <p:spPr/>
        <p:txBody>
          <a:bodyPr/>
          <a:lstStyle/>
          <a:p>
            <a:fld id="{DB124F8D-6A21-41BB-B641-CA493D4F9456}" type="datetime4">
              <a:rPr lang="en-GB" smtClean="0"/>
              <a:t>20 July 2026</a:t>
            </a:fld>
            <a:endParaRPr lang="en-GB"/>
          </a:p>
        </p:txBody>
      </p:sp>
      <p:sp>
        <p:nvSpPr>
          <p:cNvPr id="5" name="Footer Placeholder 4">
            <a:extLst>
              <a:ext uri="{FF2B5EF4-FFF2-40B4-BE49-F238E27FC236}">
                <a16:creationId xmlns:a16="http://schemas.microsoft.com/office/drawing/2014/main" id="{D1C84BE9-25CA-45B1-9061-9DCABA70A1E6}"/>
              </a:ext>
            </a:extLst>
          </p:cNvPr>
          <p:cNvSpPr>
            <a:spLocks noGrp="1"/>
          </p:cNvSpPr>
          <p:nvPr>
            <p:ph type="ftr" sz="quarter" idx="20"/>
          </p:nvPr>
        </p:nvSpPr>
        <p:spPr/>
        <p:txBody>
          <a:bodyPr/>
          <a:lstStyle/>
          <a:p>
            <a:endParaRPr lang="en-GB"/>
          </a:p>
        </p:txBody>
      </p:sp>
      <p:sp>
        <p:nvSpPr>
          <p:cNvPr id="11" name="Slide Number Placeholder 10">
            <a:extLst>
              <a:ext uri="{FF2B5EF4-FFF2-40B4-BE49-F238E27FC236}">
                <a16:creationId xmlns:a16="http://schemas.microsoft.com/office/drawing/2014/main" id="{BF0296A1-E119-4AEC-80A5-65FD719F9631}"/>
              </a:ext>
            </a:extLst>
          </p:cNvPr>
          <p:cNvSpPr>
            <a:spLocks noGrp="1"/>
          </p:cNvSpPr>
          <p:nvPr>
            <p:ph type="sldNum" sz="quarter" idx="21"/>
          </p:nvPr>
        </p:nvSpPr>
        <p:spPr/>
        <p:txBody>
          <a:bodyPr/>
          <a:lstStyle/>
          <a:p>
            <a:fld id="{9F9F533D-B52E-4A2F-BF72-0ADD2D94BD75}" type="slidenum">
              <a:rPr lang="en-GB" smtClean="0"/>
              <a:pPr/>
              <a:t>‹#›</a:t>
            </a:fld>
            <a:endParaRPr lang="en-GB"/>
          </a:p>
        </p:txBody>
      </p:sp>
      <p:sp>
        <p:nvSpPr>
          <p:cNvPr id="12" name="Title 1">
            <a:extLst>
              <a:ext uri="{FF2B5EF4-FFF2-40B4-BE49-F238E27FC236}">
                <a16:creationId xmlns:a16="http://schemas.microsoft.com/office/drawing/2014/main" id="{88C0D48C-007D-FEEC-D1DF-C00891876F0F}"/>
              </a:ext>
            </a:extLst>
          </p:cNvPr>
          <p:cNvSpPr>
            <a:spLocks noGrp="1"/>
          </p:cNvSpPr>
          <p:nvPr>
            <p:ph type="title"/>
          </p:nvPr>
        </p:nvSpPr>
        <p:spPr>
          <a:xfrm>
            <a:off x="365126" y="242888"/>
            <a:ext cx="9759950" cy="430887"/>
          </a:xfrm>
        </p:spPr>
        <p:txBody>
          <a:bodyPr/>
          <a:lstStyle>
            <a:lvl1pPr>
              <a:defRPr>
                <a:solidFill>
                  <a:schemeClr val="tx1"/>
                </a:solidFill>
              </a:defRPr>
            </a:lvl1pPr>
          </a:lstStyle>
          <a:p>
            <a:r>
              <a:rPr lang="en-US"/>
              <a:t>Click to edit Master title style</a:t>
            </a:r>
          </a:p>
        </p:txBody>
      </p:sp>
      <p:sp>
        <p:nvSpPr>
          <p:cNvPr id="13" name="Subtitle 2">
            <a:extLst>
              <a:ext uri="{FF2B5EF4-FFF2-40B4-BE49-F238E27FC236}">
                <a16:creationId xmlns:a16="http://schemas.microsoft.com/office/drawing/2014/main" id="{1F6E4BF1-5B10-6CC3-60CB-FA773CAB8AF3}"/>
              </a:ext>
            </a:extLst>
          </p:cNvPr>
          <p:cNvSpPr>
            <a:spLocks noGrp="1"/>
          </p:cNvSpPr>
          <p:nvPr>
            <p:ph type="subTitle" idx="1" hasCustomPrompt="1"/>
          </p:nvPr>
        </p:nvSpPr>
        <p:spPr>
          <a:xfrm>
            <a:off x="365125" y="694950"/>
            <a:ext cx="9759951"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pic>
        <p:nvPicPr>
          <p:cNvPr id="2" name="Picture 1" descr="A close up of a logo&#10;&#10;Description automatically generated">
            <a:extLst>
              <a:ext uri="{FF2B5EF4-FFF2-40B4-BE49-F238E27FC236}">
                <a16:creationId xmlns:a16="http://schemas.microsoft.com/office/drawing/2014/main" id="{5C02A867-73D6-F0F1-30D0-59083BC055B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97426" y="0"/>
            <a:ext cx="1594574" cy="900000"/>
          </a:xfrm>
          <a:prstGeom prst="rect">
            <a:avLst/>
          </a:prstGeom>
        </p:spPr>
      </p:pic>
      <p:grpSp>
        <p:nvGrpSpPr>
          <p:cNvPr id="7" name="Graphic 8">
            <a:extLst>
              <a:ext uri="{FF2B5EF4-FFF2-40B4-BE49-F238E27FC236}">
                <a16:creationId xmlns:a16="http://schemas.microsoft.com/office/drawing/2014/main" id="{8CDC9D26-5936-602C-2B1D-BF43E4765220}"/>
              </a:ext>
            </a:extLst>
          </p:cNvPr>
          <p:cNvGrpSpPr>
            <a:grpSpLocks noChangeAspect="1"/>
          </p:cNvGrpSpPr>
          <p:nvPr userDrawn="1"/>
        </p:nvGrpSpPr>
        <p:grpSpPr>
          <a:xfrm rot="5400000">
            <a:off x="-36928" y="354422"/>
            <a:ext cx="309272" cy="252000"/>
            <a:chOff x="342481" y="5384362"/>
            <a:chExt cx="353454" cy="324000"/>
          </a:xfrm>
          <a:solidFill>
            <a:srgbClr val="F26733"/>
          </a:solidFill>
        </p:grpSpPr>
        <p:sp>
          <p:nvSpPr>
            <p:cNvPr id="8" name="Freeform: Shape 7">
              <a:extLst>
                <a:ext uri="{FF2B5EF4-FFF2-40B4-BE49-F238E27FC236}">
                  <a16:creationId xmlns:a16="http://schemas.microsoft.com/office/drawing/2014/main" id="{50547348-2E4D-3F3C-45C0-D9F5CBA79866}"/>
                </a:ext>
              </a:extLst>
            </p:cNvPr>
            <p:cNvSpPr/>
            <p:nvPr/>
          </p:nvSpPr>
          <p:spPr>
            <a:xfrm>
              <a:off x="438879" y="5472725"/>
              <a:ext cx="160658" cy="58909"/>
            </a:xfrm>
            <a:custGeom>
              <a:avLst/>
              <a:gdLst>
                <a:gd name="connsiteX0" fmla="*/ 32130 w 160658"/>
                <a:gd name="connsiteY0" fmla="*/ 0 h 58909"/>
                <a:gd name="connsiteX1" fmla="*/ 0 w 160658"/>
                <a:gd name="connsiteY1" fmla="*/ 58909 h 58909"/>
                <a:gd name="connsiteX2" fmla="*/ 160658 w 160658"/>
                <a:gd name="connsiteY2" fmla="*/ 58909 h 58909"/>
                <a:gd name="connsiteX3" fmla="*/ 128528 w 160658"/>
                <a:gd name="connsiteY3" fmla="*/ 0 h 58909"/>
                <a:gd name="connsiteX4" fmla="*/ 32130 w 160658"/>
                <a:gd name="connsiteY4" fmla="*/ 0 h 58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658" h="58909">
                  <a:moveTo>
                    <a:pt x="32130" y="0"/>
                  </a:moveTo>
                  <a:lnTo>
                    <a:pt x="0" y="58909"/>
                  </a:lnTo>
                  <a:lnTo>
                    <a:pt x="160658" y="58909"/>
                  </a:lnTo>
                  <a:lnTo>
                    <a:pt x="128528" y="0"/>
                  </a:lnTo>
                  <a:lnTo>
                    <a:pt x="32130" y="0"/>
                  </a:lnTo>
                  <a:close/>
                </a:path>
              </a:pathLst>
            </a:custGeom>
            <a:solidFill>
              <a:srgbClr val="F26733"/>
            </a:solidFill>
            <a:ln w="0"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B20B0585-9A52-F333-4C8C-5359157133D8}"/>
                </a:ext>
              </a:extLst>
            </p:cNvPr>
            <p:cNvSpPr/>
            <p:nvPr/>
          </p:nvSpPr>
          <p:spPr>
            <a:xfrm>
              <a:off x="487074" y="5384362"/>
              <a:ext cx="64268" cy="58909"/>
            </a:xfrm>
            <a:custGeom>
              <a:avLst/>
              <a:gdLst>
                <a:gd name="connsiteX0" fmla="*/ 64268 w 64268"/>
                <a:gd name="connsiteY0" fmla="*/ 58909 h 58909"/>
                <a:gd name="connsiteX1" fmla="*/ 32134 w 64268"/>
                <a:gd name="connsiteY1" fmla="*/ 0 h 58909"/>
                <a:gd name="connsiteX2" fmla="*/ 0 w 64268"/>
                <a:gd name="connsiteY2" fmla="*/ 58909 h 58909"/>
                <a:gd name="connsiteX3" fmla="*/ 64268 w 64268"/>
                <a:gd name="connsiteY3" fmla="*/ 58909 h 58909"/>
              </a:gdLst>
              <a:ahLst/>
              <a:cxnLst>
                <a:cxn ang="0">
                  <a:pos x="connsiteX0" y="connsiteY0"/>
                </a:cxn>
                <a:cxn ang="0">
                  <a:pos x="connsiteX1" y="connsiteY1"/>
                </a:cxn>
                <a:cxn ang="0">
                  <a:pos x="connsiteX2" y="connsiteY2"/>
                </a:cxn>
                <a:cxn ang="0">
                  <a:pos x="connsiteX3" y="connsiteY3"/>
                </a:cxn>
              </a:cxnLst>
              <a:rect l="l" t="t" r="r" b="b"/>
              <a:pathLst>
                <a:path w="64268" h="58909">
                  <a:moveTo>
                    <a:pt x="64268" y="58909"/>
                  </a:moveTo>
                  <a:lnTo>
                    <a:pt x="32134" y="0"/>
                  </a:lnTo>
                  <a:lnTo>
                    <a:pt x="0" y="58909"/>
                  </a:lnTo>
                  <a:lnTo>
                    <a:pt x="64268" y="58909"/>
                  </a:lnTo>
                  <a:close/>
                </a:path>
              </a:pathLst>
            </a:custGeom>
            <a:solidFill>
              <a:srgbClr val="F26733"/>
            </a:solidFill>
            <a:ln w="0"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F80DCC98-7F8D-72E2-A02A-B3CCAFD0DB65}"/>
                </a:ext>
              </a:extLst>
            </p:cNvPr>
            <p:cNvSpPr/>
            <p:nvPr/>
          </p:nvSpPr>
          <p:spPr>
            <a:xfrm>
              <a:off x="342481" y="5649452"/>
              <a:ext cx="353454" cy="58909"/>
            </a:xfrm>
            <a:custGeom>
              <a:avLst/>
              <a:gdLst>
                <a:gd name="connsiteX0" fmla="*/ 32134 w 353454"/>
                <a:gd name="connsiteY0" fmla="*/ 0 h 58909"/>
                <a:gd name="connsiteX1" fmla="*/ 0 w 353454"/>
                <a:gd name="connsiteY1" fmla="*/ 58909 h 58909"/>
                <a:gd name="connsiteX2" fmla="*/ 353455 w 353454"/>
                <a:gd name="connsiteY2" fmla="*/ 58909 h 58909"/>
                <a:gd name="connsiteX3" fmla="*/ 321321 w 353454"/>
                <a:gd name="connsiteY3" fmla="*/ 0 h 58909"/>
                <a:gd name="connsiteX4" fmla="*/ 32134 w 353454"/>
                <a:gd name="connsiteY4" fmla="*/ 0 h 58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3454" h="58909">
                  <a:moveTo>
                    <a:pt x="32134" y="0"/>
                  </a:moveTo>
                  <a:lnTo>
                    <a:pt x="0" y="58909"/>
                  </a:lnTo>
                  <a:lnTo>
                    <a:pt x="353455" y="58909"/>
                  </a:lnTo>
                  <a:lnTo>
                    <a:pt x="321321" y="0"/>
                  </a:lnTo>
                  <a:lnTo>
                    <a:pt x="32134" y="0"/>
                  </a:lnTo>
                  <a:close/>
                </a:path>
              </a:pathLst>
            </a:custGeom>
            <a:solidFill>
              <a:srgbClr val="F26733"/>
            </a:solidFill>
            <a:ln w="0"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D5AE2200-2076-BB05-8269-1C2D7671704F}"/>
                </a:ext>
              </a:extLst>
            </p:cNvPr>
            <p:cNvSpPr/>
            <p:nvPr/>
          </p:nvSpPr>
          <p:spPr>
            <a:xfrm>
              <a:off x="390680" y="5561089"/>
              <a:ext cx="257056" cy="58909"/>
            </a:xfrm>
            <a:custGeom>
              <a:avLst/>
              <a:gdLst>
                <a:gd name="connsiteX0" fmla="*/ 257056 w 257056"/>
                <a:gd name="connsiteY0" fmla="*/ 58909 h 58909"/>
                <a:gd name="connsiteX1" fmla="*/ 224926 w 257056"/>
                <a:gd name="connsiteY1" fmla="*/ 0 h 58909"/>
                <a:gd name="connsiteX2" fmla="*/ 32130 w 257056"/>
                <a:gd name="connsiteY2" fmla="*/ 0 h 58909"/>
                <a:gd name="connsiteX3" fmla="*/ 0 w 257056"/>
                <a:gd name="connsiteY3" fmla="*/ 58909 h 58909"/>
                <a:gd name="connsiteX4" fmla="*/ 257056 w 257056"/>
                <a:gd name="connsiteY4" fmla="*/ 58909 h 58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056" h="58909">
                  <a:moveTo>
                    <a:pt x="257056" y="58909"/>
                  </a:moveTo>
                  <a:lnTo>
                    <a:pt x="224926" y="0"/>
                  </a:lnTo>
                  <a:lnTo>
                    <a:pt x="32130" y="0"/>
                  </a:lnTo>
                  <a:lnTo>
                    <a:pt x="0" y="58909"/>
                  </a:lnTo>
                  <a:lnTo>
                    <a:pt x="257056" y="58909"/>
                  </a:lnTo>
                  <a:close/>
                </a:path>
              </a:pathLst>
            </a:custGeom>
            <a:solidFill>
              <a:srgbClr val="F26733"/>
            </a:solidFill>
            <a:ln w="0" cap="flat">
              <a:noFill/>
              <a:prstDash val="solid"/>
              <a:miter/>
            </a:ln>
          </p:spPr>
          <p:txBody>
            <a:bodyPr rtlCol="0" anchor="ctr"/>
            <a:lstStyle/>
            <a:p>
              <a:endParaRPr lang="en-GB"/>
            </a:p>
          </p:txBody>
        </p:sp>
      </p:grpSp>
    </p:spTree>
    <p:custDataLst>
      <p:tags r:id="rId1"/>
    </p:custDataLst>
    <p:extLst>
      <p:ext uri="{BB962C8B-B14F-4D97-AF65-F5344CB8AC3E}">
        <p14:creationId xmlns:p14="http://schemas.microsoft.com/office/powerpoint/2010/main" val="2490986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3D179B60-1587-941E-A723-1C3CC5C0E0E2}"/>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7" name="Title 1"/>
          <p:cNvSpPr>
            <a:spLocks noGrp="1"/>
          </p:cNvSpPr>
          <p:nvPr>
            <p:ph type="ctrTitle" hasCustomPrompt="1"/>
          </p:nvPr>
        </p:nvSpPr>
        <p:spPr>
          <a:xfrm>
            <a:off x="520700" y="5010784"/>
            <a:ext cx="11150600" cy="548009"/>
          </a:xfrm>
          <a:prstGeom prst="rect">
            <a:avLst/>
          </a:prstGeom>
        </p:spPr>
        <p:txBody>
          <a:bodyPr anchor="b" anchorCtr="0">
            <a:normAutofit/>
          </a:bodyPr>
          <a:lstStyle>
            <a:lvl1pPr>
              <a:lnSpc>
                <a:spcPct val="100000"/>
              </a:lnSpc>
              <a:defRPr sz="3600">
                <a:solidFill>
                  <a:schemeClr val="bg1"/>
                </a:solidFill>
              </a:defRPr>
            </a:lvl1pPr>
          </a:lstStyle>
          <a:p>
            <a:r>
              <a:rPr lang="en-GB"/>
              <a:t>Click to enter presentation title</a:t>
            </a:r>
          </a:p>
        </p:txBody>
      </p:sp>
      <p:sp>
        <p:nvSpPr>
          <p:cNvPr id="20" name="Subtitle 2"/>
          <p:cNvSpPr>
            <a:spLocks noGrp="1"/>
          </p:cNvSpPr>
          <p:nvPr>
            <p:ph type="subTitle" idx="1" hasCustomPrompt="1"/>
          </p:nvPr>
        </p:nvSpPr>
        <p:spPr>
          <a:xfrm>
            <a:off x="520700" y="5558794"/>
            <a:ext cx="11150600" cy="475200"/>
          </a:xfrm>
          <a:prstGeom prst="rect">
            <a:avLst/>
          </a:prstGeom>
        </p:spPr>
        <p:txBody>
          <a:bodyPr wrap="square" lIns="0" tIns="0" rIns="0" bIns="0" anchor="t" anchorCtr="0">
            <a:normAutofit/>
          </a:bodyPr>
          <a:lstStyle>
            <a:lvl1pPr marL="0" indent="0" algn="l">
              <a:spcBef>
                <a:spcPts val="0"/>
              </a:spcBef>
              <a:spcAft>
                <a:spcPts val="0"/>
              </a:spcAft>
              <a:buNone/>
              <a:defRPr sz="24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subtitle / presenter name</a:t>
            </a:r>
          </a:p>
        </p:txBody>
      </p:sp>
      <p:sp>
        <p:nvSpPr>
          <p:cNvPr id="5" name="Rectangle 4">
            <a:extLst>
              <a:ext uri="{FF2B5EF4-FFF2-40B4-BE49-F238E27FC236}">
                <a16:creationId xmlns:a16="http://schemas.microsoft.com/office/drawing/2014/main" id="{B081E81C-A3CE-333A-79BA-25D8F93FB564}"/>
              </a:ext>
            </a:extLst>
          </p:cNvPr>
          <p:cNvSpPr/>
          <p:nvPr userDrawn="1"/>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rgbClr val="FFFFFF"/>
                </a:solidFill>
                <a:latin typeface="+mn-lt"/>
              </a:rPr>
              <a:t>gsk.com</a:t>
            </a:r>
          </a:p>
        </p:txBody>
      </p:sp>
      <p:pic>
        <p:nvPicPr>
          <p:cNvPr id="7" name="Graphic 6">
            <a:extLst>
              <a:ext uri="{FF2B5EF4-FFF2-40B4-BE49-F238E27FC236}">
                <a16:creationId xmlns:a16="http://schemas.microsoft.com/office/drawing/2014/main" id="{8E1FA932-514A-C951-F952-F8A43667EAE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94470" y="243283"/>
            <a:ext cx="159543" cy="159543"/>
          </a:xfrm>
          <a:prstGeom prst="rect">
            <a:avLst/>
          </a:prstGeom>
        </p:spPr>
      </p:pic>
      <p:sp>
        <p:nvSpPr>
          <p:cNvPr id="9" name="Text Placeholder 8">
            <a:extLst>
              <a:ext uri="{FF2B5EF4-FFF2-40B4-BE49-F238E27FC236}">
                <a16:creationId xmlns:a16="http://schemas.microsoft.com/office/drawing/2014/main" id="{C04D693C-2F89-1D26-FDEF-3BF8AB9EE532}"/>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bg1"/>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a:t>Click to insert date</a:t>
            </a:r>
          </a:p>
        </p:txBody>
      </p:sp>
      <p:pic>
        <p:nvPicPr>
          <p:cNvPr id="11" name="Graphic 10">
            <a:extLst>
              <a:ext uri="{FF2B5EF4-FFF2-40B4-BE49-F238E27FC236}">
                <a16:creationId xmlns:a16="http://schemas.microsoft.com/office/drawing/2014/main" id="{6CD1A09A-E74F-DDD9-A7A4-4FD32035ACFA}"/>
              </a:ext>
            </a:extLst>
          </p:cNvPr>
          <p:cNvPicPr>
            <a:picLocks noChangeAspect="1"/>
          </p:cNvPicPr>
          <p:nvPr userDrawn="1"/>
        </p:nvPicPr>
        <p:blipFill>
          <a:blip cstate="print">
            <a:lum bright="100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44399" y="2100263"/>
            <a:ext cx="5303202" cy="1598612"/>
          </a:xfrm>
          <a:prstGeom prst="rect">
            <a:avLst/>
          </a:prstGeom>
        </p:spPr>
      </p:pic>
    </p:spTree>
    <p:extLst>
      <p:ext uri="{BB962C8B-B14F-4D97-AF65-F5344CB8AC3E}">
        <p14:creationId xmlns:p14="http://schemas.microsoft.com/office/powerpoint/2010/main" val="2963328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itle Slide (Whit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DC8841-B149-2334-AF59-5558F485A757}"/>
              </a:ext>
            </a:extLst>
          </p:cNvPr>
          <p:cNvSpPr/>
          <p:nvPr userDrawn="1"/>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chemeClr val="tx2"/>
                </a:solidFill>
                <a:latin typeface="+mn-lt"/>
              </a:rPr>
              <a:t>gsk.com</a:t>
            </a:r>
          </a:p>
        </p:txBody>
      </p:sp>
      <p:pic>
        <p:nvPicPr>
          <p:cNvPr id="3" name="Graphic 2">
            <a:extLst>
              <a:ext uri="{FF2B5EF4-FFF2-40B4-BE49-F238E27FC236}">
                <a16:creationId xmlns:a16="http://schemas.microsoft.com/office/drawing/2014/main" id="{E4C205A4-821A-253A-297E-0360320A4D5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94470" y="243283"/>
            <a:ext cx="159543" cy="159543"/>
          </a:xfrm>
          <a:prstGeom prst="rect">
            <a:avLst/>
          </a:prstGeom>
        </p:spPr>
      </p:pic>
      <p:sp>
        <p:nvSpPr>
          <p:cNvPr id="11" name="Text Placeholder 8">
            <a:extLst>
              <a:ext uri="{FF2B5EF4-FFF2-40B4-BE49-F238E27FC236}">
                <a16:creationId xmlns:a16="http://schemas.microsoft.com/office/drawing/2014/main" id="{8D015E68-9B94-B2B9-2F33-1D9732CC14B4}"/>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a:t>Click to insert date</a:t>
            </a:r>
          </a:p>
        </p:txBody>
      </p:sp>
      <p:sp>
        <p:nvSpPr>
          <p:cNvPr id="12" name="Freeform: Shape 11">
            <a:extLst>
              <a:ext uri="{FF2B5EF4-FFF2-40B4-BE49-F238E27FC236}">
                <a16:creationId xmlns:a16="http://schemas.microsoft.com/office/drawing/2014/main" id="{458F29C9-8F7E-1D4B-3005-616565FA7753}"/>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5" name="Title 1">
            <a:extLst>
              <a:ext uri="{FF2B5EF4-FFF2-40B4-BE49-F238E27FC236}">
                <a16:creationId xmlns:a16="http://schemas.microsoft.com/office/drawing/2014/main" id="{4DF7007A-5965-5814-8FF8-29077566CBED}"/>
              </a:ext>
            </a:extLst>
          </p:cNvPr>
          <p:cNvSpPr>
            <a:spLocks noGrp="1"/>
          </p:cNvSpPr>
          <p:nvPr>
            <p:ph type="ctrTitle" hasCustomPrompt="1"/>
          </p:nvPr>
        </p:nvSpPr>
        <p:spPr>
          <a:xfrm>
            <a:off x="520700" y="5010784"/>
            <a:ext cx="11150600" cy="548009"/>
          </a:xfrm>
          <a:prstGeom prst="rect">
            <a:avLst/>
          </a:prstGeom>
        </p:spPr>
        <p:txBody>
          <a:bodyPr anchor="b" anchorCtr="0">
            <a:normAutofit/>
          </a:bodyPr>
          <a:lstStyle>
            <a:lvl1pPr>
              <a:lnSpc>
                <a:spcPct val="100000"/>
              </a:lnSpc>
              <a:defRPr sz="3600">
                <a:solidFill>
                  <a:schemeClr val="tx2"/>
                </a:solidFill>
              </a:defRPr>
            </a:lvl1pPr>
          </a:lstStyle>
          <a:p>
            <a:r>
              <a:rPr lang="en-GB"/>
              <a:t>Click to enter presentation title</a:t>
            </a:r>
          </a:p>
        </p:txBody>
      </p:sp>
      <p:sp>
        <p:nvSpPr>
          <p:cNvPr id="16" name="Subtitle 2">
            <a:extLst>
              <a:ext uri="{FF2B5EF4-FFF2-40B4-BE49-F238E27FC236}">
                <a16:creationId xmlns:a16="http://schemas.microsoft.com/office/drawing/2014/main" id="{F6A64F09-F5D8-B6EE-7ED5-2B69A4668CD5}"/>
              </a:ext>
            </a:extLst>
          </p:cNvPr>
          <p:cNvSpPr>
            <a:spLocks noGrp="1"/>
          </p:cNvSpPr>
          <p:nvPr>
            <p:ph type="subTitle" idx="1" hasCustomPrompt="1"/>
          </p:nvPr>
        </p:nvSpPr>
        <p:spPr>
          <a:xfrm>
            <a:off x="520700" y="5558794"/>
            <a:ext cx="11150600" cy="475200"/>
          </a:xfrm>
          <a:prstGeom prst="rect">
            <a:avLst/>
          </a:prstGeom>
        </p:spPr>
        <p:txBody>
          <a:bodyPr wrap="square" lIns="0" tIns="0" rIns="0" bIns="0" anchor="t" anchorCtr="0">
            <a:norm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subtitle / presenter name</a:t>
            </a:r>
          </a:p>
        </p:txBody>
      </p:sp>
      <p:pic>
        <p:nvPicPr>
          <p:cNvPr id="9" name="Graphic 8">
            <a:extLst>
              <a:ext uri="{FF2B5EF4-FFF2-40B4-BE49-F238E27FC236}">
                <a16:creationId xmlns:a16="http://schemas.microsoft.com/office/drawing/2014/main" id="{9D62EFE5-F00A-570F-E85D-A9685EA9184F}"/>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44399" y="2100263"/>
            <a:ext cx="5303202" cy="1598612"/>
          </a:xfrm>
          <a:prstGeom prst="rect">
            <a:avLst/>
          </a:prstGeom>
        </p:spPr>
      </p:pic>
    </p:spTree>
    <p:extLst>
      <p:ext uri="{BB962C8B-B14F-4D97-AF65-F5344CB8AC3E}">
        <p14:creationId xmlns:p14="http://schemas.microsoft.com/office/powerpoint/2010/main" val="1289640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itle DIA Slide">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A717EDF-9AA4-491F-3311-9F14A5CFB89C}"/>
              </a:ext>
            </a:extLst>
          </p:cNvPr>
          <p:cNvSpPr/>
          <p:nvPr userDrawn="1"/>
        </p:nvSpPr>
        <p:spPr bwMode="auto">
          <a:xfrm>
            <a:off x="523973" y="6107998"/>
            <a:ext cx="1806576" cy="505527"/>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a:solidFill>
                  <a:schemeClr val="tx2"/>
                </a:solidFill>
              </a:rPr>
              <a:t>Owner</a:t>
            </a:r>
          </a:p>
        </p:txBody>
      </p:sp>
      <p:sp>
        <p:nvSpPr>
          <p:cNvPr id="47" name="Rectangle 46">
            <a:extLst>
              <a:ext uri="{FF2B5EF4-FFF2-40B4-BE49-F238E27FC236}">
                <a16:creationId xmlns:a16="http://schemas.microsoft.com/office/drawing/2014/main" id="{D4AC67F3-7D0E-A071-327B-17B446179DB8}"/>
              </a:ext>
            </a:extLst>
          </p:cNvPr>
          <p:cNvSpPr/>
          <p:nvPr userDrawn="1"/>
        </p:nvSpPr>
        <p:spPr bwMode="auto">
          <a:xfrm>
            <a:off x="523973" y="4557510"/>
            <a:ext cx="1806576" cy="14736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a:solidFill>
                  <a:schemeClr val="tx2"/>
                </a:solidFill>
              </a:rPr>
              <a:t>Objectives</a:t>
            </a:r>
          </a:p>
        </p:txBody>
      </p:sp>
      <p:sp>
        <p:nvSpPr>
          <p:cNvPr id="25" name="Text Placeholder 24">
            <a:extLst>
              <a:ext uri="{FF2B5EF4-FFF2-40B4-BE49-F238E27FC236}">
                <a16:creationId xmlns:a16="http://schemas.microsoft.com/office/drawing/2014/main" id="{4E30BA3B-88CD-41DE-E089-7100E3E52AF4}"/>
              </a:ext>
            </a:extLst>
          </p:cNvPr>
          <p:cNvSpPr>
            <a:spLocks noGrp="1"/>
          </p:cNvSpPr>
          <p:nvPr>
            <p:ph type="body" sz="quarter" idx="13" hasCustomPrompt="1"/>
          </p:nvPr>
        </p:nvSpPr>
        <p:spPr>
          <a:xfrm>
            <a:off x="2407432" y="4557510"/>
            <a:ext cx="9414362" cy="1473605"/>
          </a:xfrm>
          <a:prstGeom prst="rect">
            <a:avLst/>
          </a:prstGeom>
          <a:solidFill>
            <a:schemeClr val="bg1">
              <a:lumMod val="95000"/>
            </a:schemeClr>
          </a:solidFill>
          <a:ln>
            <a:noFill/>
          </a:ln>
        </p:spPr>
        <p:txBody>
          <a:bodyPr wrap="square" lIns="180000" tIns="144000" rIns="180000" bIns="72000" anchor="t" anchorCtr="0">
            <a:norm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a:t>DECISION: To seek X’s [single point accountable decision maker] decision to implement A</a:t>
            </a:r>
            <a:br>
              <a:rPr lang="en-US"/>
            </a:br>
            <a:r>
              <a:rPr lang="en-US"/>
              <a:t>INPUT: To receive input to the proposed plan for B</a:t>
            </a:r>
            <a:br>
              <a:rPr lang="en-US"/>
            </a:br>
            <a:r>
              <a:rPr lang="en-US"/>
              <a:t>AWARENESS: To update XXX regarding C</a:t>
            </a:r>
          </a:p>
        </p:txBody>
      </p:sp>
      <p:sp>
        <p:nvSpPr>
          <p:cNvPr id="31" name="Text Placeholder 30">
            <a:extLst>
              <a:ext uri="{FF2B5EF4-FFF2-40B4-BE49-F238E27FC236}">
                <a16:creationId xmlns:a16="http://schemas.microsoft.com/office/drawing/2014/main" id="{DC6E06B6-BD9A-7A5E-5A90-56308009FF5E}"/>
              </a:ext>
            </a:extLst>
          </p:cNvPr>
          <p:cNvSpPr>
            <a:spLocks noGrp="1"/>
          </p:cNvSpPr>
          <p:nvPr>
            <p:ph type="body" sz="quarter" idx="41" hasCustomPrompt="1"/>
          </p:nvPr>
        </p:nvSpPr>
        <p:spPr>
          <a:xfrm>
            <a:off x="2407432" y="6107998"/>
            <a:ext cx="9414362" cy="505527"/>
          </a:xfrm>
          <a:prstGeom prst="rect">
            <a:avLst/>
          </a:prstGeom>
          <a:solidFill>
            <a:schemeClr val="bg1">
              <a:lumMod val="95000"/>
            </a:schemeClr>
          </a:solidFill>
          <a:ln>
            <a:noFill/>
          </a:ln>
        </p:spPr>
        <p:txBody>
          <a:bodyPr wrap="square" lIns="180000" tIns="72000" rIns="180000" bIns="72000" anchor="ctr" anchorCtr="0">
            <a:normAutofit/>
          </a:bodyPr>
          <a:lstStyle>
            <a:lvl1pPr marL="0" indent="0">
              <a:buFont typeface="+mj-lt"/>
              <a:buNone/>
              <a:defRPr sz="1200"/>
            </a:lvl1pPr>
            <a:lvl2pPr marL="357542" indent="0">
              <a:buNone/>
              <a:defRPr/>
            </a:lvl2pPr>
          </a:lstStyle>
          <a:p>
            <a:pPr lvl="0"/>
            <a:r>
              <a:rPr lang="en-US"/>
              <a:t>Single person accountable for this topic / paper</a:t>
            </a:r>
          </a:p>
        </p:txBody>
      </p:sp>
      <p:sp>
        <p:nvSpPr>
          <p:cNvPr id="23" name="Text Placeholder 6">
            <a:extLst>
              <a:ext uri="{FF2B5EF4-FFF2-40B4-BE49-F238E27FC236}">
                <a16:creationId xmlns:a16="http://schemas.microsoft.com/office/drawing/2014/main" id="{472F201F-277F-F24E-085D-8160B5FF4CE6}"/>
              </a:ext>
            </a:extLst>
          </p:cNvPr>
          <p:cNvSpPr>
            <a:spLocks noGrp="1"/>
          </p:cNvSpPr>
          <p:nvPr>
            <p:ph type="body" sz="quarter" idx="36" hasCustomPrompt="1"/>
          </p:nvPr>
        </p:nvSpPr>
        <p:spPr>
          <a:xfrm>
            <a:off x="523973" y="4990763"/>
            <a:ext cx="1806576" cy="1040352"/>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a:t>Up to 5 clear, focused objectives </a:t>
            </a:r>
            <a:br>
              <a:rPr lang="en-US"/>
            </a:br>
            <a:r>
              <a:rPr lang="en-US"/>
              <a:t>(</a:t>
            </a:r>
            <a:r>
              <a:rPr lang="en-US" err="1"/>
              <a:t>i</a:t>
            </a:r>
            <a:r>
              <a:rPr lang="en-US"/>
              <a:t>) for decision, </a:t>
            </a:r>
            <a:br>
              <a:rPr lang="en-US"/>
            </a:br>
            <a:r>
              <a:rPr lang="en-US"/>
              <a:t>(ii) for input </a:t>
            </a:r>
            <a:br>
              <a:rPr lang="en-US"/>
            </a:br>
            <a:r>
              <a:rPr lang="en-US"/>
              <a:t>(iii) for awareness</a:t>
            </a:r>
          </a:p>
        </p:txBody>
      </p:sp>
      <p:sp>
        <p:nvSpPr>
          <p:cNvPr id="52" name="Freeform: Shape 51">
            <a:extLst>
              <a:ext uri="{FF2B5EF4-FFF2-40B4-BE49-F238E27FC236}">
                <a16:creationId xmlns:a16="http://schemas.microsoft.com/office/drawing/2014/main" id="{4E683597-5ADE-F2A0-A01C-FD8E476ABB8B}"/>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0" name="Rectangle 19">
            <a:extLst>
              <a:ext uri="{FF2B5EF4-FFF2-40B4-BE49-F238E27FC236}">
                <a16:creationId xmlns:a16="http://schemas.microsoft.com/office/drawing/2014/main" id="{165F316B-6E9C-D66E-FE22-B16477918817}"/>
              </a:ext>
            </a:extLst>
          </p:cNvPr>
          <p:cNvSpPr/>
          <p:nvPr userDrawn="1"/>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chemeClr val="tx2"/>
                </a:solidFill>
                <a:latin typeface="+mn-lt"/>
              </a:rPr>
              <a:t>gsk.com</a:t>
            </a:r>
          </a:p>
        </p:txBody>
      </p:sp>
      <p:pic>
        <p:nvPicPr>
          <p:cNvPr id="21" name="Graphic 20">
            <a:extLst>
              <a:ext uri="{FF2B5EF4-FFF2-40B4-BE49-F238E27FC236}">
                <a16:creationId xmlns:a16="http://schemas.microsoft.com/office/drawing/2014/main" id="{7E4B35B0-1B56-815F-BA6C-0E89CBE6AA6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94470" y="243283"/>
            <a:ext cx="159543" cy="159543"/>
          </a:xfrm>
          <a:prstGeom prst="rect">
            <a:avLst/>
          </a:prstGeom>
        </p:spPr>
      </p:pic>
      <p:sp>
        <p:nvSpPr>
          <p:cNvPr id="22" name="Text Placeholder 8">
            <a:extLst>
              <a:ext uri="{FF2B5EF4-FFF2-40B4-BE49-F238E27FC236}">
                <a16:creationId xmlns:a16="http://schemas.microsoft.com/office/drawing/2014/main" id="{7A99F019-A435-B954-ABA9-68CA4DD19B21}"/>
              </a:ext>
            </a:extLst>
          </p:cNvPr>
          <p:cNvSpPr>
            <a:spLocks noGrp="1"/>
          </p:cNvSpPr>
          <p:nvPr>
            <p:ph type="body" sz="quarter" idx="42"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a:t>Click to insert date</a:t>
            </a:r>
          </a:p>
        </p:txBody>
      </p:sp>
      <p:pic>
        <p:nvPicPr>
          <p:cNvPr id="32" name="Graphic 31">
            <a:extLst>
              <a:ext uri="{FF2B5EF4-FFF2-40B4-BE49-F238E27FC236}">
                <a16:creationId xmlns:a16="http://schemas.microsoft.com/office/drawing/2014/main" id="{8B53D05A-F4B0-150E-FE9F-AB4DED266762}"/>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44399" y="2100263"/>
            <a:ext cx="5303202" cy="1598612"/>
          </a:xfrm>
          <a:prstGeom prst="rect">
            <a:avLst/>
          </a:prstGeom>
        </p:spPr>
      </p:pic>
    </p:spTree>
    <p:custDataLst>
      <p:tags r:id="rId1"/>
    </p:custDataLst>
    <p:extLst>
      <p:ext uri="{BB962C8B-B14F-4D97-AF65-F5344CB8AC3E}">
        <p14:creationId xmlns:p14="http://schemas.microsoft.com/office/powerpoint/2010/main" val="2726061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IA/SPADM">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0AC59E1C-A015-4BA4-AB7D-EC00F37B815F}"/>
              </a:ext>
            </a:extLst>
          </p:cNvPr>
          <p:cNvSpPr/>
          <p:nvPr userDrawn="1"/>
        </p:nvSpPr>
        <p:spPr bwMode="auto">
          <a:xfrm>
            <a:off x="365126" y="1307574"/>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Objectives</a:t>
            </a:r>
          </a:p>
        </p:txBody>
      </p:sp>
      <p:sp>
        <p:nvSpPr>
          <p:cNvPr id="34" name="Rectangle 33">
            <a:extLst>
              <a:ext uri="{FF2B5EF4-FFF2-40B4-BE49-F238E27FC236}">
                <a16:creationId xmlns:a16="http://schemas.microsoft.com/office/drawing/2014/main" id="{D4EBA022-30B3-B17F-5D7C-3A3D869D35FA}"/>
              </a:ext>
            </a:extLst>
          </p:cNvPr>
          <p:cNvSpPr>
            <a:spLocks/>
          </p:cNvSpPr>
          <p:nvPr userDrawn="1"/>
        </p:nvSpPr>
        <p:spPr bwMode="auto">
          <a:xfrm>
            <a:off x="365126" y="2778690"/>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Key questions</a:t>
            </a:r>
          </a:p>
        </p:txBody>
      </p:sp>
      <p:sp>
        <p:nvSpPr>
          <p:cNvPr id="35" name="Rectangle 34">
            <a:extLst>
              <a:ext uri="{FF2B5EF4-FFF2-40B4-BE49-F238E27FC236}">
                <a16:creationId xmlns:a16="http://schemas.microsoft.com/office/drawing/2014/main" id="{FF5A742C-A049-77AC-C2E5-4272D118CC96}"/>
              </a:ext>
            </a:extLst>
          </p:cNvPr>
          <p:cNvSpPr>
            <a:spLocks/>
          </p:cNvSpPr>
          <p:nvPr userDrawn="1"/>
        </p:nvSpPr>
        <p:spPr bwMode="auto">
          <a:xfrm>
            <a:off x="365126" y="4249806"/>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Next steps</a:t>
            </a:r>
          </a:p>
        </p:txBody>
      </p:sp>
      <p:sp>
        <p:nvSpPr>
          <p:cNvPr id="21" name="Rectangle 20">
            <a:extLst>
              <a:ext uri="{FF2B5EF4-FFF2-40B4-BE49-F238E27FC236}">
                <a16:creationId xmlns:a16="http://schemas.microsoft.com/office/drawing/2014/main" id="{E66507E6-44A7-B4B5-33F1-9F0C0DC0FDE1}"/>
              </a:ext>
            </a:extLst>
          </p:cNvPr>
          <p:cNvSpPr/>
          <p:nvPr userDrawn="1"/>
        </p:nvSpPr>
        <p:spPr bwMode="auto">
          <a:xfrm>
            <a:off x="365126" y="5720922"/>
            <a:ext cx="1806576" cy="363373"/>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72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Owner</a:t>
            </a:r>
          </a:p>
        </p:txBody>
      </p:sp>
      <p:sp>
        <p:nvSpPr>
          <p:cNvPr id="3" name="Footer Placeholder 2">
            <a:extLst>
              <a:ext uri="{FF2B5EF4-FFF2-40B4-BE49-F238E27FC236}">
                <a16:creationId xmlns:a16="http://schemas.microsoft.com/office/drawing/2014/main" id="{9B773ECA-2D04-B6E9-1FB4-377F08AA5D14}"/>
              </a:ext>
            </a:extLst>
          </p:cNvPr>
          <p:cNvSpPr>
            <a:spLocks noGrp="1"/>
          </p:cNvSpPr>
          <p:nvPr>
            <p:ph type="ftr" sz="quarter" idx="10"/>
          </p:nvPr>
        </p:nvSpPr>
        <p:spPr/>
        <p:txBody>
          <a:bodyPr/>
          <a:lstStyle/>
          <a:p>
            <a:r>
              <a:rPr lang="en-GB"/>
              <a:t>Confidential under GSK NDA</a:t>
            </a:r>
          </a:p>
        </p:txBody>
      </p:sp>
      <p:sp>
        <p:nvSpPr>
          <p:cNvPr id="4" name="Slide Number Placeholder 3">
            <a:extLst>
              <a:ext uri="{FF2B5EF4-FFF2-40B4-BE49-F238E27FC236}">
                <a16:creationId xmlns:a16="http://schemas.microsoft.com/office/drawing/2014/main" id="{C3976886-926E-8975-E95D-5BCD6F82EEEF}"/>
              </a:ext>
            </a:extLst>
          </p:cNvPr>
          <p:cNvSpPr>
            <a:spLocks noGrp="1"/>
          </p:cNvSpPr>
          <p:nvPr>
            <p:ph type="sldNum" sz="quarter" idx="11"/>
          </p:nvPr>
        </p:nvSpPr>
        <p:spPr/>
        <p:txBody>
          <a:bodyPr/>
          <a:lstStyle/>
          <a:p>
            <a:fld id="{9F9F533D-B52E-4A2F-BF72-0ADD2D94BD75}" type="slidenum">
              <a:rPr lang="en-GB" smtClean="0"/>
              <a:pPr/>
              <a:t>‹#›</a:t>
            </a:fld>
            <a:endParaRPr lang="en-GB"/>
          </a:p>
        </p:txBody>
      </p:sp>
      <p:sp>
        <p:nvSpPr>
          <p:cNvPr id="5" name="Date Placeholder 4">
            <a:extLst>
              <a:ext uri="{FF2B5EF4-FFF2-40B4-BE49-F238E27FC236}">
                <a16:creationId xmlns:a16="http://schemas.microsoft.com/office/drawing/2014/main" id="{A15E9B4D-B613-11AE-72F8-5A0C3EBFD95A}"/>
              </a:ext>
            </a:extLst>
          </p:cNvPr>
          <p:cNvSpPr>
            <a:spLocks noGrp="1"/>
          </p:cNvSpPr>
          <p:nvPr>
            <p:ph type="dt" sz="half" idx="12"/>
          </p:nvPr>
        </p:nvSpPr>
        <p:spPr/>
        <p:txBody>
          <a:bodyPr/>
          <a:lstStyle/>
          <a:p>
            <a:fld id="{77B9A6AC-5D6C-42A3-A1AD-DDA8D75B5A3D}" type="datetime4">
              <a:rPr lang="en-GB" smtClean="0"/>
              <a:t>20 July 2026</a:t>
            </a:fld>
            <a:endParaRPr lang="en-GB"/>
          </a:p>
        </p:txBody>
      </p:sp>
      <p:sp>
        <p:nvSpPr>
          <p:cNvPr id="6" name="Title 1">
            <a:extLst>
              <a:ext uri="{FF2B5EF4-FFF2-40B4-BE49-F238E27FC236}">
                <a16:creationId xmlns:a16="http://schemas.microsoft.com/office/drawing/2014/main" id="{25ABB6F2-78D4-BCC3-D950-5FAF7FCB8FDD}"/>
              </a:ext>
            </a:extLst>
          </p:cNvPr>
          <p:cNvSpPr>
            <a:spLocks noGrp="1"/>
          </p:cNvSpPr>
          <p:nvPr>
            <p:ph type="title" hasCustomPrompt="1"/>
          </p:nvPr>
        </p:nvSpPr>
        <p:spPr>
          <a:xfrm>
            <a:off x="365126" y="242888"/>
            <a:ext cx="7554912" cy="430887"/>
          </a:xfrm>
        </p:spPr>
        <p:txBody>
          <a:bodyPr/>
          <a:lstStyle>
            <a:lvl1pPr>
              <a:defRPr/>
            </a:lvl1pPr>
          </a:lstStyle>
          <a:p>
            <a:r>
              <a:rPr lang="en-US"/>
              <a:t>Click to add topic / paper title</a:t>
            </a:r>
          </a:p>
        </p:txBody>
      </p:sp>
      <p:sp>
        <p:nvSpPr>
          <p:cNvPr id="7" name="Subtitle 2">
            <a:extLst>
              <a:ext uri="{FF2B5EF4-FFF2-40B4-BE49-F238E27FC236}">
                <a16:creationId xmlns:a16="http://schemas.microsoft.com/office/drawing/2014/main" id="{FA46E8B4-4C83-8DD1-80BB-CC03BD24AFCC}"/>
              </a:ext>
            </a:extLst>
          </p:cNvPr>
          <p:cNvSpPr>
            <a:spLocks noGrp="1"/>
          </p:cNvSpPr>
          <p:nvPr>
            <p:ph type="subTitle" idx="1" hasCustomPrompt="1"/>
          </p:nvPr>
        </p:nvSpPr>
        <p:spPr>
          <a:xfrm>
            <a:off x="365125" y="694950"/>
            <a:ext cx="7554913"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0" name="Text Placeholder 9">
            <a:extLst>
              <a:ext uri="{FF2B5EF4-FFF2-40B4-BE49-F238E27FC236}">
                <a16:creationId xmlns:a16="http://schemas.microsoft.com/office/drawing/2014/main" id="{8E19B5E4-F2A8-7F44-855D-F41DDE3B3D9F}"/>
              </a:ext>
            </a:extLst>
          </p:cNvPr>
          <p:cNvSpPr>
            <a:spLocks noGrp="1"/>
          </p:cNvSpPr>
          <p:nvPr>
            <p:ph type="body" sz="quarter" idx="34" hasCustomPrompt="1"/>
          </p:nvPr>
        </p:nvSpPr>
        <p:spPr>
          <a:xfrm>
            <a:off x="8172450" y="694948"/>
            <a:ext cx="3649661" cy="352801"/>
          </a:xfrm>
        </p:spPr>
        <p:txBody>
          <a:bodyPr lIns="0" tIns="0" rIns="0" bIns="18000" anchor="b" anchorCtr="0">
            <a:noAutofit/>
          </a:bodyPr>
          <a:lstStyle>
            <a:lvl1pPr marL="0" indent="0" algn="r">
              <a:buNone/>
              <a:defRPr sz="1400" b="0">
                <a:solidFill>
                  <a:schemeClr val="tx1"/>
                </a:solidFill>
              </a:defRPr>
            </a:lvl1pPr>
          </a:lstStyle>
          <a:p>
            <a:pPr lvl="0"/>
            <a:r>
              <a:rPr lang="en-US"/>
              <a:t>Click to insert date of session </a:t>
            </a:r>
          </a:p>
        </p:txBody>
      </p:sp>
      <p:sp>
        <p:nvSpPr>
          <p:cNvPr id="23" name="Text Placeholder 6">
            <a:extLst>
              <a:ext uri="{FF2B5EF4-FFF2-40B4-BE49-F238E27FC236}">
                <a16:creationId xmlns:a16="http://schemas.microsoft.com/office/drawing/2014/main" id="{472F201F-277F-F24E-085D-8160B5FF4CE6}"/>
              </a:ext>
            </a:extLst>
          </p:cNvPr>
          <p:cNvSpPr>
            <a:spLocks noGrp="1"/>
          </p:cNvSpPr>
          <p:nvPr>
            <p:ph type="body" sz="quarter" idx="36" hasCustomPrompt="1"/>
          </p:nvPr>
        </p:nvSpPr>
        <p:spPr>
          <a:xfrm>
            <a:off x="365126" y="1777158"/>
            <a:ext cx="1695450" cy="926921"/>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a:t>Up to 5 clear, focused objectives </a:t>
            </a:r>
            <a:br>
              <a:rPr lang="en-US"/>
            </a:br>
            <a:r>
              <a:rPr lang="en-US"/>
              <a:t>(</a:t>
            </a:r>
            <a:r>
              <a:rPr lang="en-US" err="1"/>
              <a:t>i</a:t>
            </a:r>
            <a:r>
              <a:rPr lang="en-US"/>
              <a:t>) for decision, </a:t>
            </a:r>
            <a:br>
              <a:rPr lang="en-US"/>
            </a:br>
            <a:r>
              <a:rPr lang="en-US"/>
              <a:t>(ii) for input </a:t>
            </a:r>
            <a:br>
              <a:rPr lang="en-US"/>
            </a:br>
            <a:r>
              <a:rPr lang="en-US"/>
              <a:t>(iii) for awareness</a:t>
            </a:r>
          </a:p>
        </p:txBody>
      </p:sp>
      <p:sp>
        <p:nvSpPr>
          <p:cNvPr id="25" name="Rectangle 24">
            <a:extLst>
              <a:ext uri="{FF2B5EF4-FFF2-40B4-BE49-F238E27FC236}">
                <a16:creationId xmlns:a16="http://schemas.microsoft.com/office/drawing/2014/main" id="{1BD6FC89-B057-E6C5-C8EA-1FC8CB31B6CA}"/>
              </a:ext>
            </a:extLst>
          </p:cNvPr>
          <p:cNvSpPr/>
          <p:nvPr userDrawn="1"/>
        </p:nvSpPr>
        <p:spPr bwMode="auto">
          <a:xfrm>
            <a:off x="8172450" y="242888"/>
            <a:ext cx="3654425" cy="452059"/>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54000" numCol="1" spcCol="0" rtlCol="0" fromWordArt="0" anchor="b" anchorCtr="0" forceAA="0" compatLnSpc="1">
            <a:prstTxWarp prst="textNoShape">
              <a:avLst/>
            </a:prstTxWarp>
            <a:noAutofit/>
          </a:bodyPr>
          <a:lstStyle/>
          <a:p>
            <a:pPr algn="r" eaLnBrk="0" fontAlgn="auto" hangingPunct="0">
              <a:spcBef>
                <a:spcPts val="300"/>
              </a:spcBef>
              <a:spcAft>
                <a:spcPts val="300"/>
              </a:spcAft>
              <a:buClr>
                <a:schemeClr val="bg1"/>
              </a:buClr>
            </a:pPr>
            <a:r>
              <a:rPr lang="en-US" sz="1800" b="1" kern="0">
                <a:solidFill>
                  <a:schemeClr val="tx2"/>
                </a:solidFill>
              </a:rPr>
              <a:t>Session date:</a:t>
            </a:r>
          </a:p>
        </p:txBody>
      </p:sp>
      <p:sp>
        <p:nvSpPr>
          <p:cNvPr id="24" name="Text Placeholder 6">
            <a:extLst>
              <a:ext uri="{FF2B5EF4-FFF2-40B4-BE49-F238E27FC236}">
                <a16:creationId xmlns:a16="http://schemas.microsoft.com/office/drawing/2014/main" id="{B166E02B-F260-FEAF-DDEB-67922AA11E6E}"/>
              </a:ext>
            </a:extLst>
          </p:cNvPr>
          <p:cNvSpPr>
            <a:spLocks noGrp="1"/>
          </p:cNvSpPr>
          <p:nvPr userDrawn="1">
            <p:ph type="body" sz="quarter" idx="37" hasCustomPrompt="1"/>
          </p:nvPr>
        </p:nvSpPr>
        <p:spPr>
          <a:xfrm>
            <a:off x="365126" y="3337172"/>
            <a:ext cx="1695450" cy="838023"/>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a:t>Up to 5 key questions to be addressed at the meeting</a:t>
            </a:r>
          </a:p>
        </p:txBody>
      </p:sp>
      <p:sp>
        <p:nvSpPr>
          <p:cNvPr id="90" name="Freeform: Shape 89">
            <a:extLst>
              <a:ext uri="{FF2B5EF4-FFF2-40B4-BE49-F238E27FC236}">
                <a16:creationId xmlns:a16="http://schemas.microsoft.com/office/drawing/2014/main" id="{9EA22563-2363-AB1F-DC9F-7A5457933645}"/>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4" name="Text Placeholder 53">
            <a:extLst>
              <a:ext uri="{FF2B5EF4-FFF2-40B4-BE49-F238E27FC236}">
                <a16:creationId xmlns:a16="http://schemas.microsoft.com/office/drawing/2014/main" id="{82C5C591-14F5-449A-187A-1D9A683E961E}"/>
              </a:ext>
            </a:extLst>
          </p:cNvPr>
          <p:cNvSpPr>
            <a:spLocks noGrp="1"/>
          </p:cNvSpPr>
          <p:nvPr>
            <p:ph type="body" sz="quarter" idx="44" hasCustomPrompt="1"/>
          </p:nvPr>
        </p:nvSpPr>
        <p:spPr>
          <a:xfrm>
            <a:off x="2260405" y="1307574"/>
            <a:ext cx="9557738" cy="1396505"/>
          </a:xfrm>
          <a:prstGeom prst="rect">
            <a:avLst/>
          </a:prstGeom>
          <a:solidFill>
            <a:schemeClr val="bg1">
              <a:lumMod val="95000"/>
            </a:schemeClr>
          </a:solidFill>
          <a:ln>
            <a:noFill/>
          </a:ln>
        </p:spPr>
        <p:txBody>
          <a:bodyPr wrap="square" lIns="180000" tIns="144000" rIns="0" bIns="72000" anchor="t" anchorCtr="0">
            <a:norm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a:t>DECISION: To seek X’s [single point accountable decision maker] decision to implement A</a:t>
            </a:r>
            <a:br>
              <a:rPr lang="en-US"/>
            </a:br>
            <a:r>
              <a:rPr lang="en-US"/>
              <a:t>INPUT: To receive input to the proposed plan for B</a:t>
            </a:r>
            <a:br>
              <a:rPr lang="en-US"/>
            </a:br>
            <a:r>
              <a:rPr lang="en-US"/>
              <a:t>AWARENESS: To update XXX regarding C</a:t>
            </a:r>
          </a:p>
        </p:txBody>
      </p:sp>
      <p:sp>
        <p:nvSpPr>
          <p:cNvPr id="55" name="Text Placeholder 54">
            <a:extLst>
              <a:ext uri="{FF2B5EF4-FFF2-40B4-BE49-F238E27FC236}">
                <a16:creationId xmlns:a16="http://schemas.microsoft.com/office/drawing/2014/main" id="{54077D3A-2E14-68B6-5E16-413475F36C3A}"/>
              </a:ext>
            </a:extLst>
          </p:cNvPr>
          <p:cNvSpPr>
            <a:spLocks noGrp="1"/>
          </p:cNvSpPr>
          <p:nvPr>
            <p:ph type="body" sz="quarter" idx="45" hasCustomPrompt="1"/>
          </p:nvPr>
        </p:nvSpPr>
        <p:spPr>
          <a:xfrm>
            <a:off x="2260405" y="2778690"/>
            <a:ext cx="9557738" cy="1396505"/>
          </a:xfrm>
          <a:prstGeom prst="rect">
            <a:avLst/>
          </a:prstGeom>
          <a:solidFill>
            <a:schemeClr val="bg1">
              <a:lumMod val="95000"/>
            </a:schemeClr>
          </a:solidFill>
          <a:ln>
            <a:noFill/>
          </a:ln>
        </p:spPr>
        <p:txBody>
          <a:bodyPr wrap="square" lIns="180000" tIns="144000" rIns="0" bIns="72000" anchor="t" anchorCtr="0">
            <a:norm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a:t>Does XXX have further input on the proposals set out or require additional information?</a:t>
            </a:r>
            <a:br>
              <a:rPr lang="en-US"/>
            </a:br>
            <a:r>
              <a:rPr lang="en-US"/>
              <a:t>Is XXX supportive of the recommendation to x, y, z?</a:t>
            </a:r>
            <a:br>
              <a:rPr lang="en-US"/>
            </a:br>
            <a:r>
              <a:rPr lang="en-US"/>
              <a:t>Does XXX support the approach outlined to x, y, z?</a:t>
            </a:r>
          </a:p>
        </p:txBody>
      </p:sp>
      <p:sp>
        <p:nvSpPr>
          <p:cNvPr id="56" name="Text Placeholder 55">
            <a:extLst>
              <a:ext uri="{FF2B5EF4-FFF2-40B4-BE49-F238E27FC236}">
                <a16:creationId xmlns:a16="http://schemas.microsoft.com/office/drawing/2014/main" id="{5DE7D720-AF89-6DE4-D2E5-33C7B01B7E91}"/>
              </a:ext>
            </a:extLst>
          </p:cNvPr>
          <p:cNvSpPr>
            <a:spLocks noGrp="1"/>
          </p:cNvSpPr>
          <p:nvPr>
            <p:ph type="body" sz="quarter" idx="46" hasCustomPrompt="1"/>
          </p:nvPr>
        </p:nvSpPr>
        <p:spPr>
          <a:xfrm>
            <a:off x="2260405" y="4249806"/>
            <a:ext cx="9557738" cy="1396505"/>
          </a:xfrm>
          <a:prstGeom prst="rect">
            <a:avLst/>
          </a:prstGeom>
          <a:solidFill>
            <a:schemeClr val="bg1">
              <a:lumMod val="95000"/>
            </a:schemeClr>
          </a:solidFill>
          <a:ln>
            <a:noFill/>
          </a:ln>
        </p:spPr>
        <p:txBody>
          <a:bodyPr wrap="square" lIns="180000" tIns="144000" rIns="0" bIns="72000" anchor="t" anchorCtr="0">
            <a:norm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a:t>Key steps following XXX review / decision</a:t>
            </a:r>
          </a:p>
        </p:txBody>
      </p:sp>
      <p:sp>
        <p:nvSpPr>
          <p:cNvPr id="57" name="Text Placeholder 56">
            <a:extLst>
              <a:ext uri="{FF2B5EF4-FFF2-40B4-BE49-F238E27FC236}">
                <a16:creationId xmlns:a16="http://schemas.microsoft.com/office/drawing/2014/main" id="{8C53FB3B-975B-80D5-29B3-81DC27DCAC8F}"/>
              </a:ext>
            </a:extLst>
          </p:cNvPr>
          <p:cNvSpPr>
            <a:spLocks noGrp="1"/>
          </p:cNvSpPr>
          <p:nvPr>
            <p:ph type="body" sz="quarter" idx="48" hasCustomPrompt="1"/>
          </p:nvPr>
        </p:nvSpPr>
        <p:spPr>
          <a:xfrm>
            <a:off x="2260405" y="5720922"/>
            <a:ext cx="9557738" cy="363373"/>
          </a:xfrm>
          <a:prstGeom prst="rect">
            <a:avLst/>
          </a:prstGeom>
          <a:solidFill>
            <a:schemeClr val="bg1">
              <a:lumMod val="95000"/>
            </a:schemeClr>
          </a:solidFill>
          <a:ln>
            <a:noFill/>
          </a:ln>
        </p:spPr>
        <p:txBody>
          <a:bodyPr wrap="square" lIns="180000" tIns="36000" rIns="0" bIns="36000" anchor="ctr" anchorCtr="0">
            <a:normAutofit/>
          </a:bodyPr>
          <a:lstStyle>
            <a:lvl1pPr marL="0" indent="0">
              <a:spcBef>
                <a:spcPts val="0"/>
              </a:spcBef>
              <a:spcAft>
                <a:spcPts val="0"/>
              </a:spcAft>
              <a:buSzPct val="100000"/>
              <a:buFont typeface="+mj-lt"/>
              <a:buNone/>
              <a:defRPr sz="1200"/>
            </a:lvl1pPr>
            <a:lvl2pPr marL="357542" indent="0">
              <a:buNone/>
              <a:defRPr/>
            </a:lvl2pPr>
          </a:lstStyle>
          <a:p>
            <a:pPr lvl="0"/>
            <a:r>
              <a:rPr lang="en-US"/>
              <a:t>Single person accountable for this topic / paper</a:t>
            </a:r>
          </a:p>
        </p:txBody>
      </p:sp>
    </p:spTree>
    <p:custDataLst>
      <p:tags r:id="rId1"/>
    </p:custDataLst>
    <p:extLst>
      <p:ext uri="{BB962C8B-B14F-4D97-AF65-F5344CB8AC3E}">
        <p14:creationId xmlns:p14="http://schemas.microsoft.com/office/powerpoint/2010/main" val="2783429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E000430-8A32-4EA0-BAD1-A7727B812F8C}"/>
              </a:ext>
            </a:extLst>
          </p:cNvPr>
          <p:cNvSpPr>
            <a:spLocks noGrp="1"/>
          </p:cNvSpPr>
          <p:nvPr>
            <p:ph type="dt" sz="half" idx="10"/>
          </p:nvPr>
        </p:nvSpPr>
        <p:spPr/>
        <p:txBody>
          <a:bodyPr/>
          <a:lstStyle/>
          <a:p>
            <a:fld id="{01663CB8-83D0-493D-8B57-3D4BEFB97018}" type="datetime4">
              <a:rPr lang="en-GB" smtClean="0"/>
              <a:t>20 July 2026</a:t>
            </a:fld>
            <a:endParaRPr lang="en-GB"/>
          </a:p>
        </p:txBody>
      </p:sp>
      <p:sp>
        <p:nvSpPr>
          <p:cNvPr id="4" name="Footer Placeholder 3">
            <a:extLst>
              <a:ext uri="{FF2B5EF4-FFF2-40B4-BE49-F238E27FC236}">
                <a16:creationId xmlns:a16="http://schemas.microsoft.com/office/drawing/2014/main" id="{F706E0BB-62AD-47AF-909C-4F33FB5616E5}"/>
              </a:ext>
            </a:extLst>
          </p:cNvPr>
          <p:cNvSpPr>
            <a:spLocks noGrp="1"/>
          </p:cNvSpPr>
          <p:nvPr>
            <p:ph type="ftr" sz="quarter" idx="11"/>
          </p:nvPr>
        </p:nvSpPr>
        <p:spPr/>
        <p:txBody>
          <a:bodyPr/>
          <a:lstStyle/>
          <a:p>
            <a:r>
              <a:rPr lang="en-GB"/>
              <a:t>Confidential under GSK NDA</a:t>
            </a:r>
          </a:p>
        </p:txBody>
      </p:sp>
      <p:sp>
        <p:nvSpPr>
          <p:cNvPr id="6" name="Slide Number Placeholder 5">
            <a:extLst>
              <a:ext uri="{FF2B5EF4-FFF2-40B4-BE49-F238E27FC236}">
                <a16:creationId xmlns:a16="http://schemas.microsoft.com/office/drawing/2014/main" id="{253CEE5C-8451-457A-BD36-F438731DB091}"/>
              </a:ext>
            </a:extLst>
          </p:cNvPr>
          <p:cNvSpPr>
            <a:spLocks noGrp="1"/>
          </p:cNvSpPr>
          <p:nvPr>
            <p:ph type="sldNum" sz="quarter" idx="12"/>
          </p:nvPr>
        </p:nvSpPr>
        <p:spPr/>
        <p:txBody>
          <a:bodyPr/>
          <a:lstStyle/>
          <a:p>
            <a:fld id="{9F9F533D-B52E-4A2F-BF72-0ADD2D94BD75}" type="slidenum">
              <a:rPr lang="en-GB" smtClean="0"/>
              <a:pPr/>
              <a:t>‹#›</a:t>
            </a:fld>
            <a:endParaRPr lang="en-GB"/>
          </a:p>
        </p:txBody>
      </p:sp>
      <p:sp>
        <p:nvSpPr>
          <p:cNvPr id="19" name="Text Placeholder 18">
            <a:extLst>
              <a:ext uri="{FF2B5EF4-FFF2-40B4-BE49-F238E27FC236}">
                <a16:creationId xmlns:a16="http://schemas.microsoft.com/office/drawing/2014/main" id="{61071252-BD8E-4D3D-BF35-8427544DDF49}"/>
              </a:ext>
            </a:extLst>
          </p:cNvPr>
          <p:cNvSpPr>
            <a:spLocks noGrp="1"/>
          </p:cNvSpPr>
          <p:nvPr>
            <p:ph type="body" sz="quarter" idx="13" hasCustomPrompt="1"/>
          </p:nvPr>
        </p:nvSpPr>
        <p:spPr>
          <a:xfrm>
            <a:off x="5113176" y="242888"/>
            <a:ext cx="6712112" cy="5848350"/>
          </a:xfrm>
        </p:spPr>
        <p:txBody>
          <a:bodyPr lIns="0" tIns="180000" rIns="0" bIns="180000" anchor="t">
            <a:noAutofit/>
          </a:bodyPr>
          <a:lstStyle>
            <a:lvl1pPr marL="720000" indent="-720000">
              <a:spcBef>
                <a:spcPts val="1200"/>
              </a:spcBef>
              <a:spcAft>
                <a:spcPts val="1200"/>
              </a:spcAft>
              <a:buClr>
                <a:schemeClr val="tx2"/>
              </a:buClr>
              <a:buSzPct val="100000"/>
              <a:buFont typeface="+mj-lt"/>
              <a:buAutoNum type="arabicPeriod"/>
              <a:defRPr sz="2800"/>
            </a:lvl1pPr>
            <a:lvl2pPr marL="814742" indent="-457200">
              <a:buClr>
                <a:schemeClr val="tx2"/>
              </a:buClr>
              <a:buFont typeface="+mj-lt"/>
              <a:buAutoNum type="arabicPeriod"/>
              <a:defRPr/>
            </a:lvl2pPr>
            <a:lvl3pPr marL="1177182" indent="-457200">
              <a:buClr>
                <a:schemeClr val="tx2"/>
              </a:buClr>
              <a:buFont typeface="+mj-lt"/>
              <a:buAutoNum type="arabicPeriod"/>
              <a:defRPr/>
            </a:lvl3pPr>
            <a:lvl4pPr>
              <a:buClr>
                <a:schemeClr val="tx2"/>
              </a:buClr>
              <a:buFont typeface="+mj-lt"/>
              <a:buAutoNum type="arabicPeriod"/>
              <a:defRPr/>
            </a:lvl4pPr>
            <a:lvl5pPr>
              <a:buClr>
                <a:schemeClr val="tx2"/>
              </a:buClr>
              <a:buFont typeface="+mj-lt"/>
              <a:buAutoNum type="arabicPeriod"/>
              <a:defRPr/>
            </a:lvl5pPr>
          </a:lstStyle>
          <a:p>
            <a:pPr lvl="0"/>
            <a:r>
              <a:rPr lang="en-GB"/>
              <a:t>Agenda point 1, add text here.</a:t>
            </a:r>
            <a:br>
              <a:rPr lang="en-GB"/>
            </a:br>
            <a:r>
              <a:rPr lang="en-GB"/>
              <a:t>Agenda point 2, add text here.</a:t>
            </a:r>
            <a:br>
              <a:rPr lang="en-GB"/>
            </a:br>
            <a:r>
              <a:rPr lang="en-GB"/>
              <a:t>Agenda point 3, add text here.</a:t>
            </a:r>
            <a:br>
              <a:rPr lang="en-GB"/>
            </a:br>
            <a:r>
              <a:rPr lang="en-GB"/>
              <a:t>Agenda point 4, add text here.</a:t>
            </a:r>
            <a:br>
              <a:rPr lang="en-GB"/>
            </a:br>
            <a:r>
              <a:rPr lang="en-GB"/>
              <a:t>Agenda point 5, add text here.</a:t>
            </a:r>
          </a:p>
        </p:txBody>
      </p:sp>
      <p:sp>
        <p:nvSpPr>
          <p:cNvPr id="8" name="Title 1">
            <a:extLst>
              <a:ext uri="{FF2B5EF4-FFF2-40B4-BE49-F238E27FC236}">
                <a16:creationId xmlns:a16="http://schemas.microsoft.com/office/drawing/2014/main" id="{0630E13A-9E76-B161-1416-CBE84BD22827}"/>
              </a:ext>
            </a:extLst>
          </p:cNvPr>
          <p:cNvSpPr>
            <a:spLocks noGrp="1"/>
          </p:cNvSpPr>
          <p:nvPr>
            <p:ph type="title"/>
          </p:nvPr>
        </p:nvSpPr>
        <p:spPr>
          <a:xfrm>
            <a:off x="365126" y="242888"/>
            <a:ext cx="4748050" cy="430887"/>
          </a:xfrm>
        </p:spPr>
        <p:txBody>
          <a:bodyPr/>
          <a:lstStyle/>
          <a:p>
            <a:r>
              <a:rPr lang="en-US"/>
              <a:t>Click to edit Master title style</a:t>
            </a:r>
          </a:p>
        </p:txBody>
      </p:sp>
      <p:sp>
        <p:nvSpPr>
          <p:cNvPr id="9" name="Subtitle 2">
            <a:extLst>
              <a:ext uri="{FF2B5EF4-FFF2-40B4-BE49-F238E27FC236}">
                <a16:creationId xmlns:a16="http://schemas.microsoft.com/office/drawing/2014/main" id="{2202868D-ACDF-6434-3575-872690D6A783}"/>
              </a:ext>
            </a:extLst>
          </p:cNvPr>
          <p:cNvSpPr>
            <a:spLocks noGrp="1"/>
          </p:cNvSpPr>
          <p:nvPr>
            <p:ph type="subTitle" idx="1" hasCustomPrompt="1"/>
          </p:nvPr>
        </p:nvSpPr>
        <p:spPr>
          <a:xfrm>
            <a:off x="365125" y="694950"/>
            <a:ext cx="4748050"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1" name="Freeform: Shape 10">
            <a:extLst>
              <a:ext uri="{FF2B5EF4-FFF2-40B4-BE49-F238E27FC236}">
                <a16:creationId xmlns:a16="http://schemas.microsoft.com/office/drawing/2014/main" id="{B674B05C-AADA-DE64-7CCE-6E374DE8A94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647551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Content ">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0DD48070-D695-60C2-898C-9832D9369B0C}"/>
              </a:ext>
            </a:extLst>
          </p:cNvPr>
          <p:cNvSpPr>
            <a:spLocks noGrp="1"/>
          </p:cNvSpPr>
          <p:nvPr>
            <p:ph type="body" sz="quarter" idx="22" hasCustomPrompt="1"/>
          </p:nvPr>
        </p:nvSpPr>
        <p:spPr>
          <a:xfrm>
            <a:off x="365125" y="1311162"/>
            <a:ext cx="11460164" cy="4484800"/>
          </a:xfrm>
          <a:custGeom>
            <a:avLst/>
            <a:gdLst>
              <a:gd name="connsiteX0" fmla="*/ 185682 w 11460164"/>
              <a:gd name="connsiteY0" fmla="*/ 0 h 4484800"/>
              <a:gd name="connsiteX1" fmla="*/ 11274482 w 11460164"/>
              <a:gd name="connsiteY1" fmla="*/ 0 h 4484800"/>
              <a:gd name="connsiteX2" fmla="*/ 11460164 w 11460164"/>
              <a:gd name="connsiteY2" fmla="*/ 185682 h 4484800"/>
              <a:gd name="connsiteX3" fmla="*/ 11460164 w 11460164"/>
              <a:gd name="connsiteY3" fmla="*/ 456183 h 4484800"/>
              <a:gd name="connsiteX4" fmla="*/ 11460164 w 11460164"/>
              <a:gd name="connsiteY4" fmla="*/ 715601 h 4484800"/>
              <a:gd name="connsiteX5" fmla="*/ 11460164 w 11460164"/>
              <a:gd name="connsiteY5" fmla="*/ 4299118 h 4484800"/>
              <a:gd name="connsiteX6" fmla="*/ 11274482 w 11460164"/>
              <a:gd name="connsiteY6" fmla="*/ 4484800 h 4484800"/>
              <a:gd name="connsiteX7" fmla="*/ 185682 w 11460164"/>
              <a:gd name="connsiteY7" fmla="*/ 4484800 h 4484800"/>
              <a:gd name="connsiteX8" fmla="*/ 0 w 11460164"/>
              <a:gd name="connsiteY8" fmla="*/ 4299118 h 4484800"/>
              <a:gd name="connsiteX9" fmla="*/ 0 w 11460164"/>
              <a:gd name="connsiteY9" fmla="*/ 715601 h 4484800"/>
              <a:gd name="connsiteX10" fmla="*/ 0 w 11460164"/>
              <a:gd name="connsiteY10" fmla="*/ 456183 h 4484800"/>
              <a:gd name="connsiteX11" fmla="*/ 0 w 11460164"/>
              <a:gd name="connsiteY11" fmla="*/ 185682 h 4484800"/>
              <a:gd name="connsiteX12" fmla="*/ 185682 w 11460164"/>
              <a:gd name="connsiteY12" fmla="*/ 0 h 448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60164" h="4484800">
                <a:moveTo>
                  <a:pt x="185682" y="0"/>
                </a:moveTo>
                <a:lnTo>
                  <a:pt x="11274482" y="0"/>
                </a:lnTo>
                <a:cubicBezTo>
                  <a:pt x="11377031" y="0"/>
                  <a:pt x="11460164" y="83133"/>
                  <a:pt x="11460164" y="185682"/>
                </a:cubicBezTo>
                <a:lnTo>
                  <a:pt x="11460164" y="456183"/>
                </a:lnTo>
                <a:lnTo>
                  <a:pt x="11460164" y="715601"/>
                </a:lnTo>
                <a:lnTo>
                  <a:pt x="11460164" y="4299118"/>
                </a:lnTo>
                <a:cubicBezTo>
                  <a:pt x="11460164" y="4401667"/>
                  <a:pt x="11377031" y="4484800"/>
                  <a:pt x="11274482" y="4484800"/>
                </a:cubicBezTo>
                <a:lnTo>
                  <a:pt x="185682" y="4484800"/>
                </a:lnTo>
                <a:cubicBezTo>
                  <a:pt x="83133" y="4484800"/>
                  <a:pt x="0" y="4401667"/>
                  <a:pt x="0" y="4299118"/>
                </a:cubicBezTo>
                <a:lnTo>
                  <a:pt x="0" y="715601"/>
                </a:lnTo>
                <a:lnTo>
                  <a:pt x="0" y="456183"/>
                </a:lnTo>
                <a:lnTo>
                  <a:pt x="0" y="185682"/>
                </a:lnTo>
                <a:cubicBezTo>
                  <a:pt x="0" y="83133"/>
                  <a:pt x="83133" y="0"/>
                  <a:pt x="185682" y="0"/>
                </a:cubicBezTo>
                <a:close/>
              </a:path>
            </a:pathLst>
          </a:custGeom>
          <a:solidFill>
            <a:schemeClr val="bg1">
              <a:lumMod val="95000"/>
            </a:schemeClr>
          </a:solidFill>
          <a:ln>
            <a:noFill/>
          </a:ln>
        </p:spPr>
        <p:txBody>
          <a:bodyPr wrap="square" tIns="180000">
            <a:noAutofit/>
          </a:bodyPr>
          <a:lstStyle>
            <a:lvl1pPr>
              <a:defRPr/>
            </a:lvl1pPr>
          </a:lstStyle>
          <a:p>
            <a:pPr lvl="0"/>
            <a:r>
              <a:rPr lang="en-US"/>
              <a:t>Click to enter TEXT content ONLY.</a:t>
            </a:r>
            <a:br>
              <a:rPr lang="en-US"/>
            </a:br>
            <a:r>
              <a:rPr lang="en-US"/>
              <a:t>If text content appears outside of grey holder please reduce the size of the font.</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Date Placeholder 2">
            <a:extLst>
              <a:ext uri="{FF2B5EF4-FFF2-40B4-BE49-F238E27FC236}">
                <a16:creationId xmlns:a16="http://schemas.microsoft.com/office/drawing/2014/main" id="{341B731B-8FAA-4A1B-8740-D7002967C1CA}"/>
              </a:ext>
            </a:extLst>
          </p:cNvPr>
          <p:cNvSpPr>
            <a:spLocks noGrp="1"/>
          </p:cNvSpPr>
          <p:nvPr>
            <p:ph type="dt" sz="half" idx="19"/>
          </p:nvPr>
        </p:nvSpPr>
        <p:spPr/>
        <p:txBody>
          <a:bodyPr/>
          <a:lstStyle/>
          <a:p>
            <a:fld id="{BE46EB14-92E1-4CA6-B1E4-A2BC818F9137}" type="datetime4">
              <a:rPr lang="en-GB" smtClean="0"/>
              <a:t>20 July 2026</a:t>
            </a:fld>
            <a:endParaRPr lang="en-GB"/>
          </a:p>
        </p:txBody>
      </p:sp>
      <p:sp>
        <p:nvSpPr>
          <p:cNvPr id="5" name="Footer Placeholder 4">
            <a:extLst>
              <a:ext uri="{FF2B5EF4-FFF2-40B4-BE49-F238E27FC236}">
                <a16:creationId xmlns:a16="http://schemas.microsoft.com/office/drawing/2014/main" id="{D1C84BE9-25CA-45B1-9061-9DCABA70A1E6}"/>
              </a:ext>
            </a:extLst>
          </p:cNvPr>
          <p:cNvSpPr>
            <a:spLocks noGrp="1"/>
          </p:cNvSpPr>
          <p:nvPr>
            <p:ph type="ftr" sz="quarter" idx="20"/>
          </p:nvPr>
        </p:nvSpPr>
        <p:spPr/>
        <p:txBody>
          <a:bodyPr/>
          <a:lstStyle/>
          <a:p>
            <a:r>
              <a:rPr lang="en-GB"/>
              <a:t>Confidential under GSK NDA</a:t>
            </a:r>
          </a:p>
        </p:txBody>
      </p:sp>
      <p:sp>
        <p:nvSpPr>
          <p:cNvPr id="11" name="Slide Number Placeholder 10">
            <a:extLst>
              <a:ext uri="{FF2B5EF4-FFF2-40B4-BE49-F238E27FC236}">
                <a16:creationId xmlns:a16="http://schemas.microsoft.com/office/drawing/2014/main" id="{BF0296A1-E119-4AEC-80A5-65FD719F9631}"/>
              </a:ext>
            </a:extLst>
          </p:cNvPr>
          <p:cNvSpPr>
            <a:spLocks noGrp="1"/>
          </p:cNvSpPr>
          <p:nvPr>
            <p:ph type="sldNum" sz="quarter" idx="21"/>
          </p:nvPr>
        </p:nvSpPr>
        <p:spPr/>
        <p:txBody>
          <a:bodyPr/>
          <a:lstStyle/>
          <a:p>
            <a:fld id="{9F9F533D-B52E-4A2F-BF72-0ADD2D94BD75}" type="slidenum">
              <a:rPr lang="en-GB" smtClean="0"/>
              <a:pPr/>
              <a:t>‹#›</a:t>
            </a:fld>
            <a:endParaRPr lang="en-GB"/>
          </a:p>
        </p:txBody>
      </p:sp>
      <p:sp>
        <p:nvSpPr>
          <p:cNvPr id="12" name="Title 1">
            <a:extLst>
              <a:ext uri="{FF2B5EF4-FFF2-40B4-BE49-F238E27FC236}">
                <a16:creationId xmlns:a16="http://schemas.microsoft.com/office/drawing/2014/main" id="{88C0D48C-007D-FEEC-D1DF-C00891876F0F}"/>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1F6E4BF1-5B10-6CC3-60CB-FA773CAB8AF3}"/>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099DCD39-6F77-D442-9C41-7FE9A4CBB7F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493549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Large Bullet">
    <p:spTree>
      <p:nvGrpSpPr>
        <p:cNvPr id="1" name=""/>
        <p:cNvGrpSpPr/>
        <p:nvPr/>
      </p:nvGrpSpPr>
      <p:grpSpPr>
        <a:xfrm>
          <a:off x="0" y="0"/>
          <a:ext cx="0" cy="0"/>
          <a:chOff x="0" y="0"/>
          <a:chExt cx="0" cy="0"/>
        </a:xfrm>
      </p:grpSpPr>
      <p:sp>
        <p:nvSpPr>
          <p:cNvPr id="15" name="Text Placeholder 5"/>
          <p:cNvSpPr>
            <a:spLocks noGrp="1"/>
          </p:cNvSpPr>
          <p:nvPr>
            <p:ph type="body" sz="quarter" idx="18" hasCustomPrompt="1"/>
          </p:nvPr>
        </p:nvSpPr>
        <p:spPr>
          <a:xfrm>
            <a:off x="365125" y="5792438"/>
            <a:ext cx="11460163"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2" name="Date Placeholder 1">
            <a:extLst>
              <a:ext uri="{FF2B5EF4-FFF2-40B4-BE49-F238E27FC236}">
                <a16:creationId xmlns:a16="http://schemas.microsoft.com/office/drawing/2014/main" id="{2E151742-951B-4B8B-93F8-F6814A0074E2}"/>
              </a:ext>
            </a:extLst>
          </p:cNvPr>
          <p:cNvSpPr>
            <a:spLocks noGrp="1"/>
          </p:cNvSpPr>
          <p:nvPr>
            <p:ph type="dt" sz="half" idx="19"/>
          </p:nvPr>
        </p:nvSpPr>
        <p:spPr/>
        <p:txBody>
          <a:bodyPr/>
          <a:lstStyle/>
          <a:p>
            <a:fld id="{E6B6C0A1-7501-4376-961B-2E7914AE7C85}" type="datetime4">
              <a:rPr lang="en-GB" smtClean="0"/>
              <a:t>20 July 2026</a:t>
            </a:fld>
            <a:endParaRPr lang="en-GB"/>
          </a:p>
        </p:txBody>
      </p:sp>
      <p:sp>
        <p:nvSpPr>
          <p:cNvPr id="3" name="Footer Placeholder 2">
            <a:extLst>
              <a:ext uri="{FF2B5EF4-FFF2-40B4-BE49-F238E27FC236}">
                <a16:creationId xmlns:a16="http://schemas.microsoft.com/office/drawing/2014/main" id="{5E4920F6-7DEA-40DB-B124-F0789E56046F}"/>
              </a:ext>
            </a:extLst>
          </p:cNvPr>
          <p:cNvSpPr>
            <a:spLocks noGrp="1"/>
          </p:cNvSpPr>
          <p:nvPr>
            <p:ph type="ftr" sz="quarter" idx="20"/>
          </p:nvPr>
        </p:nvSpPr>
        <p:spPr/>
        <p:txBody>
          <a:bodyPr/>
          <a:lstStyle/>
          <a:p>
            <a:r>
              <a:rPr lang="en-GB"/>
              <a:t>Confidential under GSK NDA</a:t>
            </a:r>
          </a:p>
        </p:txBody>
      </p:sp>
      <p:sp>
        <p:nvSpPr>
          <p:cNvPr id="4" name="Slide Number Placeholder 3">
            <a:extLst>
              <a:ext uri="{FF2B5EF4-FFF2-40B4-BE49-F238E27FC236}">
                <a16:creationId xmlns:a16="http://schemas.microsoft.com/office/drawing/2014/main" id="{D4DDB722-CBB2-49EC-937E-10206DEB6BD1}"/>
              </a:ext>
            </a:extLst>
          </p:cNvPr>
          <p:cNvSpPr>
            <a:spLocks noGrp="1"/>
          </p:cNvSpPr>
          <p:nvPr>
            <p:ph type="sldNum" sz="quarter" idx="21"/>
          </p:nvPr>
        </p:nvSpPr>
        <p:spPr/>
        <p:txBody>
          <a:bodyPr/>
          <a:lstStyle/>
          <a:p>
            <a:fld id="{9F9F533D-B52E-4A2F-BF72-0ADD2D94BD75}" type="slidenum">
              <a:rPr lang="en-GB" smtClean="0"/>
              <a:pPr/>
              <a:t>‹#›</a:t>
            </a:fld>
            <a:endParaRPr lang="en-GB"/>
          </a:p>
        </p:txBody>
      </p:sp>
      <p:sp>
        <p:nvSpPr>
          <p:cNvPr id="7" name="Text Placeholder 6">
            <a:extLst>
              <a:ext uri="{FF2B5EF4-FFF2-40B4-BE49-F238E27FC236}">
                <a16:creationId xmlns:a16="http://schemas.microsoft.com/office/drawing/2014/main" id="{D4E53DDB-FDB6-66D3-FC50-5426FF978D71}"/>
              </a:ext>
            </a:extLst>
          </p:cNvPr>
          <p:cNvSpPr>
            <a:spLocks noGrp="1"/>
          </p:cNvSpPr>
          <p:nvPr>
            <p:ph type="body" sz="quarter" idx="22" hasCustomPrompt="1"/>
          </p:nvPr>
        </p:nvSpPr>
        <p:spPr>
          <a:xfrm>
            <a:off x="365125" y="1303338"/>
            <a:ext cx="11460163" cy="4489450"/>
          </a:xfrm>
        </p:spPr>
        <p:txBody>
          <a:bodyPr lIns="0" tIns="180000" rIns="0" bIns="180000">
            <a:noAutofit/>
          </a:bodyPr>
          <a:lstStyle>
            <a:lvl1pPr>
              <a:defRPr/>
            </a:lvl1pPr>
          </a:lstStyle>
          <a:p>
            <a:pPr lvl="0"/>
            <a:r>
              <a:rPr lang="en-US"/>
              <a:t>Click to enter TEXT content ONLY. </a:t>
            </a:r>
            <a:br>
              <a:rPr lang="en-US"/>
            </a:br>
            <a:r>
              <a:rPr lang="en-US"/>
              <a:t>If text content appears too large please reduce the size of this font. </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itle 1">
            <a:extLst>
              <a:ext uri="{FF2B5EF4-FFF2-40B4-BE49-F238E27FC236}">
                <a16:creationId xmlns:a16="http://schemas.microsoft.com/office/drawing/2014/main" id="{3A7A86B9-637F-F18A-3604-5A44F7C4442F}"/>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0" name="Subtitle 2">
            <a:extLst>
              <a:ext uri="{FF2B5EF4-FFF2-40B4-BE49-F238E27FC236}">
                <a16:creationId xmlns:a16="http://schemas.microsoft.com/office/drawing/2014/main" id="{5A89E078-B97D-529E-FF83-DF5AD69D51F2}"/>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3" name="Freeform: Shape 12">
            <a:extLst>
              <a:ext uri="{FF2B5EF4-FFF2-40B4-BE49-F238E27FC236}">
                <a16:creationId xmlns:a16="http://schemas.microsoft.com/office/drawing/2014/main" id="{22D601A5-6CEE-D258-CCEB-85D1BB27BD8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2964665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Content with Subheading">
    <p:spTree>
      <p:nvGrpSpPr>
        <p:cNvPr id="1" name=""/>
        <p:cNvGrpSpPr/>
        <p:nvPr/>
      </p:nvGrpSpPr>
      <p:grpSpPr>
        <a:xfrm>
          <a:off x="0" y="0"/>
          <a:ext cx="0" cy="0"/>
          <a:chOff x="0" y="0"/>
          <a:chExt cx="0" cy="0"/>
        </a:xfrm>
      </p:grpSpPr>
      <p:sp>
        <p:nvSpPr>
          <p:cNvPr id="11" name="Text Placeholder 2"/>
          <p:cNvSpPr>
            <a:spLocks noGrp="1"/>
          </p:cNvSpPr>
          <p:nvPr>
            <p:ph type="body" sz="quarter" idx="13" hasCustomPrompt="1"/>
          </p:nvPr>
        </p:nvSpPr>
        <p:spPr>
          <a:xfrm>
            <a:off x="365456" y="1303338"/>
            <a:ext cx="11460701" cy="399600"/>
          </a:xfrm>
          <a:prstGeom prst="rect">
            <a:avLst/>
          </a:prstGeom>
        </p:spPr>
        <p:txBody>
          <a:bodyPr lIns="0" tIns="72000" rIns="0" bIns="72000" anchor="t" anchorCtr="0">
            <a:noAutofit/>
          </a:bodyPr>
          <a:lstStyle>
            <a:lvl1pPr marL="0" indent="0">
              <a:spcBef>
                <a:spcPts val="0"/>
              </a:spcBef>
              <a:spcAft>
                <a:spcPts val="0"/>
              </a:spcAft>
              <a:buNone/>
              <a:defRPr sz="2400" b="1">
                <a:solidFill>
                  <a:schemeClr val="tx2"/>
                </a:solidFill>
              </a:defRPr>
            </a:lvl1pPr>
            <a:lvl2pPr marL="361942" indent="0">
              <a:buNone/>
              <a:defRPr/>
            </a:lvl2pPr>
            <a:lvl3pPr marL="711182" indent="0">
              <a:buNone/>
              <a:defRPr/>
            </a:lvl3pPr>
            <a:lvl4pPr marL="1087939" indent="0">
              <a:buNone/>
              <a:defRPr/>
            </a:lvl4pPr>
            <a:lvl5pPr marL="1473163" indent="0">
              <a:buNone/>
              <a:defRPr/>
            </a:lvl5pPr>
          </a:lstStyle>
          <a:p>
            <a:pPr lvl="0"/>
            <a:r>
              <a:rPr lang="en-GB"/>
              <a:t>Click to enter subheading text </a:t>
            </a:r>
          </a:p>
        </p:txBody>
      </p:sp>
      <p:sp>
        <p:nvSpPr>
          <p:cNvPr id="1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Date Placeholder 2">
            <a:extLst>
              <a:ext uri="{FF2B5EF4-FFF2-40B4-BE49-F238E27FC236}">
                <a16:creationId xmlns:a16="http://schemas.microsoft.com/office/drawing/2014/main" id="{3C475D1F-3C7D-443F-9C73-9160E439AE1B}"/>
              </a:ext>
            </a:extLst>
          </p:cNvPr>
          <p:cNvSpPr>
            <a:spLocks noGrp="1"/>
          </p:cNvSpPr>
          <p:nvPr>
            <p:ph type="dt" sz="half" idx="20"/>
          </p:nvPr>
        </p:nvSpPr>
        <p:spPr/>
        <p:txBody>
          <a:bodyPr/>
          <a:lstStyle/>
          <a:p>
            <a:fld id="{8F97C898-ADA2-43A0-A0FF-11F5D21A3249}" type="datetime4">
              <a:rPr lang="en-GB" smtClean="0"/>
              <a:t>20 July 2026</a:t>
            </a:fld>
            <a:endParaRPr lang="en-GB"/>
          </a:p>
        </p:txBody>
      </p:sp>
      <p:sp>
        <p:nvSpPr>
          <p:cNvPr id="4" name="Footer Placeholder 3">
            <a:extLst>
              <a:ext uri="{FF2B5EF4-FFF2-40B4-BE49-F238E27FC236}">
                <a16:creationId xmlns:a16="http://schemas.microsoft.com/office/drawing/2014/main" id="{8E10FAE2-40C5-48E8-A896-0682681B6AC4}"/>
              </a:ext>
            </a:extLst>
          </p:cNvPr>
          <p:cNvSpPr>
            <a:spLocks noGrp="1"/>
          </p:cNvSpPr>
          <p:nvPr>
            <p:ph type="ftr" sz="quarter" idx="21"/>
          </p:nvPr>
        </p:nvSpPr>
        <p:spPr/>
        <p:txBody>
          <a:bodyPr/>
          <a:lstStyle/>
          <a:p>
            <a:r>
              <a:rPr lang="en-GB"/>
              <a:t>Confidential under GSK NDA</a:t>
            </a:r>
          </a:p>
        </p:txBody>
      </p:sp>
      <p:sp>
        <p:nvSpPr>
          <p:cNvPr id="8" name="Slide Number Placeholder 7">
            <a:extLst>
              <a:ext uri="{FF2B5EF4-FFF2-40B4-BE49-F238E27FC236}">
                <a16:creationId xmlns:a16="http://schemas.microsoft.com/office/drawing/2014/main" id="{2AF230C5-C173-4CDF-8F46-DDF8D7240B63}"/>
              </a:ext>
            </a:extLst>
          </p:cNvPr>
          <p:cNvSpPr>
            <a:spLocks noGrp="1"/>
          </p:cNvSpPr>
          <p:nvPr>
            <p:ph type="sldNum" sz="quarter" idx="22"/>
          </p:nvPr>
        </p:nvSpPr>
        <p:spPr/>
        <p:txBody>
          <a:bodyPr/>
          <a:lstStyle/>
          <a:p>
            <a:fld id="{9F9F533D-B52E-4A2F-BF72-0ADD2D94BD75}" type="slidenum">
              <a:rPr lang="en-GB" smtClean="0"/>
              <a:pPr/>
              <a:t>‹#›</a:t>
            </a:fld>
            <a:endParaRPr lang="en-GB"/>
          </a:p>
        </p:txBody>
      </p:sp>
      <p:sp>
        <p:nvSpPr>
          <p:cNvPr id="5" name="Text Placeholder 4">
            <a:extLst>
              <a:ext uri="{FF2B5EF4-FFF2-40B4-BE49-F238E27FC236}">
                <a16:creationId xmlns:a16="http://schemas.microsoft.com/office/drawing/2014/main" id="{81E07AE8-19F2-04D9-93C9-C4F2357C2ADF}"/>
              </a:ext>
            </a:extLst>
          </p:cNvPr>
          <p:cNvSpPr>
            <a:spLocks noGrp="1"/>
          </p:cNvSpPr>
          <p:nvPr>
            <p:ph type="body" sz="quarter" idx="23" hasCustomPrompt="1"/>
          </p:nvPr>
        </p:nvSpPr>
        <p:spPr>
          <a:xfrm>
            <a:off x="365125" y="1702938"/>
            <a:ext cx="11460163" cy="4089850"/>
          </a:xfrm>
        </p:spPr>
        <p:txBody>
          <a:bodyPr lIns="0" tIns="180000" rIns="0" bIns="180000">
            <a:noAutofit/>
          </a:bodyPr>
          <a:lstStyle>
            <a:lvl1pPr>
              <a:defRPr/>
            </a:lvl1pPr>
          </a:lstStyle>
          <a:p>
            <a:pPr lvl="0"/>
            <a:r>
              <a:rPr lang="en-US"/>
              <a:t>Click to edit TEXT content ONLY.</a:t>
            </a:r>
            <a:br>
              <a:rPr lang="en-US"/>
            </a:br>
            <a:r>
              <a:rPr lang="en-US"/>
              <a:t>If text content appears too large please reduce the size of the font. </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itle 1">
            <a:extLst>
              <a:ext uri="{FF2B5EF4-FFF2-40B4-BE49-F238E27FC236}">
                <a16:creationId xmlns:a16="http://schemas.microsoft.com/office/drawing/2014/main" id="{E4BDB392-CCE1-B2F2-5843-4AF9AE7D4921}"/>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29D93444-D1FE-4C3C-7B81-D2693144C1F0}"/>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C45A9796-316D-7A43-F981-F6A071B72BB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3862168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44152BBA-B0F3-390F-177B-A659A0DA6DDB}"/>
              </a:ext>
            </a:extLst>
          </p:cNvPr>
          <p:cNvSpPr>
            <a:spLocks noGrp="1"/>
          </p:cNvSpPr>
          <p:nvPr>
            <p:ph type="body" sz="quarter" idx="25" hasCustomPrompt="1"/>
          </p:nvPr>
        </p:nvSpPr>
        <p:spPr>
          <a:xfrm>
            <a:off x="8172451" y="1303338"/>
            <a:ext cx="3652838" cy="4477804"/>
          </a:xfrm>
          <a:prstGeom prst="roundRect">
            <a:avLst>
              <a:gd name="adj" fmla="val 4585"/>
            </a:avLst>
          </a:prstGeom>
          <a:solidFill>
            <a:schemeClr val="bg1">
              <a:lumMod val="95000"/>
            </a:schemeClr>
          </a:solidFill>
          <a:ln>
            <a:noFill/>
          </a:ln>
        </p:spPr>
        <p:txBody>
          <a:bodyPr wrap="square">
            <a:noAutofit/>
          </a:bodyPr>
          <a:lstStyle>
            <a:lvl1pPr>
              <a:defRPr/>
            </a:lvl1pPr>
          </a:lstStyle>
          <a:p>
            <a:pPr lvl="0"/>
            <a:r>
              <a:rPr lang="en-US"/>
              <a:t>Click to edit TEXT content ONLY. </a:t>
            </a:r>
            <a:br>
              <a:rPr lang="en-US"/>
            </a:br>
            <a:r>
              <a:rPr lang="en-US"/>
              <a:t>If text content appears outside of the grey placeholder please reduce the size of the font. </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5"/>
          <p:cNvSpPr>
            <a:spLocks noGrp="1"/>
          </p:cNvSpPr>
          <p:nvPr>
            <p:ph type="body" sz="quarter" idx="20" hasCustomPrompt="1"/>
          </p:nvPr>
        </p:nvSpPr>
        <p:spPr>
          <a:xfrm>
            <a:off x="8172451" y="5791943"/>
            <a:ext cx="3652837"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6" name="Date Placeholder 5">
            <a:extLst>
              <a:ext uri="{FF2B5EF4-FFF2-40B4-BE49-F238E27FC236}">
                <a16:creationId xmlns:a16="http://schemas.microsoft.com/office/drawing/2014/main" id="{101A55F3-CAC9-450A-8B8C-0D0326082407}"/>
              </a:ext>
            </a:extLst>
          </p:cNvPr>
          <p:cNvSpPr>
            <a:spLocks noGrp="1"/>
          </p:cNvSpPr>
          <p:nvPr>
            <p:ph type="dt" sz="half" idx="21"/>
          </p:nvPr>
        </p:nvSpPr>
        <p:spPr/>
        <p:txBody>
          <a:bodyPr/>
          <a:lstStyle/>
          <a:p>
            <a:fld id="{E36F794A-2614-432B-9E36-2A4B69D6AABC}" type="datetime4">
              <a:rPr lang="en-GB" smtClean="0"/>
              <a:t>20 July 2026</a:t>
            </a:fld>
            <a:endParaRPr lang="en-GB"/>
          </a:p>
        </p:txBody>
      </p:sp>
      <p:sp>
        <p:nvSpPr>
          <p:cNvPr id="7" name="Footer Placeholder 6">
            <a:extLst>
              <a:ext uri="{FF2B5EF4-FFF2-40B4-BE49-F238E27FC236}">
                <a16:creationId xmlns:a16="http://schemas.microsoft.com/office/drawing/2014/main" id="{FA6F4AF4-B7CB-44A2-A774-A5EE13FDE7C2}"/>
              </a:ext>
            </a:extLst>
          </p:cNvPr>
          <p:cNvSpPr>
            <a:spLocks noGrp="1"/>
          </p:cNvSpPr>
          <p:nvPr>
            <p:ph type="ftr" sz="quarter" idx="22"/>
          </p:nvPr>
        </p:nvSpPr>
        <p:spPr/>
        <p:txBody>
          <a:bodyPr/>
          <a:lstStyle/>
          <a:p>
            <a:r>
              <a:rPr lang="en-GB"/>
              <a:t>Confidential under GSK NDA</a:t>
            </a:r>
          </a:p>
        </p:txBody>
      </p:sp>
      <p:sp>
        <p:nvSpPr>
          <p:cNvPr id="8" name="Slide Number Placeholder 7">
            <a:extLst>
              <a:ext uri="{FF2B5EF4-FFF2-40B4-BE49-F238E27FC236}">
                <a16:creationId xmlns:a16="http://schemas.microsoft.com/office/drawing/2014/main" id="{1A690446-B95A-4BA4-8B97-68649C262B11}"/>
              </a:ext>
            </a:extLst>
          </p:cNvPr>
          <p:cNvSpPr>
            <a:spLocks noGrp="1"/>
          </p:cNvSpPr>
          <p:nvPr>
            <p:ph type="sldNum" sz="quarter" idx="23"/>
          </p:nvPr>
        </p:nvSpPr>
        <p:spPr/>
        <p:txBody>
          <a:bodyPr/>
          <a:lstStyle/>
          <a:p>
            <a:fld id="{9F9F533D-B52E-4A2F-BF72-0ADD2D94BD75}" type="slidenum">
              <a:rPr lang="en-GB" smtClean="0"/>
              <a:pPr/>
              <a:t>‹#›</a:t>
            </a:fld>
            <a:endParaRPr lang="en-GB"/>
          </a:p>
        </p:txBody>
      </p:sp>
      <p:sp>
        <p:nvSpPr>
          <p:cNvPr id="19" name="Text Placeholder 5"/>
          <p:cNvSpPr>
            <a:spLocks noGrp="1"/>
          </p:cNvSpPr>
          <p:nvPr>
            <p:ph type="body" sz="quarter" idx="19" hasCustomPrompt="1"/>
          </p:nvPr>
        </p:nvSpPr>
        <p:spPr>
          <a:xfrm>
            <a:off x="365125" y="5791943"/>
            <a:ext cx="7554913"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Text Placeholder 2">
            <a:extLst>
              <a:ext uri="{FF2B5EF4-FFF2-40B4-BE49-F238E27FC236}">
                <a16:creationId xmlns:a16="http://schemas.microsoft.com/office/drawing/2014/main" id="{3B643D66-CBAC-8A3C-D941-445E2D7EFCEE}"/>
              </a:ext>
            </a:extLst>
          </p:cNvPr>
          <p:cNvSpPr>
            <a:spLocks noGrp="1"/>
          </p:cNvSpPr>
          <p:nvPr>
            <p:ph type="body" sz="quarter" idx="24" hasCustomPrompt="1"/>
          </p:nvPr>
        </p:nvSpPr>
        <p:spPr>
          <a:xfrm>
            <a:off x="365125" y="1303338"/>
            <a:ext cx="7554913" cy="4478337"/>
          </a:xfrm>
        </p:spPr>
        <p:txBody>
          <a:bodyPr lIns="0" tIns="234000" rIns="0" bIns="180000">
            <a:noAutofit/>
          </a:bodyPr>
          <a:lstStyle>
            <a:lvl1pPr>
              <a:defRPr/>
            </a:lvl1pPr>
          </a:lstStyle>
          <a:p>
            <a:pPr lvl="0"/>
            <a:r>
              <a:rPr lang="en-US"/>
              <a:t>Click to enter TEXT content ONLY.</a:t>
            </a:r>
            <a:br>
              <a:rPr lang="en-US"/>
            </a:br>
            <a:r>
              <a:rPr lang="en-US"/>
              <a:t>If text content appears too large please reduce the size of the font. </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itle 1">
            <a:extLst>
              <a:ext uri="{FF2B5EF4-FFF2-40B4-BE49-F238E27FC236}">
                <a16:creationId xmlns:a16="http://schemas.microsoft.com/office/drawing/2014/main" id="{8C40724D-5874-C573-BE68-E74D3056C42C}"/>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6DDC75F0-FC33-50C5-4836-14CADF87FA85}"/>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7ED293B4-51DD-6A15-3268-DC88E0FC951D}"/>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1761931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44152BBA-B0F3-390F-177B-A659A0DA6DDB}"/>
              </a:ext>
            </a:extLst>
          </p:cNvPr>
          <p:cNvSpPr>
            <a:spLocks noGrp="1"/>
          </p:cNvSpPr>
          <p:nvPr>
            <p:ph type="body" sz="quarter" idx="25" hasCustomPrompt="1"/>
          </p:nvPr>
        </p:nvSpPr>
        <p:spPr>
          <a:xfrm>
            <a:off x="365125" y="1303338"/>
            <a:ext cx="3652838" cy="4477804"/>
          </a:xfrm>
          <a:prstGeom prst="roundRect">
            <a:avLst>
              <a:gd name="adj" fmla="val 4585"/>
            </a:avLst>
          </a:prstGeom>
          <a:solidFill>
            <a:schemeClr val="tx2"/>
          </a:solidFill>
          <a:ln>
            <a:noFill/>
          </a:ln>
        </p:spPr>
        <p:txBody>
          <a:bodyPr wrap="square">
            <a:no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TEXT content ONLY. </a:t>
            </a:r>
            <a:br>
              <a:rPr lang="en-US"/>
            </a:br>
            <a:r>
              <a:rPr lang="en-US"/>
              <a:t>If text content appears outside of the grey placeholder please reduce the size of the font. </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5"/>
          <p:cNvSpPr>
            <a:spLocks noGrp="1"/>
          </p:cNvSpPr>
          <p:nvPr>
            <p:ph type="body" sz="quarter" idx="20" hasCustomPrompt="1"/>
          </p:nvPr>
        </p:nvSpPr>
        <p:spPr>
          <a:xfrm>
            <a:off x="365125" y="5791943"/>
            <a:ext cx="3652837"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6" name="Date Placeholder 5">
            <a:extLst>
              <a:ext uri="{FF2B5EF4-FFF2-40B4-BE49-F238E27FC236}">
                <a16:creationId xmlns:a16="http://schemas.microsoft.com/office/drawing/2014/main" id="{101A55F3-CAC9-450A-8B8C-0D0326082407}"/>
              </a:ext>
            </a:extLst>
          </p:cNvPr>
          <p:cNvSpPr>
            <a:spLocks noGrp="1"/>
          </p:cNvSpPr>
          <p:nvPr>
            <p:ph type="dt" sz="half" idx="21"/>
          </p:nvPr>
        </p:nvSpPr>
        <p:spPr/>
        <p:txBody>
          <a:bodyPr/>
          <a:lstStyle/>
          <a:p>
            <a:fld id="{3F80278B-78DD-4A9B-B7D0-9CA0BDFE5A57}" type="datetime4">
              <a:rPr lang="en-GB" smtClean="0"/>
              <a:t>20 July 2026</a:t>
            </a:fld>
            <a:endParaRPr lang="en-GB"/>
          </a:p>
        </p:txBody>
      </p:sp>
      <p:sp>
        <p:nvSpPr>
          <p:cNvPr id="7" name="Footer Placeholder 6">
            <a:extLst>
              <a:ext uri="{FF2B5EF4-FFF2-40B4-BE49-F238E27FC236}">
                <a16:creationId xmlns:a16="http://schemas.microsoft.com/office/drawing/2014/main" id="{FA6F4AF4-B7CB-44A2-A774-A5EE13FDE7C2}"/>
              </a:ext>
            </a:extLst>
          </p:cNvPr>
          <p:cNvSpPr>
            <a:spLocks noGrp="1"/>
          </p:cNvSpPr>
          <p:nvPr>
            <p:ph type="ftr" sz="quarter" idx="22"/>
          </p:nvPr>
        </p:nvSpPr>
        <p:spPr/>
        <p:txBody>
          <a:bodyPr/>
          <a:lstStyle/>
          <a:p>
            <a:r>
              <a:rPr lang="en-GB"/>
              <a:t>Confidential under GSK NDA</a:t>
            </a:r>
          </a:p>
        </p:txBody>
      </p:sp>
      <p:sp>
        <p:nvSpPr>
          <p:cNvPr id="8" name="Slide Number Placeholder 7">
            <a:extLst>
              <a:ext uri="{FF2B5EF4-FFF2-40B4-BE49-F238E27FC236}">
                <a16:creationId xmlns:a16="http://schemas.microsoft.com/office/drawing/2014/main" id="{1A690446-B95A-4BA4-8B97-68649C262B11}"/>
              </a:ext>
            </a:extLst>
          </p:cNvPr>
          <p:cNvSpPr>
            <a:spLocks noGrp="1"/>
          </p:cNvSpPr>
          <p:nvPr>
            <p:ph type="sldNum" sz="quarter" idx="23"/>
          </p:nvPr>
        </p:nvSpPr>
        <p:spPr/>
        <p:txBody>
          <a:bodyPr/>
          <a:lstStyle/>
          <a:p>
            <a:fld id="{9F9F533D-B52E-4A2F-BF72-0ADD2D94BD75}" type="slidenum">
              <a:rPr lang="en-GB" smtClean="0"/>
              <a:pPr/>
              <a:t>‹#›</a:t>
            </a:fld>
            <a:endParaRPr lang="en-GB"/>
          </a:p>
        </p:txBody>
      </p:sp>
      <p:sp>
        <p:nvSpPr>
          <p:cNvPr id="19" name="Text Placeholder 5"/>
          <p:cNvSpPr>
            <a:spLocks noGrp="1"/>
          </p:cNvSpPr>
          <p:nvPr>
            <p:ph type="body" sz="quarter" idx="19" hasCustomPrompt="1"/>
          </p:nvPr>
        </p:nvSpPr>
        <p:spPr>
          <a:xfrm>
            <a:off x="4270374" y="5791943"/>
            <a:ext cx="7554913"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Text Placeholder 2">
            <a:extLst>
              <a:ext uri="{FF2B5EF4-FFF2-40B4-BE49-F238E27FC236}">
                <a16:creationId xmlns:a16="http://schemas.microsoft.com/office/drawing/2014/main" id="{3B643D66-CBAC-8A3C-D941-445E2D7EFCEE}"/>
              </a:ext>
            </a:extLst>
          </p:cNvPr>
          <p:cNvSpPr>
            <a:spLocks noGrp="1"/>
          </p:cNvSpPr>
          <p:nvPr>
            <p:ph type="body" sz="quarter" idx="24" hasCustomPrompt="1"/>
          </p:nvPr>
        </p:nvSpPr>
        <p:spPr>
          <a:xfrm>
            <a:off x="4270374" y="1303338"/>
            <a:ext cx="7554913" cy="4478337"/>
          </a:xfrm>
        </p:spPr>
        <p:txBody>
          <a:bodyPr lIns="252000" tIns="234000" rIns="0" bIns="180000">
            <a:noAutofit/>
          </a:bodyPr>
          <a:lstStyle>
            <a:lvl1pPr>
              <a:defRPr/>
            </a:lvl1pPr>
          </a:lstStyle>
          <a:p>
            <a:pPr lvl="0"/>
            <a:r>
              <a:rPr lang="en-US"/>
              <a:t>Click to enter TEXT content ONLY.</a:t>
            </a:r>
            <a:br>
              <a:rPr lang="en-US"/>
            </a:br>
            <a:r>
              <a:rPr lang="en-US"/>
              <a:t>If text content appears too large please reduce the size of the font. </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itle 1">
            <a:extLst>
              <a:ext uri="{FF2B5EF4-FFF2-40B4-BE49-F238E27FC236}">
                <a16:creationId xmlns:a16="http://schemas.microsoft.com/office/drawing/2014/main" id="{8C40724D-5874-C573-BE68-E74D3056C42C}"/>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6DDC75F0-FC33-50C5-4836-14CADF87FA85}"/>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7ED293B4-51DD-6A15-3268-DC88E0FC951D}"/>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4" name="Freeform: Shape 13">
            <a:extLst>
              <a:ext uri="{FF2B5EF4-FFF2-40B4-BE49-F238E27FC236}">
                <a16:creationId xmlns:a16="http://schemas.microsoft.com/office/drawing/2014/main" id="{17107491-B576-4FBA-DF55-410D54CA7B16}"/>
              </a:ext>
            </a:extLst>
          </p:cNvPr>
          <p:cNvSpPr/>
          <p:nvPr userDrawn="1"/>
        </p:nvSpPr>
        <p:spPr>
          <a:xfrm>
            <a:off x="4017963" y="1820564"/>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3023981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1A35D6C9-1CA0-9878-3F7C-4F790C689C5F}"/>
              </a:ext>
            </a:extLst>
          </p:cNvPr>
          <p:cNvSpPr>
            <a:spLocks noGrp="1"/>
          </p:cNvSpPr>
          <p:nvPr>
            <p:ph type="body" sz="quarter" idx="36" hasCustomPrompt="1"/>
          </p:nvPr>
        </p:nvSpPr>
        <p:spPr>
          <a:xfrm>
            <a:off x="6223000" y="1303338"/>
            <a:ext cx="5602288" cy="4488605"/>
          </a:xfrm>
          <a:prstGeom prst="roundRect">
            <a:avLst>
              <a:gd name="adj" fmla="val 4253"/>
            </a:avLst>
          </a:prstGeom>
          <a:solidFill>
            <a:schemeClr val="bg1">
              <a:lumMod val="95000"/>
            </a:schemeClr>
          </a:solidFill>
          <a:ln>
            <a:noFill/>
          </a:ln>
        </p:spPr>
        <p:txBody>
          <a:bodyPr wrap="square" tIns="1080000">
            <a:noAutofit/>
          </a:bodyPr>
          <a:lstStyle>
            <a:lvl1pPr>
              <a:defRPr/>
            </a:lvl1pPr>
          </a:lstStyle>
          <a:p>
            <a:pPr lvl="0"/>
            <a:r>
              <a:rPr lang="en-US"/>
              <a:t>Click to enter TEXT content ONLY.</a:t>
            </a:r>
            <a:br>
              <a:rPr lang="en-US"/>
            </a:br>
            <a:r>
              <a:rPr lang="en-US"/>
              <a:t>If text appears outside of grey placeholder please reduce the size of the font.</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21">
            <a:extLst>
              <a:ext uri="{FF2B5EF4-FFF2-40B4-BE49-F238E27FC236}">
                <a16:creationId xmlns:a16="http://schemas.microsoft.com/office/drawing/2014/main" id="{3637B329-27DE-51CE-F4B6-EB1199B2177F}"/>
              </a:ext>
            </a:extLst>
          </p:cNvPr>
          <p:cNvSpPr>
            <a:spLocks noGrp="1"/>
          </p:cNvSpPr>
          <p:nvPr>
            <p:ph type="body" sz="quarter" idx="35" hasCustomPrompt="1"/>
          </p:nvPr>
        </p:nvSpPr>
        <p:spPr>
          <a:xfrm>
            <a:off x="365125" y="1303338"/>
            <a:ext cx="5601600" cy="4488605"/>
          </a:xfrm>
          <a:prstGeom prst="roundRect">
            <a:avLst>
              <a:gd name="adj" fmla="val 3915"/>
            </a:avLst>
          </a:prstGeom>
          <a:solidFill>
            <a:schemeClr val="bg1">
              <a:lumMod val="95000"/>
            </a:schemeClr>
          </a:solidFill>
          <a:ln>
            <a:noFill/>
          </a:ln>
        </p:spPr>
        <p:txBody>
          <a:bodyPr wrap="square" tIns="1080000">
            <a:noAutofit/>
          </a:bodyPr>
          <a:lstStyle>
            <a:lvl1pPr>
              <a:defRPr/>
            </a:lvl1pPr>
          </a:lstStyle>
          <a:p>
            <a:pPr lvl="0"/>
            <a:r>
              <a:rPr lang="en-US"/>
              <a:t>Click to enter TEXT content ONLY.</a:t>
            </a:r>
            <a:br>
              <a:rPr lang="en-US"/>
            </a:br>
            <a:r>
              <a:rPr lang="en-US"/>
              <a:t>If text appears outside of grey placeholder please reduce the size of the font.</a:t>
            </a:r>
          </a:p>
          <a:p>
            <a:pPr lvl="1"/>
            <a:r>
              <a:rPr lang="en-US"/>
              <a:t>Second level</a:t>
            </a:r>
          </a:p>
          <a:p>
            <a:pPr lvl="2"/>
            <a:r>
              <a:rPr lang="en-US"/>
              <a:t>Third level</a:t>
            </a:r>
          </a:p>
          <a:p>
            <a:pPr lvl="3"/>
            <a:r>
              <a:rPr lang="en-US"/>
              <a:t>Fourth level</a:t>
            </a:r>
          </a:p>
          <a:p>
            <a:pPr lvl="4"/>
            <a:r>
              <a:rPr lang="en-US"/>
              <a:t>Fifth level</a:t>
            </a:r>
            <a:endParaRPr lang="en-GB"/>
          </a:p>
        </p:txBody>
      </p:sp>
      <p:sp>
        <p:nvSpPr>
          <p:cNvPr id="23" name="Text Placeholder 5"/>
          <p:cNvSpPr>
            <a:spLocks noGrp="1"/>
          </p:cNvSpPr>
          <p:nvPr>
            <p:ph type="body" sz="quarter" idx="31" hasCustomPrompt="1"/>
          </p:nvPr>
        </p:nvSpPr>
        <p:spPr>
          <a:xfrm>
            <a:off x="365125" y="5791943"/>
            <a:ext cx="5607050"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24" name="Text Placeholder 5"/>
          <p:cNvSpPr>
            <a:spLocks noGrp="1"/>
          </p:cNvSpPr>
          <p:nvPr>
            <p:ph type="body" sz="quarter" idx="20" hasCustomPrompt="1"/>
          </p:nvPr>
        </p:nvSpPr>
        <p:spPr>
          <a:xfrm>
            <a:off x="6216325" y="5792438"/>
            <a:ext cx="5608963"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4" name="Date Placeholder 3">
            <a:extLst>
              <a:ext uri="{FF2B5EF4-FFF2-40B4-BE49-F238E27FC236}">
                <a16:creationId xmlns:a16="http://schemas.microsoft.com/office/drawing/2014/main" id="{888E3DBB-00A9-4F08-A07C-9ED9733E007D}"/>
              </a:ext>
            </a:extLst>
          </p:cNvPr>
          <p:cNvSpPr>
            <a:spLocks noGrp="1"/>
          </p:cNvSpPr>
          <p:nvPr>
            <p:ph type="dt" sz="half" idx="32"/>
          </p:nvPr>
        </p:nvSpPr>
        <p:spPr/>
        <p:txBody>
          <a:bodyPr/>
          <a:lstStyle/>
          <a:p>
            <a:fld id="{04BC9C4C-5CFC-4933-9BAE-3A3BAAE47620}" type="datetime4">
              <a:rPr lang="en-GB" smtClean="0"/>
              <a:t>20 July 2026</a:t>
            </a:fld>
            <a:endParaRPr lang="en-GB"/>
          </a:p>
        </p:txBody>
      </p:sp>
      <p:sp>
        <p:nvSpPr>
          <p:cNvPr id="5" name="Footer Placeholder 4">
            <a:extLst>
              <a:ext uri="{FF2B5EF4-FFF2-40B4-BE49-F238E27FC236}">
                <a16:creationId xmlns:a16="http://schemas.microsoft.com/office/drawing/2014/main" id="{6EE37A7E-4BE8-4B01-BC5B-6FE33BA2DB0A}"/>
              </a:ext>
            </a:extLst>
          </p:cNvPr>
          <p:cNvSpPr>
            <a:spLocks noGrp="1"/>
          </p:cNvSpPr>
          <p:nvPr>
            <p:ph type="ftr" sz="quarter" idx="33"/>
          </p:nvPr>
        </p:nvSpPr>
        <p:spPr/>
        <p:txBody>
          <a:bodyPr/>
          <a:lstStyle/>
          <a:p>
            <a:r>
              <a:rPr lang="en-GB"/>
              <a:t>Confidential under GSK NDA</a:t>
            </a:r>
          </a:p>
        </p:txBody>
      </p:sp>
      <p:sp>
        <p:nvSpPr>
          <p:cNvPr id="9" name="Slide Number Placeholder 8">
            <a:extLst>
              <a:ext uri="{FF2B5EF4-FFF2-40B4-BE49-F238E27FC236}">
                <a16:creationId xmlns:a16="http://schemas.microsoft.com/office/drawing/2014/main" id="{2D87596A-DFCB-4141-B4D9-E82973630099}"/>
              </a:ext>
            </a:extLst>
          </p:cNvPr>
          <p:cNvSpPr>
            <a:spLocks noGrp="1"/>
          </p:cNvSpPr>
          <p:nvPr>
            <p:ph type="sldNum" sz="quarter" idx="34"/>
          </p:nvPr>
        </p:nvSpPr>
        <p:spPr/>
        <p:txBody>
          <a:bodyPr/>
          <a:lstStyle/>
          <a:p>
            <a:fld id="{9F9F533D-B52E-4A2F-BF72-0ADD2D94BD75}" type="slidenum">
              <a:rPr lang="en-GB" smtClean="0"/>
              <a:pPr/>
              <a:t>‹#›</a:t>
            </a:fld>
            <a:endParaRPr lang="en-GB"/>
          </a:p>
        </p:txBody>
      </p:sp>
      <p:sp>
        <p:nvSpPr>
          <p:cNvPr id="29" name="Text Placeholder 2">
            <a:extLst>
              <a:ext uri="{FF2B5EF4-FFF2-40B4-BE49-F238E27FC236}">
                <a16:creationId xmlns:a16="http://schemas.microsoft.com/office/drawing/2014/main" id="{ED8B1503-3382-4C3A-A672-A88D048E0DA0}"/>
              </a:ext>
            </a:extLst>
          </p:cNvPr>
          <p:cNvSpPr>
            <a:spLocks noGrp="1"/>
          </p:cNvSpPr>
          <p:nvPr>
            <p:ph type="body" idx="19" hasCustomPrompt="1"/>
          </p:nvPr>
        </p:nvSpPr>
        <p:spPr>
          <a:xfrm>
            <a:off x="532525" y="1454538"/>
            <a:ext cx="5266800" cy="781200"/>
          </a:xfrm>
          <a:prstGeom prst="rect">
            <a:avLst/>
          </a:prstGeom>
        </p:spPr>
        <p:txBody>
          <a:bodyPr wrap="square" lIns="0" tIns="72000" rIns="0" bIns="72000" anchor="t" anchorCtr="0">
            <a:noAutofit/>
          </a:bodyPr>
          <a:lstStyle>
            <a:lvl1pPr marL="0" indent="0">
              <a:spcBef>
                <a:spcPts val="0"/>
              </a:spcBef>
              <a:spcAft>
                <a:spcPts val="0"/>
              </a:spcAft>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enter</a:t>
            </a:r>
            <a:br>
              <a:rPr lang="en-GB"/>
            </a:br>
            <a:r>
              <a:rPr lang="en-GB"/>
              <a:t>subheading text</a:t>
            </a:r>
          </a:p>
        </p:txBody>
      </p:sp>
      <p:sp>
        <p:nvSpPr>
          <p:cNvPr id="30" name="Text Placeholder 2">
            <a:extLst>
              <a:ext uri="{FF2B5EF4-FFF2-40B4-BE49-F238E27FC236}">
                <a16:creationId xmlns:a16="http://schemas.microsoft.com/office/drawing/2014/main" id="{7CC1C57B-5831-4901-8605-655DBB075B25}"/>
              </a:ext>
            </a:extLst>
          </p:cNvPr>
          <p:cNvSpPr>
            <a:spLocks noGrp="1"/>
          </p:cNvSpPr>
          <p:nvPr>
            <p:ph type="body" idx="21" hasCustomPrompt="1"/>
          </p:nvPr>
        </p:nvSpPr>
        <p:spPr>
          <a:xfrm>
            <a:off x="6391644" y="1454538"/>
            <a:ext cx="5265000" cy="781200"/>
          </a:xfrm>
          <a:prstGeom prst="rect">
            <a:avLst/>
          </a:prstGeom>
        </p:spPr>
        <p:txBody>
          <a:bodyPr wrap="square" lIns="0" tIns="72000" rIns="0" bIns="72000" anchor="t" anchorCtr="0">
            <a:noAutofit/>
          </a:bodyPr>
          <a:lstStyle>
            <a:lvl1pPr marL="0" indent="0">
              <a:spcBef>
                <a:spcPts val="0"/>
              </a:spcBef>
              <a:spcAft>
                <a:spcPts val="0"/>
              </a:spcAft>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enter</a:t>
            </a:r>
            <a:br>
              <a:rPr lang="en-GB"/>
            </a:br>
            <a:r>
              <a:rPr lang="en-GB"/>
              <a:t>subheading text</a:t>
            </a:r>
          </a:p>
        </p:txBody>
      </p:sp>
      <p:sp>
        <p:nvSpPr>
          <p:cNvPr id="15" name="Title 1">
            <a:extLst>
              <a:ext uri="{FF2B5EF4-FFF2-40B4-BE49-F238E27FC236}">
                <a16:creationId xmlns:a16="http://schemas.microsoft.com/office/drawing/2014/main" id="{2B8AF01B-B7EE-69F0-3113-1E07C2D58722}"/>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6" name="Subtitle 2">
            <a:extLst>
              <a:ext uri="{FF2B5EF4-FFF2-40B4-BE49-F238E27FC236}">
                <a16:creationId xmlns:a16="http://schemas.microsoft.com/office/drawing/2014/main" id="{A10D87C1-85C7-40B7-3EF5-0997E04A30B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7" name="Freeform: Shape 16">
            <a:extLst>
              <a:ext uri="{FF2B5EF4-FFF2-40B4-BE49-F238E27FC236}">
                <a16:creationId xmlns:a16="http://schemas.microsoft.com/office/drawing/2014/main" id="{00DBE383-AB10-CC3B-D342-10443E02C93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373725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Video, Title and Subtitle (16x9)">
    <p:spTree>
      <p:nvGrpSpPr>
        <p:cNvPr id="1" name=""/>
        <p:cNvGrpSpPr/>
        <p:nvPr/>
      </p:nvGrpSpPr>
      <p:grpSpPr>
        <a:xfrm>
          <a:off x="0" y="0"/>
          <a:ext cx="0" cy="0"/>
          <a:chOff x="0" y="0"/>
          <a:chExt cx="0" cy="0"/>
        </a:xfrm>
      </p:grpSpPr>
      <p:sp>
        <p:nvSpPr>
          <p:cNvPr id="6" name="Media Placeholder 5"/>
          <p:cNvSpPr>
            <a:spLocks noGrp="1" noChangeAspect="1"/>
          </p:cNvSpPr>
          <p:nvPr>
            <p:ph type="media" sz="quarter" idx="12" hasCustomPrompt="1"/>
          </p:nvPr>
        </p:nvSpPr>
        <p:spPr>
          <a:xfrm>
            <a:off x="2106790" y="1303338"/>
            <a:ext cx="7978421" cy="4487862"/>
          </a:xfrm>
          <a:prstGeom prst="roundRect">
            <a:avLst>
              <a:gd name="adj" fmla="val 3818"/>
            </a:avLst>
          </a:prstGeom>
          <a:solidFill>
            <a:schemeClr val="bg1">
              <a:lumMod val="95000"/>
            </a:schemeClr>
          </a:solidFill>
          <a:ln>
            <a:noFill/>
          </a:ln>
        </p:spPr>
        <p:txBody>
          <a:bodyPr lIns="108000" tIns="1008000">
            <a:normAutofit/>
          </a:bodyPr>
          <a:lstStyle>
            <a:lvl1pPr marL="0" indent="0" algn="ctr">
              <a:buNone/>
              <a:defRPr sz="2200" baseline="0">
                <a:solidFill>
                  <a:schemeClr val="tx1"/>
                </a:solidFill>
              </a:defRPr>
            </a:lvl1pPr>
          </a:lstStyle>
          <a:p>
            <a:r>
              <a:rPr lang="en-GB"/>
              <a:t>[Click on the film icon to insert video]</a:t>
            </a:r>
          </a:p>
        </p:txBody>
      </p:sp>
      <p:sp>
        <p:nvSpPr>
          <p:cNvPr id="3" name="Date Placeholder 2">
            <a:extLst>
              <a:ext uri="{FF2B5EF4-FFF2-40B4-BE49-F238E27FC236}">
                <a16:creationId xmlns:a16="http://schemas.microsoft.com/office/drawing/2014/main" id="{EFF92204-289D-4897-A24D-92B4E89E417A}"/>
              </a:ext>
            </a:extLst>
          </p:cNvPr>
          <p:cNvSpPr>
            <a:spLocks noGrp="1"/>
          </p:cNvSpPr>
          <p:nvPr>
            <p:ph type="dt" sz="half" idx="15"/>
          </p:nvPr>
        </p:nvSpPr>
        <p:spPr/>
        <p:txBody>
          <a:bodyPr/>
          <a:lstStyle/>
          <a:p>
            <a:fld id="{FB4EC7A8-82A2-4B32-8874-2FF8323E0741}" type="datetime4">
              <a:rPr lang="en-GB" smtClean="0"/>
              <a:t>20 July 2026</a:t>
            </a:fld>
            <a:endParaRPr lang="en-GB"/>
          </a:p>
        </p:txBody>
      </p:sp>
      <p:sp>
        <p:nvSpPr>
          <p:cNvPr id="4" name="Footer Placeholder 3">
            <a:extLst>
              <a:ext uri="{FF2B5EF4-FFF2-40B4-BE49-F238E27FC236}">
                <a16:creationId xmlns:a16="http://schemas.microsoft.com/office/drawing/2014/main" id="{9D8A5764-43D8-49B1-8CCF-1E44D258B4F9}"/>
              </a:ext>
            </a:extLst>
          </p:cNvPr>
          <p:cNvSpPr>
            <a:spLocks noGrp="1"/>
          </p:cNvSpPr>
          <p:nvPr>
            <p:ph type="ftr" sz="quarter" idx="16"/>
          </p:nvPr>
        </p:nvSpPr>
        <p:spPr/>
        <p:txBody>
          <a:bodyPr/>
          <a:lstStyle/>
          <a:p>
            <a:r>
              <a:rPr lang="en-GB"/>
              <a:t>Confidential under GSK NDA</a:t>
            </a:r>
          </a:p>
        </p:txBody>
      </p:sp>
      <p:sp>
        <p:nvSpPr>
          <p:cNvPr id="9" name="Slide Number Placeholder 8">
            <a:extLst>
              <a:ext uri="{FF2B5EF4-FFF2-40B4-BE49-F238E27FC236}">
                <a16:creationId xmlns:a16="http://schemas.microsoft.com/office/drawing/2014/main" id="{2BA25ACE-65A6-48E3-AD24-12A240BC4B44}"/>
              </a:ext>
            </a:extLst>
          </p:cNvPr>
          <p:cNvSpPr>
            <a:spLocks noGrp="1"/>
          </p:cNvSpPr>
          <p:nvPr>
            <p:ph type="sldNum" sz="quarter" idx="17"/>
          </p:nvPr>
        </p:nvSpPr>
        <p:spPr/>
        <p:txBody>
          <a:bodyPr/>
          <a:lstStyle/>
          <a:p>
            <a:fld id="{9F9F533D-B52E-4A2F-BF72-0ADD2D94BD75}" type="slidenum">
              <a:rPr lang="en-GB" smtClean="0"/>
              <a:pPr/>
              <a:t>‹#›</a:t>
            </a:fld>
            <a:endParaRPr lang="en-GB"/>
          </a:p>
        </p:txBody>
      </p:sp>
      <p:sp>
        <p:nvSpPr>
          <p:cNvPr id="11" name="Title 1">
            <a:extLst>
              <a:ext uri="{FF2B5EF4-FFF2-40B4-BE49-F238E27FC236}">
                <a16:creationId xmlns:a16="http://schemas.microsoft.com/office/drawing/2014/main" id="{BF9DC526-9754-7DE6-EAC5-B9EB6B6E3CF3}"/>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F9C0347F-097D-6010-8D87-88D141F8B2F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3" name="Text Placeholder 5">
            <a:extLst>
              <a:ext uri="{FF2B5EF4-FFF2-40B4-BE49-F238E27FC236}">
                <a16:creationId xmlns:a16="http://schemas.microsoft.com/office/drawing/2014/main" id="{A123D2E9-B2C7-255F-E578-0BCEF8C8BFCD}"/>
              </a:ext>
            </a:extLst>
          </p:cNvPr>
          <p:cNvSpPr>
            <a:spLocks noGrp="1"/>
          </p:cNvSpPr>
          <p:nvPr>
            <p:ph type="body" sz="quarter" idx="18" hasCustomPrompt="1"/>
          </p:nvPr>
        </p:nvSpPr>
        <p:spPr>
          <a:xfrm>
            <a:off x="365125" y="5792438"/>
            <a:ext cx="11460163"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15" name="Freeform: Shape 14">
            <a:extLst>
              <a:ext uri="{FF2B5EF4-FFF2-40B4-BE49-F238E27FC236}">
                <a16:creationId xmlns:a16="http://schemas.microsoft.com/office/drawing/2014/main" id="{73180677-148E-F381-0168-9327D51EF5C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4128776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Video Widescreen (16x9)">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85344A2-1C9C-FB10-07A8-CED6CF027454}"/>
              </a:ext>
            </a:extLst>
          </p:cNvPr>
          <p:cNvSpPr>
            <a:spLocks noGrp="1"/>
          </p:cNvSpPr>
          <p:nvPr>
            <p:ph type="sldNum" sz="quarter" idx="15"/>
          </p:nvPr>
        </p:nvSpPr>
        <p:spPr/>
        <p:txBody>
          <a:bodyPr/>
          <a:lstStyle/>
          <a:p>
            <a:fld id="{9F9F533D-B52E-4A2F-BF72-0ADD2D94BD75}" type="slidenum">
              <a:rPr lang="en-GB" smtClean="0"/>
              <a:pPr/>
              <a:t>‹#›</a:t>
            </a:fld>
            <a:endParaRPr lang="en-GB"/>
          </a:p>
        </p:txBody>
      </p:sp>
      <p:sp>
        <p:nvSpPr>
          <p:cNvPr id="5" name="Media Placeholder 5"/>
          <p:cNvSpPr>
            <a:spLocks noGrp="1" noChangeAspect="1"/>
          </p:cNvSpPr>
          <p:nvPr>
            <p:ph type="media" sz="quarter" idx="12" hasCustomPrompt="1"/>
          </p:nvPr>
        </p:nvSpPr>
        <p:spPr>
          <a:xfrm>
            <a:off x="242888" y="242888"/>
            <a:ext cx="11352439" cy="6384013"/>
          </a:xfrm>
          <a:prstGeom prst="roundRect">
            <a:avLst>
              <a:gd name="adj" fmla="val 2727"/>
            </a:avLst>
          </a:prstGeom>
          <a:solidFill>
            <a:schemeClr val="bg1">
              <a:lumMod val="95000"/>
            </a:schemeClr>
          </a:solidFill>
          <a:ln>
            <a:noFill/>
          </a:ln>
        </p:spPr>
        <p:txBody>
          <a:bodyPr lIns="108000" tIns="108000" bIns="1224000" anchor="ctr">
            <a:normAutofit/>
          </a:bodyPr>
          <a:lstStyle>
            <a:lvl1pPr marL="0" indent="0" algn="ctr">
              <a:buNone/>
              <a:defRPr sz="2200" i="0" baseline="0">
                <a:solidFill>
                  <a:schemeClr val="tx1"/>
                </a:solidFill>
              </a:defRPr>
            </a:lvl1pPr>
          </a:lstStyle>
          <a:p>
            <a:r>
              <a:rPr lang="en-GB"/>
              <a:t>[Click on the film icon to insert video]</a:t>
            </a:r>
          </a:p>
        </p:txBody>
      </p:sp>
    </p:spTree>
    <p:extLst>
      <p:ext uri="{BB962C8B-B14F-4D97-AF65-F5344CB8AC3E}">
        <p14:creationId xmlns:p14="http://schemas.microsoft.com/office/powerpoint/2010/main" val="2537016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Image and Text 1">
    <p:spTree>
      <p:nvGrpSpPr>
        <p:cNvPr id="1" name=""/>
        <p:cNvGrpSpPr/>
        <p:nvPr/>
      </p:nvGrpSpPr>
      <p:grpSpPr>
        <a:xfrm>
          <a:off x="0" y="0"/>
          <a:ext cx="0" cy="0"/>
          <a:chOff x="0" y="0"/>
          <a:chExt cx="0" cy="0"/>
        </a:xfrm>
      </p:grpSpPr>
      <p:sp>
        <p:nvSpPr>
          <p:cNvPr id="13" name="Picture Placeholder 8"/>
          <p:cNvSpPr>
            <a:spLocks noGrp="1"/>
          </p:cNvSpPr>
          <p:nvPr>
            <p:ph type="pic" sz="quarter" idx="14" hasCustomPrompt="1"/>
          </p:nvPr>
        </p:nvSpPr>
        <p:spPr>
          <a:xfrm>
            <a:off x="8172451" y="1303338"/>
            <a:ext cx="3652838" cy="4787862"/>
          </a:xfrm>
          <a:prstGeom prst="roundRect">
            <a:avLst>
              <a:gd name="adj" fmla="val 4782"/>
            </a:avLst>
          </a:prstGeom>
          <a:solidFill>
            <a:schemeClr val="bg1">
              <a:lumMod val="95000"/>
            </a:schemeClr>
          </a:solidFill>
          <a:ln>
            <a:noFill/>
          </a:ln>
        </p:spPr>
        <p:txBody>
          <a:bodyPr lIns="180000" tIns="576000" bIns="72000" anchor="ctr">
            <a:noAutofit/>
          </a:bodyPr>
          <a:lstStyle>
            <a:lvl1pPr marL="0" indent="0" algn="ctr">
              <a:buNone/>
              <a:defRPr sz="2000" i="0" baseline="0">
                <a:solidFill>
                  <a:schemeClr val="tx1"/>
                </a:solidFill>
              </a:defRPr>
            </a:lvl1pPr>
          </a:lstStyle>
          <a:p>
            <a:r>
              <a:rPr lang="en-GB"/>
              <a:t>[Click here to insert image]</a:t>
            </a:r>
            <a:br>
              <a:rPr lang="en-GB"/>
            </a:br>
            <a:br>
              <a:rPr lang="en-GB"/>
            </a:br>
            <a:br>
              <a:rPr lang="en-GB"/>
            </a:br>
            <a:br>
              <a:rPr lang="en-GB"/>
            </a:br>
            <a:br>
              <a:rPr lang="en-GB"/>
            </a:br>
            <a:r>
              <a:rPr lang="en-GB"/>
              <a:t>[The image can then be scaled within the frame by using the ‘Crop’ feature in the ‘Picture Format’ tab of the ribbon.</a:t>
            </a:r>
            <a:r>
              <a:rPr lang="en-US"/>
              <a:t> Right click on image to add/edit alt text</a:t>
            </a:r>
            <a:r>
              <a:rPr lang="en-GB"/>
              <a:t>]</a:t>
            </a:r>
          </a:p>
        </p:txBody>
      </p:sp>
      <p:sp>
        <p:nvSpPr>
          <p:cNvPr id="9" name="Text Placeholder 6"/>
          <p:cNvSpPr>
            <a:spLocks noGrp="1"/>
          </p:cNvSpPr>
          <p:nvPr>
            <p:ph type="body" sz="quarter" idx="13" hasCustomPrompt="1"/>
          </p:nvPr>
        </p:nvSpPr>
        <p:spPr>
          <a:xfrm>
            <a:off x="365125" y="1304101"/>
            <a:ext cx="7554913" cy="449073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a:t>Click to enter text content.</a:t>
            </a:r>
            <a:br>
              <a:rPr lang="en-GB"/>
            </a:br>
            <a:r>
              <a:rPr lang="en-US"/>
              <a:t>If text content appears too large please reduce the size of the font.</a:t>
            </a:r>
            <a:endParaRPr lang="en-GB"/>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866A09C8-7F4F-41C5-B273-4F1976516157}" type="datetime4">
              <a:rPr lang="en-GB" smtClean="0"/>
              <a:t>20 July 2026</a:t>
            </a:fld>
            <a:endParaRPr lang="en-GB"/>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r>
              <a:rPr lang="en-GB"/>
              <a:t>Confidential under GSK NDA</a:t>
            </a:r>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5" y="5792400"/>
            <a:ext cx="7555231" cy="298800"/>
          </a:xfrm>
        </p:spPr>
        <p:txBody>
          <a:bodyPr lIns="0" tIns="72000" rIns="0" bIns="72000" anchor="b">
            <a:noAutofit/>
          </a:bodyPr>
          <a:lstStyle>
            <a:lvl1pPr marL="0" indent="0">
              <a:spcBef>
                <a:spcPts val="0"/>
              </a:spcBef>
              <a:spcAft>
                <a:spcPts val="0"/>
              </a:spcAft>
              <a:buNone/>
              <a:defRPr sz="12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a:t>Insert Source text</a:t>
            </a:r>
          </a:p>
        </p:txBody>
      </p:sp>
      <p:sp>
        <p:nvSpPr>
          <p:cNvPr id="10" name="Title 1">
            <a:extLst>
              <a:ext uri="{FF2B5EF4-FFF2-40B4-BE49-F238E27FC236}">
                <a16:creationId xmlns:a16="http://schemas.microsoft.com/office/drawing/2014/main" id="{175B623F-E1ED-BC6F-EAB9-2F7C7BB5A0A7}"/>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4" name="Subtitle 2">
            <a:extLst>
              <a:ext uri="{FF2B5EF4-FFF2-40B4-BE49-F238E27FC236}">
                <a16:creationId xmlns:a16="http://schemas.microsoft.com/office/drawing/2014/main" id="{05B934E4-D94D-494D-8E16-6927D2105C4A}"/>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34C03FD5-9F96-2D56-07D6-C43A8485D860}"/>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3480828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Image and Text 2">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1303338"/>
            <a:ext cx="3652838" cy="4489062"/>
          </a:xfrm>
          <a:prstGeom prst="rect">
            <a:avLst/>
          </a:prstGeom>
        </p:spPr>
        <p:txBody>
          <a:bodyPr lIns="0" tIns="180000" rIns="0" bIns="180000">
            <a:noAutofit/>
          </a:bodyPr>
          <a:lstStyle>
            <a:lvl1pPr marL="0" indent="0">
              <a:buNone/>
              <a:defRPr sz="2200"/>
            </a:lvl1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F7F5ABD8-F338-459D-9157-80DA954367B7}" type="datetime4">
              <a:rPr lang="en-GB" smtClean="0"/>
              <a:t>20 July 2026</a:t>
            </a:fld>
            <a:endParaRPr lang="en-GB"/>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r>
              <a:rPr lang="en-GB"/>
              <a:t>Confidential under GSK NDA</a:t>
            </a:r>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18" name="Picture Placeholder 17">
            <a:extLst>
              <a:ext uri="{FF2B5EF4-FFF2-40B4-BE49-F238E27FC236}">
                <a16:creationId xmlns:a16="http://schemas.microsoft.com/office/drawing/2014/main" id="{E219C323-6E00-D14B-433A-AFFED48030D6}"/>
              </a:ext>
            </a:extLst>
          </p:cNvPr>
          <p:cNvSpPr>
            <a:spLocks noGrp="1"/>
          </p:cNvSpPr>
          <p:nvPr>
            <p:ph type="pic" sz="quarter" idx="14" hasCustomPrompt="1"/>
          </p:nvPr>
        </p:nvSpPr>
        <p:spPr>
          <a:xfrm>
            <a:off x="4270375" y="1303337"/>
            <a:ext cx="7554913" cy="4788000"/>
          </a:xfrm>
          <a:custGeom>
            <a:avLst/>
            <a:gdLst>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26638 w 7554913"/>
              <a:gd name="connsiteY8" fmla="*/ 1402309 h 4788000"/>
              <a:gd name="connsiteX9" fmla="*/ 807326 w 7554913"/>
              <a:gd name="connsiteY9" fmla="*/ 937371 h 4788000"/>
              <a:gd name="connsiteX10" fmla="*/ 850924 w 7554913"/>
              <a:gd name="connsiteY10" fmla="*/ 893772 h 4788000"/>
              <a:gd name="connsiteX11" fmla="*/ 850924 w 7554913"/>
              <a:gd name="connsiteY11" fmla="*/ 639447 h 4788000"/>
              <a:gd name="connsiteX12" fmla="*/ 1360669 w 7554913"/>
              <a:gd name="connsiteY12" fmla="*/ 12872 h 4788000"/>
              <a:gd name="connsiteX13" fmla="*/ 1482160 w 7554913"/>
              <a:gd name="connsiteY13" fmla="*/ 815 h 4788000"/>
              <a:gd name="connsiteX14" fmla="*/ 1697038 w 7554913"/>
              <a:gd name="connsiteY14" fmla="*/ 815 h 47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54913" h="4788000">
                <a:moveTo>
                  <a:pt x="1697038" y="0"/>
                </a:moveTo>
                <a:lnTo>
                  <a:pt x="7378379" y="0"/>
                </a:lnTo>
                <a:cubicBezTo>
                  <a:pt x="7475876" y="0"/>
                  <a:pt x="7554913" y="79037"/>
                  <a:pt x="7554913" y="176534"/>
                </a:cubicBezTo>
                <a:lnTo>
                  <a:pt x="7554913" y="4611466"/>
                </a:lnTo>
                <a:cubicBezTo>
                  <a:pt x="7554913" y="4708963"/>
                  <a:pt x="7475876" y="4788000"/>
                  <a:pt x="7378379" y="4788000"/>
                </a:cubicBezTo>
                <a:lnTo>
                  <a:pt x="176534" y="4788000"/>
                </a:lnTo>
                <a:cubicBezTo>
                  <a:pt x="79037" y="4788000"/>
                  <a:pt x="0" y="4708963"/>
                  <a:pt x="0" y="4611466"/>
                </a:cubicBezTo>
                <a:lnTo>
                  <a:pt x="0" y="1489211"/>
                </a:lnTo>
                <a:lnTo>
                  <a:pt x="26638" y="1402309"/>
                </a:lnTo>
                <a:cubicBezTo>
                  <a:pt x="160159" y="1094053"/>
                  <a:pt x="469438" y="948270"/>
                  <a:pt x="807326" y="937371"/>
                </a:cubicBezTo>
                <a:cubicBezTo>
                  <a:pt x="836392" y="937371"/>
                  <a:pt x="850924" y="915573"/>
                  <a:pt x="850924" y="893772"/>
                </a:cubicBezTo>
                <a:lnTo>
                  <a:pt x="850924" y="639447"/>
                </a:lnTo>
                <a:cubicBezTo>
                  <a:pt x="850924" y="327898"/>
                  <a:pt x="1067897" y="71983"/>
                  <a:pt x="1360669" y="12872"/>
                </a:cubicBezTo>
                <a:lnTo>
                  <a:pt x="1482160" y="815"/>
                </a:lnTo>
                <a:lnTo>
                  <a:pt x="1697038" y="815"/>
                </a:lnTo>
                <a:close/>
              </a:path>
            </a:pathLst>
          </a:custGeom>
          <a:solidFill>
            <a:schemeClr val="bg1">
              <a:lumMod val="95000"/>
            </a:schemeClr>
          </a:solidFill>
          <a:ln>
            <a:noFill/>
          </a:ln>
        </p:spPr>
        <p:txBody>
          <a:bodyPr wrap="square" lIns="72000" tIns="216000" rIns="72000" bIns="72000" anchor="ctr">
            <a:noAutofit/>
          </a:bodyPr>
          <a:lstStyle>
            <a:lvl1pPr marL="0" indent="0" algn="ctr">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r>
              <a:rPr lang="en-GB"/>
              <a:t>]</a:t>
            </a:r>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72000" rIns="0" bIns="72000" anchor="b">
            <a:noAutofit/>
          </a:bodyPr>
          <a:lstStyle>
            <a:lvl1pPr marL="0" indent="0">
              <a:spcBef>
                <a:spcPts val="0"/>
              </a:spcBef>
              <a:spcAft>
                <a:spcPts val="0"/>
              </a:spcAft>
              <a:buNone/>
              <a:defRPr sz="1200"/>
            </a:lvl1pPr>
            <a:lvl2pPr marL="357542" indent="0">
              <a:buNone/>
              <a:defRPr/>
            </a:lvl2pPr>
            <a:lvl3pPr marL="719982" indent="0">
              <a:buNone/>
              <a:defRPr/>
            </a:lvl3pPr>
            <a:lvl4pPr marL="1081424" indent="0">
              <a:buNone/>
              <a:defRPr/>
            </a:lvl4pPr>
            <a:lvl5pPr marL="1439964" indent="0">
              <a:buNone/>
              <a:defRPr/>
            </a:lvl5pPr>
          </a:lstStyle>
          <a:p>
            <a:pPr lvl="0"/>
            <a:r>
              <a:rPr lang="en-US"/>
              <a:t>Insert Source text</a:t>
            </a:r>
          </a:p>
        </p:txBody>
      </p:sp>
      <p:sp>
        <p:nvSpPr>
          <p:cNvPr id="10" name="Title 1">
            <a:extLst>
              <a:ext uri="{FF2B5EF4-FFF2-40B4-BE49-F238E27FC236}">
                <a16:creationId xmlns:a16="http://schemas.microsoft.com/office/drawing/2014/main" id="{A2B84926-EEA3-D13A-C1FB-3FEC18A73AF9}"/>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1" name="Subtitle 2">
            <a:extLst>
              <a:ext uri="{FF2B5EF4-FFF2-40B4-BE49-F238E27FC236}">
                <a16:creationId xmlns:a16="http://schemas.microsoft.com/office/drawing/2014/main" id="{E1464933-1F00-DED1-00C8-C81A38AE38F7}"/>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62DCCF40-1773-437E-7AB4-DDD201CB4D42}"/>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3190439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Image and Text 3">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1303338"/>
            <a:ext cx="3652838" cy="4489062"/>
          </a:xfrm>
          <a:prstGeom prst="rect">
            <a:avLst/>
          </a:prstGeom>
        </p:spPr>
        <p:txBody>
          <a:bodyPr lIns="0" tIns="180000" rIns="0" bIns="180000">
            <a:noAutofit/>
          </a:bodyPr>
          <a:lstStyle>
            <a:lvl1pPr marL="0" indent="0">
              <a:buNone/>
              <a:defRPr sz="2200"/>
            </a:lvl1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C13B94E1-C39B-4B1A-8299-4FBA3BE8B4F8}" type="datetime4">
              <a:rPr lang="en-GB" smtClean="0"/>
              <a:t>20 July 2026</a:t>
            </a:fld>
            <a:endParaRPr lang="en-GB"/>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r>
              <a:rPr lang="en-GB"/>
              <a:t>Confidential under GSK NDA</a:t>
            </a:r>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17" name="Picture Placeholder 16">
            <a:extLst>
              <a:ext uri="{FF2B5EF4-FFF2-40B4-BE49-F238E27FC236}">
                <a16:creationId xmlns:a16="http://schemas.microsoft.com/office/drawing/2014/main" id="{78DB8D52-5A42-AF02-A231-C38CC50C6F79}"/>
              </a:ext>
            </a:extLst>
          </p:cNvPr>
          <p:cNvSpPr>
            <a:spLocks noGrp="1"/>
          </p:cNvSpPr>
          <p:nvPr>
            <p:ph type="pic" sz="quarter" idx="14" hasCustomPrompt="1"/>
          </p:nvPr>
        </p:nvSpPr>
        <p:spPr>
          <a:xfrm>
            <a:off x="4270375" y="1303337"/>
            <a:ext cx="7554913" cy="4787900"/>
          </a:xfrm>
          <a:custGeom>
            <a:avLst/>
            <a:gdLst>
              <a:gd name="connsiteX0" fmla="*/ 176482 w 7554913"/>
              <a:gd name="connsiteY0" fmla="*/ 0 h 4787900"/>
              <a:gd name="connsiteX1" fmla="*/ 7378431 w 7554913"/>
              <a:gd name="connsiteY1" fmla="*/ 0 h 4787900"/>
              <a:gd name="connsiteX2" fmla="*/ 7554913 w 7554913"/>
              <a:gd name="connsiteY2" fmla="*/ 176482 h 4787900"/>
              <a:gd name="connsiteX3" fmla="*/ 7554913 w 7554913"/>
              <a:gd name="connsiteY3" fmla="*/ 4611418 h 4787900"/>
              <a:gd name="connsiteX4" fmla="*/ 7378431 w 7554913"/>
              <a:gd name="connsiteY4" fmla="*/ 4787900 h 4787900"/>
              <a:gd name="connsiteX5" fmla="*/ 176482 w 7554913"/>
              <a:gd name="connsiteY5" fmla="*/ 4787900 h 4787900"/>
              <a:gd name="connsiteX6" fmla="*/ 0 w 7554913"/>
              <a:gd name="connsiteY6" fmla="*/ 4611418 h 4787900"/>
              <a:gd name="connsiteX7" fmla="*/ 0 w 7554913"/>
              <a:gd name="connsiteY7" fmla="*/ 2799479 h 4787900"/>
              <a:gd name="connsiteX8" fmla="*/ 3012 w 7554913"/>
              <a:gd name="connsiteY8" fmla="*/ 2763995 h 4787900"/>
              <a:gd name="connsiteX9" fmla="*/ 415133 w 7554913"/>
              <a:gd name="connsiteY9" fmla="*/ 2402680 h 4787900"/>
              <a:gd name="connsiteX10" fmla="*/ 415133 w 7554913"/>
              <a:gd name="connsiteY10" fmla="*/ 2385217 h 4787900"/>
              <a:gd name="connsiteX11" fmla="*/ 3012 w 7554913"/>
              <a:gd name="connsiteY11" fmla="*/ 2023907 h 4787900"/>
              <a:gd name="connsiteX12" fmla="*/ 0 w 7554913"/>
              <a:gd name="connsiteY12" fmla="*/ 1988423 h 4787900"/>
              <a:gd name="connsiteX13" fmla="*/ 0 w 7554913"/>
              <a:gd name="connsiteY13" fmla="*/ 176482 h 4787900"/>
              <a:gd name="connsiteX14" fmla="*/ 176482 w 7554913"/>
              <a:gd name="connsiteY14" fmla="*/ 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54913" h="4787900">
                <a:moveTo>
                  <a:pt x="176482" y="0"/>
                </a:moveTo>
                <a:lnTo>
                  <a:pt x="7378431" y="0"/>
                </a:lnTo>
                <a:cubicBezTo>
                  <a:pt x="7475899" y="0"/>
                  <a:pt x="7554913" y="79014"/>
                  <a:pt x="7554913" y="176482"/>
                </a:cubicBezTo>
                <a:lnTo>
                  <a:pt x="7554913" y="4611418"/>
                </a:lnTo>
                <a:cubicBezTo>
                  <a:pt x="7554913" y="4708886"/>
                  <a:pt x="7475899" y="4787900"/>
                  <a:pt x="7378431" y="4787900"/>
                </a:cubicBezTo>
                <a:lnTo>
                  <a:pt x="176482" y="4787900"/>
                </a:lnTo>
                <a:cubicBezTo>
                  <a:pt x="79014" y="4787900"/>
                  <a:pt x="0" y="4708886"/>
                  <a:pt x="0" y="4611418"/>
                </a:cubicBezTo>
                <a:lnTo>
                  <a:pt x="0" y="2799479"/>
                </a:lnTo>
                <a:lnTo>
                  <a:pt x="3012" y="2763995"/>
                </a:lnTo>
                <a:cubicBezTo>
                  <a:pt x="35433" y="2581833"/>
                  <a:pt x="179824" y="2466853"/>
                  <a:pt x="415133" y="2402680"/>
                </a:cubicBezTo>
                <a:cubicBezTo>
                  <a:pt x="425612" y="2399188"/>
                  <a:pt x="425612" y="2388709"/>
                  <a:pt x="415133" y="2385217"/>
                </a:cubicBezTo>
                <a:cubicBezTo>
                  <a:pt x="179824" y="2321043"/>
                  <a:pt x="35433" y="2206068"/>
                  <a:pt x="3012" y="2023907"/>
                </a:cubicBezTo>
                <a:lnTo>
                  <a:pt x="0" y="1988423"/>
                </a:lnTo>
                <a:lnTo>
                  <a:pt x="0" y="176482"/>
                </a:lnTo>
                <a:cubicBezTo>
                  <a:pt x="0" y="79014"/>
                  <a:pt x="79014" y="0"/>
                  <a:pt x="176482" y="0"/>
                </a:cubicBezTo>
                <a:close/>
              </a:path>
            </a:pathLst>
          </a:custGeom>
          <a:solidFill>
            <a:schemeClr val="bg1">
              <a:lumMod val="95000"/>
            </a:schemeClr>
          </a:solidFill>
          <a:ln>
            <a:noFill/>
          </a:ln>
        </p:spPr>
        <p:txBody>
          <a:bodyPr wrap="square" lIns="72000" tIns="216000" rIns="72000" bIns="72000" anchor="ctr">
            <a:noAutofit/>
          </a:bodyPr>
          <a:lstStyle>
            <a:lvl1pPr marL="0" indent="0" algn="ctr">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r>
              <a:rPr lang="en-GB"/>
              <a:t>]</a:t>
            </a:r>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72000" rIns="0" bIns="72000" anchor="b">
            <a:noAutofit/>
          </a:bodyPr>
          <a:lstStyle>
            <a:lvl1pPr marL="0" indent="0">
              <a:spcBef>
                <a:spcPts val="0"/>
              </a:spcBef>
              <a:spcAft>
                <a:spcPts val="0"/>
              </a:spcAft>
              <a:buNone/>
              <a:defRPr sz="1200"/>
            </a:lvl1pPr>
            <a:lvl2pPr marL="357542" indent="0">
              <a:buNone/>
              <a:defRPr/>
            </a:lvl2pPr>
            <a:lvl3pPr marL="719982" indent="0">
              <a:buNone/>
              <a:defRPr/>
            </a:lvl3pPr>
            <a:lvl4pPr marL="1081424" indent="0">
              <a:buNone/>
              <a:defRPr/>
            </a:lvl4pPr>
            <a:lvl5pPr marL="1439964" indent="0">
              <a:buNone/>
              <a:defRPr/>
            </a:lvl5pPr>
          </a:lstStyle>
          <a:p>
            <a:pPr lvl="0"/>
            <a:r>
              <a:rPr lang="en-US"/>
              <a:t>Insert Source text</a:t>
            </a:r>
          </a:p>
        </p:txBody>
      </p:sp>
      <p:sp>
        <p:nvSpPr>
          <p:cNvPr id="10" name="Title 1">
            <a:extLst>
              <a:ext uri="{FF2B5EF4-FFF2-40B4-BE49-F238E27FC236}">
                <a16:creationId xmlns:a16="http://schemas.microsoft.com/office/drawing/2014/main" id="{D7744E32-9E6E-5A11-A7A0-D8AFCFEDB909}"/>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1" name="Subtitle 2">
            <a:extLst>
              <a:ext uri="{FF2B5EF4-FFF2-40B4-BE49-F238E27FC236}">
                <a16:creationId xmlns:a16="http://schemas.microsoft.com/office/drawing/2014/main" id="{89AF8F91-23D2-DD88-482D-7FAFF27C5132}"/>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9FB64EB2-7F66-5CCC-3945-F5156896877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3143353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Image and Text 4">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CDFB8F13-AB38-63DB-D1F1-86B6EF73DD2A}"/>
              </a:ext>
            </a:extLst>
          </p:cNvPr>
          <p:cNvSpPr>
            <a:spLocks noGrp="1"/>
          </p:cNvSpPr>
          <p:nvPr>
            <p:ph type="pic" sz="quarter" idx="14" hasCustomPrompt="1"/>
          </p:nvPr>
        </p:nvSpPr>
        <p:spPr>
          <a:xfrm>
            <a:off x="8172451" y="242888"/>
            <a:ext cx="3652838" cy="5848312"/>
          </a:xfrm>
          <a:custGeom>
            <a:avLst/>
            <a:gdLst>
              <a:gd name="connsiteX0" fmla="*/ 190569 w 3652838"/>
              <a:gd name="connsiteY0" fmla="*/ 0 h 5848312"/>
              <a:gd name="connsiteX1" fmla="*/ 3462269 w 3652838"/>
              <a:gd name="connsiteY1" fmla="*/ 0 h 5848312"/>
              <a:gd name="connsiteX2" fmla="*/ 3652838 w 3652838"/>
              <a:gd name="connsiteY2" fmla="*/ 190569 h 5848312"/>
              <a:gd name="connsiteX3" fmla="*/ 3652838 w 3652838"/>
              <a:gd name="connsiteY3" fmla="*/ 5657743 h 5848312"/>
              <a:gd name="connsiteX4" fmla="*/ 3462269 w 3652838"/>
              <a:gd name="connsiteY4" fmla="*/ 5848312 h 5848312"/>
              <a:gd name="connsiteX5" fmla="*/ 190569 w 3652838"/>
              <a:gd name="connsiteY5" fmla="*/ 5848312 h 5848312"/>
              <a:gd name="connsiteX6" fmla="*/ 0 w 3652838"/>
              <a:gd name="connsiteY6" fmla="*/ 5657743 h 5848312"/>
              <a:gd name="connsiteX7" fmla="*/ 0 w 3652838"/>
              <a:gd name="connsiteY7" fmla="*/ 3402065 h 5848312"/>
              <a:gd name="connsiteX8" fmla="*/ 7373 w 3652838"/>
              <a:gd name="connsiteY8" fmla="*/ 3315183 h 5848312"/>
              <a:gd name="connsiteX9" fmla="*/ 442863 w 3652838"/>
              <a:gd name="connsiteY9" fmla="*/ 2933380 h 5848312"/>
              <a:gd name="connsiteX10" fmla="*/ 442863 w 3652838"/>
              <a:gd name="connsiteY10" fmla="*/ 2914928 h 5848312"/>
              <a:gd name="connsiteX11" fmla="*/ 7373 w 3652838"/>
              <a:gd name="connsiteY11" fmla="*/ 2533130 h 5848312"/>
              <a:gd name="connsiteX12" fmla="*/ 0 w 3652838"/>
              <a:gd name="connsiteY12" fmla="*/ 2446249 h 5848312"/>
              <a:gd name="connsiteX13" fmla="*/ 0 w 3652838"/>
              <a:gd name="connsiteY13" fmla="*/ 190569 h 5848312"/>
              <a:gd name="connsiteX14" fmla="*/ 190569 w 3652838"/>
              <a:gd name="connsiteY14" fmla="*/ 0 h 584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52838" h="5848312">
                <a:moveTo>
                  <a:pt x="190569" y="0"/>
                </a:moveTo>
                <a:lnTo>
                  <a:pt x="3462269" y="0"/>
                </a:lnTo>
                <a:cubicBezTo>
                  <a:pt x="3567517" y="0"/>
                  <a:pt x="3652838" y="85321"/>
                  <a:pt x="3652838" y="190569"/>
                </a:cubicBezTo>
                <a:lnTo>
                  <a:pt x="3652838" y="5657743"/>
                </a:lnTo>
                <a:cubicBezTo>
                  <a:pt x="3652838" y="5762991"/>
                  <a:pt x="3567517" y="5848312"/>
                  <a:pt x="3462269" y="5848312"/>
                </a:cubicBezTo>
                <a:lnTo>
                  <a:pt x="190569" y="5848312"/>
                </a:lnTo>
                <a:cubicBezTo>
                  <a:pt x="85321" y="5848312"/>
                  <a:pt x="0" y="5762991"/>
                  <a:pt x="0" y="5657743"/>
                </a:cubicBezTo>
                <a:lnTo>
                  <a:pt x="0" y="3402065"/>
                </a:lnTo>
                <a:lnTo>
                  <a:pt x="7373" y="3315183"/>
                </a:lnTo>
                <a:cubicBezTo>
                  <a:pt x="41632" y="3122692"/>
                  <a:pt x="194211" y="3001193"/>
                  <a:pt x="442863" y="2933380"/>
                </a:cubicBezTo>
                <a:cubicBezTo>
                  <a:pt x="453936" y="2929691"/>
                  <a:pt x="453936" y="2918617"/>
                  <a:pt x="442863" y="2914928"/>
                </a:cubicBezTo>
                <a:cubicBezTo>
                  <a:pt x="194211" y="2847115"/>
                  <a:pt x="41632" y="2725620"/>
                  <a:pt x="7373" y="2533130"/>
                </a:cubicBezTo>
                <a:lnTo>
                  <a:pt x="0" y="2446249"/>
                </a:lnTo>
                <a:lnTo>
                  <a:pt x="0" y="190569"/>
                </a:lnTo>
                <a:cubicBezTo>
                  <a:pt x="0" y="85321"/>
                  <a:pt x="85321" y="0"/>
                  <a:pt x="190569" y="0"/>
                </a:cubicBezTo>
                <a:close/>
              </a:path>
            </a:pathLst>
          </a:custGeom>
          <a:solidFill>
            <a:schemeClr val="bg1">
              <a:lumMod val="95000"/>
            </a:schemeClr>
          </a:solidFill>
          <a:ln>
            <a:noFill/>
          </a:ln>
        </p:spPr>
        <p:txBody>
          <a:bodyPr wrap="square" lIns="108000" tIns="576000" rIns="108000" bIns="72000" anchor="ctr">
            <a:noAutofit/>
          </a:bodyPr>
          <a:lstStyle>
            <a:lvl1pPr marL="0" indent="0" algn="ctr">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endParaRPr lang="en-GB"/>
          </a:p>
        </p:txBody>
      </p:sp>
      <p:sp>
        <p:nvSpPr>
          <p:cNvPr id="9" name="Text Placeholder 6"/>
          <p:cNvSpPr>
            <a:spLocks noGrp="1"/>
          </p:cNvSpPr>
          <p:nvPr>
            <p:ph type="body" sz="quarter" idx="13" hasCustomPrompt="1"/>
          </p:nvPr>
        </p:nvSpPr>
        <p:spPr>
          <a:xfrm>
            <a:off x="365125" y="1304101"/>
            <a:ext cx="7554913" cy="449073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a:t>Click to enter text content.</a:t>
            </a:r>
            <a:br>
              <a:rPr lang="en-GB"/>
            </a:br>
            <a:r>
              <a:rPr lang="en-US"/>
              <a:t>If text content appears too large please reduce the size of the font.</a:t>
            </a:r>
            <a:endParaRPr lang="en-GB"/>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7E43B382-7CAC-43A0-A121-9CC81CBF26B3}" type="datetime4">
              <a:rPr lang="en-GB" smtClean="0"/>
              <a:t>20 July 2026</a:t>
            </a:fld>
            <a:endParaRPr lang="en-GB"/>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r>
              <a:rPr lang="en-GB"/>
              <a:t>Confidential under GSK NDA</a:t>
            </a:r>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5" y="5792400"/>
            <a:ext cx="7555231" cy="298800"/>
          </a:xfrm>
        </p:spPr>
        <p:txBody>
          <a:bodyPr lIns="0" tIns="72000" rIns="0" bIns="72000" anchor="b">
            <a:noAutofit/>
          </a:bodyPr>
          <a:lstStyle>
            <a:lvl1pPr marL="0" indent="0">
              <a:spcBef>
                <a:spcPts val="0"/>
              </a:spcBef>
              <a:spcAft>
                <a:spcPts val="0"/>
              </a:spcAft>
              <a:buNone/>
              <a:defRPr sz="12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a:t>Insert Source text</a:t>
            </a:r>
          </a:p>
        </p:txBody>
      </p:sp>
      <p:sp>
        <p:nvSpPr>
          <p:cNvPr id="10" name="Title 1">
            <a:extLst>
              <a:ext uri="{FF2B5EF4-FFF2-40B4-BE49-F238E27FC236}">
                <a16:creationId xmlns:a16="http://schemas.microsoft.com/office/drawing/2014/main" id="{C102126E-B6A8-2921-6EF1-1AB371E2B266}"/>
              </a:ext>
            </a:extLst>
          </p:cNvPr>
          <p:cNvSpPr>
            <a:spLocks noGrp="1"/>
          </p:cNvSpPr>
          <p:nvPr>
            <p:ph type="title"/>
          </p:nvPr>
        </p:nvSpPr>
        <p:spPr>
          <a:xfrm>
            <a:off x="365126" y="242888"/>
            <a:ext cx="7554912"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6475D3A0-2D66-AC67-134B-77A55D269BD2}"/>
              </a:ext>
            </a:extLst>
          </p:cNvPr>
          <p:cNvSpPr>
            <a:spLocks noGrp="1"/>
          </p:cNvSpPr>
          <p:nvPr>
            <p:ph type="subTitle" idx="1" hasCustomPrompt="1"/>
          </p:nvPr>
        </p:nvSpPr>
        <p:spPr>
          <a:xfrm>
            <a:off x="365125" y="694950"/>
            <a:ext cx="7554913"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721FF2E9-41D3-FCB0-8100-2CB5AD7B063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4143532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Image and Text 5">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C1E2B43-F98E-82F3-DBAA-FC13402D7C79}"/>
              </a:ext>
            </a:extLst>
          </p:cNvPr>
          <p:cNvSpPr>
            <a:spLocks noGrp="1"/>
          </p:cNvSpPr>
          <p:nvPr>
            <p:ph type="pic" sz="quarter" idx="14" hasCustomPrompt="1"/>
          </p:nvPr>
        </p:nvSpPr>
        <p:spPr>
          <a:xfrm>
            <a:off x="4270375" y="242888"/>
            <a:ext cx="7554914" cy="5848312"/>
          </a:xfrm>
          <a:custGeom>
            <a:avLst/>
            <a:gdLst>
              <a:gd name="connsiteX0" fmla="*/ 2145019 w 7554914"/>
              <a:gd name="connsiteY0" fmla="*/ 0 h 5848312"/>
              <a:gd name="connsiteX1" fmla="*/ 7370751 w 7554914"/>
              <a:gd name="connsiteY1" fmla="*/ 0 h 5848312"/>
              <a:gd name="connsiteX2" fmla="*/ 7554914 w 7554914"/>
              <a:gd name="connsiteY2" fmla="*/ 184163 h 5848312"/>
              <a:gd name="connsiteX3" fmla="*/ 7554914 w 7554914"/>
              <a:gd name="connsiteY3" fmla="*/ 5664149 h 5848312"/>
              <a:gd name="connsiteX4" fmla="*/ 7370751 w 7554914"/>
              <a:gd name="connsiteY4" fmla="*/ 5848312 h 5848312"/>
              <a:gd name="connsiteX5" fmla="*/ 184163 w 7554914"/>
              <a:gd name="connsiteY5" fmla="*/ 5848312 h 5848312"/>
              <a:gd name="connsiteX6" fmla="*/ 0 w 7554914"/>
              <a:gd name="connsiteY6" fmla="*/ 5664149 h 5848312"/>
              <a:gd name="connsiteX7" fmla="*/ 0 w 7554914"/>
              <a:gd name="connsiteY7" fmla="*/ 2161063 h 5848312"/>
              <a:gd name="connsiteX8" fmla="*/ 38324 w 7554914"/>
              <a:gd name="connsiteY8" fmla="*/ 2036037 h 5848312"/>
              <a:gd name="connsiteX9" fmla="*/ 1172960 w 7554914"/>
              <a:gd name="connsiteY9" fmla="*/ 1360305 h 5848312"/>
              <a:gd name="connsiteX10" fmla="*/ 1236325 w 7554914"/>
              <a:gd name="connsiteY10" fmla="*/ 1296939 h 5848312"/>
              <a:gd name="connsiteX11" fmla="*/ 1236325 w 7554914"/>
              <a:gd name="connsiteY11" fmla="*/ 927309 h 5848312"/>
              <a:gd name="connsiteX12" fmla="*/ 1977178 w 7554914"/>
              <a:gd name="connsiteY12" fmla="*/ 16657 h 584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554914" h="5848312">
                <a:moveTo>
                  <a:pt x="2145019" y="0"/>
                </a:moveTo>
                <a:lnTo>
                  <a:pt x="7370751" y="0"/>
                </a:lnTo>
                <a:cubicBezTo>
                  <a:pt x="7472461" y="0"/>
                  <a:pt x="7554914" y="82453"/>
                  <a:pt x="7554914" y="184163"/>
                </a:cubicBezTo>
                <a:lnTo>
                  <a:pt x="7554914" y="5664149"/>
                </a:lnTo>
                <a:cubicBezTo>
                  <a:pt x="7554914" y="5765859"/>
                  <a:pt x="7472461" y="5848312"/>
                  <a:pt x="7370751" y="5848312"/>
                </a:cubicBezTo>
                <a:lnTo>
                  <a:pt x="184163" y="5848312"/>
                </a:lnTo>
                <a:cubicBezTo>
                  <a:pt x="82453" y="5848312"/>
                  <a:pt x="0" y="5765859"/>
                  <a:pt x="0" y="5664149"/>
                </a:cubicBezTo>
                <a:lnTo>
                  <a:pt x="0" y="2161063"/>
                </a:lnTo>
                <a:lnTo>
                  <a:pt x="38324" y="2036037"/>
                </a:lnTo>
                <a:cubicBezTo>
                  <a:pt x="232381" y="1588024"/>
                  <a:pt x="681881" y="1376146"/>
                  <a:pt x="1172960" y="1360305"/>
                </a:cubicBezTo>
                <a:cubicBezTo>
                  <a:pt x="1215204" y="1360305"/>
                  <a:pt x="1236325" y="1328624"/>
                  <a:pt x="1236325" y="1296939"/>
                </a:cubicBezTo>
                <a:lnTo>
                  <a:pt x="1236325" y="927309"/>
                </a:lnTo>
                <a:cubicBezTo>
                  <a:pt x="1236325" y="474509"/>
                  <a:pt x="1551669" y="102568"/>
                  <a:pt x="1977178" y="16657"/>
                </a:cubicBezTo>
                <a:close/>
              </a:path>
            </a:pathLst>
          </a:custGeom>
          <a:solidFill>
            <a:schemeClr val="bg1">
              <a:lumMod val="95000"/>
            </a:schemeClr>
          </a:solidFill>
          <a:ln>
            <a:noFill/>
          </a:ln>
        </p:spPr>
        <p:txBody>
          <a:bodyPr wrap="square" lIns="180000" tIns="576000" bIns="72000" anchor="ctr">
            <a:noAutofit/>
          </a:bodyPr>
          <a:lstStyle>
            <a:lvl1pPr marL="0" indent="0" algn="ctr">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r>
              <a:rPr lang="en-GB"/>
              <a:t>]</a:t>
            </a:r>
          </a:p>
        </p:txBody>
      </p:sp>
      <p:sp>
        <p:nvSpPr>
          <p:cNvPr id="9" name="Text Placeholder 6"/>
          <p:cNvSpPr>
            <a:spLocks noGrp="1"/>
          </p:cNvSpPr>
          <p:nvPr>
            <p:ph type="body" sz="quarter" idx="13" hasCustomPrompt="1"/>
          </p:nvPr>
        </p:nvSpPr>
        <p:spPr>
          <a:xfrm>
            <a:off x="365126" y="1304101"/>
            <a:ext cx="3652839" cy="449073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a:t>Click to enter text content.</a:t>
            </a:r>
            <a:br>
              <a:rPr lang="en-GB"/>
            </a:br>
            <a:r>
              <a:rPr lang="en-US"/>
              <a:t>If text content appears too large please reduce the size of the font.</a:t>
            </a:r>
            <a:endParaRPr lang="en-GB"/>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0B6D0199-D9C0-4136-ADA8-4891300D270C}" type="datetime4">
              <a:rPr lang="en-GB" smtClean="0"/>
              <a:t>20 July 2026</a:t>
            </a:fld>
            <a:endParaRPr lang="en-GB"/>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r>
              <a:rPr lang="en-GB"/>
              <a:t>Confidential under GSK NDA</a:t>
            </a:r>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6" y="5792400"/>
            <a:ext cx="3652993" cy="298800"/>
          </a:xfrm>
        </p:spPr>
        <p:txBody>
          <a:bodyPr lIns="0" tIns="72000" rIns="0" bIns="72000" anchor="b">
            <a:noAutofit/>
          </a:bodyPr>
          <a:lstStyle>
            <a:lvl1pPr marL="0" indent="0">
              <a:spcBef>
                <a:spcPts val="0"/>
              </a:spcBef>
              <a:spcAft>
                <a:spcPts val="0"/>
              </a:spcAft>
              <a:buNone/>
              <a:defRPr sz="12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a:t>Insert Source text</a:t>
            </a:r>
          </a:p>
        </p:txBody>
      </p:sp>
      <p:sp>
        <p:nvSpPr>
          <p:cNvPr id="10" name="Title 1">
            <a:extLst>
              <a:ext uri="{FF2B5EF4-FFF2-40B4-BE49-F238E27FC236}">
                <a16:creationId xmlns:a16="http://schemas.microsoft.com/office/drawing/2014/main" id="{D08CFF33-B49E-9711-53F9-19D0CC0A16DD}"/>
              </a:ext>
            </a:extLst>
          </p:cNvPr>
          <p:cNvSpPr>
            <a:spLocks noGrp="1"/>
          </p:cNvSpPr>
          <p:nvPr>
            <p:ph type="title" hasCustomPrompt="1"/>
          </p:nvPr>
        </p:nvSpPr>
        <p:spPr>
          <a:xfrm>
            <a:off x="365126" y="242888"/>
            <a:ext cx="3905250" cy="430887"/>
          </a:xfrm>
        </p:spPr>
        <p:txBody>
          <a:bodyPr/>
          <a:lstStyle>
            <a:lvl1pPr>
              <a:defRPr/>
            </a:lvl1pPr>
          </a:lstStyle>
          <a:p>
            <a:r>
              <a:rPr lang="en-US"/>
              <a:t>Click to add title</a:t>
            </a:r>
          </a:p>
        </p:txBody>
      </p:sp>
      <p:sp>
        <p:nvSpPr>
          <p:cNvPr id="13" name="Subtitle 2">
            <a:extLst>
              <a:ext uri="{FF2B5EF4-FFF2-40B4-BE49-F238E27FC236}">
                <a16:creationId xmlns:a16="http://schemas.microsoft.com/office/drawing/2014/main" id="{FA3CE1FB-D5F5-92E1-9D34-DB8E8889C90B}"/>
              </a:ext>
            </a:extLst>
          </p:cNvPr>
          <p:cNvSpPr>
            <a:spLocks noGrp="1"/>
          </p:cNvSpPr>
          <p:nvPr>
            <p:ph type="subTitle" idx="1" hasCustomPrompt="1"/>
          </p:nvPr>
        </p:nvSpPr>
        <p:spPr>
          <a:xfrm>
            <a:off x="365125" y="694950"/>
            <a:ext cx="3905250"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CB91AF96-43AB-49E0-5AA2-71826DA9639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255752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Image and Text with Subheading">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2100262"/>
            <a:ext cx="3652838" cy="3692137"/>
          </a:xfrm>
          <a:prstGeom prst="rect">
            <a:avLst/>
          </a:prstGeom>
        </p:spPr>
        <p:txBody>
          <a:bodyPr lIns="0" tIns="180000" rIns="0" bIns="180000">
            <a:noAutofit/>
          </a:bodyPr>
          <a:lstStyle>
            <a:lvl1pPr marL="0" indent="0">
              <a:buNone/>
              <a:defRPr sz="2200"/>
            </a:lvl1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279CEB16-A64C-4B34-8DD9-56A90A3EB71F}" type="datetime4">
              <a:rPr lang="en-GB" smtClean="0"/>
              <a:t>20 July 2026</a:t>
            </a:fld>
            <a:endParaRPr lang="en-GB"/>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r>
              <a:rPr lang="en-GB"/>
              <a:t>Confidential under GSK NDA</a:t>
            </a:r>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72000" rIns="0" bIns="72000" anchor="b">
            <a:noAutofit/>
          </a:bodyPr>
          <a:lstStyle>
            <a:lvl1pPr marL="0" indent="0">
              <a:spcBef>
                <a:spcPts val="0"/>
              </a:spcBef>
              <a:spcAft>
                <a:spcPts val="0"/>
              </a:spcAft>
              <a:buNone/>
              <a:defRPr sz="1200"/>
            </a:lvl1pPr>
            <a:lvl2pPr marL="357542" indent="0">
              <a:buNone/>
              <a:defRPr/>
            </a:lvl2pPr>
            <a:lvl3pPr marL="719982" indent="0">
              <a:buNone/>
              <a:defRPr/>
            </a:lvl3pPr>
            <a:lvl4pPr marL="1081424" indent="0">
              <a:buNone/>
              <a:defRPr/>
            </a:lvl4pPr>
            <a:lvl5pPr marL="1439964" indent="0">
              <a:buNone/>
              <a:defRPr/>
            </a:lvl5pPr>
          </a:lstStyle>
          <a:p>
            <a:pPr lvl="0"/>
            <a:r>
              <a:rPr lang="en-US"/>
              <a:t>Insert Source text</a:t>
            </a:r>
          </a:p>
        </p:txBody>
      </p:sp>
      <p:sp>
        <p:nvSpPr>
          <p:cNvPr id="25" name="Text Placeholder 24">
            <a:extLst>
              <a:ext uri="{FF2B5EF4-FFF2-40B4-BE49-F238E27FC236}">
                <a16:creationId xmlns:a16="http://schemas.microsoft.com/office/drawing/2014/main" id="{0FC42DF1-9B7E-9A5C-E40E-35292FD97B55}"/>
              </a:ext>
            </a:extLst>
          </p:cNvPr>
          <p:cNvSpPr>
            <a:spLocks noGrp="1"/>
          </p:cNvSpPr>
          <p:nvPr>
            <p:ph type="body" sz="quarter" idx="32" hasCustomPrompt="1"/>
          </p:nvPr>
        </p:nvSpPr>
        <p:spPr>
          <a:xfrm>
            <a:off x="365126" y="1303338"/>
            <a:ext cx="3480970" cy="796925"/>
          </a:xfrm>
        </p:spPr>
        <p:txBody>
          <a:bodyPr lIns="0" tIns="72000" rIns="0" bIns="72000">
            <a:noAutofit/>
          </a:bodyPr>
          <a:lstStyle>
            <a:lvl1pPr marL="0" indent="0">
              <a:buNone/>
              <a:defRPr sz="2400" b="1">
                <a:solidFill>
                  <a:schemeClr val="tx2"/>
                </a:solidFill>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edit subheading text</a:t>
            </a:r>
            <a:endParaRPr lang="en-GB"/>
          </a:p>
        </p:txBody>
      </p:sp>
      <p:sp>
        <p:nvSpPr>
          <p:cNvPr id="19" name="Picture Placeholder 18">
            <a:extLst>
              <a:ext uri="{FF2B5EF4-FFF2-40B4-BE49-F238E27FC236}">
                <a16:creationId xmlns:a16="http://schemas.microsoft.com/office/drawing/2014/main" id="{842A83F9-173D-2F5C-840B-653949B4C528}"/>
              </a:ext>
            </a:extLst>
          </p:cNvPr>
          <p:cNvSpPr>
            <a:spLocks noGrp="1"/>
          </p:cNvSpPr>
          <p:nvPr>
            <p:ph type="pic" sz="quarter" idx="14" hasCustomPrompt="1"/>
          </p:nvPr>
        </p:nvSpPr>
        <p:spPr>
          <a:xfrm>
            <a:off x="3848179" y="1303337"/>
            <a:ext cx="7977108" cy="4787900"/>
          </a:xfrm>
          <a:custGeom>
            <a:avLst/>
            <a:gdLst>
              <a:gd name="connsiteX0" fmla="*/ 594703 w 7977108"/>
              <a:gd name="connsiteY0" fmla="*/ 0 h 4787900"/>
              <a:gd name="connsiteX1" fmla="*/ 7804600 w 7977108"/>
              <a:gd name="connsiteY1" fmla="*/ 0 h 4787900"/>
              <a:gd name="connsiteX2" fmla="*/ 7977108 w 7977108"/>
              <a:gd name="connsiteY2" fmla="*/ 172508 h 4787900"/>
              <a:gd name="connsiteX3" fmla="*/ 7977108 w 7977108"/>
              <a:gd name="connsiteY3" fmla="*/ 4615392 h 4787900"/>
              <a:gd name="connsiteX4" fmla="*/ 7804600 w 7977108"/>
              <a:gd name="connsiteY4" fmla="*/ 4787900 h 4787900"/>
              <a:gd name="connsiteX5" fmla="*/ 594703 w 7977108"/>
              <a:gd name="connsiteY5" fmla="*/ 4787900 h 4787900"/>
              <a:gd name="connsiteX6" fmla="*/ 422195 w 7977108"/>
              <a:gd name="connsiteY6" fmla="*/ 4615392 h 4787900"/>
              <a:gd name="connsiteX7" fmla="*/ 422195 w 7977108"/>
              <a:gd name="connsiteY7" fmla="*/ 1002316 h 4787900"/>
              <a:gd name="connsiteX8" fmla="*/ 419981 w 7977108"/>
              <a:gd name="connsiteY8" fmla="*/ 976226 h 4787900"/>
              <a:gd name="connsiteX9" fmla="*/ 7859 w 7977108"/>
              <a:gd name="connsiteY9" fmla="*/ 614915 h 4787900"/>
              <a:gd name="connsiteX10" fmla="*/ 7859 w 7977108"/>
              <a:gd name="connsiteY10" fmla="*/ 597453 h 4787900"/>
              <a:gd name="connsiteX11" fmla="*/ 419981 w 7977108"/>
              <a:gd name="connsiteY11" fmla="*/ 236137 h 4787900"/>
              <a:gd name="connsiteX12" fmla="*/ 422195 w 7977108"/>
              <a:gd name="connsiteY12" fmla="*/ 210041 h 4787900"/>
              <a:gd name="connsiteX13" fmla="*/ 422195 w 7977108"/>
              <a:gd name="connsiteY13" fmla="*/ 172508 h 4787900"/>
              <a:gd name="connsiteX14" fmla="*/ 594703 w 7977108"/>
              <a:gd name="connsiteY14" fmla="*/ 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977108" h="4787900">
                <a:moveTo>
                  <a:pt x="594703" y="0"/>
                </a:moveTo>
                <a:lnTo>
                  <a:pt x="7804600" y="0"/>
                </a:lnTo>
                <a:cubicBezTo>
                  <a:pt x="7899874" y="0"/>
                  <a:pt x="7977108" y="77234"/>
                  <a:pt x="7977108" y="172508"/>
                </a:cubicBezTo>
                <a:lnTo>
                  <a:pt x="7977108" y="4615392"/>
                </a:lnTo>
                <a:cubicBezTo>
                  <a:pt x="7977108" y="4710666"/>
                  <a:pt x="7899874" y="4787900"/>
                  <a:pt x="7804600" y="4787900"/>
                </a:cubicBezTo>
                <a:lnTo>
                  <a:pt x="594703" y="4787900"/>
                </a:lnTo>
                <a:cubicBezTo>
                  <a:pt x="499429" y="4787900"/>
                  <a:pt x="422195" y="4710666"/>
                  <a:pt x="422195" y="4615392"/>
                </a:cubicBezTo>
                <a:lnTo>
                  <a:pt x="422195" y="1002316"/>
                </a:lnTo>
                <a:lnTo>
                  <a:pt x="419981" y="976226"/>
                </a:lnTo>
                <a:cubicBezTo>
                  <a:pt x="387560" y="794064"/>
                  <a:pt x="243169" y="679089"/>
                  <a:pt x="7859" y="614915"/>
                </a:cubicBezTo>
                <a:cubicBezTo>
                  <a:pt x="-2620" y="611423"/>
                  <a:pt x="-2620" y="600944"/>
                  <a:pt x="7859" y="597453"/>
                </a:cubicBezTo>
                <a:cubicBezTo>
                  <a:pt x="243169" y="533278"/>
                  <a:pt x="387560" y="418299"/>
                  <a:pt x="419981" y="236137"/>
                </a:cubicBezTo>
                <a:lnTo>
                  <a:pt x="422195" y="210041"/>
                </a:lnTo>
                <a:lnTo>
                  <a:pt x="422195" y="172508"/>
                </a:lnTo>
                <a:cubicBezTo>
                  <a:pt x="422195" y="77234"/>
                  <a:pt x="499429" y="0"/>
                  <a:pt x="594703" y="0"/>
                </a:cubicBezTo>
                <a:close/>
              </a:path>
            </a:pathLst>
          </a:custGeom>
          <a:solidFill>
            <a:schemeClr val="bg1">
              <a:lumMod val="95000"/>
            </a:schemeClr>
          </a:solidFill>
          <a:ln>
            <a:noFill/>
          </a:ln>
        </p:spPr>
        <p:txBody>
          <a:bodyPr wrap="square" lIns="900000" tIns="216000" rIns="540000" bIns="72000" anchor="ctr">
            <a:noAutofit/>
          </a:bodyPr>
          <a:lstStyle>
            <a:lvl1pPr marL="0" indent="0" algn="ctr">
              <a:lnSpc>
                <a:spcPct val="100000"/>
              </a:lnSpc>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r>
              <a:rPr lang="en-GB"/>
              <a:t>]</a:t>
            </a:r>
          </a:p>
        </p:txBody>
      </p:sp>
      <p:sp>
        <p:nvSpPr>
          <p:cNvPr id="11" name="Title 1">
            <a:extLst>
              <a:ext uri="{FF2B5EF4-FFF2-40B4-BE49-F238E27FC236}">
                <a16:creationId xmlns:a16="http://schemas.microsoft.com/office/drawing/2014/main" id="{7E92BEDA-CC1A-B239-4AEA-C3F37E214629}"/>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0750812B-2C47-57D4-77B8-4674E64952E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7DE5D052-D1E8-918C-87BF-6E3142B87FE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1609395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wo Image and Text 1">
    <p:spTree>
      <p:nvGrpSpPr>
        <p:cNvPr id="1" name=""/>
        <p:cNvGrpSpPr/>
        <p:nvPr/>
      </p:nvGrpSpPr>
      <p:grpSpPr>
        <a:xfrm>
          <a:off x="0" y="0"/>
          <a:ext cx="0" cy="0"/>
          <a:chOff x="0" y="0"/>
          <a:chExt cx="0" cy="0"/>
        </a:xfrm>
      </p:grpSpPr>
      <p:sp>
        <p:nvSpPr>
          <p:cNvPr id="19" name="Text Placeholder 6"/>
          <p:cNvSpPr>
            <a:spLocks noGrp="1"/>
          </p:cNvSpPr>
          <p:nvPr>
            <p:ph type="body" sz="quarter" idx="13" hasCustomPrompt="1"/>
          </p:nvPr>
        </p:nvSpPr>
        <p:spPr>
          <a:xfrm>
            <a:off x="365126" y="1303338"/>
            <a:ext cx="5602288" cy="478592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a:t>Click to enter text content. </a:t>
            </a:r>
            <a:r>
              <a:rPr lang="en-US"/>
              <a:t>If text content appears too large please reduce the size of the font.</a:t>
            </a:r>
            <a:endParaRPr lang="en-GB"/>
          </a:p>
          <a:p>
            <a:pPr lvl="1"/>
            <a:r>
              <a:rPr lang="en-GB"/>
              <a:t>Second level</a:t>
            </a:r>
          </a:p>
          <a:p>
            <a:pPr lvl="2"/>
            <a:r>
              <a:rPr lang="en-GB"/>
              <a:t>Third level</a:t>
            </a:r>
          </a:p>
          <a:p>
            <a:pPr lvl="3"/>
            <a:r>
              <a:rPr lang="en-GB"/>
              <a:t>Fourth level</a:t>
            </a:r>
          </a:p>
          <a:p>
            <a:pPr lvl="4"/>
            <a:r>
              <a:rPr lang="en-GB"/>
              <a:t>Fifth level</a:t>
            </a:r>
          </a:p>
        </p:txBody>
      </p:sp>
      <p:sp>
        <p:nvSpPr>
          <p:cNvPr id="20" name="Picture Placeholder 8"/>
          <p:cNvSpPr>
            <a:spLocks noGrp="1"/>
          </p:cNvSpPr>
          <p:nvPr>
            <p:ph type="pic" sz="quarter" idx="14" hasCustomPrompt="1"/>
          </p:nvPr>
        </p:nvSpPr>
        <p:spPr>
          <a:xfrm>
            <a:off x="6223001" y="1303338"/>
            <a:ext cx="5602288" cy="2049077"/>
          </a:xfrm>
          <a:prstGeom prst="roundRect">
            <a:avLst>
              <a:gd name="adj" fmla="val 8542"/>
            </a:avLst>
          </a:prstGeom>
          <a:solidFill>
            <a:schemeClr val="bg1">
              <a:lumMod val="95000"/>
            </a:schemeClr>
          </a:solidFill>
          <a:ln>
            <a:noFill/>
          </a:ln>
        </p:spPr>
        <p:txBody>
          <a:bodyPr lIns="0" tIns="180000" rIns="0" bIns="72000" anchor="ctr">
            <a:noAutofit/>
          </a:bodyPr>
          <a:lstStyle>
            <a:lvl1pPr marL="0" indent="0" algn="ctr">
              <a:buNone/>
              <a:defRPr sz="1600" i="0" baseline="0">
                <a:solidFill>
                  <a:schemeClr val="tx1"/>
                </a:solidFill>
              </a:defRPr>
            </a:lvl1pPr>
          </a:lstStyle>
          <a:p>
            <a:r>
              <a:rPr lang="en-GB"/>
              <a:t>[Click here to insert image]</a:t>
            </a:r>
            <a:br>
              <a:rPr lang="en-GB"/>
            </a:br>
            <a:br>
              <a:rPr lang="en-GB"/>
            </a:br>
            <a:br>
              <a:rPr lang="en-GB"/>
            </a:br>
            <a:r>
              <a:rPr lang="en-GB"/>
              <a:t>[</a:t>
            </a:r>
            <a:r>
              <a:rPr lang="en-US"/>
              <a:t>The image can then be scaled within the frame by </a:t>
            </a:r>
            <a:br>
              <a:rPr lang="en-US"/>
            </a:br>
            <a:r>
              <a:rPr lang="en-US"/>
              <a:t>using the ‘Crop’ feature in the ‘Picture Format’ tab </a:t>
            </a:r>
            <a:br>
              <a:rPr lang="en-US"/>
            </a:br>
            <a:r>
              <a:rPr lang="en-US"/>
              <a:t>of the ribbon. Right click on image to add/edit alt text]</a:t>
            </a:r>
            <a:endParaRPr lang="en-GB"/>
          </a:p>
        </p:txBody>
      </p:sp>
      <p:sp>
        <p:nvSpPr>
          <p:cNvPr id="21" name="Text Placeholder 7"/>
          <p:cNvSpPr>
            <a:spLocks noGrp="1"/>
          </p:cNvSpPr>
          <p:nvPr>
            <p:ph type="body" sz="quarter" idx="26" hasCustomPrompt="1"/>
          </p:nvPr>
        </p:nvSpPr>
        <p:spPr>
          <a:xfrm>
            <a:off x="6223001" y="3383480"/>
            <a:ext cx="5602287"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a:t>Insert Source text</a:t>
            </a:r>
          </a:p>
        </p:txBody>
      </p:sp>
      <p:sp>
        <p:nvSpPr>
          <p:cNvPr id="35" name="Picture Placeholder 8"/>
          <p:cNvSpPr>
            <a:spLocks noGrp="1" noChangeAspect="1"/>
          </p:cNvSpPr>
          <p:nvPr>
            <p:ph type="pic" sz="quarter" idx="27" hasCustomPrompt="1"/>
          </p:nvPr>
        </p:nvSpPr>
        <p:spPr>
          <a:xfrm>
            <a:off x="6223001" y="3713345"/>
            <a:ext cx="5602288" cy="2048029"/>
          </a:xfrm>
          <a:prstGeom prst="roundRect">
            <a:avLst>
              <a:gd name="adj" fmla="val 8498"/>
            </a:avLst>
          </a:prstGeom>
          <a:solidFill>
            <a:schemeClr val="bg1">
              <a:lumMod val="95000"/>
            </a:schemeClr>
          </a:solidFill>
          <a:ln>
            <a:noFill/>
          </a:ln>
        </p:spPr>
        <p:txBody>
          <a:bodyPr lIns="0" tIns="180000" rIns="0" bIns="72000" anchor="ctr">
            <a:noAutofit/>
          </a:bodyPr>
          <a:lstStyle>
            <a:lvl1pPr marL="0" indent="0" algn="ctr">
              <a:buNone/>
              <a:defRPr sz="1600" i="0" baseline="0">
                <a:solidFill>
                  <a:schemeClr val="tx1"/>
                </a:solidFill>
              </a:defRPr>
            </a:lvl1pPr>
          </a:lstStyle>
          <a:p>
            <a:r>
              <a:rPr lang="en-GB"/>
              <a:t>[Click here to insert image]</a:t>
            </a:r>
            <a:br>
              <a:rPr lang="en-GB"/>
            </a:br>
            <a:br>
              <a:rPr lang="en-GB"/>
            </a:br>
            <a:br>
              <a:rPr lang="en-GB"/>
            </a:br>
            <a:r>
              <a:rPr lang="en-GB"/>
              <a:t>[</a:t>
            </a:r>
            <a:r>
              <a:rPr lang="en-US"/>
              <a:t>The image can then be scaled within the frame by </a:t>
            </a:r>
            <a:br>
              <a:rPr lang="en-US"/>
            </a:br>
            <a:r>
              <a:rPr lang="en-US"/>
              <a:t>using the ‘Crop’ feature in the ‘Picture Format’ tab </a:t>
            </a:r>
            <a:br>
              <a:rPr lang="en-US"/>
            </a:br>
            <a:r>
              <a:rPr lang="en-US"/>
              <a:t>of the ribbon. Right click on image to add/edit alt text]</a:t>
            </a:r>
            <a:endParaRPr lang="en-GB"/>
          </a:p>
        </p:txBody>
      </p:sp>
      <p:sp>
        <p:nvSpPr>
          <p:cNvPr id="36" name="Text Placeholder 7"/>
          <p:cNvSpPr>
            <a:spLocks noGrp="1"/>
          </p:cNvSpPr>
          <p:nvPr>
            <p:ph type="body" sz="quarter" idx="28" hasCustomPrompt="1"/>
          </p:nvPr>
        </p:nvSpPr>
        <p:spPr>
          <a:xfrm>
            <a:off x="6223001" y="5792438"/>
            <a:ext cx="5602287"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a:t>Insert Source text</a:t>
            </a:r>
          </a:p>
        </p:txBody>
      </p:sp>
      <p:sp>
        <p:nvSpPr>
          <p:cNvPr id="5" name="Date Placeholder 4"/>
          <p:cNvSpPr>
            <a:spLocks noGrp="1"/>
          </p:cNvSpPr>
          <p:nvPr>
            <p:ph type="dt" sz="half" idx="30"/>
          </p:nvPr>
        </p:nvSpPr>
        <p:spPr/>
        <p:txBody>
          <a:bodyPr/>
          <a:lstStyle>
            <a:lvl1pPr algn="r">
              <a:defRPr/>
            </a:lvl1pPr>
          </a:lstStyle>
          <a:p>
            <a:fld id="{64C94699-1A75-4D88-B4B7-1AA096341B78}" type="datetime4">
              <a:rPr lang="en-GB" smtClean="0"/>
              <a:t>20 July 2026</a:t>
            </a:fld>
            <a:endParaRPr lang="en-GB"/>
          </a:p>
        </p:txBody>
      </p:sp>
      <p:sp>
        <p:nvSpPr>
          <p:cNvPr id="7" name="Footer Placeholder 6"/>
          <p:cNvSpPr>
            <a:spLocks noGrp="1"/>
          </p:cNvSpPr>
          <p:nvPr>
            <p:ph type="ftr" sz="quarter" idx="31"/>
          </p:nvPr>
        </p:nvSpPr>
        <p:spPr/>
        <p:txBody>
          <a:bodyPr/>
          <a:lstStyle>
            <a:lvl1pPr>
              <a:defRPr/>
            </a:lvl1pPr>
          </a:lstStyle>
          <a:p>
            <a:r>
              <a:rPr lang="en-GB"/>
              <a:t>Confidential under GSK NDA</a:t>
            </a:r>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a:p>
        </p:txBody>
      </p:sp>
      <p:sp>
        <p:nvSpPr>
          <p:cNvPr id="12" name="Title 1">
            <a:extLst>
              <a:ext uri="{FF2B5EF4-FFF2-40B4-BE49-F238E27FC236}">
                <a16:creationId xmlns:a16="http://schemas.microsoft.com/office/drawing/2014/main" id="{A6A279A2-5C44-FF2E-B384-6E6E2D4B3927}"/>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AA0BC10E-676C-5CAF-16CC-96A54F223F7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3C5935EB-46DA-41B4-C62C-331192886E84}"/>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75280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wo Image and Text 2">
    <p:spTree>
      <p:nvGrpSpPr>
        <p:cNvPr id="1" name=""/>
        <p:cNvGrpSpPr/>
        <p:nvPr/>
      </p:nvGrpSpPr>
      <p:grpSpPr>
        <a:xfrm>
          <a:off x="0" y="0"/>
          <a:ext cx="0" cy="0"/>
          <a:chOff x="0" y="0"/>
          <a:chExt cx="0" cy="0"/>
        </a:xfrm>
      </p:grpSpPr>
      <p:sp>
        <p:nvSpPr>
          <p:cNvPr id="19" name="Text Placeholder 6"/>
          <p:cNvSpPr>
            <a:spLocks noGrp="1"/>
          </p:cNvSpPr>
          <p:nvPr>
            <p:ph type="body" sz="quarter" idx="13" hasCustomPrompt="1"/>
          </p:nvPr>
        </p:nvSpPr>
        <p:spPr>
          <a:xfrm>
            <a:off x="365125" y="1303338"/>
            <a:ext cx="3652838" cy="478592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a:t>Click to enter text content. </a:t>
            </a:r>
            <a:r>
              <a:rPr lang="en-US"/>
              <a:t>If text content appears too large please reduce the size of the font.</a:t>
            </a:r>
            <a:endParaRPr lang="en-GB"/>
          </a:p>
          <a:p>
            <a:pPr lvl="1"/>
            <a:r>
              <a:rPr lang="en-GB"/>
              <a:t>Second level</a:t>
            </a:r>
          </a:p>
          <a:p>
            <a:pPr lvl="2"/>
            <a:r>
              <a:rPr lang="en-GB"/>
              <a:t>Third level</a:t>
            </a:r>
          </a:p>
          <a:p>
            <a:pPr lvl="3"/>
            <a:r>
              <a:rPr lang="en-GB"/>
              <a:t>Fourth level</a:t>
            </a:r>
          </a:p>
          <a:p>
            <a:pPr lvl="4"/>
            <a:r>
              <a:rPr lang="en-GB"/>
              <a:t>Fifth level</a:t>
            </a:r>
          </a:p>
        </p:txBody>
      </p:sp>
      <p:sp>
        <p:nvSpPr>
          <p:cNvPr id="20" name="Picture Placeholder 8"/>
          <p:cNvSpPr>
            <a:spLocks noGrp="1"/>
          </p:cNvSpPr>
          <p:nvPr>
            <p:ph type="pic" sz="quarter" idx="14" hasCustomPrompt="1"/>
          </p:nvPr>
        </p:nvSpPr>
        <p:spPr>
          <a:xfrm>
            <a:off x="4270375" y="1303338"/>
            <a:ext cx="3649663" cy="4471820"/>
          </a:xfrm>
          <a:prstGeom prst="roundRect">
            <a:avLst>
              <a:gd name="adj" fmla="val 4843"/>
            </a:avLst>
          </a:prstGeom>
          <a:solidFill>
            <a:schemeClr val="bg1">
              <a:lumMod val="95000"/>
            </a:schemeClr>
          </a:solidFill>
          <a:ln>
            <a:noFill/>
          </a:ln>
        </p:spPr>
        <p:txBody>
          <a:bodyPr lIns="0" tIns="180000" rIns="0" bIns="72000" anchor="ctr">
            <a:normAutofit/>
          </a:bodyPr>
          <a:lstStyle>
            <a:lvl1pPr marL="0" indent="0" algn="ctr">
              <a:buNone/>
              <a:defRPr sz="18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endParaRPr lang="en-GB"/>
          </a:p>
        </p:txBody>
      </p:sp>
      <p:sp>
        <p:nvSpPr>
          <p:cNvPr id="21" name="Text Placeholder 7"/>
          <p:cNvSpPr>
            <a:spLocks noGrp="1"/>
          </p:cNvSpPr>
          <p:nvPr>
            <p:ph type="body" sz="quarter" idx="26" hasCustomPrompt="1"/>
          </p:nvPr>
        </p:nvSpPr>
        <p:spPr>
          <a:xfrm>
            <a:off x="4270376" y="5790465"/>
            <a:ext cx="3650970"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a:t>Insert Source text</a:t>
            </a:r>
          </a:p>
        </p:txBody>
      </p:sp>
      <p:sp>
        <p:nvSpPr>
          <p:cNvPr id="35" name="Picture Placeholder 8"/>
          <p:cNvSpPr>
            <a:spLocks noGrp="1"/>
          </p:cNvSpPr>
          <p:nvPr>
            <p:ph type="pic" sz="quarter" idx="27" hasCustomPrompt="1"/>
          </p:nvPr>
        </p:nvSpPr>
        <p:spPr>
          <a:xfrm>
            <a:off x="8172450" y="1303338"/>
            <a:ext cx="3650400" cy="4471200"/>
          </a:xfrm>
          <a:prstGeom prst="roundRect">
            <a:avLst>
              <a:gd name="adj" fmla="val 5084"/>
            </a:avLst>
          </a:prstGeom>
          <a:solidFill>
            <a:schemeClr val="bg1">
              <a:lumMod val="95000"/>
            </a:schemeClr>
          </a:solidFill>
          <a:ln>
            <a:noFill/>
          </a:ln>
        </p:spPr>
        <p:txBody>
          <a:bodyPr lIns="0" tIns="180000" rIns="0" bIns="72000" anchor="ctr">
            <a:normAutofit/>
          </a:bodyPr>
          <a:lstStyle>
            <a:lvl1pPr marL="0" indent="0" algn="ctr">
              <a:buNone/>
              <a:defRPr sz="18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endParaRPr lang="en-GB"/>
          </a:p>
        </p:txBody>
      </p:sp>
      <p:sp>
        <p:nvSpPr>
          <p:cNvPr id="36" name="Text Placeholder 7"/>
          <p:cNvSpPr>
            <a:spLocks noGrp="1"/>
          </p:cNvSpPr>
          <p:nvPr>
            <p:ph type="body" sz="quarter" idx="28" hasCustomPrompt="1"/>
          </p:nvPr>
        </p:nvSpPr>
        <p:spPr>
          <a:xfrm>
            <a:off x="8172450" y="5792438"/>
            <a:ext cx="3652838"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a:t>Insert Source text</a:t>
            </a:r>
          </a:p>
        </p:txBody>
      </p:sp>
      <p:sp>
        <p:nvSpPr>
          <p:cNvPr id="5" name="Date Placeholder 4"/>
          <p:cNvSpPr>
            <a:spLocks noGrp="1"/>
          </p:cNvSpPr>
          <p:nvPr>
            <p:ph type="dt" sz="half" idx="30"/>
          </p:nvPr>
        </p:nvSpPr>
        <p:spPr/>
        <p:txBody>
          <a:bodyPr/>
          <a:lstStyle>
            <a:lvl1pPr algn="r">
              <a:defRPr/>
            </a:lvl1pPr>
          </a:lstStyle>
          <a:p>
            <a:fld id="{5751587C-CA36-4FF9-B8BA-9C79629F334D}" type="datetime4">
              <a:rPr lang="en-GB" smtClean="0"/>
              <a:t>20 July 2026</a:t>
            </a:fld>
            <a:endParaRPr lang="en-GB"/>
          </a:p>
        </p:txBody>
      </p:sp>
      <p:sp>
        <p:nvSpPr>
          <p:cNvPr id="7" name="Footer Placeholder 6"/>
          <p:cNvSpPr>
            <a:spLocks noGrp="1"/>
          </p:cNvSpPr>
          <p:nvPr>
            <p:ph type="ftr" sz="quarter" idx="31"/>
          </p:nvPr>
        </p:nvSpPr>
        <p:spPr/>
        <p:txBody>
          <a:bodyPr/>
          <a:lstStyle>
            <a:lvl1pPr>
              <a:defRPr/>
            </a:lvl1pPr>
          </a:lstStyle>
          <a:p>
            <a:r>
              <a:rPr lang="en-GB"/>
              <a:t>Confidential under GSK NDA</a:t>
            </a:r>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a:p>
        </p:txBody>
      </p:sp>
      <p:sp>
        <p:nvSpPr>
          <p:cNvPr id="12" name="Title 1">
            <a:extLst>
              <a:ext uri="{FF2B5EF4-FFF2-40B4-BE49-F238E27FC236}">
                <a16:creationId xmlns:a16="http://schemas.microsoft.com/office/drawing/2014/main" id="{62258698-286C-88FD-70CB-ECDC7EEFE76B}"/>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9D5C8553-9D06-642B-D0A0-1E6DF4F5CE6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6C8E6EBF-1077-88CA-250A-BC3D173D625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2660521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7CB5633-6431-4284-9ADB-4E6151258883}"/>
              </a:ext>
            </a:extLst>
          </p:cNvPr>
          <p:cNvSpPr>
            <a:spLocks noGrp="1"/>
          </p:cNvSpPr>
          <p:nvPr>
            <p:ph type="dt" sz="half" idx="30"/>
          </p:nvPr>
        </p:nvSpPr>
        <p:spPr/>
        <p:txBody>
          <a:bodyPr/>
          <a:lstStyle/>
          <a:p>
            <a:fld id="{32A6E505-E66F-442E-992C-E3CD1456BDFF}" type="datetime4">
              <a:rPr lang="en-GB" smtClean="0"/>
              <a:t>20 July 2026</a:t>
            </a:fld>
            <a:endParaRPr lang="en-GB"/>
          </a:p>
        </p:txBody>
      </p:sp>
      <p:sp>
        <p:nvSpPr>
          <p:cNvPr id="5" name="Footer Placeholder 4">
            <a:extLst>
              <a:ext uri="{FF2B5EF4-FFF2-40B4-BE49-F238E27FC236}">
                <a16:creationId xmlns:a16="http://schemas.microsoft.com/office/drawing/2014/main" id="{195C4D40-638F-40AA-882E-9A6164C79568}"/>
              </a:ext>
            </a:extLst>
          </p:cNvPr>
          <p:cNvSpPr>
            <a:spLocks noGrp="1"/>
          </p:cNvSpPr>
          <p:nvPr>
            <p:ph type="ftr" sz="quarter" idx="31"/>
          </p:nvPr>
        </p:nvSpPr>
        <p:spPr/>
        <p:txBody>
          <a:bodyPr/>
          <a:lstStyle/>
          <a:p>
            <a:r>
              <a:rPr lang="en-GB"/>
              <a:t>Confidential under GSK NDA</a:t>
            </a:r>
          </a:p>
        </p:txBody>
      </p:sp>
      <p:sp>
        <p:nvSpPr>
          <p:cNvPr id="9" name="Slide Number Placeholder 8">
            <a:extLst>
              <a:ext uri="{FF2B5EF4-FFF2-40B4-BE49-F238E27FC236}">
                <a16:creationId xmlns:a16="http://schemas.microsoft.com/office/drawing/2014/main" id="{223E44AE-F798-4C55-8F91-872E4A737927}"/>
              </a:ext>
            </a:extLst>
          </p:cNvPr>
          <p:cNvSpPr>
            <a:spLocks noGrp="1"/>
          </p:cNvSpPr>
          <p:nvPr>
            <p:ph type="sldNum" sz="quarter" idx="32"/>
          </p:nvPr>
        </p:nvSpPr>
        <p:spPr/>
        <p:txBody>
          <a:bodyPr/>
          <a:lstStyle/>
          <a:p>
            <a:fld id="{9F9F533D-B52E-4A2F-BF72-0ADD2D94BD75}" type="slidenum">
              <a:rPr lang="en-GB" smtClean="0"/>
              <a:pPr/>
              <a:t>‹#›</a:t>
            </a:fld>
            <a:endParaRPr lang="en-GB"/>
          </a:p>
        </p:txBody>
      </p:sp>
      <p:sp>
        <p:nvSpPr>
          <p:cNvPr id="3" name="Text Placeholder 2">
            <a:extLst>
              <a:ext uri="{FF2B5EF4-FFF2-40B4-BE49-F238E27FC236}">
                <a16:creationId xmlns:a16="http://schemas.microsoft.com/office/drawing/2014/main" id="{328B3A39-D8B7-A2C0-89DB-5314F345D351}"/>
              </a:ext>
            </a:extLst>
          </p:cNvPr>
          <p:cNvSpPr>
            <a:spLocks noGrp="1"/>
          </p:cNvSpPr>
          <p:nvPr>
            <p:ph type="body" sz="quarter" idx="33" hasCustomPrompt="1"/>
          </p:nvPr>
        </p:nvSpPr>
        <p:spPr>
          <a:xfrm>
            <a:off x="365125" y="5792400"/>
            <a:ext cx="11460163"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
        <p:nvSpPr>
          <p:cNvPr id="7" name="Table Placeholder 6">
            <a:extLst>
              <a:ext uri="{FF2B5EF4-FFF2-40B4-BE49-F238E27FC236}">
                <a16:creationId xmlns:a16="http://schemas.microsoft.com/office/drawing/2014/main" id="{2E2FA657-3A41-6C8A-7C73-5FF4D5761F76}"/>
              </a:ext>
            </a:extLst>
          </p:cNvPr>
          <p:cNvSpPr>
            <a:spLocks noGrp="1"/>
          </p:cNvSpPr>
          <p:nvPr>
            <p:ph type="tbl" sz="quarter" idx="34" hasCustomPrompt="1"/>
          </p:nvPr>
        </p:nvSpPr>
        <p:spPr>
          <a:xfrm>
            <a:off x="365119" y="1303338"/>
            <a:ext cx="11459625" cy="4489450"/>
          </a:xfrm>
        </p:spPr>
        <p:txBody>
          <a:bodyPr lIns="0" rIns="0">
            <a:noAutofit/>
          </a:bodyPr>
          <a:lstStyle>
            <a:lvl1pPr>
              <a:defRPr/>
            </a:lvl1pPr>
          </a:lstStyle>
          <a:p>
            <a:r>
              <a:rPr lang="en-GB"/>
              <a:t>Click TABLE icon to insert table.</a:t>
            </a:r>
          </a:p>
        </p:txBody>
      </p:sp>
      <p:sp>
        <p:nvSpPr>
          <p:cNvPr id="10" name="Title 1">
            <a:extLst>
              <a:ext uri="{FF2B5EF4-FFF2-40B4-BE49-F238E27FC236}">
                <a16:creationId xmlns:a16="http://schemas.microsoft.com/office/drawing/2014/main" id="{F7A4EB32-D948-C409-F1E5-9F712310D58D}"/>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1E30107F-6B57-65E7-BD35-CCB493B8D6D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0F611BFB-31C6-6656-90B9-BB1C81967B2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472851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nd Graph">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7CB5633-6431-4284-9ADB-4E6151258883}"/>
              </a:ext>
            </a:extLst>
          </p:cNvPr>
          <p:cNvSpPr>
            <a:spLocks noGrp="1"/>
          </p:cNvSpPr>
          <p:nvPr>
            <p:ph type="dt" sz="half" idx="30"/>
          </p:nvPr>
        </p:nvSpPr>
        <p:spPr/>
        <p:txBody>
          <a:bodyPr/>
          <a:lstStyle/>
          <a:p>
            <a:fld id="{9D469E59-DCB1-4FAC-A62F-995BB4583D82}" type="datetime4">
              <a:rPr lang="en-GB" smtClean="0"/>
              <a:t>20 July 2026</a:t>
            </a:fld>
            <a:endParaRPr lang="en-GB"/>
          </a:p>
        </p:txBody>
      </p:sp>
      <p:sp>
        <p:nvSpPr>
          <p:cNvPr id="5" name="Footer Placeholder 4">
            <a:extLst>
              <a:ext uri="{FF2B5EF4-FFF2-40B4-BE49-F238E27FC236}">
                <a16:creationId xmlns:a16="http://schemas.microsoft.com/office/drawing/2014/main" id="{195C4D40-638F-40AA-882E-9A6164C79568}"/>
              </a:ext>
            </a:extLst>
          </p:cNvPr>
          <p:cNvSpPr>
            <a:spLocks noGrp="1"/>
          </p:cNvSpPr>
          <p:nvPr>
            <p:ph type="ftr" sz="quarter" idx="31"/>
          </p:nvPr>
        </p:nvSpPr>
        <p:spPr/>
        <p:txBody>
          <a:bodyPr/>
          <a:lstStyle/>
          <a:p>
            <a:r>
              <a:rPr lang="en-GB"/>
              <a:t>Confidential under GSK NDA</a:t>
            </a:r>
          </a:p>
        </p:txBody>
      </p:sp>
      <p:sp>
        <p:nvSpPr>
          <p:cNvPr id="9" name="Slide Number Placeholder 8">
            <a:extLst>
              <a:ext uri="{FF2B5EF4-FFF2-40B4-BE49-F238E27FC236}">
                <a16:creationId xmlns:a16="http://schemas.microsoft.com/office/drawing/2014/main" id="{223E44AE-F798-4C55-8F91-872E4A737927}"/>
              </a:ext>
            </a:extLst>
          </p:cNvPr>
          <p:cNvSpPr>
            <a:spLocks noGrp="1"/>
          </p:cNvSpPr>
          <p:nvPr>
            <p:ph type="sldNum" sz="quarter" idx="32"/>
          </p:nvPr>
        </p:nvSpPr>
        <p:spPr/>
        <p:txBody>
          <a:bodyPr/>
          <a:lstStyle/>
          <a:p>
            <a:fld id="{9F9F533D-B52E-4A2F-BF72-0ADD2D94BD75}" type="slidenum">
              <a:rPr lang="en-GB" smtClean="0"/>
              <a:pPr/>
              <a:t>‹#›</a:t>
            </a:fld>
            <a:endParaRPr lang="en-GB"/>
          </a:p>
        </p:txBody>
      </p:sp>
      <p:sp>
        <p:nvSpPr>
          <p:cNvPr id="3" name="Text Placeholder 2">
            <a:extLst>
              <a:ext uri="{FF2B5EF4-FFF2-40B4-BE49-F238E27FC236}">
                <a16:creationId xmlns:a16="http://schemas.microsoft.com/office/drawing/2014/main" id="{328B3A39-D8B7-A2C0-89DB-5314F345D351}"/>
              </a:ext>
            </a:extLst>
          </p:cNvPr>
          <p:cNvSpPr>
            <a:spLocks noGrp="1"/>
          </p:cNvSpPr>
          <p:nvPr>
            <p:ph type="body" sz="quarter" idx="33" hasCustomPrompt="1"/>
          </p:nvPr>
        </p:nvSpPr>
        <p:spPr>
          <a:xfrm>
            <a:off x="366713" y="5792400"/>
            <a:ext cx="11460164"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
        <p:nvSpPr>
          <p:cNvPr id="7" name="Chart Placeholder 6">
            <a:extLst>
              <a:ext uri="{FF2B5EF4-FFF2-40B4-BE49-F238E27FC236}">
                <a16:creationId xmlns:a16="http://schemas.microsoft.com/office/drawing/2014/main" id="{8994D5C1-7836-1E91-87FA-56E472221EB3}"/>
              </a:ext>
            </a:extLst>
          </p:cNvPr>
          <p:cNvSpPr>
            <a:spLocks noGrp="1"/>
          </p:cNvSpPr>
          <p:nvPr>
            <p:ph type="chart" sz="quarter" idx="34" hasCustomPrompt="1"/>
          </p:nvPr>
        </p:nvSpPr>
        <p:spPr>
          <a:xfrm>
            <a:off x="365125" y="1303338"/>
            <a:ext cx="11460163" cy="4489062"/>
          </a:xfrm>
        </p:spPr>
        <p:txBody>
          <a:bodyPr lIns="0" rIns="0">
            <a:noAutofit/>
          </a:bodyPr>
          <a:lstStyle>
            <a:lvl1pPr>
              <a:defRPr/>
            </a:lvl1pPr>
          </a:lstStyle>
          <a:p>
            <a:r>
              <a:rPr lang="en-GB"/>
              <a:t>Click CHART icons to insert chart.</a:t>
            </a:r>
            <a:br>
              <a:rPr lang="en-GB"/>
            </a:br>
            <a:r>
              <a:rPr lang="en-US"/>
              <a:t>Please ensure your chart title, legend, x and y axis titles are minimum 12 </a:t>
            </a:r>
            <a:r>
              <a:rPr lang="en-US" err="1"/>
              <a:t>pt</a:t>
            </a:r>
            <a:r>
              <a:rPr lang="en-US"/>
              <a:t>, Arial black for accessibility. </a:t>
            </a:r>
          </a:p>
          <a:p>
            <a:endParaRPr lang="en-GB"/>
          </a:p>
          <a:p>
            <a:endParaRPr lang="en-GB"/>
          </a:p>
        </p:txBody>
      </p:sp>
      <p:sp>
        <p:nvSpPr>
          <p:cNvPr id="10" name="Title 1">
            <a:extLst>
              <a:ext uri="{FF2B5EF4-FFF2-40B4-BE49-F238E27FC236}">
                <a16:creationId xmlns:a16="http://schemas.microsoft.com/office/drawing/2014/main" id="{20CCEE79-8221-4C6C-2397-0791C954AA8D}"/>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4091ECF0-259D-F144-9708-B8296C87B04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C3FC0E92-53E2-6353-15B7-7028E9E80A82}"/>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512310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2E57A6D-CCB0-DF2D-0D9A-6184CE396941}"/>
              </a:ext>
            </a:extLst>
          </p:cNvPr>
          <p:cNvSpPr>
            <a:spLocks noGrp="1"/>
          </p:cNvSpPr>
          <p:nvPr>
            <p:ph type="ftr" sz="quarter" idx="10"/>
          </p:nvPr>
        </p:nvSpPr>
        <p:spPr/>
        <p:txBody>
          <a:bodyPr/>
          <a:lstStyle/>
          <a:p>
            <a:r>
              <a:rPr lang="en-GB"/>
              <a:t>Confidential under GSK NDA</a:t>
            </a:r>
          </a:p>
        </p:txBody>
      </p:sp>
      <p:sp>
        <p:nvSpPr>
          <p:cNvPr id="4" name="Slide Number Placeholder 3">
            <a:extLst>
              <a:ext uri="{FF2B5EF4-FFF2-40B4-BE49-F238E27FC236}">
                <a16:creationId xmlns:a16="http://schemas.microsoft.com/office/drawing/2014/main" id="{FC42BDB7-A7FE-AA4E-3952-EBCCAC237C98}"/>
              </a:ext>
            </a:extLst>
          </p:cNvPr>
          <p:cNvSpPr>
            <a:spLocks noGrp="1"/>
          </p:cNvSpPr>
          <p:nvPr>
            <p:ph type="sldNum" sz="quarter" idx="11"/>
          </p:nvPr>
        </p:nvSpPr>
        <p:spPr/>
        <p:txBody>
          <a:bodyPr/>
          <a:lstStyle/>
          <a:p>
            <a:fld id="{9F9F533D-B52E-4A2F-BF72-0ADD2D94BD75}" type="slidenum">
              <a:rPr lang="en-GB" smtClean="0"/>
              <a:pPr/>
              <a:t>‹#›</a:t>
            </a:fld>
            <a:endParaRPr lang="en-GB"/>
          </a:p>
        </p:txBody>
      </p:sp>
      <p:sp>
        <p:nvSpPr>
          <p:cNvPr id="5" name="Date Placeholder 4">
            <a:extLst>
              <a:ext uri="{FF2B5EF4-FFF2-40B4-BE49-F238E27FC236}">
                <a16:creationId xmlns:a16="http://schemas.microsoft.com/office/drawing/2014/main" id="{676D6505-B9A2-3A36-B9B6-3E3CF07A64AF}"/>
              </a:ext>
            </a:extLst>
          </p:cNvPr>
          <p:cNvSpPr>
            <a:spLocks noGrp="1"/>
          </p:cNvSpPr>
          <p:nvPr>
            <p:ph type="dt" sz="half" idx="12"/>
          </p:nvPr>
        </p:nvSpPr>
        <p:spPr/>
        <p:txBody>
          <a:bodyPr/>
          <a:lstStyle/>
          <a:p>
            <a:fld id="{5520DCA0-AEE5-4642-B561-3A2E84B4FD40}" type="datetime4">
              <a:rPr lang="en-GB" smtClean="0"/>
              <a:t>20 July 2026</a:t>
            </a:fld>
            <a:endParaRPr lang="en-GB"/>
          </a:p>
        </p:txBody>
      </p:sp>
      <p:sp>
        <p:nvSpPr>
          <p:cNvPr id="7" name="Text Placeholder 6">
            <a:extLst>
              <a:ext uri="{FF2B5EF4-FFF2-40B4-BE49-F238E27FC236}">
                <a16:creationId xmlns:a16="http://schemas.microsoft.com/office/drawing/2014/main" id="{4B3924AB-56D4-343D-306B-195A924E9EF9}"/>
              </a:ext>
            </a:extLst>
          </p:cNvPr>
          <p:cNvSpPr>
            <a:spLocks noGrp="1"/>
          </p:cNvSpPr>
          <p:nvPr>
            <p:ph type="body" sz="quarter" idx="13" hasCustomPrompt="1"/>
          </p:nvPr>
        </p:nvSpPr>
        <p:spPr>
          <a:xfrm>
            <a:off x="365125" y="5792400"/>
            <a:ext cx="11460164"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
        <p:nvSpPr>
          <p:cNvPr id="8" name="Title 1">
            <a:extLst>
              <a:ext uri="{FF2B5EF4-FFF2-40B4-BE49-F238E27FC236}">
                <a16:creationId xmlns:a16="http://schemas.microsoft.com/office/drawing/2014/main" id="{3484351E-5906-1465-ED52-DA75D3630DE8}"/>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9" name="Subtitle 2">
            <a:extLst>
              <a:ext uri="{FF2B5EF4-FFF2-40B4-BE49-F238E27FC236}">
                <a16:creationId xmlns:a16="http://schemas.microsoft.com/office/drawing/2014/main" id="{62BDBB70-10FD-DDED-C062-9AA92765646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2" name="Freeform: Shape 11">
            <a:extLst>
              <a:ext uri="{FF2B5EF4-FFF2-40B4-BE49-F238E27FC236}">
                <a16:creationId xmlns:a16="http://schemas.microsoft.com/office/drawing/2014/main" id="{8DBDFC7D-EB75-1C71-FBB6-74679DF5FB23}"/>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3479315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DFB0EC8B-993B-9701-B3D4-2FBFA2652AA7}"/>
              </a:ext>
            </a:extLst>
          </p:cNvPr>
          <p:cNvSpPr>
            <a:spLocks noGrp="1"/>
          </p:cNvSpPr>
          <p:nvPr>
            <p:ph type="dt" sz="half" idx="11"/>
          </p:nvPr>
        </p:nvSpPr>
        <p:spPr/>
        <p:txBody>
          <a:bodyPr/>
          <a:lstStyle>
            <a:lvl1pPr>
              <a:defRPr>
                <a:solidFill>
                  <a:schemeClr val="bg1"/>
                </a:solidFill>
              </a:defRPr>
            </a:lvl1pPr>
          </a:lstStyle>
          <a:p>
            <a:fld id="{2AFAC40B-5037-4DF6-8755-EACAB042BF4E}" type="datetime4">
              <a:rPr lang="en-GB" smtClean="0"/>
              <a:t>20 July 2026</a:t>
            </a:fld>
            <a:endParaRPr lang="en-GB"/>
          </a:p>
        </p:txBody>
      </p:sp>
      <p:sp>
        <p:nvSpPr>
          <p:cNvPr id="11" name="Footer Placeholder 10">
            <a:extLst>
              <a:ext uri="{FF2B5EF4-FFF2-40B4-BE49-F238E27FC236}">
                <a16:creationId xmlns:a16="http://schemas.microsoft.com/office/drawing/2014/main" id="{F4B64CB0-473B-DCCB-4EF6-AD2596727230}"/>
              </a:ext>
            </a:extLst>
          </p:cNvPr>
          <p:cNvSpPr>
            <a:spLocks noGrp="1"/>
          </p:cNvSpPr>
          <p:nvPr>
            <p:ph type="ftr" sz="quarter" idx="12"/>
          </p:nvPr>
        </p:nvSpPr>
        <p:spPr/>
        <p:txBody>
          <a:bodyPr/>
          <a:lstStyle>
            <a:lvl1pPr>
              <a:defRPr>
                <a:solidFill>
                  <a:schemeClr val="bg1"/>
                </a:solidFill>
              </a:defRPr>
            </a:lvl1pPr>
          </a:lstStyle>
          <a:p>
            <a:r>
              <a:rPr lang="en-GB"/>
              <a:t>Confidential under GSK NDA</a:t>
            </a:r>
          </a:p>
        </p:txBody>
      </p:sp>
      <p:sp>
        <p:nvSpPr>
          <p:cNvPr id="12" name="Slide Number Placeholder 11">
            <a:extLst>
              <a:ext uri="{FF2B5EF4-FFF2-40B4-BE49-F238E27FC236}">
                <a16:creationId xmlns:a16="http://schemas.microsoft.com/office/drawing/2014/main" id="{C70C223B-EC3F-01A9-ECD3-7E6A591C405E}"/>
              </a:ext>
            </a:extLst>
          </p:cNvPr>
          <p:cNvSpPr>
            <a:spLocks noGrp="1"/>
          </p:cNvSpPr>
          <p:nvPr>
            <p:ph type="sldNum" sz="quarter" idx="13"/>
          </p:nvPr>
        </p:nvSpPr>
        <p:spPr/>
        <p:txBody>
          <a:bodyPr/>
          <a:lstStyle>
            <a:lvl1pPr>
              <a:defRPr>
                <a:solidFill>
                  <a:schemeClr val="bg1"/>
                </a:solidFill>
              </a:defRPr>
            </a:lvl1pPr>
          </a:lstStyle>
          <a:p>
            <a:fld id="{9F9F533D-B52E-4A2F-BF72-0ADD2D94BD75}" type="slidenum">
              <a:rPr lang="en-GB" smtClean="0"/>
              <a:pPr/>
              <a:t>‹#›</a:t>
            </a:fld>
            <a:endParaRPr lang="en-GB"/>
          </a:p>
        </p:txBody>
      </p:sp>
      <p:sp>
        <p:nvSpPr>
          <p:cNvPr id="13" name="Text Placeholder 2">
            <a:extLst>
              <a:ext uri="{FF2B5EF4-FFF2-40B4-BE49-F238E27FC236}">
                <a16:creationId xmlns:a16="http://schemas.microsoft.com/office/drawing/2014/main" id="{B3466546-C07E-BFBF-4B2F-E4D299013F56}"/>
              </a:ext>
            </a:extLst>
          </p:cNvPr>
          <p:cNvSpPr>
            <a:spLocks noGrp="1"/>
          </p:cNvSpPr>
          <p:nvPr>
            <p:ph type="body" sz="quarter" idx="33" hasCustomPrompt="1"/>
          </p:nvPr>
        </p:nvSpPr>
        <p:spPr>
          <a:xfrm>
            <a:off x="364800" y="5792400"/>
            <a:ext cx="11460164" cy="298800"/>
          </a:xfrm>
        </p:spPr>
        <p:txBody>
          <a:bodyPr lIns="0" tIns="72000" rIns="0" bIns="72000" anchor="b">
            <a:noAutofit/>
          </a:bodyPr>
          <a:lstStyle>
            <a:lvl1pPr marL="0" indent="0">
              <a:buNone/>
              <a:defRPr sz="1200">
                <a:solidFill>
                  <a:schemeClr val="bg1"/>
                </a:solidFill>
              </a:defRPr>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pic>
        <p:nvPicPr>
          <p:cNvPr id="6" name="Graphic 5">
            <a:extLst>
              <a:ext uri="{FF2B5EF4-FFF2-40B4-BE49-F238E27FC236}">
                <a16:creationId xmlns:a16="http://schemas.microsoft.com/office/drawing/2014/main" id="{A8F5241F-6CBA-AE82-8AEE-138E90E20FA2}"/>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7328" t="12162" r="1499" b="12843"/>
          <a:stretch/>
        </p:blipFill>
        <p:spPr>
          <a:xfrm>
            <a:off x="219299" y="6191252"/>
            <a:ext cx="1215582" cy="563804"/>
          </a:xfrm>
          <a:prstGeom prst="rect">
            <a:avLst/>
          </a:prstGeom>
        </p:spPr>
      </p:pic>
      <p:sp>
        <p:nvSpPr>
          <p:cNvPr id="9" name="Title 1">
            <a:extLst>
              <a:ext uri="{FF2B5EF4-FFF2-40B4-BE49-F238E27FC236}">
                <a16:creationId xmlns:a16="http://schemas.microsoft.com/office/drawing/2014/main" id="{70C54E86-8E74-E1E1-9919-BF95D8B21B8F}"/>
              </a:ext>
            </a:extLst>
          </p:cNvPr>
          <p:cNvSpPr>
            <a:spLocks noGrp="1"/>
          </p:cNvSpPr>
          <p:nvPr>
            <p:ph type="title"/>
          </p:nvPr>
        </p:nvSpPr>
        <p:spPr>
          <a:xfrm>
            <a:off x="365125" y="242888"/>
            <a:ext cx="11460163" cy="430887"/>
          </a:xfrm>
        </p:spPr>
        <p:txBody>
          <a:bodyPr/>
          <a:lstStyle>
            <a:lvl1pPr>
              <a:defRPr>
                <a:solidFill>
                  <a:schemeClr val="bg1"/>
                </a:solidFill>
              </a:defRPr>
            </a:lvl1pPr>
          </a:lstStyle>
          <a:p>
            <a:r>
              <a:rPr lang="en-US"/>
              <a:t>Click to edit Master title style</a:t>
            </a:r>
          </a:p>
        </p:txBody>
      </p:sp>
      <p:sp>
        <p:nvSpPr>
          <p:cNvPr id="14" name="Subtitle 2">
            <a:extLst>
              <a:ext uri="{FF2B5EF4-FFF2-40B4-BE49-F238E27FC236}">
                <a16:creationId xmlns:a16="http://schemas.microsoft.com/office/drawing/2014/main" id="{5936C739-784E-0B16-D78E-DAACEC459BEA}"/>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7" name="Freeform: Shape 16">
            <a:extLst>
              <a:ext uri="{FF2B5EF4-FFF2-40B4-BE49-F238E27FC236}">
                <a16:creationId xmlns:a16="http://schemas.microsoft.com/office/drawing/2014/main" id="{A8BE41CA-ABEC-55CB-D62E-31831DAD300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2834900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C3EA56-5111-4037-9D95-99472C98B371}"/>
              </a:ext>
            </a:extLst>
          </p:cNvPr>
          <p:cNvSpPr>
            <a:spLocks noGrp="1"/>
          </p:cNvSpPr>
          <p:nvPr>
            <p:ph type="dt" sz="half" idx="10"/>
          </p:nvPr>
        </p:nvSpPr>
        <p:spPr/>
        <p:txBody>
          <a:bodyPr/>
          <a:lstStyle/>
          <a:p>
            <a:fld id="{E585EEC5-210C-4D21-9A80-DD3B127DF1A1}" type="datetime4">
              <a:rPr lang="en-GB" smtClean="0"/>
              <a:t>20 July 2026</a:t>
            </a:fld>
            <a:endParaRPr lang="en-GB"/>
          </a:p>
        </p:txBody>
      </p:sp>
      <p:sp>
        <p:nvSpPr>
          <p:cNvPr id="3" name="Footer Placeholder 2">
            <a:extLst>
              <a:ext uri="{FF2B5EF4-FFF2-40B4-BE49-F238E27FC236}">
                <a16:creationId xmlns:a16="http://schemas.microsoft.com/office/drawing/2014/main" id="{D0CE7BCF-23E0-421B-8A21-1CDDB167314E}"/>
              </a:ext>
            </a:extLst>
          </p:cNvPr>
          <p:cNvSpPr>
            <a:spLocks noGrp="1"/>
          </p:cNvSpPr>
          <p:nvPr>
            <p:ph type="ftr" sz="quarter" idx="11"/>
          </p:nvPr>
        </p:nvSpPr>
        <p:spPr/>
        <p:txBody>
          <a:bodyPr/>
          <a:lstStyle/>
          <a:p>
            <a:r>
              <a:rPr lang="en-GB"/>
              <a:t>Confidential under GSK NDA</a:t>
            </a:r>
          </a:p>
        </p:txBody>
      </p:sp>
      <p:sp>
        <p:nvSpPr>
          <p:cNvPr id="4" name="Slide Number Placeholder 3">
            <a:extLst>
              <a:ext uri="{FF2B5EF4-FFF2-40B4-BE49-F238E27FC236}">
                <a16:creationId xmlns:a16="http://schemas.microsoft.com/office/drawing/2014/main" id="{FB1F21D1-F1DD-4945-8EF8-43393EDC3F66}"/>
              </a:ext>
            </a:extLst>
          </p:cNvPr>
          <p:cNvSpPr>
            <a:spLocks noGrp="1"/>
          </p:cNvSpPr>
          <p:nvPr>
            <p:ph type="sldNum" sz="quarter" idx="12"/>
          </p:nvPr>
        </p:nvSpPr>
        <p:spPr/>
        <p:txBody>
          <a:bodyPr/>
          <a:lstStyle/>
          <a:p>
            <a:fld id="{9F9F533D-B52E-4A2F-BF72-0ADD2D94BD75}" type="slidenum">
              <a:rPr lang="en-GB" smtClean="0"/>
              <a:pPr/>
              <a:t>‹#›</a:t>
            </a:fld>
            <a:endParaRPr lang="en-GB"/>
          </a:p>
        </p:txBody>
      </p:sp>
      <p:sp>
        <p:nvSpPr>
          <p:cNvPr id="7" name="Text Placeholder 6">
            <a:extLst>
              <a:ext uri="{FF2B5EF4-FFF2-40B4-BE49-F238E27FC236}">
                <a16:creationId xmlns:a16="http://schemas.microsoft.com/office/drawing/2014/main" id="{F2A2858F-078E-2E59-C8A6-5102082DA345}"/>
              </a:ext>
            </a:extLst>
          </p:cNvPr>
          <p:cNvSpPr>
            <a:spLocks noGrp="1"/>
          </p:cNvSpPr>
          <p:nvPr>
            <p:ph type="body" sz="quarter" idx="13" hasCustomPrompt="1"/>
          </p:nvPr>
        </p:nvSpPr>
        <p:spPr>
          <a:xfrm>
            <a:off x="365125" y="5792400"/>
            <a:ext cx="11460164"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Tree>
    <p:extLst>
      <p:ext uri="{BB962C8B-B14F-4D97-AF65-F5344CB8AC3E}">
        <p14:creationId xmlns:p14="http://schemas.microsoft.com/office/powerpoint/2010/main" val="779165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F7EFD61-0B79-2619-1483-7B804B2C82CE}"/>
              </a:ext>
            </a:extLst>
          </p:cNvPr>
          <p:cNvSpPr>
            <a:spLocks noGrp="1"/>
          </p:cNvSpPr>
          <p:nvPr>
            <p:ph type="title" hasCustomPrompt="1"/>
          </p:nvPr>
        </p:nvSpPr>
        <p:spPr>
          <a:xfrm>
            <a:off x="365125" y="3235800"/>
            <a:ext cx="11460163" cy="1260000"/>
          </a:xfrm>
        </p:spPr>
        <p:txBody>
          <a:bodyPr>
            <a:normAutofit/>
          </a:bodyPr>
          <a:lstStyle>
            <a:lvl1pPr>
              <a:defRPr sz="3600"/>
            </a:lvl1pPr>
          </a:lstStyle>
          <a:p>
            <a:r>
              <a:rPr lang="en-US"/>
              <a:t>Click to enter section header title</a:t>
            </a:r>
          </a:p>
        </p:txBody>
      </p:sp>
      <p:sp>
        <p:nvSpPr>
          <p:cNvPr id="9" name="Subtitle 2">
            <a:extLst>
              <a:ext uri="{FF2B5EF4-FFF2-40B4-BE49-F238E27FC236}">
                <a16:creationId xmlns:a16="http://schemas.microsoft.com/office/drawing/2014/main" id="{BBC9BD8C-031D-7F0A-C46B-D38FB0136781}"/>
              </a:ext>
            </a:extLst>
          </p:cNvPr>
          <p:cNvSpPr>
            <a:spLocks noGrp="1"/>
          </p:cNvSpPr>
          <p:nvPr>
            <p:ph type="subTitle" idx="1" hasCustomPrompt="1"/>
          </p:nvPr>
        </p:nvSpPr>
        <p:spPr>
          <a:xfrm>
            <a:off x="365125" y="4514654"/>
            <a:ext cx="11460164" cy="475200"/>
          </a:xfrm>
          <a:prstGeom prst="rect">
            <a:avLst/>
          </a:prstGeom>
        </p:spPr>
        <p:txBody>
          <a:bodyPr wrap="square" lIns="0" tIns="0" rIns="0" bIns="0" anchor="t" anchorCtr="0">
            <a:normAutofit/>
          </a:bodyPr>
          <a:lstStyle>
            <a:lvl1pPr marL="0" indent="0" algn="l">
              <a:spcBef>
                <a:spcPts val="0"/>
              </a:spcBef>
              <a:spcAft>
                <a:spcPts val="0"/>
              </a:spcAft>
              <a:buNone/>
              <a:defRPr sz="2800" i="0">
                <a:solidFill>
                  <a:schemeClr val="tx2"/>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section subtitle</a:t>
            </a:r>
          </a:p>
        </p:txBody>
      </p:sp>
      <p:pic>
        <p:nvPicPr>
          <p:cNvPr id="10" name="Graphic 9">
            <a:extLst>
              <a:ext uri="{FF2B5EF4-FFF2-40B4-BE49-F238E27FC236}">
                <a16:creationId xmlns:a16="http://schemas.microsoft.com/office/drawing/2014/main" id="{0B01FA46-1D8D-93AD-9A24-7740D438F0B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37175" y="5967611"/>
            <a:ext cx="1401150" cy="422366"/>
          </a:xfrm>
          <a:prstGeom prst="rect">
            <a:avLst/>
          </a:prstGeom>
        </p:spPr>
      </p:pic>
    </p:spTree>
    <p:extLst>
      <p:ext uri="{BB962C8B-B14F-4D97-AF65-F5344CB8AC3E}">
        <p14:creationId xmlns:p14="http://schemas.microsoft.com/office/powerpoint/2010/main" val="3214991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Section Head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905DD1F-ADCE-21F5-3B42-348B73562E77}"/>
              </a:ext>
            </a:extLst>
          </p:cNvPr>
          <p:cNvSpPr>
            <a:spLocks noGrp="1"/>
          </p:cNvSpPr>
          <p:nvPr>
            <p:ph type="title" hasCustomPrompt="1"/>
          </p:nvPr>
        </p:nvSpPr>
        <p:spPr>
          <a:xfrm>
            <a:off x="365125" y="3235800"/>
            <a:ext cx="8651875" cy="1260000"/>
          </a:xfrm>
        </p:spPr>
        <p:txBody>
          <a:bodyPr>
            <a:normAutofit/>
          </a:bodyPr>
          <a:lstStyle>
            <a:lvl1pPr>
              <a:defRPr sz="3600">
                <a:solidFill>
                  <a:schemeClr val="bg1"/>
                </a:solidFill>
              </a:defRPr>
            </a:lvl1pPr>
          </a:lstStyle>
          <a:p>
            <a:r>
              <a:rPr lang="en-US"/>
              <a:t>Click to enter section header title</a:t>
            </a:r>
          </a:p>
        </p:txBody>
      </p:sp>
      <p:sp>
        <p:nvSpPr>
          <p:cNvPr id="7" name="Subtitle 2">
            <a:extLst>
              <a:ext uri="{FF2B5EF4-FFF2-40B4-BE49-F238E27FC236}">
                <a16:creationId xmlns:a16="http://schemas.microsoft.com/office/drawing/2014/main" id="{1A65F606-CDCB-0367-61AA-199FECCB3A72}"/>
              </a:ext>
            </a:extLst>
          </p:cNvPr>
          <p:cNvSpPr>
            <a:spLocks noGrp="1"/>
          </p:cNvSpPr>
          <p:nvPr>
            <p:ph type="subTitle" idx="1" hasCustomPrompt="1"/>
          </p:nvPr>
        </p:nvSpPr>
        <p:spPr>
          <a:xfrm>
            <a:off x="365125" y="4514654"/>
            <a:ext cx="8651876" cy="475200"/>
          </a:xfrm>
          <a:prstGeom prst="rect">
            <a:avLst/>
          </a:prstGeom>
        </p:spPr>
        <p:txBody>
          <a:bodyPr wrap="square" lIns="0" tIns="0" rIns="0" bIns="0" anchor="t" anchorCtr="0">
            <a:normAutofit/>
          </a:bodyPr>
          <a:lstStyle>
            <a:lvl1pPr marL="0" indent="0" algn="l">
              <a:spcBef>
                <a:spcPts val="0"/>
              </a:spcBef>
              <a:spcAft>
                <a:spcPts val="0"/>
              </a:spcAft>
              <a:buNone/>
              <a:defRPr sz="28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section subtitle</a:t>
            </a:r>
          </a:p>
        </p:txBody>
      </p:sp>
      <p:pic>
        <p:nvPicPr>
          <p:cNvPr id="8" name="Graphic 7">
            <a:extLst>
              <a:ext uri="{FF2B5EF4-FFF2-40B4-BE49-F238E27FC236}">
                <a16:creationId xmlns:a16="http://schemas.microsoft.com/office/drawing/2014/main" id="{FE066BEF-B097-8826-7B68-974384A3DA4A}"/>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13772" t="25173" r="16016" b="28870"/>
          <a:stretch/>
        </p:blipFill>
        <p:spPr>
          <a:xfrm>
            <a:off x="322824" y="5861243"/>
            <a:ext cx="1586940" cy="585704"/>
          </a:xfrm>
          <a:prstGeom prst="rect">
            <a:avLst/>
          </a:prstGeom>
        </p:spPr>
      </p:pic>
    </p:spTree>
    <p:extLst>
      <p:ext uri="{BB962C8B-B14F-4D97-AF65-F5344CB8AC3E}">
        <p14:creationId xmlns:p14="http://schemas.microsoft.com/office/powerpoint/2010/main" val="2055931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B20AFD6-6925-491B-B024-5E0A32A58D0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17590" t="25173" r="17185" b="31039"/>
          <a:stretch/>
        </p:blipFill>
        <p:spPr>
          <a:xfrm>
            <a:off x="152399" y="2073890"/>
            <a:ext cx="11992273" cy="4539635"/>
          </a:xfrm>
          <a:prstGeom prst="rect">
            <a:avLst/>
          </a:prstGeom>
        </p:spPr>
      </p:pic>
      <p:sp>
        <p:nvSpPr>
          <p:cNvPr id="2" name="Rectangle 1">
            <a:extLst>
              <a:ext uri="{FF2B5EF4-FFF2-40B4-BE49-F238E27FC236}">
                <a16:creationId xmlns:a16="http://schemas.microsoft.com/office/drawing/2014/main" id="{2B90B266-F3BD-2613-5CB9-7E4A4FDFC416}"/>
              </a:ext>
            </a:extLst>
          </p:cNvPr>
          <p:cNvSpPr/>
          <p:nvPr userDrawn="1"/>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rgbClr val="FFFFFF"/>
                </a:solidFill>
                <a:latin typeface="+mn-lt"/>
              </a:rPr>
              <a:t>gsk.com</a:t>
            </a:r>
          </a:p>
        </p:txBody>
      </p:sp>
      <p:pic>
        <p:nvPicPr>
          <p:cNvPr id="3" name="Graphic 2">
            <a:extLst>
              <a:ext uri="{FF2B5EF4-FFF2-40B4-BE49-F238E27FC236}">
                <a16:creationId xmlns:a16="http://schemas.microsoft.com/office/drawing/2014/main" id="{FF8659A8-C764-F3A5-40B7-A3CB7A35D23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094470" y="243283"/>
            <a:ext cx="159543" cy="159543"/>
          </a:xfrm>
          <a:prstGeom prst="rect">
            <a:avLst/>
          </a:prstGeom>
        </p:spPr>
      </p:pic>
    </p:spTree>
    <p:extLst>
      <p:ext uri="{BB962C8B-B14F-4D97-AF65-F5344CB8AC3E}">
        <p14:creationId xmlns:p14="http://schemas.microsoft.com/office/powerpoint/2010/main" val="3028656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WARNING">
    <p:bg>
      <p:bgPr>
        <a:solidFill>
          <a:schemeClr val="accent4"/>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B03810C-0168-8013-6BD1-DF4493DB8F41}"/>
              </a:ext>
            </a:extLst>
          </p:cNvPr>
          <p:cNvSpPr/>
          <p:nvPr userDrawn="1"/>
        </p:nvSpPr>
        <p:spPr bwMode="auto">
          <a:xfrm>
            <a:off x="242888" y="242888"/>
            <a:ext cx="11704637" cy="584835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GB" sz="9600" kern="0">
                <a:solidFill>
                  <a:schemeClr val="bg1"/>
                </a:solidFill>
              </a:rPr>
              <a:t>Do not use </a:t>
            </a:r>
            <a:br>
              <a:rPr lang="en-GB" sz="9600" kern="0">
                <a:solidFill>
                  <a:schemeClr val="bg1"/>
                </a:solidFill>
              </a:rPr>
            </a:br>
            <a:r>
              <a:rPr lang="en-GB" sz="9600" kern="0">
                <a:solidFill>
                  <a:schemeClr val="bg1"/>
                </a:solidFill>
              </a:rPr>
              <a:t>layouts that appear </a:t>
            </a:r>
            <a:br>
              <a:rPr lang="en-GB" sz="9600" kern="0">
                <a:solidFill>
                  <a:schemeClr val="bg1"/>
                </a:solidFill>
              </a:rPr>
            </a:br>
            <a:r>
              <a:rPr lang="en-GB" sz="9600" kern="0">
                <a:solidFill>
                  <a:schemeClr val="bg1"/>
                </a:solidFill>
              </a:rPr>
              <a:t>after this point</a:t>
            </a:r>
          </a:p>
        </p:txBody>
      </p:sp>
      <p:pic>
        <p:nvPicPr>
          <p:cNvPr id="4" name="Graphic 3">
            <a:extLst>
              <a:ext uri="{FF2B5EF4-FFF2-40B4-BE49-F238E27FC236}">
                <a16:creationId xmlns:a16="http://schemas.microsoft.com/office/drawing/2014/main" id="{1AFE542C-8ECE-F9C9-8F96-80B2751FAA98}"/>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7328" t="12162" r="1499" b="12843"/>
          <a:stretch/>
        </p:blipFill>
        <p:spPr>
          <a:xfrm>
            <a:off x="90711" y="6207919"/>
            <a:ext cx="1215582" cy="563804"/>
          </a:xfrm>
          <a:prstGeom prst="rect">
            <a:avLst/>
          </a:prstGeom>
        </p:spPr>
      </p:pic>
    </p:spTree>
    <p:extLst>
      <p:ext uri="{BB962C8B-B14F-4D97-AF65-F5344CB8AC3E}">
        <p14:creationId xmlns:p14="http://schemas.microsoft.com/office/powerpoint/2010/main" val="2557543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16" name="Content Placeholder 15"/>
          <p:cNvSpPr>
            <a:spLocks noGrp="1" noChangeAspect="1"/>
          </p:cNvSpPr>
          <p:nvPr>
            <p:ph sz="quarter" idx="12"/>
          </p:nvPr>
        </p:nvSpPr>
        <p:spPr>
          <a:xfrm>
            <a:off x="478870" y="1589851"/>
            <a:ext cx="11231033" cy="4093400"/>
          </a:xfrm>
          <a:prstGeom prst="rect">
            <a:avLst/>
          </a:prstGeom>
        </p:spPr>
        <p:txBody>
          <a:bodyPr l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2"/>
          <p:cNvSpPr>
            <a:spLocks noGrp="1"/>
          </p:cNvSpPr>
          <p:nvPr>
            <p:ph type="body" sz="quarter" idx="14" hasCustomPrompt="1"/>
          </p:nvPr>
        </p:nvSpPr>
        <p:spPr>
          <a:xfrm>
            <a:off x="478869"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6" name="Text Placeholder 5"/>
          <p:cNvSpPr>
            <a:spLocks noGrp="1"/>
          </p:cNvSpPr>
          <p:nvPr>
            <p:ph type="body" sz="quarter" idx="18" hasCustomPrompt="1"/>
          </p:nvPr>
        </p:nvSpPr>
        <p:spPr>
          <a:xfrm>
            <a:off x="478869" y="5399114"/>
            <a:ext cx="11232000" cy="527728"/>
          </a:xfrm>
          <a:prstGeom prst="rect">
            <a:avLst/>
          </a:prstGeom>
        </p:spPr>
        <p:txBody>
          <a:bodyPr wrap="square" anchor="b" anchorCtr="0">
            <a:spAutoFit/>
          </a:bodyPr>
          <a:lstStyle>
            <a:lvl1pPr marL="0" indent="0">
              <a:buNone/>
              <a:defRPr sz="1067"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US"/>
              <a:t>Insert Source text here</a:t>
            </a:r>
          </a:p>
        </p:txBody>
      </p:sp>
      <p:sp>
        <p:nvSpPr>
          <p:cNvPr id="4" name="Title 3"/>
          <p:cNvSpPr>
            <a:spLocks noGrp="1"/>
          </p:cNvSpPr>
          <p:nvPr>
            <p:ph type="title" hasCustomPrompt="1"/>
          </p:nvPr>
        </p:nvSpPr>
        <p:spPr>
          <a:xfrm>
            <a:off x="478870" y="384852"/>
            <a:ext cx="10102852" cy="451405"/>
          </a:xfrm>
        </p:spPr>
        <p:txBody>
          <a:bodyPr/>
          <a:lstStyle/>
          <a:p>
            <a:r>
              <a:rPr lang="en-US"/>
              <a:t>Click to edit Master heading style</a:t>
            </a:r>
            <a:endParaRPr lang="en-GB"/>
          </a:p>
        </p:txBody>
      </p:sp>
      <p:sp>
        <p:nvSpPr>
          <p:cNvPr id="7" name="Date Placeholder 6"/>
          <p:cNvSpPr>
            <a:spLocks noGrp="1"/>
          </p:cNvSpPr>
          <p:nvPr>
            <p:ph type="dt" sz="half" idx="19"/>
          </p:nvPr>
        </p:nvSpPr>
        <p:spPr/>
        <p:txBody>
          <a:bodyPr/>
          <a:lstStyle>
            <a:lvl1pPr>
              <a:defRPr/>
            </a:lvl1pPr>
          </a:lstStyle>
          <a:p>
            <a:pPr algn="ctr"/>
            <a:r>
              <a:rPr lang="en-US"/>
              <a:t>CONFIDENTIAL</a:t>
            </a:r>
            <a:endParaRPr lang="en-GB"/>
          </a:p>
        </p:txBody>
      </p:sp>
      <p:sp>
        <p:nvSpPr>
          <p:cNvPr id="9" name="Footer Placeholder 8"/>
          <p:cNvSpPr>
            <a:spLocks noGrp="1"/>
          </p:cNvSpPr>
          <p:nvPr>
            <p:ph type="ftr" sz="quarter" idx="20"/>
          </p:nvPr>
        </p:nvSpPr>
        <p:spPr/>
        <p:txBody>
          <a:bodyPr/>
          <a:lstStyle>
            <a:lvl1pPr>
              <a:defRPr/>
            </a:lvl1pPr>
          </a:lstStyle>
          <a:p>
            <a:r>
              <a:rPr lang="en-GB"/>
              <a:t>16x9 core template</a:t>
            </a:r>
          </a:p>
        </p:txBody>
      </p:sp>
      <p:sp>
        <p:nvSpPr>
          <p:cNvPr id="10" name="Slide Number Placeholder 9"/>
          <p:cNvSpPr>
            <a:spLocks noGrp="1"/>
          </p:cNvSpPr>
          <p:nvPr>
            <p:ph type="sldNum" sz="quarter" idx="21"/>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242002118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1.sv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9.xml"/><Relationship Id="rId18" Type="http://schemas.openxmlformats.org/officeDocument/2006/relationships/slideLayout" Target="../slideLayouts/slideLayout64.xml"/><Relationship Id="rId26" Type="http://schemas.openxmlformats.org/officeDocument/2006/relationships/slideLayout" Target="../slideLayouts/slideLayout72.xml"/><Relationship Id="rId3" Type="http://schemas.openxmlformats.org/officeDocument/2006/relationships/slideLayout" Target="../slideLayouts/slideLayout49.xml"/><Relationship Id="rId21" Type="http://schemas.openxmlformats.org/officeDocument/2006/relationships/slideLayout" Target="../slideLayouts/slideLayout67.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5" Type="http://schemas.openxmlformats.org/officeDocument/2006/relationships/slideLayout" Target="../slideLayouts/slideLayout71.xml"/><Relationship Id="rId33" Type="http://schemas.openxmlformats.org/officeDocument/2006/relationships/image" Target="../media/image1.svg"/><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slideLayout" Target="../slideLayouts/slideLayout66.xml"/><Relationship Id="rId29" Type="http://schemas.openxmlformats.org/officeDocument/2006/relationships/slideLayout" Target="../slideLayouts/slideLayout75.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24" Type="http://schemas.openxmlformats.org/officeDocument/2006/relationships/slideLayout" Target="../slideLayouts/slideLayout70.xml"/><Relationship Id="rId32" Type="http://schemas.openxmlformats.org/officeDocument/2006/relationships/theme" Target="../theme/theme2.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23" Type="http://schemas.openxmlformats.org/officeDocument/2006/relationships/slideLayout" Target="../slideLayouts/slideLayout69.xml"/><Relationship Id="rId28" Type="http://schemas.openxmlformats.org/officeDocument/2006/relationships/slideLayout" Target="../slideLayouts/slideLayout74.xml"/><Relationship Id="rId10" Type="http://schemas.openxmlformats.org/officeDocument/2006/relationships/slideLayout" Target="../slideLayouts/slideLayout56.xml"/><Relationship Id="rId19" Type="http://schemas.openxmlformats.org/officeDocument/2006/relationships/slideLayout" Target="../slideLayouts/slideLayout65.xml"/><Relationship Id="rId31" Type="http://schemas.openxmlformats.org/officeDocument/2006/relationships/slideLayout" Target="../slideLayouts/slideLayout77.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 Id="rId22" Type="http://schemas.openxmlformats.org/officeDocument/2006/relationships/slideLayout" Target="../slideLayouts/slideLayout68.xml"/><Relationship Id="rId27" Type="http://schemas.openxmlformats.org/officeDocument/2006/relationships/slideLayout" Target="../slideLayouts/slideLayout73.xml"/><Relationship Id="rId30" Type="http://schemas.openxmlformats.org/officeDocument/2006/relationships/slideLayout" Target="../slideLayouts/slideLayout76.xml"/><Relationship Id="rId8"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2319338" y="6343650"/>
            <a:ext cx="5600700" cy="269875"/>
          </a:xfrm>
          <a:prstGeom prst="rect">
            <a:avLst/>
          </a:prstGeom>
        </p:spPr>
        <p:txBody>
          <a:bodyPr vert="horz" lIns="0" tIns="0" rIns="0" bIns="0" rtlCol="0" anchor="b" anchorCtr="0">
            <a:normAutofit/>
          </a:bodyPr>
          <a:lstStyle>
            <a:lvl1pPr algn="l">
              <a:defRPr sz="1200">
                <a:solidFill>
                  <a:schemeClr val="tx1"/>
                </a:solidFill>
              </a:defRPr>
            </a:lvl1pPr>
          </a:lstStyle>
          <a:p>
            <a:r>
              <a:rPr lang="en-GB"/>
              <a:t>Confidential under GSK NDA</a:t>
            </a:r>
          </a:p>
        </p:txBody>
      </p:sp>
      <p:sp>
        <p:nvSpPr>
          <p:cNvPr id="6" name="Slide Number Placeholder 5"/>
          <p:cNvSpPr>
            <a:spLocks noGrp="1"/>
          </p:cNvSpPr>
          <p:nvPr>
            <p:ph type="sldNum" sz="quarter" idx="4"/>
          </p:nvPr>
        </p:nvSpPr>
        <p:spPr>
          <a:xfrm>
            <a:off x="11285288" y="6343650"/>
            <a:ext cx="540000" cy="269875"/>
          </a:xfrm>
          <a:prstGeom prst="rect">
            <a:avLst/>
          </a:prstGeom>
        </p:spPr>
        <p:txBody>
          <a:bodyPr vert="horz" lIns="0" tIns="0" rIns="0" bIns="0" rtlCol="0" anchor="b" anchorCtr="0">
            <a:normAutofit/>
          </a:bodyPr>
          <a:lstStyle>
            <a:lvl1pPr algn="r">
              <a:defRPr sz="1000">
                <a:solidFill>
                  <a:schemeClr val="tx1"/>
                </a:solidFill>
              </a:defRPr>
            </a:lvl1pPr>
          </a:lstStyle>
          <a:p>
            <a:fld id="{9F9F533D-B52E-4A2F-BF72-0ADD2D94BD75}" type="slidenum">
              <a:rPr lang="en-GB" smtClean="0"/>
              <a:pPr/>
              <a:t>‹#›</a:t>
            </a:fld>
            <a:endParaRPr lang="en-GB"/>
          </a:p>
        </p:txBody>
      </p:sp>
      <p:sp>
        <p:nvSpPr>
          <p:cNvPr id="4" name="Title Placeholder 3"/>
          <p:cNvSpPr>
            <a:spLocks noGrp="1"/>
          </p:cNvSpPr>
          <p:nvPr>
            <p:ph type="title"/>
          </p:nvPr>
        </p:nvSpPr>
        <p:spPr>
          <a:xfrm>
            <a:off x="365125" y="242888"/>
            <a:ext cx="11460163" cy="430887"/>
          </a:xfrm>
          <a:prstGeom prst="rect">
            <a:avLst/>
          </a:prstGeom>
        </p:spPr>
        <p:txBody>
          <a:bodyPr vert="horz" lIns="0" tIns="0" rIns="0" bIns="0" rtlCol="0" anchor="b" anchorCtr="0">
            <a:normAutofit/>
          </a:bodyPr>
          <a:lstStyle/>
          <a:p>
            <a:r>
              <a:rPr lang="en-GB"/>
              <a:t>Click to enter slide title</a:t>
            </a:r>
          </a:p>
        </p:txBody>
      </p:sp>
      <p:sp>
        <p:nvSpPr>
          <p:cNvPr id="7" name="Date Placeholder 6"/>
          <p:cNvSpPr>
            <a:spLocks noGrp="1"/>
          </p:cNvSpPr>
          <p:nvPr>
            <p:ph type="dt" sz="half" idx="2"/>
          </p:nvPr>
        </p:nvSpPr>
        <p:spPr>
          <a:xfrm>
            <a:off x="8172450" y="6343650"/>
            <a:ext cx="2776537" cy="269875"/>
          </a:xfrm>
          <a:prstGeom prst="rect">
            <a:avLst/>
          </a:prstGeom>
        </p:spPr>
        <p:txBody>
          <a:bodyPr vert="horz" lIns="0" tIns="0" rIns="0" bIns="0" rtlCol="0" anchor="b" anchorCtr="0">
            <a:normAutofit/>
          </a:bodyPr>
          <a:lstStyle>
            <a:lvl1pPr algn="r">
              <a:defRPr sz="1000">
                <a:solidFill>
                  <a:schemeClr val="tx1"/>
                </a:solidFill>
              </a:defRPr>
            </a:lvl1pPr>
          </a:lstStyle>
          <a:p>
            <a:fld id="{2ACA2747-B082-4722-9E75-2984D198ED22}" type="datetime4">
              <a:rPr lang="en-GB" smtClean="0"/>
              <a:t>20 July 2026</a:t>
            </a:fld>
            <a:endParaRPr lang="en-GB"/>
          </a:p>
        </p:txBody>
      </p:sp>
      <p:sp>
        <p:nvSpPr>
          <p:cNvPr id="8" name="Text Placeholder 2">
            <a:extLst>
              <a:ext uri="{FF2B5EF4-FFF2-40B4-BE49-F238E27FC236}">
                <a16:creationId xmlns:a16="http://schemas.microsoft.com/office/drawing/2014/main" id="{BBC2AD35-7761-4742-BEF1-3D0CAD2E1DED}"/>
              </a:ext>
            </a:extLst>
          </p:cNvPr>
          <p:cNvSpPr>
            <a:spLocks noGrp="1"/>
          </p:cNvSpPr>
          <p:nvPr>
            <p:ph type="body" idx="1"/>
          </p:nvPr>
        </p:nvSpPr>
        <p:spPr>
          <a:xfrm>
            <a:off x="365125" y="1303338"/>
            <a:ext cx="11460163" cy="4787899"/>
          </a:xfrm>
          <a:prstGeom prst="rect">
            <a:avLst/>
          </a:prstGeom>
        </p:spPr>
        <p:txBody>
          <a:bodyPr vert="horz" lIns="180000" tIns="180000" rIns="180000" bIns="180000" rtlCol="0">
            <a:normAutofit/>
          </a:bodyPr>
          <a:lstStyle/>
          <a:p>
            <a:pPr lvl="0"/>
            <a:r>
              <a:rPr lang="en-GB"/>
              <a:t>Click to enter text content.</a:t>
            </a:r>
            <a:br>
              <a:rPr lang="en-GB"/>
            </a:br>
            <a:r>
              <a:rPr lang="en-GB"/>
              <a:t>To increase bullet level, select your text &gt; press ‘Tab’.</a:t>
            </a:r>
            <a:br>
              <a:rPr lang="en-GB"/>
            </a:br>
            <a:r>
              <a:rPr lang="en-GB"/>
              <a:t>To decrease bullet level, select your text &gt; press ‘Shift’ + ‘Tab’.</a:t>
            </a:r>
            <a:br>
              <a:rPr lang="en-GB"/>
            </a:br>
            <a:r>
              <a:rPr lang="en-GB"/>
              <a:t>To remove bullet levels, select your text &gt; right click &gt; press ‘bullets’.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a:p>
            <a:pPr lvl="4"/>
            <a:endParaRPr lang="en-GB"/>
          </a:p>
        </p:txBody>
      </p:sp>
      <p:pic>
        <p:nvPicPr>
          <p:cNvPr id="26" name="Graphic 25">
            <a:extLst>
              <a:ext uri="{FF2B5EF4-FFF2-40B4-BE49-F238E27FC236}">
                <a16:creationId xmlns:a16="http://schemas.microsoft.com/office/drawing/2014/main" id="{7B7C2D6E-A9EC-414F-8A58-3207DA98D6C5}"/>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8"/>
              </a:ext>
            </a:extLst>
          </a:blip>
          <a:stretch>
            <a:fillRect/>
          </a:stretch>
        </p:blipFill>
        <p:spPr>
          <a:xfrm>
            <a:off x="376239" y="6354213"/>
            <a:ext cx="820737" cy="247406"/>
          </a:xfrm>
          <a:prstGeom prst="rect">
            <a:avLst/>
          </a:prstGeom>
        </p:spPr>
      </p:pic>
      <p:sp>
        <p:nvSpPr>
          <p:cNvPr id="3" name="TextBox 2">
            <a:extLst>
              <a:ext uri="{FF2B5EF4-FFF2-40B4-BE49-F238E27FC236}">
                <a16:creationId xmlns:a16="http://schemas.microsoft.com/office/drawing/2014/main" id="{BB08C14A-193A-3B68-8B33-4E5041A0BD60}"/>
              </a:ext>
            </a:extLst>
          </p:cNvPr>
          <p:cNvSpPr txBox="1"/>
          <p:nvPr userDrawn="1">
            <p:extLst>
              <p:ext uri="{1162E1C5-73C7-4A58-AE30-91384D911F3F}">
                <p184:classification xmlns:p184="http://schemas.microsoft.com/office/powerpoint/2018/4/main" val="hdr"/>
              </p:ext>
            </p:extLst>
          </p:nvPr>
        </p:nvSpPr>
        <p:spPr>
          <a:xfrm>
            <a:off x="63500" y="63500"/>
            <a:ext cx="1270000" cy="152400"/>
          </a:xfrm>
          <a:prstGeom prst="rect">
            <a:avLst/>
          </a:prstGeom>
        </p:spPr>
        <p:txBody>
          <a:bodyPr horzOverflow="overflow" lIns="0" tIns="0" rIns="0" bIns="0">
            <a:spAutoFit/>
          </a:bodyPr>
          <a:lstStyle/>
          <a:p>
            <a:pPr algn="l"/>
            <a:r>
              <a:rPr lang="en-US" sz="1000">
                <a:solidFill>
                  <a:srgbClr val="008000">
                    <a:alpha val="50000"/>
                  </a:srgbClr>
                </a:solidFill>
                <a:latin typeface="Aptos" panose="020B0004020202020204" pitchFamily="34" charset="0"/>
              </a:rPr>
              <a:t>Classification: Internal</a:t>
            </a:r>
          </a:p>
        </p:txBody>
      </p:sp>
    </p:spTree>
    <p:extLst>
      <p:ext uri="{BB962C8B-B14F-4D97-AF65-F5344CB8AC3E}">
        <p14:creationId xmlns:p14="http://schemas.microsoft.com/office/powerpoint/2010/main" val="4260756284"/>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82" r:id="rId3"/>
    <p:sldLayoutId id="2147483785" r:id="rId4"/>
    <p:sldLayoutId id="2147483787" r:id="rId5"/>
    <p:sldLayoutId id="2147483820" r:id="rId6"/>
    <p:sldLayoutId id="2147483821" r:id="rId7"/>
    <p:sldLayoutId id="2147483822" r:id="rId8"/>
    <p:sldLayoutId id="2147483823" r:id="rId9"/>
    <p:sldLayoutId id="2147483786" r:id="rId10"/>
    <p:sldLayoutId id="2147483824" r:id="rId11"/>
    <p:sldLayoutId id="2147483825" r:id="rId12"/>
    <p:sldLayoutId id="2147483826" r:id="rId13"/>
    <p:sldLayoutId id="2147483728" r:id="rId14"/>
    <p:sldLayoutId id="2147483730" r:id="rId15"/>
    <p:sldLayoutId id="2147483765" r:id="rId16"/>
    <p:sldLayoutId id="2147483773" r:id="rId17"/>
    <p:sldLayoutId id="2147483774" r:id="rId18"/>
    <p:sldLayoutId id="2147483766" r:id="rId19"/>
    <p:sldLayoutId id="2147483827" r:id="rId20"/>
    <p:sldLayoutId id="2147483771" r:id="rId21"/>
    <p:sldLayoutId id="2147483768" r:id="rId22"/>
    <p:sldLayoutId id="2147483767" r:id="rId23"/>
    <p:sldLayoutId id="2147483776" r:id="rId24"/>
    <p:sldLayoutId id="2147483763" r:id="rId25"/>
    <p:sldLayoutId id="2147483828" r:id="rId26"/>
    <p:sldLayoutId id="2147483777" r:id="rId27"/>
    <p:sldLayoutId id="2147483778" r:id="rId28"/>
    <p:sldLayoutId id="2147483762" r:id="rId29"/>
    <p:sldLayoutId id="2147483764" r:id="rId30"/>
    <p:sldLayoutId id="2147483955" r:id="rId31"/>
    <p:sldLayoutId id="2147483956" r:id="rId32"/>
    <p:sldLayoutId id="2147483957" r:id="rId33"/>
    <p:sldLayoutId id="2147483958" r:id="rId34"/>
    <p:sldLayoutId id="2147483959" r:id="rId35"/>
    <p:sldLayoutId id="2147483663" r:id="rId36"/>
    <p:sldLayoutId id="2147483664" r:id="rId37"/>
    <p:sldLayoutId id="2147483665" r:id="rId38"/>
    <p:sldLayoutId id="2147483668" r:id="rId39"/>
    <p:sldLayoutId id="2147483960" r:id="rId40"/>
    <p:sldLayoutId id="2147483984" r:id="rId41"/>
    <p:sldLayoutId id="2147484015" r:id="rId42"/>
    <p:sldLayoutId id="2147484046" r:id="rId43"/>
    <p:sldLayoutId id="2147484077" r:id="rId44"/>
    <p:sldLayoutId id="2147484108" r:id="rId45"/>
    <p:sldLayoutId id="2147484109" r:id="rId4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1219170" rtl="0" eaLnBrk="1" latinLnBrk="0" hangingPunct="1">
        <a:lnSpc>
          <a:spcPct val="100000"/>
        </a:lnSpc>
        <a:spcBef>
          <a:spcPct val="0"/>
        </a:spcBef>
        <a:buNone/>
        <a:defRPr sz="2800" b="1" kern="1200">
          <a:solidFill>
            <a:schemeClr val="tx2"/>
          </a:solidFill>
          <a:latin typeface="+mj-lt"/>
          <a:ea typeface="+mj-ea"/>
          <a:cs typeface="+mj-cs"/>
        </a:defRPr>
      </a:lvl1pPr>
    </p:titleStyle>
    <p:bodyStyle>
      <a:lvl1pPr marL="359991" indent="-359991" algn="l" defTabSz="1219170" rtl="0" eaLnBrk="1" latinLnBrk="0" hangingPunct="1">
        <a:spcBef>
          <a:spcPts val="300"/>
        </a:spcBef>
        <a:spcAft>
          <a:spcPts val="300"/>
        </a:spcAft>
        <a:buClr>
          <a:schemeClr val="tx2"/>
        </a:buClr>
        <a:buSzPct val="110000"/>
        <a:buFont typeface="Arial" panose="020B0604020202020204" pitchFamily="34" charset="0"/>
        <a:buChar char="•"/>
        <a:defRPr sz="2200" kern="1200">
          <a:solidFill>
            <a:schemeClr val="tx1"/>
          </a:solidFill>
          <a:latin typeface="+mn-lt"/>
          <a:ea typeface="+mn-ea"/>
          <a:cs typeface="+mn-cs"/>
        </a:defRPr>
      </a:lvl1pPr>
      <a:lvl2pPr marL="717533" indent="-359991" algn="l" defTabSz="1219170" rtl="0" eaLnBrk="1" latinLnBrk="0" hangingPunct="1">
        <a:spcBef>
          <a:spcPts val="300"/>
        </a:spcBef>
        <a:spcAft>
          <a:spcPts val="300"/>
        </a:spcAft>
        <a:buClr>
          <a:schemeClr val="tx1"/>
        </a:buClr>
        <a:buFont typeface="Arial" panose="020B0604020202020204" pitchFamily="34" charset="0"/>
        <a:buChar char="­"/>
        <a:defRPr sz="2000" kern="1200">
          <a:solidFill>
            <a:schemeClr val="tx1"/>
          </a:solidFill>
          <a:latin typeface="+mn-lt"/>
          <a:ea typeface="+mn-ea"/>
          <a:cs typeface="+mn-cs"/>
        </a:defRPr>
      </a:lvl2pPr>
      <a:lvl3pPr marL="1079973" indent="-359991" algn="l" defTabSz="1219170" rtl="0" eaLnBrk="1" latinLnBrk="0" hangingPunct="1">
        <a:spcBef>
          <a:spcPts val="300"/>
        </a:spcBef>
        <a:spcAft>
          <a:spcPts val="300"/>
        </a:spcAft>
        <a:buClr>
          <a:schemeClr val="tx1"/>
        </a:buClr>
        <a:buFont typeface="Arial" panose="020B0604020202020204" pitchFamily="34" charset="0"/>
        <a:buChar char="­"/>
        <a:defRPr sz="1800" kern="1200">
          <a:solidFill>
            <a:schemeClr val="tx1"/>
          </a:solidFill>
          <a:latin typeface="+mn-lt"/>
          <a:ea typeface="+mn-ea"/>
          <a:cs typeface="+mn-cs"/>
        </a:defRPr>
      </a:lvl3pPr>
      <a:lvl4pPr marL="1441415" indent="-359991" algn="l" defTabSz="1219170" rtl="0" eaLnBrk="1" latinLnBrk="0" hangingPunct="1">
        <a:spcBef>
          <a:spcPts val="300"/>
        </a:spcBef>
        <a:spcAft>
          <a:spcPts val="300"/>
        </a:spcAft>
        <a:buClr>
          <a:schemeClr val="tx1"/>
        </a:buClr>
        <a:buFont typeface="Arial" panose="020B0604020202020204" pitchFamily="34" charset="0"/>
        <a:buChar char="­"/>
        <a:defRPr sz="1600" kern="1200">
          <a:solidFill>
            <a:schemeClr val="tx1"/>
          </a:solidFill>
          <a:latin typeface="+mn-lt"/>
          <a:ea typeface="+mn-ea"/>
          <a:cs typeface="+mn-cs"/>
        </a:defRPr>
      </a:lvl4pPr>
      <a:lvl5pPr marL="1799955" indent="-359991" algn="l" defTabSz="1219170" rtl="0" eaLnBrk="1" latinLnBrk="0" hangingPunct="1">
        <a:spcBef>
          <a:spcPts val="300"/>
        </a:spcBef>
        <a:spcAft>
          <a:spcPts val="300"/>
        </a:spcAft>
        <a:buClr>
          <a:schemeClr val="tx1"/>
        </a:buClr>
        <a:buFont typeface="Arial" panose="020B0604020202020204" pitchFamily="34" charset="0"/>
        <a:buChar char="­"/>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A6A6A6"/>
          </p15:clr>
        </p15:guide>
        <p15:guide id="2" pos="7680" userDrawn="1">
          <p15:clr>
            <a:srgbClr val="A6A6A6"/>
          </p15:clr>
        </p15:guide>
        <p15:guide id="3" pos="230" userDrawn="1">
          <p15:clr>
            <a:srgbClr val="A6A6A6"/>
          </p15:clr>
        </p15:guide>
        <p15:guide id="4" pos="1301" userDrawn="1">
          <p15:clr>
            <a:srgbClr val="A6A6A6"/>
          </p15:clr>
        </p15:guide>
        <p15:guide id="5" pos="1461" userDrawn="1">
          <p15:clr>
            <a:srgbClr val="A6A6A6"/>
          </p15:clr>
        </p15:guide>
        <p15:guide id="6" pos="2531" userDrawn="1">
          <p15:clr>
            <a:srgbClr val="A6A6A6"/>
          </p15:clr>
        </p15:guide>
        <p15:guide id="7" pos="2690" userDrawn="1">
          <p15:clr>
            <a:srgbClr val="A6A6A6"/>
          </p15:clr>
        </p15:guide>
        <p15:guide id="8" pos="3759" userDrawn="1">
          <p15:clr>
            <a:srgbClr val="A6A6A6"/>
          </p15:clr>
        </p15:guide>
        <p15:guide id="9" pos="3920" userDrawn="1">
          <p15:clr>
            <a:srgbClr val="A6A6A6"/>
          </p15:clr>
        </p15:guide>
        <p15:guide id="10" pos="4989" userDrawn="1">
          <p15:clr>
            <a:srgbClr val="A6A6A6"/>
          </p15:clr>
        </p15:guide>
        <p15:guide id="11" pos="5148" userDrawn="1">
          <p15:clr>
            <a:srgbClr val="A6A6A6"/>
          </p15:clr>
        </p15:guide>
        <p15:guide id="12" pos="6218" userDrawn="1">
          <p15:clr>
            <a:srgbClr val="A6A6A6"/>
          </p15:clr>
        </p15:guide>
        <p15:guide id="13" pos="6378" userDrawn="1">
          <p15:clr>
            <a:srgbClr val="A6A6A6"/>
          </p15:clr>
        </p15:guide>
        <p15:guide id="14" pos="7449" userDrawn="1">
          <p15:clr>
            <a:srgbClr val="A6A6A6"/>
          </p15:clr>
        </p15:guide>
        <p15:guide id="15" orient="horz" userDrawn="1">
          <p15:clr>
            <a:srgbClr val="A6A6A6"/>
          </p15:clr>
        </p15:guide>
        <p15:guide id="16" orient="horz" pos="4315" userDrawn="1">
          <p15:clr>
            <a:srgbClr val="A6A6A6"/>
          </p15:clr>
        </p15:guide>
        <p15:guide id="17" orient="horz" pos="153" userDrawn="1">
          <p15:clr>
            <a:srgbClr val="A6A6A6"/>
          </p15:clr>
        </p15:guide>
        <p15:guide id="18" orient="horz" pos="686" userDrawn="1">
          <p15:clr>
            <a:srgbClr val="A6A6A6"/>
          </p15:clr>
        </p15:guide>
        <p15:guide id="19" orient="horz" pos="821" userDrawn="1">
          <p15:clr>
            <a:srgbClr val="A6A6A6"/>
          </p15:clr>
        </p15:guide>
        <p15:guide id="20" orient="horz" pos="1323" userDrawn="1">
          <p15:clr>
            <a:srgbClr val="A6A6A6"/>
          </p15:clr>
        </p15:guide>
        <p15:guide id="21" orient="horz" pos="2330" userDrawn="1">
          <p15:clr>
            <a:srgbClr val="A6A6A6"/>
          </p15:clr>
        </p15:guide>
        <p15:guide id="22" orient="horz" pos="3335" userDrawn="1">
          <p15:clr>
            <a:srgbClr val="A6A6A6"/>
          </p15:clr>
        </p15:guide>
        <p15:guide id="23" orient="horz" pos="3837" userDrawn="1">
          <p15:clr>
            <a:srgbClr val="A6A6A6"/>
          </p15:clr>
        </p15:guide>
        <p15:guide id="24" orient="horz" pos="4166" userDrawn="1">
          <p15:clr>
            <a:srgbClr val="A6A6A6"/>
          </p15:clr>
        </p15:guide>
        <p15:guide id="25" orient="horz" pos="1827" userDrawn="1">
          <p15:clr>
            <a:srgbClr val="A4A3A4"/>
          </p15:clr>
        </p15:guide>
        <p15:guide id="26" orient="horz" pos="2832" userDrawn="1">
          <p15:clr>
            <a:srgbClr val="A4A3A4"/>
          </p15:clr>
        </p15:guide>
        <p15:guide id="27" orient="horz" pos="3996"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2319338" y="6343650"/>
            <a:ext cx="5600700" cy="269875"/>
          </a:xfrm>
          <a:prstGeom prst="rect">
            <a:avLst/>
          </a:prstGeom>
        </p:spPr>
        <p:txBody>
          <a:bodyPr vert="horz" lIns="0" tIns="0" rIns="0" bIns="0" rtlCol="0" anchor="b" anchorCtr="0">
            <a:normAutofit/>
          </a:bodyPr>
          <a:lstStyle>
            <a:lvl1pPr algn="l">
              <a:defRPr sz="1200">
                <a:solidFill>
                  <a:schemeClr val="tx1"/>
                </a:solidFill>
              </a:defRPr>
            </a:lvl1pPr>
          </a:lstStyle>
          <a:p>
            <a:r>
              <a:rPr lang="en-GB"/>
              <a:t>Confidential under GSK NDA</a:t>
            </a:r>
          </a:p>
        </p:txBody>
      </p:sp>
      <p:sp>
        <p:nvSpPr>
          <p:cNvPr id="6" name="Slide Number Placeholder 5"/>
          <p:cNvSpPr>
            <a:spLocks noGrp="1"/>
          </p:cNvSpPr>
          <p:nvPr>
            <p:ph type="sldNum" sz="quarter" idx="4"/>
          </p:nvPr>
        </p:nvSpPr>
        <p:spPr>
          <a:xfrm>
            <a:off x="11285288" y="6343650"/>
            <a:ext cx="540000" cy="269875"/>
          </a:xfrm>
          <a:prstGeom prst="rect">
            <a:avLst/>
          </a:prstGeom>
        </p:spPr>
        <p:txBody>
          <a:bodyPr vert="horz" lIns="0" tIns="0" rIns="0" bIns="0" rtlCol="0" anchor="b" anchorCtr="0">
            <a:normAutofit/>
          </a:bodyPr>
          <a:lstStyle>
            <a:lvl1pPr algn="r">
              <a:defRPr sz="1000">
                <a:solidFill>
                  <a:schemeClr val="tx1"/>
                </a:solidFill>
              </a:defRPr>
            </a:lvl1pPr>
          </a:lstStyle>
          <a:p>
            <a:fld id="{9F9F533D-B52E-4A2F-BF72-0ADD2D94BD75}" type="slidenum">
              <a:rPr lang="en-GB" smtClean="0"/>
              <a:pPr/>
              <a:t>‹#›</a:t>
            </a:fld>
            <a:endParaRPr lang="en-GB"/>
          </a:p>
        </p:txBody>
      </p:sp>
      <p:sp>
        <p:nvSpPr>
          <p:cNvPr id="4" name="Title Placeholder 3"/>
          <p:cNvSpPr>
            <a:spLocks noGrp="1"/>
          </p:cNvSpPr>
          <p:nvPr>
            <p:ph type="title"/>
          </p:nvPr>
        </p:nvSpPr>
        <p:spPr>
          <a:xfrm>
            <a:off x="365125" y="242888"/>
            <a:ext cx="11460163" cy="430887"/>
          </a:xfrm>
          <a:prstGeom prst="rect">
            <a:avLst/>
          </a:prstGeom>
        </p:spPr>
        <p:txBody>
          <a:bodyPr vert="horz" lIns="0" tIns="0" rIns="0" bIns="0" rtlCol="0" anchor="b" anchorCtr="0">
            <a:normAutofit/>
          </a:bodyPr>
          <a:lstStyle/>
          <a:p>
            <a:r>
              <a:rPr lang="en-GB"/>
              <a:t>Click to enter slide title</a:t>
            </a:r>
          </a:p>
        </p:txBody>
      </p:sp>
      <p:sp>
        <p:nvSpPr>
          <p:cNvPr id="7" name="Date Placeholder 6"/>
          <p:cNvSpPr>
            <a:spLocks noGrp="1"/>
          </p:cNvSpPr>
          <p:nvPr>
            <p:ph type="dt" sz="half" idx="2"/>
          </p:nvPr>
        </p:nvSpPr>
        <p:spPr>
          <a:xfrm>
            <a:off x="8172450" y="6343650"/>
            <a:ext cx="2776537" cy="269875"/>
          </a:xfrm>
          <a:prstGeom prst="rect">
            <a:avLst/>
          </a:prstGeom>
        </p:spPr>
        <p:txBody>
          <a:bodyPr vert="horz" lIns="0" tIns="0" rIns="0" bIns="0" rtlCol="0" anchor="b" anchorCtr="0">
            <a:normAutofit/>
          </a:bodyPr>
          <a:lstStyle>
            <a:lvl1pPr algn="r">
              <a:defRPr sz="1000">
                <a:solidFill>
                  <a:schemeClr val="tx1"/>
                </a:solidFill>
              </a:defRPr>
            </a:lvl1pPr>
          </a:lstStyle>
          <a:p>
            <a:fld id="{22EA19C8-2C03-4669-9686-16DFB0E0829E}" type="datetime4">
              <a:rPr lang="en-GB" smtClean="0"/>
              <a:t>20 July 2026</a:t>
            </a:fld>
            <a:endParaRPr lang="en-GB"/>
          </a:p>
        </p:txBody>
      </p:sp>
      <p:sp>
        <p:nvSpPr>
          <p:cNvPr id="8" name="Text Placeholder 2">
            <a:extLst>
              <a:ext uri="{FF2B5EF4-FFF2-40B4-BE49-F238E27FC236}">
                <a16:creationId xmlns:a16="http://schemas.microsoft.com/office/drawing/2014/main" id="{BBC2AD35-7761-4742-BEF1-3D0CAD2E1DED}"/>
              </a:ext>
            </a:extLst>
          </p:cNvPr>
          <p:cNvSpPr>
            <a:spLocks noGrp="1"/>
          </p:cNvSpPr>
          <p:nvPr>
            <p:ph type="body" idx="1"/>
          </p:nvPr>
        </p:nvSpPr>
        <p:spPr>
          <a:xfrm>
            <a:off x="365125" y="1303338"/>
            <a:ext cx="11460163" cy="4787899"/>
          </a:xfrm>
          <a:prstGeom prst="rect">
            <a:avLst/>
          </a:prstGeom>
        </p:spPr>
        <p:txBody>
          <a:bodyPr vert="horz" lIns="180000" tIns="180000" rIns="180000" bIns="180000" rtlCol="0">
            <a:normAutofit/>
          </a:bodyPr>
          <a:lstStyle/>
          <a:p>
            <a:pPr lvl="0"/>
            <a:r>
              <a:rPr lang="en-GB"/>
              <a:t>Click to enter text content.</a:t>
            </a:r>
            <a:br>
              <a:rPr lang="en-GB"/>
            </a:br>
            <a:r>
              <a:rPr lang="en-GB"/>
              <a:t>To increase bullet level, select your text &gt; press ‘Tab’.</a:t>
            </a:r>
            <a:br>
              <a:rPr lang="en-GB"/>
            </a:br>
            <a:r>
              <a:rPr lang="en-GB"/>
              <a:t>To decrease bullet level, select your text &gt; press ‘Shift’ + ‘Tab’.</a:t>
            </a:r>
            <a:br>
              <a:rPr lang="en-GB"/>
            </a:br>
            <a:r>
              <a:rPr lang="en-GB"/>
              <a:t>To remove bullet levels, select your text &gt; right click &gt; press ‘bullets’.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a:p>
            <a:pPr lvl="4"/>
            <a:endParaRPr lang="en-GB"/>
          </a:p>
        </p:txBody>
      </p:sp>
      <p:pic>
        <p:nvPicPr>
          <p:cNvPr id="26" name="Graphic 25">
            <a:extLst>
              <a:ext uri="{FF2B5EF4-FFF2-40B4-BE49-F238E27FC236}">
                <a16:creationId xmlns:a16="http://schemas.microsoft.com/office/drawing/2014/main" id="{7B7C2D6E-A9EC-414F-8A58-3207DA98D6C5}"/>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3"/>
              </a:ext>
            </a:extLst>
          </a:blip>
          <a:stretch>
            <a:fillRect/>
          </a:stretch>
        </p:blipFill>
        <p:spPr>
          <a:xfrm>
            <a:off x="376239" y="6354213"/>
            <a:ext cx="820737" cy="247406"/>
          </a:xfrm>
          <a:prstGeom prst="rect">
            <a:avLst/>
          </a:prstGeom>
        </p:spPr>
      </p:pic>
      <p:sp>
        <p:nvSpPr>
          <p:cNvPr id="3" name="TextBox 2">
            <a:extLst>
              <a:ext uri="{FF2B5EF4-FFF2-40B4-BE49-F238E27FC236}">
                <a16:creationId xmlns:a16="http://schemas.microsoft.com/office/drawing/2014/main" id="{810C2B66-FB5E-5558-7FB1-03319D871093}"/>
              </a:ext>
            </a:extLst>
          </p:cNvPr>
          <p:cNvSpPr txBox="1"/>
          <p:nvPr userDrawn="1">
            <p:extLst>
              <p:ext uri="{1162E1C5-73C7-4A58-AE30-91384D911F3F}">
                <p184:classification xmlns:p184="http://schemas.microsoft.com/office/powerpoint/2018/4/main" val="hdr"/>
              </p:ext>
            </p:extLst>
          </p:nvPr>
        </p:nvSpPr>
        <p:spPr>
          <a:xfrm>
            <a:off x="63500" y="63500"/>
            <a:ext cx="1270000" cy="152400"/>
          </a:xfrm>
          <a:prstGeom prst="rect">
            <a:avLst/>
          </a:prstGeom>
        </p:spPr>
        <p:txBody>
          <a:bodyPr horzOverflow="overflow" lIns="0" tIns="0" rIns="0" bIns="0">
            <a:spAutoFit/>
          </a:bodyPr>
          <a:lstStyle/>
          <a:p>
            <a:pPr algn="l"/>
            <a:r>
              <a:rPr lang="en-US" sz="1000">
                <a:solidFill>
                  <a:srgbClr val="008000">
                    <a:alpha val="50000"/>
                  </a:srgbClr>
                </a:solidFill>
                <a:latin typeface="Aptos" panose="020B0004020202020204" pitchFamily="34" charset="0"/>
              </a:rPr>
              <a:t>Classification: Internal</a:t>
            </a:r>
          </a:p>
        </p:txBody>
      </p:sp>
    </p:spTree>
    <p:extLst>
      <p:ext uri="{BB962C8B-B14F-4D97-AF65-F5344CB8AC3E}">
        <p14:creationId xmlns:p14="http://schemas.microsoft.com/office/powerpoint/2010/main" val="3973820588"/>
      </p:ext>
    </p:extLst>
  </p:cSld>
  <p:clrMap bg1="lt1" tx1="dk1" bg2="lt2" tx2="dk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8" r:id="rId10"/>
    <p:sldLayoutId id="2147483799" r:id="rId11"/>
    <p:sldLayoutId id="2147483800" r:id="rId12"/>
    <p:sldLayoutId id="2147483801" r:id="rId13"/>
    <p:sldLayoutId id="2147483802" r:id="rId14"/>
    <p:sldLayoutId id="2147483803" r:id="rId15"/>
    <p:sldLayoutId id="2147483804" r:id="rId16"/>
    <p:sldLayoutId id="2147483805" r:id="rId17"/>
    <p:sldLayoutId id="2147483806" r:id="rId18"/>
    <p:sldLayoutId id="2147483807" r:id="rId19"/>
    <p:sldLayoutId id="2147483808" r:id="rId20"/>
    <p:sldLayoutId id="2147483809" r:id="rId21"/>
    <p:sldLayoutId id="2147483810" r:id="rId22"/>
    <p:sldLayoutId id="2147483811" r:id="rId23"/>
    <p:sldLayoutId id="2147483812" r:id="rId24"/>
    <p:sldLayoutId id="2147483813" r:id="rId25"/>
    <p:sldLayoutId id="2147483814" r:id="rId26"/>
    <p:sldLayoutId id="2147483815" r:id="rId27"/>
    <p:sldLayoutId id="2147483816" r:id="rId28"/>
    <p:sldLayoutId id="2147483817" r:id="rId29"/>
    <p:sldLayoutId id="2147483818" r:id="rId30"/>
    <p:sldLayoutId id="2147483953" r:id="rId3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1219170" rtl="0" eaLnBrk="1" latinLnBrk="0" hangingPunct="1">
        <a:lnSpc>
          <a:spcPct val="100000"/>
        </a:lnSpc>
        <a:spcBef>
          <a:spcPct val="0"/>
        </a:spcBef>
        <a:buNone/>
        <a:defRPr sz="2800" b="1" kern="1200">
          <a:solidFill>
            <a:schemeClr val="tx2"/>
          </a:solidFill>
          <a:latin typeface="+mj-lt"/>
          <a:ea typeface="+mj-ea"/>
          <a:cs typeface="+mj-cs"/>
        </a:defRPr>
      </a:lvl1pPr>
    </p:titleStyle>
    <p:bodyStyle>
      <a:lvl1pPr marL="359991" indent="-359991" algn="l" defTabSz="1219170" rtl="0" eaLnBrk="1" latinLnBrk="0" hangingPunct="1">
        <a:spcBef>
          <a:spcPts val="300"/>
        </a:spcBef>
        <a:spcAft>
          <a:spcPts val="300"/>
        </a:spcAft>
        <a:buClr>
          <a:schemeClr val="tx2"/>
        </a:buClr>
        <a:buSzPct val="110000"/>
        <a:buFont typeface="Arial" panose="020B0604020202020204" pitchFamily="34" charset="0"/>
        <a:buChar char="•"/>
        <a:defRPr sz="2200" kern="1200">
          <a:solidFill>
            <a:schemeClr val="tx1"/>
          </a:solidFill>
          <a:latin typeface="+mn-lt"/>
          <a:ea typeface="+mn-ea"/>
          <a:cs typeface="+mn-cs"/>
        </a:defRPr>
      </a:lvl1pPr>
      <a:lvl2pPr marL="717533" indent="-359991" algn="l" defTabSz="1219170" rtl="0" eaLnBrk="1" latinLnBrk="0" hangingPunct="1">
        <a:spcBef>
          <a:spcPts val="300"/>
        </a:spcBef>
        <a:spcAft>
          <a:spcPts val="300"/>
        </a:spcAft>
        <a:buClr>
          <a:schemeClr val="tx1"/>
        </a:buClr>
        <a:buFont typeface="Arial" panose="020B0604020202020204" pitchFamily="34" charset="0"/>
        <a:buChar char="­"/>
        <a:defRPr sz="2000" kern="1200">
          <a:solidFill>
            <a:schemeClr val="tx1"/>
          </a:solidFill>
          <a:latin typeface="+mn-lt"/>
          <a:ea typeface="+mn-ea"/>
          <a:cs typeface="+mn-cs"/>
        </a:defRPr>
      </a:lvl2pPr>
      <a:lvl3pPr marL="1079973" indent="-359991" algn="l" defTabSz="1219170" rtl="0" eaLnBrk="1" latinLnBrk="0" hangingPunct="1">
        <a:spcBef>
          <a:spcPts val="300"/>
        </a:spcBef>
        <a:spcAft>
          <a:spcPts val="300"/>
        </a:spcAft>
        <a:buClr>
          <a:schemeClr val="tx1"/>
        </a:buClr>
        <a:buFont typeface="Arial" panose="020B0604020202020204" pitchFamily="34" charset="0"/>
        <a:buChar char="­"/>
        <a:defRPr sz="1800" kern="1200">
          <a:solidFill>
            <a:schemeClr val="tx1"/>
          </a:solidFill>
          <a:latin typeface="+mn-lt"/>
          <a:ea typeface="+mn-ea"/>
          <a:cs typeface="+mn-cs"/>
        </a:defRPr>
      </a:lvl3pPr>
      <a:lvl4pPr marL="1441415" indent="-359991" algn="l" defTabSz="1219170" rtl="0" eaLnBrk="1" latinLnBrk="0" hangingPunct="1">
        <a:spcBef>
          <a:spcPts val="300"/>
        </a:spcBef>
        <a:spcAft>
          <a:spcPts val="300"/>
        </a:spcAft>
        <a:buClr>
          <a:schemeClr val="tx1"/>
        </a:buClr>
        <a:buFont typeface="Arial" panose="020B0604020202020204" pitchFamily="34" charset="0"/>
        <a:buChar char="­"/>
        <a:defRPr sz="1600" kern="1200">
          <a:solidFill>
            <a:schemeClr val="tx1"/>
          </a:solidFill>
          <a:latin typeface="+mn-lt"/>
          <a:ea typeface="+mn-ea"/>
          <a:cs typeface="+mn-cs"/>
        </a:defRPr>
      </a:lvl4pPr>
      <a:lvl5pPr marL="1799955" indent="-359991" algn="l" defTabSz="1219170" rtl="0" eaLnBrk="1" latinLnBrk="0" hangingPunct="1">
        <a:spcBef>
          <a:spcPts val="300"/>
        </a:spcBef>
        <a:spcAft>
          <a:spcPts val="300"/>
        </a:spcAft>
        <a:buClr>
          <a:schemeClr val="tx1"/>
        </a:buClr>
        <a:buFont typeface="Arial" panose="020B0604020202020204" pitchFamily="34" charset="0"/>
        <a:buChar char="­"/>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6A6A6"/>
          </p15:clr>
        </p15:guide>
        <p15:guide id="2" pos="7680">
          <p15:clr>
            <a:srgbClr val="A6A6A6"/>
          </p15:clr>
        </p15:guide>
        <p15:guide id="3" pos="230">
          <p15:clr>
            <a:srgbClr val="A6A6A6"/>
          </p15:clr>
        </p15:guide>
        <p15:guide id="4" pos="1301">
          <p15:clr>
            <a:srgbClr val="A6A6A6"/>
          </p15:clr>
        </p15:guide>
        <p15:guide id="5" pos="1461">
          <p15:clr>
            <a:srgbClr val="A6A6A6"/>
          </p15:clr>
        </p15:guide>
        <p15:guide id="6" pos="2531">
          <p15:clr>
            <a:srgbClr val="A6A6A6"/>
          </p15:clr>
        </p15:guide>
        <p15:guide id="7" pos="2690">
          <p15:clr>
            <a:srgbClr val="A6A6A6"/>
          </p15:clr>
        </p15:guide>
        <p15:guide id="8" pos="3759">
          <p15:clr>
            <a:srgbClr val="A6A6A6"/>
          </p15:clr>
        </p15:guide>
        <p15:guide id="9" pos="3920">
          <p15:clr>
            <a:srgbClr val="A6A6A6"/>
          </p15:clr>
        </p15:guide>
        <p15:guide id="10" pos="4989">
          <p15:clr>
            <a:srgbClr val="A6A6A6"/>
          </p15:clr>
        </p15:guide>
        <p15:guide id="11" pos="5148">
          <p15:clr>
            <a:srgbClr val="A6A6A6"/>
          </p15:clr>
        </p15:guide>
        <p15:guide id="12" pos="6218">
          <p15:clr>
            <a:srgbClr val="A6A6A6"/>
          </p15:clr>
        </p15:guide>
        <p15:guide id="13" pos="6378">
          <p15:clr>
            <a:srgbClr val="A6A6A6"/>
          </p15:clr>
        </p15:guide>
        <p15:guide id="14" pos="7449">
          <p15:clr>
            <a:srgbClr val="A6A6A6"/>
          </p15:clr>
        </p15:guide>
        <p15:guide id="15" orient="horz">
          <p15:clr>
            <a:srgbClr val="A6A6A6"/>
          </p15:clr>
        </p15:guide>
        <p15:guide id="16" orient="horz" pos="4315">
          <p15:clr>
            <a:srgbClr val="A6A6A6"/>
          </p15:clr>
        </p15:guide>
        <p15:guide id="17" orient="horz" pos="153">
          <p15:clr>
            <a:srgbClr val="A6A6A6"/>
          </p15:clr>
        </p15:guide>
        <p15:guide id="18" orient="horz" pos="686">
          <p15:clr>
            <a:srgbClr val="A6A6A6"/>
          </p15:clr>
        </p15:guide>
        <p15:guide id="19" orient="horz" pos="821">
          <p15:clr>
            <a:srgbClr val="A6A6A6"/>
          </p15:clr>
        </p15:guide>
        <p15:guide id="20" orient="horz" pos="1323">
          <p15:clr>
            <a:srgbClr val="A6A6A6"/>
          </p15:clr>
        </p15:guide>
        <p15:guide id="21" orient="horz" pos="2330">
          <p15:clr>
            <a:srgbClr val="A6A6A6"/>
          </p15:clr>
        </p15:guide>
        <p15:guide id="22" orient="horz" pos="3335">
          <p15:clr>
            <a:srgbClr val="A6A6A6"/>
          </p15:clr>
        </p15:guide>
        <p15:guide id="23" orient="horz" pos="3837">
          <p15:clr>
            <a:srgbClr val="A6A6A6"/>
          </p15:clr>
        </p15:guide>
        <p15:guide id="24" orient="horz" pos="4166">
          <p15:clr>
            <a:srgbClr val="A6A6A6"/>
          </p15:clr>
        </p15:guide>
        <p15:guide id="25" orient="horz" pos="1827">
          <p15:clr>
            <a:srgbClr val="A4A3A4"/>
          </p15:clr>
        </p15:guide>
        <p15:guide id="26" orient="horz" pos="2832">
          <p15:clr>
            <a:srgbClr val="A4A3A4"/>
          </p15:clr>
        </p15:guide>
        <p15:guide id="27" orient="horz" pos="3996">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png"/><Relationship Id="rId3" Type="http://schemas.openxmlformats.org/officeDocument/2006/relationships/image" Target="../media/image11.svg"/><Relationship Id="rId7" Type="http://schemas.openxmlformats.org/officeDocument/2006/relationships/image" Target="../media/image15.svg"/><Relationship Id="rId12" Type="http://schemas.openxmlformats.org/officeDocument/2006/relationships/image" Target="../media/image20.png"/><Relationship Id="rId2" Type="http://schemas.openxmlformats.org/officeDocument/2006/relationships/image" Target="../media/image10.svg"/><Relationship Id="rId1" Type="http://schemas.openxmlformats.org/officeDocument/2006/relationships/slideLayout" Target="../slideLayouts/slideLayout8.xml"/><Relationship Id="rId6" Type="http://schemas.openxmlformats.org/officeDocument/2006/relationships/image" Target="../media/image14.svg"/><Relationship Id="rId11" Type="http://schemas.openxmlformats.org/officeDocument/2006/relationships/image" Target="../media/image19.svg"/><Relationship Id="rId5" Type="http://schemas.openxmlformats.org/officeDocument/2006/relationships/image" Target="../media/image13.svg"/><Relationship Id="rId15" Type="http://schemas.openxmlformats.org/officeDocument/2006/relationships/image" Target="../media/image23.png"/><Relationship Id="rId10" Type="http://schemas.openxmlformats.org/officeDocument/2006/relationships/image" Target="../media/image18.svg"/><Relationship Id="rId4" Type="http://schemas.openxmlformats.org/officeDocument/2006/relationships/image" Target="../media/image12.png"/><Relationship Id="rId9" Type="http://schemas.openxmlformats.org/officeDocument/2006/relationships/image" Target="../media/image17.svg"/><Relationship Id="rId1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hyperlink" Target="https://servicenow.gsk.com/now/nav/ui/classic/params/target/cmdb_ci_desktop_software_list.do" TargetMode="External"/><Relationship Id="rId2" Type="http://schemas.openxmlformats.org/officeDocument/2006/relationships/image" Target="../media/image15.sv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8" Type="http://schemas.openxmlformats.org/officeDocument/2006/relationships/image" Target="../media/image29.svg"/><Relationship Id="rId13" Type="http://schemas.openxmlformats.org/officeDocument/2006/relationships/image" Target="../media/image33.svg"/><Relationship Id="rId18" Type="http://schemas.openxmlformats.org/officeDocument/2006/relationships/image" Target="../media/image38.png"/><Relationship Id="rId26" Type="http://schemas.openxmlformats.org/officeDocument/2006/relationships/image" Target="../media/image46.svg"/><Relationship Id="rId3" Type="http://schemas.openxmlformats.org/officeDocument/2006/relationships/image" Target="../media/image24.svg"/><Relationship Id="rId21" Type="http://schemas.openxmlformats.org/officeDocument/2006/relationships/image" Target="../media/image41.svg"/><Relationship Id="rId7" Type="http://schemas.openxmlformats.org/officeDocument/2006/relationships/image" Target="../media/image28.svg"/><Relationship Id="rId12" Type="http://schemas.openxmlformats.org/officeDocument/2006/relationships/image" Target="../media/image32.png"/><Relationship Id="rId17" Type="http://schemas.openxmlformats.org/officeDocument/2006/relationships/image" Target="../media/image37.svg"/><Relationship Id="rId25" Type="http://schemas.openxmlformats.org/officeDocument/2006/relationships/image" Target="../media/image45.png"/><Relationship Id="rId2" Type="http://schemas.openxmlformats.org/officeDocument/2006/relationships/notesSlide" Target="../notesSlides/notesSlide20.xml"/><Relationship Id="rId16" Type="http://schemas.openxmlformats.org/officeDocument/2006/relationships/image" Target="../media/image36.svg"/><Relationship Id="rId20" Type="http://schemas.openxmlformats.org/officeDocument/2006/relationships/image" Target="../media/image40.svg"/><Relationship Id="rId29" Type="http://schemas.openxmlformats.org/officeDocument/2006/relationships/image" Target="../media/image49.png"/><Relationship Id="rId1" Type="http://schemas.openxmlformats.org/officeDocument/2006/relationships/slideLayout" Target="../slideLayouts/slideLayout46.xml"/><Relationship Id="rId6" Type="http://schemas.openxmlformats.org/officeDocument/2006/relationships/image" Target="../media/image27.svg"/><Relationship Id="rId11" Type="http://schemas.openxmlformats.org/officeDocument/2006/relationships/image" Target="../media/image31.png"/><Relationship Id="rId24" Type="http://schemas.openxmlformats.org/officeDocument/2006/relationships/image" Target="../media/image44.png"/><Relationship Id="rId5" Type="http://schemas.openxmlformats.org/officeDocument/2006/relationships/image" Target="../media/image26.svg"/><Relationship Id="rId15" Type="http://schemas.openxmlformats.org/officeDocument/2006/relationships/image" Target="../media/image35.svg"/><Relationship Id="rId23" Type="http://schemas.openxmlformats.org/officeDocument/2006/relationships/image" Target="../media/image43.svg"/><Relationship Id="rId28" Type="http://schemas.openxmlformats.org/officeDocument/2006/relationships/image" Target="../media/image48.svg"/><Relationship Id="rId10" Type="http://schemas.microsoft.com/office/2007/relationships/hdphoto" Target="../media/hdphoto1.wdp"/><Relationship Id="rId19" Type="http://schemas.openxmlformats.org/officeDocument/2006/relationships/image" Target="../media/image39.svg"/><Relationship Id="rId31" Type="http://schemas.openxmlformats.org/officeDocument/2006/relationships/image" Target="../media/image50.sv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4.png"/><Relationship Id="rId22" Type="http://schemas.openxmlformats.org/officeDocument/2006/relationships/image" Target="../media/image42.svg"/><Relationship Id="rId27" Type="http://schemas.openxmlformats.org/officeDocument/2006/relationships/image" Target="../media/image47.svg"/><Relationship Id="rId30" Type="http://schemas.microsoft.com/office/2007/relationships/hdphoto" Target="../media/hdphoto2.wdp"/></Relationships>
</file>

<file path=ppt/slides/_rels/slide2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3364649-6CEB-47A5-82CC-488B9C0A66D5}"/>
              </a:ext>
            </a:extLst>
          </p:cNvPr>
          <p:cNvSpPr>
            <a:spLocks noGrp="1"/>
          </p:cNvSpPr>
          <p:nvPr>
            <p:ph type="title"/>
          </p:nvPr>
        </p:nvSpPr>
        <p:spPr>
          <a:xfrm>
            <a:off x="365125" y="3235800"/>
            <a:ext cx="9442450" cy="1279050"/>
          </a:xfrm>
        </p:spPr>
        <p:txBody>
          <a:bodyPr/>
          <a:lstStyle/>
          <a:p>
            <a:r>
              <a:rPr lang="en-US"/>
              <a:t>External Access Services (EAS) – OAK 2.0 Requirements</a:t>
            </a:r>
            <a:endParaRPr lang="en-GB"/>
          </a:p>
        </p:txBody>
      </p:sp>
      <p:sp>
        <p:nvSpPr>
          <p:cNvPr id="5" name="Slide Number Placeholder 4">
            <a:extLst>
              <a:ext uri="{FF2B5EF4-FFF2-40B4-BE49-F238E27FC236}">
                <a16:creationId xmlns:a16="http://schemas.microsoft.com/office/drawing/2014/main" id="{DE09ACB4-B262-4251-B8C6-23AF25617321}"/>
              </a:ext>
            </a:extLst>
          </p:cNvPr>
          <p:cNvSpPr>
            <a:spLocks noGrp="1"/>
          </p:cNvSpPr>
          <p:nvPr>
            <p:ph type="sldNum" sz="quarter" idx="4294967295"/>
          </p:nvPr>
        </p:nvSpPr>
        <p:spPr>
          <a:xfrm>
            <a:off x="11652250" y="6343650"/>
            <a:ext cx="539750" cy="269875"/>
          </a:xfrm>
        </p:spPr>
        <p:txBody>
          <a:bodyPr/>
          <a:lstStyle/>
          <a:p>
            <a:fld id="{9F9F533D-B52E-4A2F-BF72-0ADD2D94BD75}" type="slidenum">
              <a:rPr lang="en-GB" smtClean="0"/>
              <a:pPr/>
              <a:t>1</a:t>
            </a:fld>
            <a:endParaRPr lang="en-GB"/>
          </a:p>
        </p:txBody>
      </p:sp>
    </p:spTree>
    <p:extLst>
      <p:ext uri="{BB962C8B-B14F-4D97-AF65-F5344CB8AC3E}">
        <p14:creationId xmlns:p14="http://schemas.microsoft.com/office/powerpoint/2010/main" val="571302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Box 37">
            <a:extLst>
              <a:ext uri="{FF2B5EF4-FFF2-40B4-BE49-F238E27FC236}">
                <a16:creationId xmlns:a16="http://schemas.microsoft.com/office/drawing/2014/main" id="{E5AD3011-A190-4CE0-817C-861692033303}"/>
              </a:ext>
            </a:extLst>
          </p:cNvPr>
          <p:cNvSpPr txBox="1"/>
          <p:nvPr/>
        </p:nvSpPr>
        <p:spPr>
          <a:xfrm>
            <a:off x="390594" y="1137920"/>
            <a:ext cx="6873212" cy="3059176"/>
          </a:xfrm>
          <a:prstGeom prst="rect">
            <a:avLst/>
          </a:prstGeom>
          <a:noFill/>
          <a:ln>
            <a:solidFill>
              <a:schemeClr val="bg1">
                <a:lumMod val="75000"/>
              </a:schemeClr>
            </a:solidFill>
          </a:ln>
        </p:spPr>
        <p:txBody>
          <a:bodyPr wrap="square" lIns="180000" tIns="180000" rIns="180000" bIns="180000" rtlCol="0">
            <a:normAutofit/>
          </a:bodyPr>
          <a:lstStyle/>
          <a:p>
            <a:pPr marL="285750" indent="-285750" algn="l">
              <a:spcBef>
                <a:spcPts val="300"/>
              </a:spcBef>
              <a:spcAft>
                <a:spcPts val="300"/>
              </a:spcAft>
              <a:buClr>
                <a:schemeClr val="tx2"/>
              </a:buClr>
              <a:buSzPct val="150000"/>
              <a:buFont typeface="Arial" panose="020B0604020202020204" pitchFamily="34" charset="0"/>
              <a:buChar char="•"/>
            </a:pPr>
            <a:endParaRPr lang="en-US" sz="1600" err="1"/>
          </a:p>
        </p:txBody>
      </p:sp>
      <p:sp>
        <p:nvSpPr>
          <p:cNvPr id="41" name="TextBox 40">
            <a:extLst>
              <a:ext uri="{FF2B5EF4-FFF2-40B4-BE49-F238E27FC236}">
                <a16:creationId xmlns:a16="http://schemas.microsoft.com/office/drawing/2014/main" id="{B886951E-BE51-4C0E-A6D9-1407A96185C0}"/>
              </a:ext>
            </a:extLst>
          </p:cNvPr>
          <p:cNvSpPr txBox="1"/>
          <p:nvPr/>
        </p:nvSpPr>
        <p:spPr>
          <a:xfrm>
            <a:off x="390594" y="4334909"/>
            <a:ext cx="6873212" cy="1784718"/>
          </a:xfrm>
          <a:prstGeom prst="rect">
            <a:avLst/>
          </a:prstGeom>
          <a:noFill/>
          <a:ln>
            <a:solidFill>
              <a:schemeClr val="bg1">
                <a:lumMod val="75000"/>
              </a:schemeClr>
            </a:solidFill>
          </a:ln>
        </p:spPr>
        <p:txBody>
          <a:bodyPr wrap="square" lIns="180000" tIns="180000" rIns="180000" bIns="180000" rtlCol="0">
            <a:normAutofit/>
          </a:bodyPr>
          <a:lstStyle/>
          <a:p>
            <a:pPr marL="285750" indent="-285750" algn="l">
              <a:spcBef>
                <a:spcPts val="300"/>
              </a:spcBef>
              <a:spcAft>
                <a:spcPts val="300"/>
              </a:spcAft>
              <a:buClr>
                <a:schemeClr val="tx2"/>
              </a:buClr>
              <a:buSzPct val="150000"/>
              <a:buFont typeface="Arial" panose="020B0604020202020204" pitchFamily="34" charset="0"/>
              <a:buChar char="•"/>
            </a:pPr>
            <a:endParaRPr lang="en-US" sz="1600" err="1"/>
          </a:p>
        </p:txBody>
      </p:sp>
      <p:graphicFrame>
        <p:nvGraphicFramePr>
          <p:cNvPr id="25" name="Table 24">
            <a:extLst>
              <a:ext uri="{FF2B5EF4-FFF2-40B4-BE49-F238E27FC236}">
                <a16:creationId xmlns:a16="http://schemas.microsoft.com/office/drawing/2014/main" id="{A850A84E-2E30-411F-9900-31941DA34B68}"/>
              </a:ext>
            </a:extLst>
          </p:cNvPr>
          <p:cNvGraphicFramePr>
            <a:graphicFrameLocks noGrp="1"/>
          </p:cNvGraphicFramePr>
          <p:nvPr>
            <p:extLst>
              <p:ext uri="{D42A27DB-BD31-4B8C-83A1-F6EECF244321}">
                <p14:modId xmlns:p14="http://schemas.microsoft.com/office/powerpoint/2010/main" val="524674870"/>
              </p:ext>
            </p:extLst>
          </p:nvPr>
        </p:nvGraphicFramePr>
        <p:xfrm>
          <a:off x="7444314" y="1107118"/>
          <a:ext cx="4683422" cy="1033175"/>
        </p:xfrm>
        <a:graphic>
          <a:graphicData uri="http://schemas.openxmlformats.org/drawingml/2006/table">
            <a:tbl>
              <a:tblPr firstRow="1" bandRow="1">
                <a:tableStyleId>{5C22544A-7EE6-4342-B048-85BDC9FD1C3A}</a:tableStyleId>
              </a:tblPr>
              <a:tblGrid>
                <a:gridCol w="1965415">
                  <a:extLst>
                    <a:ext uri="{9D8B030D-6E8A-4147-A177-3AD203B41FA5}">
                      <a16:colId xmlns:a16="http://schemas.microsoft.com/office/drawing/2014/main" val="3891676494"/>
                    </a:ext>
                  </a:extLst>
                </a:gridCol>
                <a:gridCol w="426583">
                  <a:extLst>
                    <a:ext uri="{9D8B030D-6E8A-4147-A177-3AD203B41FA5}">
                      <a16:colId xmlns:a16="http://schemas.microsoft.com/office/drawing/2014/main" val="2140829158"/>
                    </a:ext>
                  </a:extLst>
                </a:gridCol>
                <a:gridCol w="381904">
                  <a:extLst>
                    <a:ext uri="{9D8B030D-6E8A-4147-A177-3AD203B41FA5}">
                      <a16:colId xmlns:a16="http://schemas.microsoft.com/office/drawing/2014/main" val="778784682"/>
                    </a:ext>
                  </a:extLst>
                </a:gridCol>
                <a:gridCol w="381904">
                  <a:extLst>
                    <a:ext uri="{9D8B030D-6E8A-4147-A177-3AD203B41FA5}">
                      <a16:colId xmlns:a16="http://schemas.microsoft.com/office/drawing/2014/main" val="953935180"/>
                    </a:ext>
                  </a:extLst>
                </a:gridCol>
                <a:gridCol w="381904">
                  <a:extLst>
                    <a:ext uri="{9D8B030D-6E8A-4147-A177-3AD203B41FA5}">
                      <a16:colId xmlns:a16="http://schemas.microsoft.com/office/drawing/2014/main" val="3965651416"/>
                    </a:ext>
                  </a:extLst>
                </a:gridCol>
                <a:gridCol w="381904">
                  <a:extLst>
                    <a:ext uri="{9D8B030D-6E8A-4147-A177-3AD203B41FA5}">
                      <a16:colId xmlns:a16="http://schemas.microsoft.com/office/drawing/2014/main" val="3142468582"/>
                    </a:ext>
                  </a:extLst>
                </a:gridCol>
                <a:gridCol w="381904">
                  <a:extLst>
                    <a:ext uri="{9D8B030D-6E8A-4147-A177-3AD203B41FA5}">
                      <a16:colId xmlns:a16="http://schemas.microsoft.com/office/drawing/2014/main" val="3472251507"/>
                    </a:ext>
                  </a:extLst>
                </a:gridCol>
                <a:gridCol w="381904">
                  <a:extLst>
                    <a:ext uri="{9D8B030D-6E8A-4147-A177-3AD203B41FA5}">
                      <a16:colId xmlns:a16="http://schemas.microsoft.com/office/drawing/2014/main" val="441887277"/>
                    </a:ext>
                  </a:extLst>
                </a:gridCol>
              </a:tblGrid>
              <a:tr h="774095">
                <a:tc>
                  <a:txBody>
                    <a:bodyPr/>
                    <a:lstStyle/>
                    <a:p>
                      <a:pPr algn="ctr"/>
                      <a:endParaRPr lang="en-GB" sz="800"/>
                    </a:p>
                  </a:txBody>
                  <a:tcPr marL="121920" marR="121920" marT="60960" marB="60960" anchor="ctr">
                    <a:lnL w="12700" cmpd="sng">
                      <a:noFill/>
                    </a:lnL>
                    <a:lnR w="12700" cap="flat" cmpd="sng" algn="ctr">
                      <a:solidFill>
                        <a:schemeClr val="bg1">
                          <a:lumMod val="75000"/>
                        </a:schemeClr>
                      </a:solidFill>
                      <a:prstDash val="solid"/>
                      <a:round/>
                      <a:headEnd type="none" w="med" len="med"/>
                      <a:tailEnd type="none" w="med" len="med"/>
                    </a:lnR>
                    <a:lnT w="127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700">
                          <a:solidFill>
                            <a:schemeClr val="tx1"/>
                          </a:solidFill>
                        </a:rPr>
                        <a:t>Design</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Build</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Test/ QA</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Op Support</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Ongoing Development</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Change Management</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b="1" kern="1200">
                          <a:solidFill>
                            <a:schemeClr val="tx1"/>
                          </a:solidFill>
                          <a:latin typeface="+mn-lt"/>
                          <a:ea typeface="+mn-ea"/>
                          <a:cs typeface="+mn-cs"/>
                        </a:rPr>
                        <a:t>Decommissioning</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438671849"/>
                  </a:ext>
                </a:extLst>
              </a:tr>
              <a:tr h="148631">
                <a:tc>
                  <a:txBody>
                    <a:bodyPr/>
                    <a:lstStyle/>
                    <a:p>
                      <a:r>
                        <a:rPr lang="en-GB" sz="900" b="0"/>
                        <a:t>VA&amp;D</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800" b="1" kern="1200">
                          <a:solidFill>
                            <a:schemeClr val="tx1"/>
                          </a:solidFill>
                          <a:latin typeface="+mn-lt"/>
                          <a:ea typeface="+mn-ea"/>
                          <a:cs typeface="+mn-cs"/>
                        </a:rPr>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05620272"/>
                  </a:ext>
                </a:extLst>
              </a:tr>
            </a:tbl>
          </a:graphicData>
        </a:graphic>
      </p:graphicFrame>
      <p:sp>
        <p:nvSpPr>
          <p:cNvPr id="26" name="TextBox 25">
            <a:extLst>
              <a:ext uri="{FF2B5EF4-FFF2-40B4-BE49-F238E27FC236}">
                <a16:creationId xmlns:a16="http://schemas.microsoft.com/office/drawing/2014/main" id="{2B469C4F-DDFC-44E4-B02E-3F922171291C}"/>
              </a:ext>
            </a:extLst>
          </p:cNvPr>
          <p:cNvSpPr txBox="1"/>
          <p:nvPr/>
        </p:nvSpPr>
        <p:spPr>
          <a:xfrm>
            <a:off x="470595" y="4610362"/>
            <a:ext cx="3293605" cy="969496"/>
          </a:xfrm>
          <a:prstGeom prst="rect">
            <a:avLst/>
          </a:prstGeom>
          <a:noFill/>
        </p:spPr>
        <p:txBody>
          <a:bodyPr wrap="square" rtlCol="0">
            <a:spAutoFit/>
          </a:bodyPr>
          <a:lstStyle/>
          <a:p>
            <a:pPr marL="228600" indent="-228600" fontAlgn="base">
              <a:buFont typeface="+mj-lt"/>
              <a:buAutoNum type="arabicPeriod"/>
            </a:pPr>
            <a:r>
              <a:rPr lang="en-GB" sz="950"/>
              <a:t>Focus on improved monitoring and observability to support AI Ops.</a:t>
            </a:r>
            <a:r>
              <a:rPr lang="en-US" sz="950"/>
              <a:t>​</a:t>
            </a:r>
          </a:p>
          <a:p>
            <a:pPr marL="228600" indent="-228600" fontAlgn="base">
              <a:buFont typeface="+mj-lt"/>
              <a:buAutoNum type="arabicPeriod"/>
            </a:pPr>
            <a:r>
              <a:rPr lang="en-GB" sz="950"/>
              <a:t>Expertise in the platforms and investment in tooling to support GP&amp;T AI Ops goals.</a:t>
            </a:r>
            <a:r>
              <a:rPr lang="en-US" sz="950"/>
              <a:t>​</a:t>
            </a:r>
          </a:p>
          <a:p>
            <a:pPr marL="228600" indent="-228600" fontAlgn="base">
              <a:buFont typeface="+mj-lt"/>
              <a:buAutoNum type="arabicPeriod"/>
            </a:pPr>
            <a:r>
              <a:rPr lang="en-GB" sz="950"/>
              <a:t>Use AI and automation to improve service reliability, speed repairs and improve CX.</a:t>
            </a:r>
            <a:endParaRPr lang="en-US" sz="950"/>
          </a:p>
        </p:txBody>
      </p:sp>
      <p:sp>
        <p:nvSpPr>
          <p:cNvPr id="27" name="Title 17">
            <a:extLst>
              <a:ext uri="{FF2B5EF4-FFF2-40B4-BE49-F238E27FC236}">
                <a16:creationId xmlns:a16="http://schemas.microsoft.com/office/drawing/2014/main" id="{CC0E714F-C9F6-40C0-90DD-43F395B060FD}"/>
              </a:ext>
            </a:extLst>
          </p:cNvPr>
          <p:cNvSpPr>
            <a:spLocks noGrp="1"/>
          </p:cNvSpPr>
          <p:nvPr>
            <p:ph type="title"/>
          </p:nvPr>
        </p:nvSpPr>
        <p:spPr>
          <a:xfrm>
            <a:off x="478870" y="230848"/>
            <a:ext cx="10102852" cy="451405"/>
          </a:xfrm>
        </p:spPr>
        <p:txBody>
          <a:bodyPr>
            <a:normAutofit/>
          </a:bodyPr>
          <a:lstStyle/>
          <a:p>
            <a:r>
              <a:rPr lang="en-US" sz="2400"/>
              <a:t>Scope Executive Summary – EAS: Virtual Apps &amp; Desktops</a:t>
            </a:r>
          </a:p>
        </p:txBody>
      </p:sp>
      <p:sp>
        <p:nvSpPr>
          <p:cNvPr id="28" name="Date Placeholder 5">
            <a:extLst>
              <a:ext uri="{FF2B5EF4-FFF2-40B4-BE49-F238E27FC236}">
                <a16:creationId xmlns:a16="http://schemas.microsoft.com/office/drawing/2014/main" id="{258DEE07-7B59-4796-8D6F-3A48B8A7A64F}"/>
              </a:ext>
            </a:extLst>
          </p:cNvPr>
          <p:cNvSpPr txBox="1">
            <a:spLocks/>
          </p:cNvSpPr>
          <p:nvPr/>
        </p:nvSpPr>
        <p:spPr>
          <a:xfrm>
            <a:off x="10968821" y="65881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sp>
        <p:nvSpPr>
          <p:cNvPr id="29" name="Slide Number Placeholder 7">
            <a:extLst>
              <a:ext uri="{FF2B5EF4-FFF2-40B4-BE49-F238E27FC236}">
                <a16:creationId xmlns:a16="http://schemas.microsoft.com/office/drawing/2014/main" id="{4B0B8F13-E045-4F5E-A896-24D736CA3497}"/>
              </a:ext>
            </a:extLst>
          </p:cNvPr>
          <p:cNvSpPr txBox="1">
            <a:spLocks/>
          </p:cNvSpPr>
          <p:nvPr/>
        </p:nvSpPr>
        <p:spPr>
          <a:xfrm>
            <a:off x="11285288" y="6189646"/>
            <a:ext cx="540000" cy="269875"/>
          </a:xfrm>
          <a:prstGeom prst="rect">
            <a:avLst/>
          </a:prstGeom>
        </p:spPr>
        <p:txBody>
          <a:bodyPr vert="horz" lIns="0" tIns="0" rIns="0" bIns="0" rtlCol="0" anchor="b" anchorCtr="0">
            <a:normAutofit/>
          </a:bodyPr>
          <a:lstStyle>
            <a:defPPr>
              <a:defRPr lang="en-US"/>
            </a:defPPr>
            <a:lvl1pPr marL="0" algn="l" defTabSz="1219170" rtl="0" eaLnBrk="1" latinLnBrk="0" hangingPunct="1">
              <a:defRPr sz="12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9F9F533D-B52E-4A2F-BF72-0ADD2D94BD75}" type="slidenum">
              <a:rPr lang="en-GB" smtClean="0"/>
              <a:pPr/>
              <a:t>2</a:t>
            </a:fld>
            <a:endParaRPr lang="en-GB"/>
          </a:p>
        </p:txBody>
      </p:sp>
      <p:sp>
        <p:nvSpPr>
          <p:cNvPr id="30" name="TextBox 29">
            <a:extLst>
              <a:ext uri="{FF2B5EF4-FFF2-40B4-BE49-F238E27FC236}">
                <a16:creationId xmlns:a16="http://schemas.microsoft.com/office/drawing/2014/main" id="{B3E7FC4B-F5D5-4649-AB26-B8899BC28D23}"/>
              </a:ext>
            </a:extLst>
          </p:cNvPr>
          <p:cNvSpPr txBox="1"/>
          <p:nvPr/>
        </p:nvSpPr>
        <p:spPr>
          <a:xfrm>
            <a:off x="532833" y="976382"/>
            <a:ext cx="1997007" cy="307777"/>
          </a:xfrm>
          <a:prstGeom prst="rect">
            <a:avLst/>
          </a:prstGeom>
          <a:solidFill>
            <a:schemeClr val="bg1"/>
          </a:solidFill>
        </p:spPr>
        <p:txBody>
          <a:bodyPr wrap="square" rtlCol="0">
            <a:spAutoFit/>
          </a:bodyPr>
          <a:lstStyle/>
          <a:p>
            <a:pPr>
              <a:buClr>
                <a:schemeClr val="tx1"/>
              </a:buClr>
            </a:pPr>
            <a:r>
              <a:rPr lang="en-GB" sz="1400" b="1">
                <a:solidFill>
                  <a:schemeClr val="tx2"/>
                </a:solidFill>
              </a:rPr>
              <a:t>Solution Description</a:t>
            </a:r>
          </a:p>
        </p:txBody>
      </p:sp>
      <p:sp>
        <p:nvSpPr>
          <p:cNvPr id="31" name="TextBox 30">
            <a:extLst>
              <a:ext uri="{FF2B5EF4-FFF2-40B4-BE49-F238E27FC236}">
                <a16:creationId xmlns:a16="http://schemas.microsoft.com/office/drawing/2014/main" id="{2A48F0AC-72F6-46A4-8346-06A1DBA4D53C}"/>
              </a:ext>
            </a:extLst>
          </p:cNvPr>
          <p:cNvSpPr txBox="1"/>
          <p:nvPr/>
        </p:nvSpPr>
        <p:spPr>
          <a:xfrm>
            <a:off x="7342714" y="1524647"/>
            <a:ext cx="1591736" cy="338554"/>
          </a:xfrm>
          <a:prstGeom prst="rect">
            <a:avLst/>
          </a:prstGeom>
          <a:noFill/>
        </p:spPr>
        <p:txBody>
          <a:bodyPr wrap="square" rtlCol="0">
            <a:spAutoFit/>
          </a:bodyPr>
          <a:lstStyle/>
          <a:p>
            <a:pPr>
              <a:buClr>
                <a:schemeClr val="tx1"/>
              </a:buClr>
            </a:pPr>
            <a:r>
              <a:rPr lang="en-GB" sz="1600" b="1">
                <a:solidFill>
                  <a:schemeClr val="tx2"/>
                </a:solidFill>
              </a:rPr>
              <a:t>Dev Scope</a:t>
            </a:r>
          </a:p>
        </p:txBody>
      </p:sp>
      <p:sp>
        <p:nvSpPr>
          <p:cNvPr id="32" name="TextBox 31">
            <a:extLst>
              <a:ext uri="{FF2B5EF4-FFF2-40B4-BE49-F238E27FC236}">
                <a16:creationId xmlns:a16="http://schemas.microsoft.com/office/drawing/2014/main" id="{0F28E8C0-500D-495D-9041-673AC92739DD}"/>
              </a:ext>
            </a:extLst>
          </p:cNvPr>
          <p:cNvSpPr txBox="1"/>
          <p:nvPr/>
        </p:nvSpPr>
        <p:spPr>
          <a:xfrm>
            <a:off x="390593" y="4294935"/>
            <a:ext cx="3468103" cy="307777"/>
          </a:xfrm>
          <a:prstGeom prst="rect">
            <a:avLst/>
          </a:prstGeom>
          <a:noFill/>
        </p:spPr>
        <p:txBody>
          <a:bodyPr wrap="square" rtlCol="0">
            <a:spAutoFit/>
          </a:bodyPr>
          <a:lstStyle/>
          <a:p>
            <a:pPr>
              <a:buClr>
                <a:schemeClr val="tx1"/>
              </a:buClr>
            </a:pPr>
            <a:r>
              <a:rPr lang="en-GB" sz="1400" b="1">
                <a:solidFill>
                  <a:schemeClr val="tx2"/>
                </a:solidFill>
              </a:rPr>
              <a:t>AI First Strategy</a:t>
            </a:r>
          </a:p>
        </p:txBody>
      </p:sp>
      <p:sp>
        <p:nvSpPr>
          <p:cNvPr id="33" name="TextBox 32">
            <a:extLst>
              <a:ext uri="{FF2B5EF4-FFF2-40B4-BE49-F238E27FC236}">
                <a16:creationId xmlns:a16="http://schemas.microsoft.com/office/drawing/2014/main" id="{90163FEB-FB52-4E47-8348-74F430EB825D}"/>
              </a:ext>
            </a:extLst>
          </p:cNvPr>
          <p:cNvSpPr txBox="1"/>
          <p:nvPr/>
        </p:nvSpPr>
        <p:spPr>
          <a:xfrm>
            <a:off x="338540" y="1175990"/>
            <a:ext cx="7040312" cy="3162404"/>
          </a:xfrm>
          <a:prstGeom prst="rect">
            <a:avLst/>
          </a:prstGeom>
          <a:noFill/>
          <a:ln>
            <a:noFill/>
          </a:ln>
        </p:spPr>
        <p:txBody>
          <a:bodyPr wrap="square" lIns="91440" tIns="45720" rIns="91440" bIns="45720" rtlCol="0" anchor="t">
            <a:spAutoFit/>
          </a:bodyPr>
          <a:lstStyle/>
          <a:p>
            <a:pPr>
              <a:buClr>
                <a:schemeClr val="bg2"/>
              </a:buClr>
            </a:pPr>
            <a:r>
              <a:rPr lang="en-GB" sz="950" b="1"/>
              <a:t>Virtual Apps &amp; Desktops (VA&amp;D)</a:t>
            </a:r>
            <a:endParaRPr lang="en-GB" sz="950"/>
          </a:p>
          <a:p>
            <a:pPr marL="171450" indent="-171450">
              <a:buClr>
                <a:schemeClr val="bg2"/>
              </a:buClr>
              <a:buFont typeface="Arial" panose="020B0604020202020204" pitchFamily="34" charset="0"/>
              <a:buChar char="•"/>
            </a:pPr>
            <a:r>
              <a:rPr lang="en-US" sz="950"/>
              <a:t>An enterprise VDI solution (cloud / Edge/ hybrid) for employee and partner access. Support both vendor- &amp; customer-assembled models. Current solution is a predominately Azure-hosted, fully Citrix-based estate with ~22K users.  Supplier to modernize during 2026, migrating all users to modern, secure, &amp; scalable platform such as Windows365, native </a:t>
            </a:r>
            <a:r>
              <a:rPr lang="en-US" sz="950" err="1"/>
              <a:t>AVD+Nerdio</a:t>
            </a:r>
            <a:r>
              <a:rPr lang="en-US" sz="950"/>
              <a:t>.</a:t>
            </a:r>
          </a:p>
          <a:p>
            <a:pPr marL="171450" indent="-171450">
              <a:buClr>
                <a:schemeClr val="bg2"/>
              </a:buClr>
              <a:buFont typeface="Arial" panose="020B0604020202020204" pitchFamily="34" charset="0"/>
              <a:buChar char="•"/>
            </a:pPr>
            <a:r>
              <a:rPr lang="en-US" sz="950"/>
              <a:t>Identified as a Digital Crown Jewel at GSK</a:t>
            </a:r>
          </a:p>
          <a:p>
            <a:pPr marL="171450" indent="-171450">
              <a:buClr>
                <a:schemeClr val="bg2"/>
              </a:buClr>
              <a:buFont typeface="Arial" panose="020B0604020202020204" pitchFamily="34" charset="0"/>
              <a:buChar char="•"/>
            </a:pPr>
            <a:r>
              <a:rPr lang="en-US" sz="950"/>
              <a:t>Dependency/linkage/synergy with any other </a:t>
            </a:r>
            <a:r>
              <a:rPr lang="en-US" sz="950" err="1"/>
              <a:t>Workpackages</a:t>
            </a:r>
            <a:r>
              <a:rPr lang="en-US" sz="950"/>
              <a:t>:</a:t>
            </a:r>
          </a:p>
          <a:p>
            <a:pPr marL="781035" lvl="1" indent="-171450">
              <a:buClr>
                <a:schemeClr val="bg2"/>
              </a:buClr>
              <a:buFont typeface="Arial" panose="020B0604020202020204" pitchFamily="34" charset="0"/>
              <a:buChar char="•"/>
            </a:pPr>
            <a:r>
              <a:rPr lang="en-US" sz="950"/>
              <a:t>Cloud and LAN/WAN Network Infrastructure</a:t>
            </a:r>
          </a:p>
          <a:p>
            <a:pPr marL="781035" lvl="1" indent="-171450">
              <a:buClr>
                <a:schemeClr val="bg2"/>
              </a:buClr>
              <a:buFont typeface="Arial" panose="020B0604020202020204" pitchFamily="34" charset="0"/>
              <a:buChar char="•"/>
            </a:pPr>
            <a:r>
              <a:rPr lang="en-US" sz="950"/>
              <a:t>Identity and Access Management</a:t>
            </a:r>
          </a:p>
          <a:p>
            <a:pPr marL="781035" lvl="1" indent="-171450">
              <a:buClr>
                <a:schemeClr val="bg2"/>
              </a:buClr>
              <a:buFont typeface="Arial" panose="020B0604020202020204" pitchFamily="34" charset="0"/>
              <a:buChar char="•"/>
            </a:pPr>
            <a:r>
              <a:rPr lang="en-US" sz="950"/>
              <a:t>CSO, Global Risk and Compliance</a:t>
            </a:r>
          </a:p>
          <a:p>
            <a:pPr>
              <a:buClr>
                <a:schemeClr val="bg2"/>
              </a:buClr>
            </a:pPr>
            <a:r>
              <a:rPr lang="en-GB" sz="950" b="1"/>
              <a:t>Task Details &amp; Expected Outcomes</a:t>
            </a:r>
          </a:p>
          <a:p>
            <a:pPr marL="171450" indent="-171450">
              <a:buClr>
                <a:schemeClr val="bg2"/>
              </a:buClr>
              <a:buFont typeface="Arial"/>
              <a:buChar char="•"/>
            </a:pPr>
            <a:r>
              <a:rPr lang="en-US" sz="950"/>
              <a:t>Fully responsible for current solution and all activities to modernize VDI solution(s) at GSK, with subsequent ongoing responsibility as scoped.  Supplier shall assess current estate, define target architecture, map users &amp; workloads to new product set, engage with tech providers, develop &amp; execute a migration plan, project management &amp; governance, user comms &amp; change management, running POC &amp; early adopter activities, user acceptance testing, decommissioning the old Citrix-estate by end 2026.</a:t>
            </a:r>
          </a:p>
          <a:p>
            <a:pPr marL="171450" indent="-171450">
              <a:buClr>
                <a:schemeClr val="bg2"/>
              </a:buClr>
              <a:buFont typeface="Arial"/>
              <a:buChar char="•"/>
            </a:pPr>
            <a:r>
              <a:rPr lang="en-US" sz="950"/>
              <a:t>The Supplier will have full end-to-end responsibility for the service, covering design, build, operations, and continuous improvement. The service must be scalable, cost-</a:t>
            </a:r>
            <a:r>
              <a:rPr lang="en-US" sz="950" err="1"/>
              <a:t>optimised</a:t>
            </a:r>
            <a:r>
              <a:rPr lang="en-US" sz="950"/>
              <a:t>, fit for purpose, and fully aligned with GSK standards, policies, and ITIL practices. GSK will provide Engineering and Product Ownership only; all other aspects are owned and delivered by the Supplier. The Supplier is expected to leverage AI and automation to reduce incidents, improve customer experience, and drive ongoing service </a:t>
            </a:r>
            <a:r>
              <a:rPr lang="en-US" sz="950" err="1"/>
              <a:t>optimisation</a:t>
            </a:r>
            <a:r>
              <a:rPr lang="en-US" sz="950"/>
              <a:t>..   </a:t>
            </a:r>
          </a:p>
          <a:p>
            <a:pPr marL="171450" indent="-171450">
              <a:buClr>
                <a:schemeClr val="bg2"/>
              </a:buClr>
              <a:buFont typeface="Arial"/>
              <a:buChar char="•"/>
            </a:pPr>
            <a:r>
              <a:rPr lang="en-US" sz="950"/>
              <a:t>. </a:t>
            </a:r>
          </a:p>
        </p:txBody>
      </p:sp>
      <p:cxnSp>
        <p:nvCxnSpPr>
          <p:cNvPr id="34" name="Straight Connector 33">
            <a:extLst>
              <a:ext uri="{FF2B5EF4-FFF2-40B4-BE49-F238E27FC236}">
                <a16:creationId xmlns:a16="http://schemas.microsoft.com/office/drawing/2014/main" id="{0AFF93DF-1A4D-4551-9C5A-A37B5DF9C534}"/>
              </a:ext>
            </a:extLst>
          </p:cNvPr>
          <p:cNvCxnSpPr>
            <a:cxnSpLocks/>
          </p:cNvCxnSpPr>
          <p:nvPr/>
        </p:nvCxnSpPr>
        <p:spPr>
          <a:xfrm flipH="1" flipV="1">
            <a:off x="3798495" y="4334908"/>
            <a:ext cx="18641" cy="1784718"/>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E3C1CFC8-421D-47A2-B7BF-E8FEC7D8C0FF}"/>
              </a:ext>
            </a:extLst>
          </p:cNvPr>
          <p:cNvSpPr txBox="1"/>
          <p:nvPr/>
        </p:nvSpPr>
        <p:spPr>
          <a:xfrm>
            <a:off x="3817136" y="4292463"/>
            <a:ext cx="3545108" cy="307777"/>
          </a:xfrm>
          <a:prstGeom prst="rect">
            <a:avLst/>
          </a:prstGeom>
          <a:noFill/>
        </p:spPr>
        <p:txBody>
          <a:bodyPr wrap="square" rtlCol="0">
            <a:spAutoFit/>
          </a:bodyPr>
          <a:lstStyle/>
          <a:p>
            <a:pPr>
              <a:buClr>
                <a:schemeClr val="tx1"/>
              </a:buClr>
            </a:pPr>
            <a:r>
              <a:rPr lang="en-GB" sz="1400" b="1">
                <a:solidFill>
                  <a:schemeClr val="tx2"/>
                </a:solidFill>
              </a:rPr>
              <a:t>Product Strategy/2026 Major Milestones</a:t>
            </a:r>
          </a:p>
        </p:txBody>
      </p:sp>
      <p:graphicFrame>
        <p:nvGraphicFramePr>
          <p:cNvPr id="36" name="Table 15">
            <a:extLst>
              <a:ext uri="{FF2B5EF4-FFF2-40B4-BE49-F238E27FC236}">
                <a16:creationId xmlns:a16="http://schemas.microsoft.com/office/drawing/2014/main" id="{E7CFF1DA-8055-48E5-B6D6-DBF6EAA2FE2A}"/>
              </a:ext>
            </a:extLst>
          </p:cNvPr>
          <p:cNvGraphicFramePr>
            <a:graphicFrameLocks noGrp="1"/>
          </p:cNvGraphicFramePr>
          <p:nvPr>
            <p:extLst>
              <p:ext uri="{D42A27DB-BD31-4B8C-83A1-F6EECF244321}">
                <p14:modId xmlns:p14="http://schemas.microsoft.com/office/powerpoint/2010/main" val="1412079121"/>
              </p:ext>
            </p:extLst>
          </p:nvPr>
        </p:nvGraphicFramePr>
        <p:xfrm>
          <a:off x="9439276" y="590665"/>
          <a:ext cx="2688459" cy="335280"/>
        </p:xfrm>
        <a:graphic>
          <a:graphicData uri="http://schemas.openxmlformats.org/drawingml/2006/table">
            <a:tbl>
              <a:tblPr firstRow="1" bandRow="1">
                <a:tableStyleId>{5C22544A-7EE6-4342-B048-85BDC9FD1C3A}</a:tableStyleId>
              </a:tblPr>
              <a:tblGrid>
                <a:gridCol w="925006">
                  <a:extLst>
                    <a:ext uri="{9D8B030D-6E8A-4147-A177-3AD203B41FA5}">
                      <a16:colId xmlns:a16="http://schemas.microsoft.com/office/drawing/2014/main" val="3906732604"/>
                    </a:ext>
                  </a:extLst>
                </a:gridCol>
                <a:gridCol w="886845">
                  <a:extLst>
                    <a:ext uri="{9D8B030D-6E8A-4147-A177-3AD203B41FA5}">
                      <a16:colId xmlns:a16="http://schemas.microsoft.com/office/drawing/2014/main" val="3893182027"/>
                    </a:ext>
                  </a:extLst>
                </a:gridCol>
                <a:gridCol w="876608">
                  <a:extLst>
                    <a:ext uri="{9D8B030D-6E8A-4147-A177-3AD203B41FA5}">
                      <a16:colId xmlns:a16="http://schemas.microsoft.com/office/drawing/2014/main" val="2672437179"/>
                    </a:ext>
                  </a:extLst>
                </a:gridCol>
              </a:tblGrid>
              <a:tr h="335280">
                <a:tc>
                  <a:txBody>
                    <a:bodyPr/>
                    <a:lstStyle/>
                    <a:p>
                      <a:pPr algn="ctr"/>
                      <a:r>
                        <a:rPr lang="en-US" sz="1200">
                          <a:solidFill>
                            <a:schemeClr val="tx1"/>
                          </a:solidFill>
                        </a:rPr>
                        <a:t>Support</a:t>
                      </a:r>
                    </a:p>
                  </a:txBody>
                  <a:tcPr marL="121920" marR="121920" marT="60960" marB="6096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sz="1200">
                          <a:solidFill>
                            <a:schemeClr val="tx1"/>
                          </a:solidFill>
                        </a:rPr>
                        <a:t>Dev</a:t>
                      </a:r>
                    </a:p>
                  </a:txBody>
                  <a:tcPr marL="121920" marR="121920" marT="60960" marB="6096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sz="1200">
                          <a:solidFill>
                            <a:schemeClr val="tx1"/>
                          </a:solidFill>
                        </a:rPr>
                        <a:t>Hybrid</a:t>
                      </a:r>
                    </a:p>
                  </a:txBody>
                  <a:tcPr marL="121920" marR="121920" marT="60960" marB="6096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solidFill>
                  </a:tcPr>
                </a:tc>
                <a:extLst>
                  <a:ext uri="{0D108BD9-81ED-4DB2-BD59-A6C34878D82A}">
                    <a16:rowId xmlns:a16="http://schemas.microsoft.com/office/drawing/2014/main" val="2586814064"/>
                  </a:ext>
                </a:extLst>
              </a:tr>
            </a:tbl>
          </a:graphicData>
        </a:graphic>
      </p:graphicFrame>
      <p:sp>
        <p:nvSpPr>
          <p:cNvPr id="39" name="TextBox 38">
            <a:extLst>
              <a:ext uri="{FF2B5EF4-FFF2-40B4-BE49-F238E27FC236}">
                <a16:creationId xmlns:a16="http://schemas.microsoft.com/office/drawing/2014/main" id="{9E40A70E-F76B-458C-8FDF-5E9B5723BDC2}"/>
              </a:ext>
            </a:extLst>
          </p:cNvPr>
          <p:cNvSpPr txBox="1"/>
          <p:nvPr/>
        </p:nvSpPr>
        <p:spPr>
          <a:xfrm>
            <a:off x="3817136" y="4616276"/>
            <a:ext cx="3293605" cy="530915"/>
          </a:xfrm>
          <a:prstGeom prst="rect">
            <a:avLst/>
          </a:prstGeom>
          <a:noFill/>
        </p:spPr>
        <p:txBody>
          <a:bodyPr wrap="square" rtlCol="0">
            <a:spAutoFit/>
          </a:bodyPr>
          <a:lstStyle/>
          <a:p>
            <a:pPr marL="152396" indent="-152396">
              <a:buClr>
                <a:schemeClr val="bg2"/>
              </a:buClr>
              <a:buFont typeface="+mj-lt"/>
              <a:buAutoNum type="arabicPeriod"/>
            </a:pPr>
            <a:r>
              <a:rPr lang="en-GB" sz="950"/>
              <a:t>Migration of users from current Citrix estate to secure, modern, scalable VDI solution offering performance, scaling and cost advantages</a:t>
            </a:r>
          </a:p>
        </p:txBody>
      </p:sp>
      <p:graphicFrame>
        <p:nvGraphicFramePr>
          <p:cNvPr id="3" name="Table 2">
            <a:extLst>
              <a:ext uri="{FF2B5EF4-FFF2-40B4-BE49-F238E27FC236}">
                <a16:creationId xmlns:a16="http://schemas.microsoft.com/office/drawing/2014/main" id="{A466FE95-8401-C590-F8B4-FC081CD2D9E3}"/>
              </a:ext>
            </a:extLst>
          </p:cNvPr>
          <p:cNvGraphicFramePr>
            <a:graphicFrameLocks noGrp="1"/>
          </p:cNvGraphicFramePr>
          <p:nvPr>
            <p:extLst>
              <p:ext uri="{D42A27DB-BD31-4B8C-83A1-F6EECF244321}">
                <p14:modId xmlns:p14="http://schemas.microsoft.com/office/powerpoint/2010/main" val="3008960233"/>
              </p:ext>
            </p:extLst>
          </p:nvPr>
        </p:nvGraphicFramePr>
        <p:xfrm>
          <a:off x="7444314" y="3643110"/>
          <a:ext cx="4683422" cy="1091670"/>
        </p:xfrm>
        <a:graphic>
          <a:graphicData uri="http://schemas.openxmlformats.org/drawingml/2006/table">
            <a:tbl>
              <a:tblPr firstRow="1" bandRow="1">
                <a:tableStyleId>{5C22544A-7EE6-4342-B048-85BDC9FD1C3A}</a:tableStyleId>
              </a:tblPr>
              <a:tblGrid>
                <a:gridCol w="2601929">
                  <a:extLst>
                    <a:ext uri="{9D8B030D-6E8A-4147-A177-3AD203B41FA5}">
                      <a16:colId xmlns:a16="http://schemas.microsoft.com/office/drawing/2014/main" val="2715083338"/>
                    </a:ext>
                  </a:extLst>
                </a:gridCol>
                <a:gridCol w="564735">
                  <a:extLst>
                    <a:ext uri="{9D8B030D-6E8A-4147-A177-3AD203B41FA5}">
                      <a16:colId xmlns:a16="http://schemas.microsoft.com/office/drawing/2014/main" val="3277892068"/>
                    </a:ext>
                  </a:extLst>
                </a:gridCol>
                <a:gridCol w="505586">
                  <a:extLst>
                    <a:ext uri="{9D8B030D-6E8A-4147-A177-3AD203B41FA5}">
                      <a16:colId xmlns:a16="http://schemas.microsoft.com/office/drawing/2014/main" val="716918256"/>
                    </a:ext>
                  </a:extLst>
                </a:gridCol>
                <a:gridCol w="505586">
                  <a:extLst>
                    <a:ext uri="{9D8B030D-6E8A-4147-A177-3AD203B41FA5}">
                      <a16:colId xmlns:a16="http://schemas.microsoft.com/office/drawing/2014/main" val="3785101451"/>
                    </a:ext>
                  </a:extLst>
                </a:gridCol>
                <a:gridCol w="505586">
                  <a:extLst>
                    <a:ext uri="{9D8B030D-6E8A-4147-A177-3AD203B41FA5}">
                      <a16:colId xmlns:a16="http://schemas.microsoft.com/office/drawing/2014/main" val="298240070"/>
                    </a:ext>
                  </a:extLst>
                </a:gridCol>
              </a:tblGrid>
              <a:tr h="817922">
                <a:tc>
                  <a:txBody>
                    <a:bodyPr/>
                    <a:lstStyle/>
                    <a:p>
                      <a:pPr algn="ctr"/>
                      <a:endParaRPr lang="en-GB" sz="800"/>
                    </a:p>
                  </a:txBody>
                  <a:tcPr marL="121920" marR="121920" marT="60960" marB="60960" anchor="ctr">
                    <a:lnL w="12700" cmpd="sng">
                      <a:noFill/>
                    </a:lnL>
                    <a:lnR w="12700" cap="flat" cmpd="sng" algn="ctr">
                      <a:solidFill>
                        <a:schemeClr val="bg1">
                          <a:lumMod val="75000"/>
                        </a:schemeClr>
                      </a:solidFill>
                      <a:prstDash val="solid"/>
                      <a:round/>
                      <a:headEnd type="none" w="med" len="med"/>
                      <a:tailEnd type="none" w="med" len="med"/>
                    </a:lnR>
                    <a:lnT w="127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800">
                          <a:solidFill>
                            <a:schemeClr val="tx1"/>
                          </a:solidFill>
                        </a:rPr>
                        <a:t>Incidents</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800">
                          <a:solidFill>
                            <a:schemeClr val="tx1"/>
                          </a:solidFill>
                        </a:rPr>
                        <a:t>Problems</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800">
                          <a:solidFill>
                            <a:schemeClr val="tx1"/>
                          </a:solidFill>
                        </a:rPr>
                        <a:t>Changes</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800">
                          <a:solidFill>
                            <a:schemeClr val="tx1"/>
                          </a:solidFill>
                        </a:rPr>
                        <a:t>Requests</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043913987"/>
                  </a:ext>
                </a:extLst>
              </a:tr>
              <a:tr h="273748">
                <a:tc>
                  <a:txBody>
                    <a:bodyPr/>
                    <a:lstStyle/>
                    <a:p>
                      <a:r>
                        <a:rPr lang="en-GB" sz="900" b="0"/>
                        <a:t>VA&amp;D</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20000</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3</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650</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9500</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90279235"/>
                  </a:ext>
                </a:extLst>
              </a:tr>
            </a:tbl>
          </a:graphicData>
        </a:graphic>
      </p:graphicFrame>
      <p:sp>
        <p:nvSpPr>
          <p:cNvPr id="4" name="TextBox 3">
            <a:extLst>
              <a:ext uri="{FF2B5EF4-FFF2-40B4-BE49-F238E27FC236}">
                <a16:creationId xmlns:a16="http://schemas.microsoft.com/office/drawing/2014/main" id="{832E9EC8-3840-7CE1-3724-EE92176AE985}"/>
              </a:ext>
            </a:extLst>
          </p:cNvPr>
          <p:cNvSpPr txBox="1"/>
          <p:nvPr/>
        </p:nvSpPr>
        <p:spPr>
          <a:xfrm>
            <a:off x="7444314" y="4006272"/>
            <a:ext cx="1807921" cy="477054"/>
          </a:xfrm>
          <a:prstGeom prst="rect">
            <a:avLst/>
          </a:prstGeom>
          <a:noFill/>
        </p:spPr>
        <p:txBody>
          <a:bodyPr wrap="square" rtlCol="0">
            <a:spAutoFit/>
          </a:bodyPr>
          <a:lstStyle/>
          <a:p>
            <a:pPr>
              <a:buClr>
                <a:schemeClr val="tx1"/>
              </a:buClr>
            </a:pPr>
            <a:r>
              <a:rPr lang="en-GB" sz="1600" b="1">
                <a:solidFill>
                  <a:schemeClr val="tx2"/>
                </a:solidFill>
              </a:rPr>
              <a:t>Ticket Summary</a:t>
            </a:r>
          </a:p>
          <a:p>
            <a:pPr>
              <a:buClr>
                <a:schemeClr val="tx1"/>
              </a:buClr>
            </a:pPr>
            <a:r>
              <a:rPr lang="en-GB" sz="900" b="1">
                <a:solidFill>
                  <a:schemeClr val="tx2"/>
                </a:solidFill>
              </a:rPr>
              <a:t>(Annualised)</a:t>
            </a:r>
            <a:endParaRPr lang="en-GB" sz="1100" b="1">
              <a:solidFill>
                <a:schemeClr val="tx2"/>
              </a:solidFill>
            </a:endParaRPr>
          </a:p>
        </p:txBody>
      </p:sp>
    </p:spTree>
    <p:extLst>
      <p:ext uri="{BB962C8B-B14F-4D97-AF65-F5344CB8AC3E}">
        <p14:creationId xmlns:p14="http://schemas.microsoft.com/office/powerpoint/2010/main" val="2962370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DE14A-BCB6-CD1C-23DE-440131497FC9}"/>
            </a:ext>
          </a:extLst>
        </p:cNvPr>
        <p:cNvGrpSpPr/>
        <p:nvPr/>
      </p:nvGrpSpPr>
      <p:grpSpPr>
        <a:xfrm>
          <a:off x="0" y="0"/>
          <a:ext cx="0" cy="0"/>
          <a:chOff x="0" y="0"/>
          <a:chExt cx="0" cy="0"/>
        </a:xfrm>
      </p:grpSpPr>
      <p:sp>
        <p:nvSpPr>
          <p:cNvPr id="38" name="TextBox 37">
            <a:extLst>
              <a:ext uri="{FF2B5EF4-FFF2-40B4-BE49-F238E27FC236}">
                <a16:creationId xmlns:a16="http://schemas.microsoft.com/office/drawing/2014/main" id="{9AF3B8B0-B3D9-2809-E50B-C003E976DD2C}"/>
              </a:ext>
            </a:extLst>
          </p:cNvPr>
          <p:cNvSpPr txBox="1"/>
          <p:nvPr/>
        </p:nvSpPr>
        <p:spPr>
          <a:xfrm>
            <a:off x="390594" y="1137920"/>
            <a:ext cx="6873212" cy="3059176"/>
          </a:xfrm>
          <a:prstGeom prst="rect">
            <a:avLst/>
          </a:prstGeom>
          <a:noFill/>
          <a:ln>
            <a:solidFill>
              <a:schemeClr val="bg1">
                <a:lumMod val="75000"/>
              </a:schemeClr>
            </a:solidFill>
          </a:ln>
        </p:spPr>
        <p:txBody>
          <a:bodyPr wrap="square" lIns="180000" tIns="180000" rIns="180000" bIns="180000" rtlCol="0">
            <a:normAutofit/>
          </a:bodyPr>
          <a:lstStyle/>
          <a:p>
            <a:pPr marL="285750" indent="-285750" algn="l">
              <a:spcBef>
                <a:spcPts val="300"/>
              </a:spcBef>
              <a:spcAft>
                <a:spcPts val="300"/>
              </a:spcAft>
              <a:buClr>
                <a:schemeClr val="tx2"/>
              </a:buClr>
              <a:buSzPct val="150000"/>
              <a:buFont typeface="Arial" panose="020B0604020202020204" pitchFamily="34" charset="0"/>
              <a:buChar char="•"/>
            </a:pPr>
            <a:endParaRPr lang="en-US" sz="1600" err="1"/>
          </a:p>
        </p:txBody>
      </p:sp>
      <p:sp>
        <p:nvSpPr>
          <p:cNvPr id="41" name="TextBox 40">
            <a:extLst>
              <a:ext uri="{FF2B5EF4-FFF2-40B4-BE49-F238E27FC236}">
                <a16:creationId xmlns:a16="http://schemas.microsoft.com/office/drawing/2014/main" id="{BE154B40-A1A0-2B4C-BD2C-215580DA2755}"/>
              </a:ext>
            </a:extLst>
          </p:cNvPr>
          <p:cNvSpPr txBox="1"/>
          <p:nvPr/>
        </p:nvSpPr>
        <p:spPr>
          <a:xfrm>
            <a:off x="390594" y="4334909"/>
            <a:ext cx="6873212" cy="1784718"/>
          </a:xfrm>
          <a:prstGeom prst="rect">
            <a:avLst/>
          </a:prstGeom>
          <a:noFill/>
          <a:ln>
            <a:solidFill>
              <a:schemeClr val="bg1">
                <a:lumMod val="75000"/>
              </a:schemeClr>
            </a:solidFill>
          </a:ln>
        </p:spPr>
        <p:txBody>
          <a:bodyPr wrap="square" lIns="180000" tIns="180000" rIns="180000" bIns="180000" rtlCol="0">
            <a:normAutofit/>
          </a:bodyPr>
          <a:lstStyle/>
          <a:p>
            <a:pPr marL="285750" indent="-285750" algn="l">
              <a:spcBef>
                <a:spcPts val="300"/>
              </a:spcBef>
              <a:spcAft>
                <a:spcPts val="300"/>
              </a:spcAft>
              <a:buClr>
                <a:schemeClr val="tx2"/>
              </a:buClr>
              <a:buSzPct val="150000"/>
              <a:buFont typeface="Arial" panose="020B0604020202020204" pitchFamily="34" charset="0"/>
              <a:buChar char="•"/>
            </a:pPr>
            <a:endParaRPr lang="en-US" sz="1600" err="1"/>
          </a:p>
        </p:txBody>
      </p:sp>
      <p:graphicFrame>
        <p:nvGraphicFramePr>
          <p:cNvPr id="25" name="Table 24">
            <a:extLst>
              <a:ext uri="{FF2B5EF4-FFF2-40B4-BE49-F238E27FC236}">
                <a16:creationId xmlns:a16="http://schemas.microsoft.com/office/drawing/2014/main" id="{594AC948-CAAF-4AE4-5F2F-D6A58F1BBA77}"/>
              </a:ext>
            </a:extLst>
          </p:cNvPr>
          <p:cNvGraphicFramePr>
            <a:graphicFrameLocks noGrp="1"/>
          </p:cNvGraphicFramePr>
          <p:nvPr>
            <p:extLst>
              <p:ext uri="{D42A27DB-BD31-4B8C-83A1-F6EECF244321}">
                <p14:modId xmlns:p14="http://schemas.microsoft.com/office/powerpoint/2010/main" val="1820835340"/>
              </p:ext>
            </p:extLst>
          </p:nvPr>
        </p:nvGraphicFramePr>
        <p:xfrm>
          <a:off x="7444314" y="1107118"/>
          <a:ext cx="4683422" cy="1033175"/>
        </p:xfrm>
        <a:graphic>
          <a:graphicData uri="http://schemas.openxmlformats.org/drawingml/2006/table">
            <a:tbl>
              <a:tblPr firstRow="1" bandRow="1">
                <a:tableStyleId>{5C22544A-7EE6-4342-B048-85BDC9FD1C3A}</a:tableStyleId>
              </a:tblPr>
              <a:tblGrid>
                <a:gridCol w="1965415">
                  <a:extLst>
                    <a:ext uri="{9D8B030D-6E8A-4147-A177-3AD203B41FA5}">
                      <a16:colId xmlns:a16="http://schemas.microsoft.com/office/drawing/2014/main" val="3891676494"/>
                    </a:ext>
                  </a:extLst>
                </a:gridCol>
                <a:gridCol w="426583">
                  <a:extLst>
                    <a:ext uri="{9D8B030D-6E8A-4147-A177-3AD203B41FA5}">
                      <a16:colId xmlns:a16="http://schemas.microsoft.com/office/drawing/2014/main" val="2140829158"/>
                    </a:ext>
                  </a:extLst>
                </a:gridCol>
                <a:gridCol w="381904">
                  <a:extLst>
                    <a:ext uri="{9D8B030D-6E8A-4147-A177-3AD203B41FA5}">
                      <a16:colId xmlns:a16="http://schemas.microsoft.com/office/drawing/2014/main" val="778784682"/>
                    </a:ext>
                  </a:extLst>
                </a:gridCol>
                <a:gridCol w="381904">
                  <a:extLst>
                    <a:ext uri="{9D8B030D-6E8A-4147-A177-3AD203B41FA5}">
                      <a16:colId xmlns:a16="http://schemas.microsoft.com/office/drawing/2014/main" val="953935180"/>
                    </a:ext>
                  </a:extLst>
                </a:gridCol>
                <a:gridCol w="381904">
                  <a:extLst>
                    <a:ext uri="{9D8B030D-6E8A-4147-A177-3AD203B41FA5}">
                      <a16:colId xmlns:a16="http://schemas.microsoft.com/office/drawing/2014/main" val="3965651416"/>
                    </a:ext>
                  </a:extLst>
                </a:gridCol>
                <a:gridCol w="381904">
                  <a:extLst>
                    <a:ext uri="{9D8B030D-6E8A-4147-A177-3AD203B41FA5}">
                      <a16:colId xmlns:a16="http://schemas.microsoft.com/office/drawing/2014/main" val="3142468582"/>
                    </a:ext>
                  </a:extLst>
                </a:gridCol>
                <a:gridCol w="381904">
                  <a:extLst>
                    <a:ext uri="{9D8B030D-6E8A-4147-A177-3AD203B41FA5}">
                      <a16:colId xmlns:a16="http://schemas.microsoft.com/office/drawing/2014/main" val="3472251507"/>
                    </a:ext>
                  </a:extLst>
                </a:gridCol>
                <a:gridCol w="381904">
                  <a:extLst>
                    <a:ext uri="{9D8B030D-6E8A-4147-A177-3AD203B41FA5}">
                      <a16:colId xmlns:a16="http://schemas.microsoft.com/office/drawing/2014/main" val="441887277"/>
                    </a:ext>
                  </a:extLst>
                </a:gridCol>
              </a:tblGrid>
              <a:tr h="774095">
                <a:tc>
                  <a:txBody>
                    <a:bodyPr/>
                    <a:lstStyle/>
                    <a:p>
                      <a:pPr algn="ctr"/>
                      <a:endParaRPr lang="en-GB" sz="800"/>
                    </a:p>
                  </a:txBody>
                  <a:tcPr marL="121920" marR="121920" marT="60960" marB="60960" anchor="ctr">
                    <a:lnL w="12700" cmpd="sng">
                      <a:noFill/>
                    </a:lnL>
                    <a:lnR w="12700" cap="flat" cmpd="sng" algn="ctr">
                      <a:solidFill>
                        <a:schemeClr val="bg1">
                          <a:lumMod val="75000"/>
                        </a:schemeClr>
                      </a:solidFill>
                      <a:prstDash val="solid"/>
                      <a:round/>
                      <a:headEnd type="none" w="med" len="med"/>
                      <a:tailEnd type="none" w="med" len="med"/>
                    </a:lnR>
                    <a:lnT w="127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700">
                          <a:solidFill>
                            <a:schemeClr val="tx1"/>
                          </a:solidFill>
                        </a:rPr>
                        <a:t>Design</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Build</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Test/ QA</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Op Support</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Ongoing Development</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Change Management</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b="1" kern="1200">
                          <a:solidFill>
                            <a:schemeClr val="tx1"/>
                          </a:solidFill>
                          <a:latin typeface="+mn-lt"/>
                          <a:ea typeface="+mn-ea"/>
                          <a:cs typeface="+mn-cs"/>
                        </a:rPr>
                        <a:t>Decommissioning</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438671849"/>
                  </a:ext>
                </a:extLst>
              </a:tr>
              <a:tr h="0">
                <a:tc>
                  <a:txBody>
                    <a:bodyPr/>
                    <a:lstStyle/>
                    <a:p>
                      <a:r>
                        <a:rPr lang="en-GB" sz="900" b="0"/>
                        <a:t>NetScaler (Citrix gateway)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585721008"/>
                  </a:ext>
                </a:extLst>
              </a:tr>
            </a:tbl>
          </a:graphicData>
        </a:graphic>
      </p:graphicFrame>
      <p:sp>
        <p:nvSpPr>
          <p:cNvPr id="26" name="TextBox 25">
            <a:extLst>
              <a:ext uri="{FF2B5EF4-FFF2-40B4-BE49-F238E27FC236}">
                <a16:creationId xmlns:a16="http://schemas.microsoft.com/office/drawing/2014/main" id="{BE482B1E-AD54-F2ED-699E-DE7C90F59D07}"/>
              </a:ext>
            </a:extLst>
          </p:cNvPr>
          <p:cNvSpPr txBox="1"/>
          <p:nvPr/>
        </p:nvSpPr>
        <p:spPr>
          <a:xfrm>
            <a:off x="470595" y="4610362"/>
            <a:ext cx="3293605" cy="969496"/>
          </a:xfrm>
          <a:prstGeom prst="rect">
            <a:avLst/>
          </a:prstGeom>
          <a:noFill/>
        </p:spPr>
        <p:txBody>
          <a:bodyPr wrap="square" rtlCol="0">
            <a:spAutoFit/>
          </a:bodyPr>
          <a:lstStyle/>
          <a:p>
            <a:pPr marL="228600" indent="-228600" fontAlgn="base">
              <a:buFont typeface="+mj-lt"/>
              <a:buAutoNum type="arabicPeriod"/>
            </a:pPr>
            <a:r>
              <a:rPr lang="en-GB" sz="940"/>
              <a:t>Focus on improved monitoring and observability to support AI Ops.</a:t>
            </a:r>
            <a:r>
              <a:rPr lang="en-US" sz="940"/>
              <a:t>​</a:t>
            </a:r>
          </a:p>
          <a:p>
            <a:pPr marL="228600" indent="-228600" fontAlgn="base">
              <a:buFont typeface="+mj-lt"/>
              <a:buAutoNum type="arabicPeriod"/>
            </a:pPr>
            <a:r>
              <a:rPr lang="en-GB" sz="940"/>
              <a:t>Expertise in the platforms and investment in tooling to support GP&amp;T AI Ops goals.</a:t>
            </a:r>
            <a:r>
              <a:rPr lang="en-US" sz="940"/>
              <a:t>​</a:t>
            </a:r>
          </a:p>
          <a:p>
            <a:pPr marL="228600" indent="-228600" fontAlgn="base">
              <a:buFont typeface="+mj-lt"/>
              <a:buAutoNum type="arabicPeriod"/>
            </a:pPr>
            <a:r>
              <a:rPr lang="en-GB" sz="940"/>
              <a:t>Use AI and automation to improve service reliability, speed repairs and improve CX.</a:t>
            </a:r>
            <a:endParaRPr lang="en-US" sz="940"/>
          </a:p>
        </p:txBody>
      </p:sp>
      <p:sp>
        <p:nvSpPr>
          <p:cNvPr id="27" name="Title 17">
            <a:extLst>
              <a:ext uri="{FF2B5EF4-FFF2-40B4-BE49-F238E27FC236}">
                <a16:creationId xmlns:a16="http://schemas.microsoft.com/office/drawing/2014/main" id="{092C116D-4BF3-285A-BF40-56E232BCC252}"/>
              </a:ext>
            </a:extLst>
          </p:cNvPr>
          <p:cNvSpPr>
            <a:spLocks noGrp="1"/>
          </p:cNvSpPr>
          <p:nvPr>
            <p:ph type="title"/>
          </p:nvPr>
        </p:nvSpPr>
        <p:spPr>
          <a:xfrm>
            <a:off x="478870" y="230848"/>
            <a:ext cx="10102852" cy="451405"/>
          </a:xfrm>
        </p:spPr>
        <p:txBody>
          <a:bodyPr>
            <a:normAutofit/>
          </a:bodyPr>
          <a:lstStyle/>
          <a:p>
            <a:r>
              <a:rPr lang="en-US" sz="2400"/>
              <a:t>Scope Executive Summary – EAS: VDI Gateway Services</a:t>
            </a:r>
          </a:p>
        </p:txBody>
      </p:sp>
      <p:sp>
        <p:nvSpPr>
          <p:cNvPr id="28" name="Date Placeholder 5">
            <a:extLst>
              <a:ext uri="{FF2B5EF4-FFF2-40B4-BE49-F238E27FC236}">
                <a16:creationId xmlns:a16="http://schemas.microsoft.com/office/drawing/2014/main" id="{49F79A24-5FAB-34F9-4244-EEFE573A99F7}"/>
              </a:ext>
            </a:extLst>
          </p:cNvPr>
          <p:cNvSpPr txBox="1">
            <a:spLocks/>
          </p:cNvSpPr>
          <p:nvPr/>
        </p:nvSpPr>
        <p:spPr>
          <a:xfrm>
            <a:off x="10968821" y="65881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sp>
        <p:nvSpPr>
          <p:cNvPr id="29" name="Slide Number Placeholder 7">
            <a:extLst>
              <a:ext uri="{FF2B5EF4-FFF2-40B4-BE49-F238E27FC236}">
                <a16:creationId xmlns:a16="http://schemas.microsoft.com/office/drawing/2014/main" id="{5D3DF2CD-C020-9FDB-18FB-6EA3B3DCFA86}"/>
              </a:ext>
            </a:extLst>
          </p:cNvPr>
          <p:cNvSpPr txBox="1">
            <a:spLocks/>
          </p:cNvSpPr>
          <p:nvPr/>
        </p:nvSpPr>
        <p:spPr>
          <a:xfrm>
            <a:off x="11285288" y="6189646"/>
            <a:ext cx="540000" cy="269875"/>
          </a:xfrm>
          <a:prstGeom prst="rect">
            <a:avLst/>
          </a:prstGeom>
        </p:spPr>
        <p:txBody>
          <a:bodyPr vert="horz" lIns="0" tIns="0" rIns="0" bIns="0" rtlCol="0" anchor="b" anchorCtr="0">
            <a:normAutofit/>
          </a:bodyPr>
          <a:lstStyle>
            <a:defPPr>
              <a:defRPr lang="en-US"/>
            </a:defPPr>
            <a:lvl1pPr marL="0" algn="l" defTabSz="1219170" rtl="0" eaLnBrk="1" latinLnBrk="0" hangingPunct="1">
              <a:defRPr sz="12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9F9F533D-B52E-4A2F-BF72-0ADD2D94BD75}" type="slidenum">
              <a:rPr lang="en-GB" smtClean="0"/>
              <a:pPr/>
              <a:t>3</a:t>
            </a:fld>
            <a:endParaRPr lang="en-GB"/>
          </a:p>
        </p:txBody>
      </p:sp>
      <p:sp>
        <p:nvSpPr>
          <p:cNvPr id="30" name="TextBox 29">
            <a:extLst>
              <a:ext uri="{FF2B5EF4-FFF2-40B4-BE49-F238E27FC236}">
                <a16:creationId xmlns:a16="http://schemas.microsoft.com/office/drawing/2014/main" id="{8F555C1B-3397-2F1A-5E24-7A1E600B5533}"/>
              </a:ext>
            </a:extLst>
          </p:cNvPr>
          <p:cNvSpPr txBox="1"/>
          <p:nvPr/>
        </p:nvSpPr>
        <p:spPr>
          <a:xfrm>
            <a:off x="478870" y="869762"/>
            <a:ext cx="1997007" cy="307777"/>
          </a:xfrm>
          <a:prstGeom prst="rect">
            <a:avLst/>
          </a:prstGeom>
          <a:solidFill>
            <a:schemeClr val="bg1"/>
          </a:solidFill>
        </p:spPr>
        <p:txBody>
          <a:bodyPr wrap="square" rtlCol="0">
            <a:spAutoFit/>
          </a:bodyPr>
          <a:lstStyle/>
          <a:p>
            <a:pPr>
              <a:buClr>
                <a:schemeClr val="tx1"/>
              </a:buClr>
            </a:pPr>
            <a:r>
              <a:rPr lang="en-GB" sz="1400" b="1">
                <a:solidFill>
                  <a:schemeClr val="tx2"/>
                </a:solidFill>
              </a:rPr>
              <a:t>Solution Description</a:t>
            </a:r>
          </a:p>
        </p:txBody>
      </p:sp>
      <p:sp>
        <p:nvSpPr>
          <p:cNvPr id="31" name="TextBox 30">
            <a:extLst>
              <a:ext uri="{FF2B5EF4-FFF2-40B4-BE49-F238E27FC236}">
                <a16:creationId xmlns:a16="http://schemas.microsoft.com/office/drawing/2014/main" id="{D1A8B68E-7A44-FD8B-EF80-DCADC43770B9}"/>
              </a:ext>
            </a:extLst>
          </p:cNvPr>
          <p:cNvSpPr txBox="1"/>
          <p:nvPr/>
        </p:nvSpPr>
        <p:spPr>
          <a:xfrm>
            <a:off x="7342714" y="1524647"/>
            <a:ext cx="1591736" cy="338554"/>
          </a:xfrm>
          <a:prstGeom prst="rect">
            <a:avLst/>
          </a:prstGeom>
          <a:noFill/>
        </p:spPr>
        <p:txBody>
          <a:bodyPr wrap="square" rtlCol="0">
            <a:spAutoFit/>
          </a:bodyPr>
          <a:lstStyle/>
          <a:p>
            <a:pPr>
              <a:buClr>
                <a:schemeClr val="tx1"/>
              </a:buClr>
            </a:pPr>
            <a:r>
              <a:rPr lang="en-GB" sz="1600" b="1">
                <a:solidFill>
                  <a:schemeClr val="tx2"/>
                </a:solidFill>
              </a:rPr>
              <a:t>Dev Scope</a:t>
            </a:r>
          </a:p>
        </p:txBody>
      </p:sp>
      <p:sp>
        <p:nvSpPr>
          <p:cNvPr id="32" name="TextBox 31">
            <a:extLst>
              <a:ext uri="{FF2B5EF4-FFF2-40B4-BE49-F238E27FC236}">
                <a16:creationId xmlns:a16="http://schemas.microsoft.com/office/drawing/2014/main" id="{A01CF3B8-00E1-2B2F-61D8-A8F6704121E0}"/>
              </a:ext>
            </a:extLst>
          </p:cNvPr>
          <p:cNvSpPr txBox="1"/>
          <p:nvPr/>
        </p:nvSpPr>
        <p:spPr>
          <a:xfrm>
            <a:off x="390593" y="4294935"/>
            <a:ext cx="3468103" cy="307777"/>
          </a:xfrm>
          <a:prstGeom prst="rect">
            <a:avLst/>
          </a:prstGeom>
          <a:noFill/>
        </p:spPr>
        <p:txBody>
          <a:bodyPr wrap="square" rtlCol="0">
            <a:spAutoFit/>
          </a:bodyPr>
          <a:lstStyle/>
          <a:p>
            <a:pPr>
              <a:buClr>
                <a:schemeClr val="tx1"/>
              </a:buClr>
            </a:pPr>
            <a:r>
              <a:rPr lang="en-GB" sz="1400" b="1">
                <a:solidFill>
                  <a:schemeClr val="tx2"/>
                </a:solidFill>
              </a:rPr>
              <a:t>AI First Strategy</a:t>
            </a:r>
          </a:p>
        </p:txBody>
      </p:sp>
      <p:sp>
        <p:nvSpPr>
          <p:cNvPr id="33" name="TextBox 32">
            <a:extLst>
              <a:ext uri="{FF2B5EF4-FFF2-40B4-BE49-F238E27FC236}">
                <a16:creationId xmlns:a16="http://schemas.microsoft.com/office/drawing/2014/main" id="{05414925-A33F-EA04-E8D5-96450F7250E2}"/>
              </a:ext>
            </a:extLst>
          </p:cNvPr>
          <p:cNvSpPr txBox="1"/>
          <p:nvPr/>
        </p:nvSpPr>
        <p:spPr>
          <a:xfrm>
            <a:off x="309361" y="1107118"/>
            <a:ext cx="7134953" cy="3065455"/>
          </a:xfrm>
          <a:prstGeom prst="rect">
            <a:avLst/>
          </a:prstGeom>
          <a:noFill/>
          <a:ln>
            <a:noFill/>
          </a:ln>
        </p:spPr>
        <p:txBody>
          <a:bodyPr wrap="square" lIns="91440" tIns="45720" rIns="91440" bIns="45720" rtlCol="0" anchor="t">
            <a:spAutoFit/>
          </a:bodyPr>
          <a:lstStyle/>
          <a:p>
            <a:pPr>
              <a:buClr>
                <a:schemeClr val="bg2"/>
              </a:buClr>
            </a:pPr>
            <a:r>
              <a:rPr lang="en-GB" sz="920" b="1"/>
              <a:t>VDI Gateway Services</a:t>
            </a:r>
            <a:endParaRPr lang="en-GB" sz="920"/>
          </a:p>
          <a:p>
            <a:pPr marL="171450" indent="-171450">
              <a:buClr>
                <a:schemeClr val="bg2"/>
              </a:buClr>
              <a:buFont typeface="Arial" panose="020B0604020202020204" pitchFamily="34" charset="0"/>
              <a:buChar char="•"/>
            </a:pPr>
            <a:r>
              <a:rPr lang="en-US" sz="920"/>
              <a:t>VDI access gateway solution (cloud / Edge / hybrid) for employee and partner access. Current solution is a combination of Citrix </a:t>
            </a:r>
            <a:r>
              <a:rPr lang="en-US" sz="920" err="1"/>
              <a:t>NetScalers</a:t>
            </a:r>
            <a:r>
              <a:rPr lang="en-US" sz="920"/>
              <a:t> and Citrix cloud-based gateways with plans to migrate to a modern, secure, &amp; scalable platform.</a:t>
            </a:r>
          </a:p>
          <a:p>
            <a:pPr marL="171450" indent="-171450">
              <a:buClr>
                <a:schemeClr val="bg2"/>
              </a:buClr>
              <a:buFont typeface="Arial" panose="020B0604020202020204" pitchFamily="34" charset="0"/>
              <a:buChar char="•"/>
            </a:pPr>
            <a:r>
              <a:rPr lang="en-US" sz="920"/>
              <a:t>Dependency/linkage/synergy with any other </a:t>
            </a:r>
            <a:r>
              <a:rPr lang="en-US" sz="920" err="1"/>
              <a:t>Workpackages</a:t>
            </a:r>
            <a:r>
              <a:rPr lang="en-US" sz="920"/>
              <a:t>:</a:t>
            </a:r>
          </a:p>
          <a:p>
            <a:pPr marL="781035" lvl="1" indent="-171450">
              <a:buClr>
                <a:schemeClr val="bg2"/>
              </a:buClr>
              <a:buFont typeface="Arial" panose="020B0604020202020204" pitchFamily="34" charset="0"/>
              <a:buChar char="•"/>
            </a:pPr>
            <a:r>
              <a:rPr lang="en-US" sz="920"/>
              <a:t>Cloud and LAN/WAN Network Infrastructure</a:t>
            </a:r>
          </a:p>
          <a:p>
            <a:pPr marL="781035" lvl="1" indent="-171450">
              <a:buClr>
                <a:schemeClr val="bg2"/>
              </a:buClr>
              <a:buFont typeface="Arial" panose="020B0604020202020204" pitchFamily="34" charset="0"/>
              <a:buChar char="•"/>
            </a:pPr>
            <a:r>
              <a:rPr lang="en-US" sz="920"/>
              <a:t>Identity and Access Management</a:t>
            </a:r>
          </a:p>
          <a:p>
            <a:pPr marL="781035" lvl="1" indent="-171450">
              <a:buClr>
                <a:schemeClr val="bg2"/>
              </a:buClr>
              <a:buFont typeface="Arial" panose="020B0604020202020204" pitchFamily="34" charset="0"/>
              <a:buChar char="•"/>
            </a:pPr>
            <a:r>
              <a:rPr lang="en-US" sz="920"/>
              <a:t>CSO, Global Risk and Compliance</a:t>
            </a:r>
          </a:p>
          <a:p>
            <a:pPr marL="781035" lvl="1" indent="-171450">
              <a:buClr>
                <a:schemeClr val="bg2"/>
              </a:buClr>
              <a:buFont typeface="Arial" panose="020B0604020202020204" pitchFamily="34" charset="0"/>
              <a:buChar char="•"/>
            </a:pPr>
            <a:r>
              <a:rPr lang="en-US" sz="920"/>
              <a:t>Virtual Apps and Desktops</a:t>
            </a:r>
          </a:p>
          <a:p>
            <a:pPr marL="171450" indent="-171450">
              <a:buClr>
                <a:schemeClr val="bg2"/>
              </a:buClr>
              <a:buFont typeface="Arial" panose="020B0604020202020204" pitchFamily="34" charset="0"/>
              <a:buChar char="•"/>
            </a:pPr>
            <a:r>
              <a:rPr lang="en-US" sz="920"/>
              <a:t>Current contract with Citrix expires in 2027. </a:t>
            </a:r>
          </a:p>
          <a:p>
            <a:pPr marL="171450" indent="-171450">
              <a:buClr>
                <a:schemeClr val="bg2"/>
              </a:buClr>
              <a:buFont typeface="Arial" panose="020B0604020202020204" pitchFamily="34" charset="0"/>
              <a:buChar char="•"/>
            </a:pPr>
            <a:r>
              <a:rPr lang="en-US" sz="920"/>
              <a:t>Expertise with design, build, ops support, ongoing development, improving user experience, change management, service reporting and communications, and decommissioning.  Must use AI to deliver tangible improvements.</a:t>
            </a:r>
          </a:p>
          <a:p>
            <a:pPr>
              <a:buClr>
                <a:schemeClr val="bg2"/>
              </a:buClr>
            </a:pPr>
            <a:r>
              <a:rPr lang="en-GB" sz="920" b="1"/>
              <a:t>Task Details &amp; Expected Outcomes</a:t>
            </a:r>
          </a:p>
          <a:p>
            <a:pPr marL="171450" indent="-171450">
              <a:buClr>
                <a:schemeClr val="bg2"/>
              </a:buClr>
              <a:buFont typeface="Arial"/>
              <a:buChar char="•"/>
            </a:pPr>
            <a:r>
              <a:rPr lang="en-US" sz="920"/>
              <a:t>The Supplier will have full end-to-end responsibility for the service, covering design, build, operations, and continuous improvement. The service must be scalable, cost-</a:t>
            </a:r>
            <a:r>
              <a:rPr lang="en-US" sz="920" err="1"/>
              <a:t>optimised</a:t>
            </a:r>
            <a:r>
              <a:rPr lang="en-US" sz="920"/>
              <a:t>, fit for purpose, and fully aligned with GSK standards, policies, and ITIL practices. GSK will provide Engineering and Product Ownership only; all other aspects are owned and delivered by the Supplier. The Supplier is expected to leverage AI and automation to reduce incidents, improve customer experience, and drive ongoing service </a:t>
            </a:r>
            <a:r>
              <a:rPr lang="en-US" sz="920" err="1"/>
              <a:t>optimisation.Responsible</a:t>
            </a:r>
            <a:r>
              <a:rPr lang="en-US" sz="920"/>
              <a:t> for current product set, activities to </a:t>
            </a:r>
            <a:r>
              <a:rPr lang="en-US" sz="920" err="1"/>
              <a:t>modernise</a:t>
            </a:r>
            <a:r>
              <a:rPr lang="en-US" sz="920"/>
              <a:t> solution(s) then ongoing responsibility as scoped. </a:t>
            </a:r>
          </a:p>
          <a:p>
            <a:pPr marL="171450" indent="-171450">
              <a:buClr>
                <a:schemeClr val="bg2"/>
              </a:buClr>
              <a:buFont typeface="Arial"/>
              <a:buChar char="•"/>
            </a:pPr>
            <a:r>
              <a:rPr lang="en-US" sz="920"/>
              <a:t>Responsible for assessing the current estate, defining and building a target architecture, mapping users &amp; workloads, engaging with tech providers, developing &amp; executing a migration plan, project management &amp; governance, user comms &amp; change management, running POC &amp; early adopter activities, user acceptance testing, decommissioning the old Citrix gateways</a:t>
            </a:r>
          </a:p>
          <a:p>
            <a:pPr marL="171450" indent="-171450">
              <a:buClr>
                <a:schemeClr val="bg2"/>
              </a:buClr>
              <a:buFont typeface="Arial"/>
              <a:buChar char="•"/>
            </a:pPr>
            <a:r>
              <a:rPr lang="en-US" sz="920"/>
              <a:t>Staff should be properly trained in VDI access gateway solutions including Citrix, W365, AVD+Nerdio</a:t>
            </a:r>
          </a:p>
        </p:txBody>
      </p:sp>
      <p:cxnSp>
        <p:nvCxnSpPr>
          <p:cNvPr id="34" name="Straight Connector 33">
            <a:extLst>
              <a:ext uri="{FF2B5EF4-FFF2-40B4-BE49-F238E27FC236}">
                <a16:creationId xmlns:a16="http://schemas.microsoft.com/office/drawing/2014/main" id="{23FF500B-AD6F-1514-705E-1006F6CA08D2}"/>
              </a:ext>
            </a:extLst>
          </p:cNvPr>
          <p:cNvCxnSpPr>
            <a:cxnSpLocks/>
          </p:cNvCxnSpPr>
          <p:nvPr/>
        </p:nvCxnSpPr>
        <p:spPr>
          <a:xfrm flipH="1" flipV="1">
            <a:off x="3798495" y="4334908"/>
            <a:ext cx="18641" cy="1784718"/>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25119908-F2F6-504C-3B49-781ECBF9D366}"/>
              </a:ext>
            </a:extLst>
          </p:cNvPr>
          <p:cNvSpPr txBox="1"/>
          <p:nvPr/>
        </p:nvSpPr>
        <p:spPr>
          <a:xfrm>
            <a:off x="3817136" y="4292463"/>
            <a:ext cx="3545108" cy="307777"/>
          </a:xfrm>
          <a:prstGeom prst="rect">
            <a:avLst/>
          </a:prstGeom>
          <a:noFill/>
        </p:spPr>
        <p:txBody>
          <a:bodyPr wrap="square" rtlCol="0">
            <a:spAutoFit/>
          </a:bodyPr>
          <a:lstStyle/>
          <a:p>
            <a:pPr>
              <a:buClr>
                <a:schemeClr val="tx1"/>
              </a:buClr>
            </a:pPr>
            <a:r>
              <a:rPr lang="en-GB" sz="1400" b="1">
                <a:solidFill>
                  <a:schemeClr val="tx2"/>
                </a:solidFill>
              </a:rPr>
              <a:t>Product Strategy/2026 Major Milestones</a:t>
            </a:r>
          </a:p>
        </p:txBody>
      </p:sp>
      <p:graphicFrame>
        <p:nvGraphicFramePr>
          <p:cNvPr id="36" name="Table 15">
            <a:extLst>
              <a:ext uri="{FF2B5EF4-FFF2-40B4-BE49-F238E27FC236}">
                <a16:creationId xmlns:a16="http://schemas.microsoft.com/office/drawing/2014/main" id="{DF51D1A4-2B3D-41AB-9B21-DE6004E230AB}"/>
              </a:ext>
            </a:extLst>
          </p:cNvPr>
          <p:cNvGraphicFramePr>
            <a:graphicFrameLocks noGrp="1"/>
          </p:cNvGraphicFramePr>
          <p:nvPr/>
        </p:nvGraphicFramePr>
        <p:xfrm>
          <a:off x="9439276" y="590665"/>
          <a:ext cx="2688459" cy="335280"/>
        </p:xfrm>
        <a:graphic>
          <a:graphicData uri="http://schemas.openxmlformats.org/drawingml/2006/table">
            <a:tbl>
              <a:tblPr firstRow="1" bandRow="1">
                <a:tableStyleId>{5C22544A-7EE6-4342-B048-85BDC9FD1C3A}</a:tableStyleId>
              </a:tblPr>
              <a:tblGrid>
                <a:gridCol w="925006">
                  <a:extLst>
                    <a:ext uri="{9D8B030D-6E8A-4147-A177-3AD203B41FA5}">
                      <a16:colId xmlns:a16="http://schemas.microsoft.com/office/drawing/2014/main" val="3906732604"/>
                    </a:ext>
                  </a:extLst>
                </a:gridCol>
                <a:gridCol w="886845">
                  <a:extLst>
                    <a:ext uri="{9D8B030D-6E8A-4147-A177-3AD203B41FA5}">
                      <a16:colId xmlns:a16="http://schemas.microsoft.com/office/drawing/2014/main" val="3893182027"/>
                    </a:ext>
                  </a:extLst>
                </a:gridCol>
                <a:gridCol w="876608">
                  <a:extLst>
                    <a:ext uri="{9D8B030D-6E8A-4147-A177-3AD203B41FA5}">
                      <a16:colId xmlns:a16="http://schemas.microsoft.com/office/drawing/2014/main" val="2672437179"/>
                    </a:ext>
                  </a:extLst>
                </a:gridCol>
              </a:tblGrid>
              <a:tr h="335280">
                <a:tc>
                  <a:txBody>
                    <a:bodyPr/>
                    <a:lstStyle/>
                    <a:p>
                      <a:pPr algn="ctr"/>
                      <a:r>
                        <a:rPr lang="en-US" sz="1200">
                          <a:solidFill>
                            <a:schemeClr val="tx1"/>
                          </a:solidFill>
                        </a:rPr>
                        <a:t>Support</a:t>
                      </a:r>
                    </a:p>
                  </a:txBody>
                  <a:tcPr marL="121920" marR="121920" marT="60960" marB="6096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sz="1200">
                          <a:solidFill>
                            <a:schemeClr val="tx1"/>
                          </a:solidFill>
                        </a:rPr>
                        <a:t>Dev</a:t>
                      </a:r>
                    </a:p>
                  </a:txBody>
                  <a:tcPr marL="121920" marR="121920" marT="60960" marB="6096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sz="1200">
                          <a:solidFill>
                            <a:schemeClr val="tx1"/>
                          </a:solidFill>
                        </a:rPr>
                        <a:t>Hybrid</a:t>
                      </a:r>
                    </a:p>
                  </a:txBody>
                  <a:tcPr marL="121920" marR="121920" marT="60960" marB="6096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solidFill>
                  </a:tcPr>
                </a:tc>
                <a:extLst>
                  <a:ext uri="{0D108BD9-81ED-4DB2-BD59-A6C34878D82A}">
                    <a16:rowId xmlns:a16="http://schemas.microsoft.com/office/drawing/2014/main" val="2586814064"/>
                  </a:ext>
                </a:extLst>
              </a:tr>
            </a:tbl>
          </a:graphicData>
        </a:graphic>
      </p:graphicFrame>
      <p:sp>
        <p:nvSpPr>
          <p:cNvPr id="39" name="TextBox 38">
            <a:extLst>
              <a:ext uri="{FF2B5EF4-FFF2-40B4-BE49-F238E27FC236}">
                <a16:creationId xmlns:a16="http://schemas.microsoft.com/office/drawing/2014/main" id="{931EE05B-9733-992D-BD84-B9C40D8F12AC}"/>
              </a:ext>
            </a:extLst>
          </p:cNvPr>
          <p:cNvSpPr txBox="1"/>
          <p:nvPr/>
        </p:nvSpPr>
        <p:spPr>
          <a:xfrm>
            <a:off x="3817136" y="4616276"/>
            <a:ext cx="3293605" cy="530915"/>
          </a:xfrm>
          <a:prstGeom prst="rect">
            <a:avLst/>
          </a:prstGeom>
          <a:noFill/>
        </p:spPr>
        <p:txBody>
          <a:bodyPr wrap="square" rtlCol="0">
            <a:spAutoFit/>
          </a:bodyPr>
          <a:lstStyle/>
          <a:p>
            <a:pPr marL="152396" indent="-152396">
              <a:buClr>
                <a:schemeClr val="bg2"/>
              </a:buClr>
              <a:buFont typeface="+mj-lt"/>
              <a:buAutoNum type="arabicPeriod"/>
            </a:pPr>
            <a:r>
              <a:rPr lang="en-GB" sz="950"/>
              <a:t>Migration from current Citrix gateway solutions to a secure, modern, scalable gateway solution that integrates with the strategic VDI solution</a:t>
            </a:r>
          </a:p>
        </p:txBody>
      </p:sp>
      <p:graphicFrame>
        <p:nvGraphicFramePr>
          <p:cNvPr id="3" name="Table 2">
            <a:extLst>
              <a:ext uri="{FF2B5EF4-FFF2-40B4-BE49-F238E27FC236}">
                <a16:creationId xmlns:a16="http://schemas.microsoft.com/office/drawing/2014/main" id="{E9F7D5AE-C64C-5242-C45A-BDDAE0FB0A05}"/>
              </a:ext>
            </a:extLst>
          </p:cNvPr>
          <p:cNvGraphicFramePr>
            <a:graphicFrameLocks noGrp="1"/>
          </p:cNvGraphicFramePr>
          <p:nvPr>
            <p:extLst>
              <p:ext uri="{D42A27DB-BD31-4B8C-83A1-F6EECF244321}">
                <p14:modId xmlns:p14="http://schemas.microsoft.com/office/powerpoint/2010/main" val="3979973056"/>
              </p:ext>
            </p:extLst>
          </p:nvPr>
        </p:nvGraphicFramePr>
        <p:xfrm>
          <a:off x="7444314" y="3643110"/>
          <a:ext cx="4683422" cy="1091670"/>
        </p:xfrm>
        <a:graphic>
          <a:graphicData uri="http://schemas.openxmlformats.org/drawingml/2006/table">
            <a:tbl>
              <a:tblPr firstRow="1" bandRow="1">
                <a:tableStyleId>{5C22544A-7EE6-4342-B048-85BDC9FD1C3A}</a:tableStyleId>
              </a:tblPr>
              <a:tblGrid>
                <a:gridCol w="2601929">
                  <a:extLst>
                    <a:ext uri="{9D8B030D-6E8A-4147-A177-3AD203B41FA5}">
                      <a16:colId xmlns:a16="http://schemas.microsoft.com/office/drawing/2014/main" val="2715083338"/>
                    </a:ext>
                  </a:extLst>
                </a:gridCol>
                <a:gridCol w="564735">
                  <a:extLst>
                    <a:ext uri="{9D8B030D-6E8A-4147-A177-3AD203B41FA5}">
                      <a16:colId xmlns:a16="http://schemas.microsoft.com/office/drawing/2014/main" val="3277892068"/>
                    </a:ext>
                  </a:extLst>
                </a:gridCol>
                <a:gridCol w="505586">
                  <a:extLst>
                    <a:ext uri="{9D8B030D-6E8A-4147-A177-3AD203B41FA5}">
                      <a16:colId xmlns:a16="http://schemas.microsoft.com/office/drawing/2014/main" val="716918256"/>
                    </a:ext>
                  </a:extLst>
                </a:gridCol>
                <a:gridCol w="505586">
                  <a:extLst>
                    <a:ext uri="{9D8B030D-6E8A-4147-A177-3AD203B41FA5}">
                      <a16:colId xmlns:a16="http://schemas.microsoft.com/office/drawing/2014/main" val="3785101451"/>
                    </a:ext>
                  </a:extLst>
                </a:gridCol>
                <a:gridCol w="505586">
                  <a:extLst>
                    <a:ext uri="{9D8B030D-6E8A-4147-A177-3AD203B41FA5}">
                      <a16:colId xmlns:a16="http://schemas.microsoft.com/office/drawing/2014/main" val="298240070"/>
                    </a:ext>
                  </a:extLst>
                </a:gridCol>
              </a:tblGrid>
              <a:tr h="817922">
                <a:tc>
                  <a:txBody>
                    <a:bodyPr/>
                    <a:lstStyle/>
                    <a:p>
                      <a:pPr algn="ctr"/>
                      <a:endParaRPr lang="en-GB" sz="800"/>
                    </a:p>
                  </a:txBody>
                  <a:tcPr marL="121920" marR="121920" marT="60960" marB="60960" anchor="ctr">
                    <a:lnL w="12700" cmpd="sng">
                      <a:noFill/>
                    </a:lnL>
                    <a:lnR w="12700" cap="flat" cmpd="sng" algn="ctr">
                      <a:solidFill>
                        <a:schemeClr val="bg1">
                          <a:lumMod val="75000"/>
                        </a:schemeClr>
                      </a:solidFill>
                      <a:prstDash val="solid"/>
                      <a:round/>
                      <a:headEnd type="none" w="med" len="med"/>
                      <a:tailEnd type="none" w="med" len="med"/>
                    </a:lnR>
                    <a:lnT w="127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800">
                          <a:solidFill>
                            <a:schemeClr val="tx1"/>
                          </a:solidFill>
                        </a:rPr>
                        <a:t>Incidents</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800">
                          <a:solidFill>
                            <a:schemeClr val="tx1"/>
                          </a:solidFill>
                        </a:rPr>
                        <a:t>Problems</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800">
                          <a:solidFill>
                            <a:schemeClr val="tx1"/>
                          </a:solidFill>
                        </a:rPr>
                        <a:t>Changes</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800">
                          <a:solidFill>
                            <a:schemeClr val="tx1"/>
                          </a:solidFill>
                        </a:rPr>
                        <a:t>Requests</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043913987"/>
                  </a:ext>
                </a:extLst>
              </a:tr>
              <a:tr h="273748">
                <a:tc>
                  <a:txBody>
                    <a:bodyPr/>
                    <a:lstStyle/>
                    <a:p>
                      <a:r>
                        <a:rPr lang="en-GB" sz="900" b="0"/>
                        <a:t>NetScaler (Citrix gateway)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GB" sz="900" b="1"/>
                        <a:t>20</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GB" sz="900" b="1"/>
                        <a:t>0</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GB" sz="900" b="1"/>
                        <a:t>106</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GB" sz="900" b="1"/>
                        <a:t>0</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777652322"/>
                  </a:ext>
                </a:extLst>
              </a:tr>
            </a:tbl>
          </a:graphicData>
        </a:graphic>
      </p:graphicFrame>
      <p:sp>
        <p:nvSpPr>
          <p:cNvPr id="4" name="TextBox 3">
            <a:extLst>
              <a:ext uri="{FF2B5EF4-FFF2-40B4-BE49-F238E27FC236}">
                <a16:creationId xmlns:a16="http://schemas.microsoft.com/office/drawing/2014/main" id="{C03CCD0B-EDD2-C010-1C92-71C82AA1BC00}"/>
              </a:ext>
            </a:extLst>
          </p:cNvPr>
          <p:cNvSpPr txBox="1"/>
          <p:nvPr/>
        </p:nvSpPr>
        <p:spPr>
          <a:xfrm>
            <a:off x="7444314" y="4006272"/>
            <a:ext cx="1807921" cy="477054"/>
          </a:xfrm>
          <a:prstGeom prst="rect">
            <a:avLst/>
          </a:prstGeom>
          <a:noFill/>
        </p:spPr>
        <p:txBody>
          <a:bodyPr wrap="square" rtlCol="0">
            <a:spAutoFit/>
          </a:bodyPr>
          <a:lstStyle/>
          <a:p>
            <a:pPr>
              <a:buClr>
                <a:schemeClr val="tx1"/>
              </a:buClr>
            </a:pPr>
            <a:r>
              <a:rPr lang="en-GB" sz="1600" b="1">
                <a:solidFill>
                  <a:schemeClr val="tx2"/>
                </a:solidFill>
              </a:rPr>
              <a:t>Ticket Summary</a:t>
            </a:r>
          </a:p>
          <a:p>
            <a:pPr>
              <a:buClr>
                <a:schemeClr val="tx1"/>
              </a:buClr>
            </a:pPr>
            <a:r>
              <a:rPr lang="en-GB" sz="900" b="1">
                <a:solidFill>
                  <a:schemeClr val="tx2"/>
                </a:solidFill>
              </a:rPr>
              <a:t>(Annualised)</a:t>
            </a:r>
            <a:endParaRPr lang="en-GB" sz="1100" b="1">
              <a:solidFill>
                <a:schemeClr val="tx2"/>
              </a:solidFill>
            </a:endParaRPr>
          </a:p>
        </p:txBody>
      </p:sp>
      <p:sp>
        <p:nvSpPr>
          <p:cNvPr id="2" name="TextBox 1">
            <a:extLst>
              <a:ext uri="{FF2B5EF4-FFF2-40B4-BE49-F238E27FC236}">
                <a16:creationId xmlns:a16="http://schemas.microsoft.com/office/drawing/2014/main" id="{52F46410-A334-EBAF-4874-14C3AB7F26CB}"/>
              </a:ext>
            </a:extLst>
          </p:cNvPr>
          <p:cNvSpPr txBox="1"/>
          <p:nvPr/>
        </p:nvSpPr>
        <p:spPr>
          <a:xfrm>
            <a:off x="4833938" y="6364287"/>
            <a:ext cx="914400" cy="914400"/>
          </a:xfrm>
          <a:prstGeom prst="rect">
            <a:avLst/>
          </a:prstGeom>
          <a:noFill/>
        </p:spPr>
        <p:txBody>
          <a:bodyPr wrap="none" lIns="180000" tIns="180000" rIns="180000" bIns="180000" rtlCol="0">
            <a:normAutofit/>
          </a:bodyPr>
          <a:lstStyle/>
          <a:p>
            <a:pPr algn="l">
              <a:spcBef>
                <a:spcPts val="300"/>
              </a:spcBef>
              <a:spcAft>
                <a:spcPts val="300"/>
              </a:spcAft>
              <a:buClr>
                <a:schemeClr val="tx2"/>
              </a:buClr>
              <a:buSzPct val="150000"/>
            </a:pPr>
            <a:r>
              <a:rPr lang="en-GB" sz="1100">
                <a:solidFill>
                  <a:srgbClr val="FF0000"/>
                </a:solidFill>
              </a:rPr>
              <a:t>GSK Confidential – Not for External Distribution</a:t>
            </a:r>
          </a:p>
        </p:txBody>
      </p:sp>
    </p:spTree>
    <p:extLst>
      <p:ext uri="{BB962C8B-B14F-4D97-AF65-F5344CB8AC3E}">
        <p14:creationId xmlns:p14="http://schemas.microsoft.com/office/powerpoint/2010/main" val="796859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77775-43C8-5DB9-F33B-04A6CD3AEAEF}"/>
            </a:ext>
          </a:extLst>
        </p:cNvPr>
        <p:cNvGrpSpPr/>
        <p:nvPr/>
      </p:nvGrpSpPr>
      <p:grpSpPr>
        <a:xfrm>
          <a:off x="0" y="0"/>
          <a:ext cx="0" cy="0"/>
          <a:chOff x="0" y="0"/>
          <a:chExt cx="0" cy="0"/>
        </a:xfrm>
      </p:grpSpPr>
      <p:sp>
        <p:nvSpPr>
          <p:cNvPr id="38" name="TextBox 37">
            <a:extLst>
              <a:ext uri="{FF2B5EF4-FFF2-40B4-BE49-F238E27FC236}">
                <a16:creationId xmlns:a16="http://schemas.microsoft.com/office/drawing/2014/main" id="{1E911F73-7EC6-0741-236B-4006D32625FC}"/>
              </a:ext>
            </a:extLst>
          </p:cNvPr>
          <p:cNvSpPr txBox="1"/>
          <p:nvPr/>
        </p:nvSpPr>
        <p:spPr>
          <a:xfrm>
            <a:off x="390594" y="1137920"/>
            <a:ext cx="6873212" cy="3059176"/>
          </a:xfrm>
          <a:prstGeom prst="rect">
            <a:avLst/>
          </a:prstGeom>
          <a:noFill/>
          <a:ln>
            <a:solidFill>
              <a:schemeClr val="bg1">
                <a:lumMod val="75000"/>
              </a:schemeClr>
            </a:solidFill>
          </a:ln>
        </p:spPr>
        <p:txBody>
          <a:bodyPr wrap="square" lIns="180000" tIns="180000" rIns="180000" bIns="180000" rtlCol="0">
            <a:normAutofit/>
          </a:bodyPr>
          <a:lstStyle/>
          <a:p>
            <a:pPr marL="285750" indent="-285750" algn="l">
              <a:spcBef>
                <a:spcPts val="300"/>
              </a:spcBef>
              <a:spcAft>
                <a:spcPts val="300"/>
              </a:spcAft>
              <a:buClr>
                <a:schemeClr val="tx2"/>
              </a:buClr>
              <a:buSzPct val="150000"/>
              <a:buFont typeface="Arial" panose="020B0604020202020204" pitchFamily="34" charset="0"/>
              <a:buChar char="•"/>
            </a:pPr>
            <a:endParaRPr lang="en-US" sz="1600" err="1"/>
          </a:p>
        </p:txBody>
      </p:sp>
      <p:sp>
        <p:nvSpPr>
          <p:cNvPr id="41" name="TextBox 40">
            <a:extLst>
              <a:ext uri="{FF2B5EF4-FFF2-40B4-BE49-F238E27FC236}">
                <a16:creationId xmlns:a16="http://schemas.microsoft.com/office/drawing/2014/main" id="{1F2E367E-6E42-CD47-CE3B-E19A2FF1739C}"/>
              </a:ext>
            </a:extLst>
          </p:cNvPr>
          <p:cNvSpPr txBox="1"/>
          <p:nvPr/>
        </p:nvSpPr>
        <p:spPr>
          <a:xfrm>
            <a:off x="390594" y="4334909"/>
            <a:ext cx="6873212" cy="1784718"/>
          </a:xfrm>
          <a:prstGeom prst="rect">
            <a:avLst/>
          </a:prstGeom>
          <a:noFill/>
          <a:ln>
            <a:solidFill>
              <a:schemeClr val="bg1">
                <a:lumMod val="75000"/>
              </a:schemeClr>
            </a:solidFill>
          </a:ln>
        </p:spPr>
        <p:txBody>
          <a:bodyPr wrap="square" lIns="180000" tIns="180000" rIns="180000" bIns="180000" rtlCol="0">
            <a:normAutofit/>
          </a:bodyPr>
          <a:lstStyle/>
          <a:p>
            <a:pPr marL="285750" indent="-285750" algn="l">
              <a:spcBef>
                <a:spcPts val="300"/>
              </a:spcBef>
              <a:spcAft>
                <a:spcPts val="300"/>
              </a:spcAft>
              <a:buClr>
                <a:schemeClr val="tx2"/>
              </a:buClr>
              <a:buSzPct val="150000"/>
              <a:buFont typeface="Arial" panose="020B0604020202020204" pitchFamily="34" charset="0"/>
              <a:buChar char="•"/>
            </a:pPr>
            <a:endParaRPr lang="en-US" sz="1600" err="1"/>
          </a:p>
        </p:txBody>
      </p:sp>
      <p:graphicFrame>
        <p:nvGraphicFramePr>
          <p:cNvPr id="25" name="Table 24">
            <a:extLst>
              <a:ext uri="{FF2B5EF4-FFF2-40B4-BE49-F238E27FC236}">
                <a16:creationId xmlns:a16="http://schemas.microsoft.com/office/drawing/2014/main" id="{B89CA2A2-0C6C-4960-BA46-EE3BA7EC3198}"/>
              </a:ext>
            </a:extLst>
          </p:cNvPr>
          <p:cNvGraphicFramePr>
            <a:graphicFrameLocks noGrp="1"/>
          </p:cNvGraphicFramePr>
          <p:nvPr>
            <p:extLst>
              <p:ext uri="{D42A27DB-BD31-4B8C-83A1-F6EECF244321}">
                <p14:modId xmlns:p14="http://schemas.microsoft.com/office/powerpoint/2010/main" val="2781821005"/>
              </p:ext>
            </p:extLst>
          </p:nvPr>
        </p:nvGraphicFramePr>
        <p:xfrm>
          <a:off x="7444314" y="1107118"/>
          <a:ext cx="4683422" cy="1033175"/>
        </p:xfrm>
        <a:graphic>
          <a:graphicData uri="http://schemas.openxmlformats.org/drawingml/2006/table">
            <a:tbl>
              <a:tblPr firstRow="1" bandRow="1">
                <a:tableStyleId>{5C22544A-7EE6-4342-B048-85BDC9FD1C3A}</a:tableStyleId>
              </a:tblPr>
              <a:tblGrid>
                <a:gridCol w="1965415">
                  <a:extLst>
                    <a:ext uri="{9D8B030D-6E8A-4147-A177-3AD203B41FA5}">
                      <a16:colId xmlns:a16="http://schemas.microsoft.com/office/drawing/2014/main" val="3891676494"/>
                    </a:ext>
                  </a:extLst>
                </a:gridCol>
                <a:gridCol w="426583">
                  <a:extLst>
                    <a:ext uri="{9D8B030D-6E8A-4147-A177-3AD203B41FA5}">
                      <a16:colId xmlns:a16="http://schemas.microsoft.com/office/drawing/2014/main" val="2140829158"/>
                    </a:ext>
                  </a:extLst>
                </a:gridCol>
                <a:gridCol w="381904">
                  <a:extLst>
                    <a:ext uri="{9D8B030D-6E8A-4147-A177-3AD203B41FA5}">
                      <a16:colId xmlns:a16="http://schemas.microsoft.com/office/drawing/2014/main" val="778784682"/>
                    </a:ext>
                  </a:extLst>
                </a:gridCol>
                <a:gridCol w="381904">
                  <a:extLst>
                    <a:ext uri="{9D8B030D-6E8A-4147-A177-3AD203B41FA5}">
                      <a16:colId xmlns:a16="http://schemas.microsoft.com/office/drawing/2014/main" val="953935180"/>
                    </a:ext>
                  </a:extLst>
                </a:gridCol>
                <a:gridCol w="381904">
                  <a:extLst>
                    <a:ext uri="{9D8B030D-6E8A-4147-A177-3AD203B41FA5}">
                      <a16:colId xmlns:a16="http://schemas.microsoft.com/office/drawing/2014/main" val="3965651416"/>
                    </a:ext>
                  </a:extLst>
                </a:gridCol>
                <a:gridCol w="381904">
                  <a:extLst>
                    <a:ext uri="{9D8B030D-6E8A-4147-A177-3AD203B41FA5}">
                      <a16:colId xmlns:a16="http://schemas.microsoft.com/office/drawing/2014/main" val="3142468582"/>
                    </a:ext>
                  </a:extLst>
                </a:gridCol>
                <a:gridCol w="381904">
                  <a:extLst>
                    <a:ext uri="{9D8B030D-6E8A-4147-A177-3AD203B41FA5}">
                      <a16:colId xmlns:a16="http://schemas.microsoft.com/office/drawing/2014/main" val="3472251507"/>
                    </a:ext>
                  </a:extLst>
                </a:gridCol>
                <a:gridCol w="381904">
                  <a:extLst>
                    <a:ext uri="{9D8B030D-6E8A-4147-A177-3AD203B41FA5}">
                      <a16:colId xmlns:a16="http://schemas.microsoft.com/office/drawing/2014/main" val="441887277"/>
                    </a:ext>
                  </a:extLst>
                </a:gridCol>
              </a:tblGrid>
              <a:tr h="774095">
                <a:tc>
                  <a:txBody>
                    <a:bodyPr/>
                    <a:lstStyle/>
                    <a:p>
                      <a:pPr algn="ctr"/>
                      <a:endParaRPr lang="en-GB" sz="800"/>
                    </a:p>
                  </a:txBody>
                  <a:tcPr marL="121920" marR="121920" marT="60960" marB="60960" anchor="ctr">
                    <a:lnL w="12700" cmpd="sng">
                      <a:noFill/>
                    </a:lnL>
                    <a:lnR w="12700" cap="flat" cmpd="sng" algn="ctr">
                      <a:solidFill>
                        <a:schemeClr val="bg1">
                          <a:lumMod val="75000"/>
                        </a:schemeClr>
                      </a:solidFill>
                      <a:prstDash val="solid"/>
                      <a:round/>
                      <a:headEnd type="none" w="med" len="med"/>
                      <a:tailEnd type="none" w="med" len="med"/>
                    </a:lnR>
                    <a:lnT w="127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700">
                          <a:solidFill>
                            <a:schemeClr val="tx1"/>
                          </a:solidFill>
                        </a:rPr>
                        <a:t>Design</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Build</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Test/ QA</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Op Support</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Ongoing Development</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Change Management</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b="1" kern="1200">
                          <a:solidFill>
                            <a:schemeClr val="tx1"/>
                          </a:solidFill>
                          <a:latin typeface="+mn-lt"/>
                          <a:ea typeface="+mn-ea"/>
                          <a:cs typeface="+mn-cs"/>
                        </a:rPr>
                        <a:t>Decommissioning</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438671849"/>
                  </a:ext>
                </a:extLst>
              </a:tr>
              <a:tr h="148631">
                <a:tc>
                  <a:txBody>
                    <a:bodyPr/>
                    <a:lstStyle/>
                    <a:p>
                      <a:r>
                        <a:rPr lang="en-GB" sz="900" b="0"/>
                        <a:t>MFT</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800" b="1" kern="1200">
                          <a:solidFill>
                            <a:schemeClr val="tx1"/>
                          </a:solidFill>
                          <a:latin typeface="+mn-lt"/>
                          <a:ea typeface="+mn-ea"/>
                          <a:cs typeface="+mn-cs"/>
                        </a:rPr>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05620272"/>
                  </a:ext>
                </a:extLst>
              </a:tr>
            </a:tbl>
          </a:graphicData>
        </a:graphic>
      </p:graphicFrame>
      <p:sp>
        <p:nvSpPr>
          <p:cNvPr id="26" name="TextBox 25">
            <a:extLst>
              <a:ext uri="{FF2B5EF4-FFF2-40B4-BE49-F238E27FC236}">
                <a16:creationId xmlns:a16="http://schemas.microsoft.com/office/drawing/2014/main" id="{A4057855-96A5-699E-C6C6-DC93984A0150}"/>
              </a:ext>
            </a:extLst>
          </p:cNvPr>
          <p:cNvSpPr txBox="1"/>
          <p:nvPr/>
        </p:nvSpPr>
        <p:spPr>
          <a:xfrm>
            <a:off x="470595" y="4610362"/>
            <a:ext cx="3293605" cy="969496"/>
          </a:xfrm>
          <a:prstGeom prst="rect">
            <a:avLst/>
          </a:prstGeom>
          <a:noFill/>
        </p:spPr>
        <p:txBody>
          <a:bodyPr wrap="square" rtlCol="0">
            <a:spAutoFit/>
          </a:bodyPr>
          <a:lstStyle/>
          <a:p>
            <a:pPr marL="228600" indent="-228600" fontAlgn="base">
              <a:buFont typeface="+mj-lt"/>
              <a:buAutoNum type="arabicPeriod"/>
            </a:pPr>
            <a:r>
              <a:rPr lang="en-GB" sz="950"/>
              <a:t>Focus on improved monitoring and observability to support AI Ops.</a:t>
            </a:r>
            <a:r>
              <a:rPr lang="en-US" sz="950"/>
              <a:t>​</a:t>
            </a:r>
          </a:p>
          <a:p>
            <a:pPr marL="228600" indent="-228600" fontAlgn="base">
              <a:buFont typeface="+mj-lt"/>
              <a:buAutoNum type="arabicPeriod"/>
            </a:pPr>
            <a:r>
              <a:rPr lang="en-GB" sz="950"/>
              <a:t>Expertise in the platforms and investment in tooling to support GP&amp;T AI Ops goals.</a:t>
            </a:r>
            <a:r>
              <a:rPr lang="en-US" sz="950"/>
              <a:t>​</a:t>
            </a:r>
          </a:p>
          <a:p>
            <a:pPr marL="228600" indent="-228600" fontAlgn="base">
              <a:buFont typeface="+mj-lt"/>
              <a:buAutoNum type="arabicPeriod"/>
            </a:pPr>
            <a:r>
              <a:rPr lang="en-GB" sz="950"/>
              <a:t>Use AI and automation to improve service reliability, speed repairs and improve CX.</a:t>
            </a:r>
            <a:endParaRPr lang="en-US" sz="950"/>
          </a:p>
        </p:txBody>
      </p:sp>
      <p:sp>
        <p:nvSpPr>
          <p:cNvPr id="27" name="Title 17">
            <a:extLst>
              <a:ext uri="{FF2B5EF4-FFF2-40B4-BE49-F238E27FC236}">
                <a16:creationId xmlns:a16="http://schemas.microsoft.com/office/drawing/2014/main" id="{6EB90F5F-90E2-5A1D-E64E-C3905368DD2D}"/>
              </a:ext>
            </a:extLst>
          </p:cNvPr>
          <p:cNvSpPr>
            <a:spLocks noGrp="1"/>
          </p:cNvSpPr>
          <p:nvPr>
            <p:ph type="title"/>
          </p:nvPr>
        </p:nvSpPr>
        <p:spPr>
          <a:xfrm>
            <a:off x="478870" y="230848"/>
            <a:ext cx="10102852" cy="451405"/>
          </a:xfrm>
        </p:spPr>
        <p:txBody>
          <a:bodyPr>
            <a:normAutofit/>
          </a:bodyPr>
          <a:lstStyle/>
          <a:p>
            <a:r>
              <a:rPr lang="en-US" sz="2400"/>
              <a:t>Scope Executive Summary – EAS: Managed File Transfer</a:t>
            </a:r>
          </a:p>
        </p:txBody>
      </p:sp>
      <p:sp>
        <p:nvSpPr>
          <p:cNvPr id="28" name="Date Placeholder 5">
            <a:extLst>
              <a:ext uri="{FF2B5EF4-FFF2-40B4-BE49-F238E27FC236}">
                <a16:creationId xmlns:a16="http://schemas.microsoft.com/office/drawing/2014/main" id="{4B06719B-E280-3A78-E5A3-3AE458C990AB}"/>
              </a:ext>
            </a:extLst>
          </p:cNvPr>
          <p:cNvSpPr txBox="1">
            <a:spLocks/>
          </p:cNvSpPr>
          <p:nvPr/>
        </p:nvSpPr>
        <p:spPr>
          <a:xfrm>
            <a:off x="10968821" y="65881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sp>
        <p:nvSpPr>
          <p:cNvPr id="29" name="Slide Number Placeholder 7">
            <a:extLst>
              <a:ext uri="{FF2B5EF4-FFF2-40B4-BE49-F238E27FC236}">
                <a16:creationId xmlns:a16="http://schemas.microsoft.com/office/drawing/2014/main" id="{C84FCB23-B9D4-72A6-561A-D08D96755983}"/>
              </a:ext>
            </a:extLst>
          </p:cNvPr>
          <p:cNvSpPr txBox="1">
            <a:spLocks/>
          </p:cNvSpPr>
          <p:nvPr/>
        </p:nvSpPr>
        <p:spPr>
          <a:xfrm>
            <a:off x="11285288" y="6189646"/>
            <a:ext cx="540000" cy="269875"/>
          </a:xfrm>
          <a:prstGeom prst="rect">
            <a:avLst/>
          </a:prstGeom>
        </p:spPr>
        <p:txBody>
          <a:bodyPr vert="horz" lIns="0" tIns="0" rIns="0" bIns="0" rtlCol="0" anchor="b" anchorCtr="0">
            <a:normAutofit/>
          </a:bodyPr>
          <a:lstStyle>
            <a:defPPr>
              <a:defRPr lang="en-US"/>
            </a:defPPr>
            <a:lvl1pPr marL="0" algn="l" defTabSz="1219170" rtl="0" eaLnBrk="1" latinLnBrk="0" hangingPunct="1">
              <a:defRPr sz="12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9F9F533D-B52E-4A2F-BF72-0ADD2D94BD75}" type="slidenum">
              <a:rPr lang="en-GB" smtClean="0"/>
              <a:pPr/>
              <a:t>4</a:t>
            </a:fld>
            <a:endParaRPr lang="en-GB"/>
          </a:p>
        </p:txBody>
      </p:sp>
      <p:sp>
        <p:nvSpPr>
          <p:cNvPr id="30" name="TextBox 29">
            <a:extLst>
              <a:ext uri="{FF2B5EF4-FFF2-40B4-BE49-F238E27FC236}">
                <a16:creationId xmlns:a16="http://schemas.microsoft.com/office/drawing/2014/main" id="{0C6408BA-D2D7-9B2D-2DA5-993C20EC0F1B}"/>
              </a:ext>
            </a:extLst>
          </p:cNvPr>
          <p:cNvSpPr txBox="1"/>
          <p:nvPr/>
        </p:nvSpPr>
        <p:spPr>
          <a:xfrm>
            <a:off x="532833" y="976382"/>
            <a:ext cx="1997007" cy="307777"/>
          </a:xfrm>
          <a:prstGeom prst="rect">
            <a:avLst/>
          </a:prstGeom>
          <a:solidFill>
            <a:schemeClr val="bg1"/>
          </a:solidFill>
        </p:spPr>
        <p:txBody>
          <a:bodyPr wrap="square" rtlCol="0">
            <a:spAutoFit/>
          </a:bodyPr>
          <a:lstStyle/>
          <a:p>
            <a:pPr>
              <a:buClr>
                <a:schemeClr val="tx1"/>
              </a:buClr>
            </a:pPr>
            <a:r>
              <a:rPr lang="en-GB" sz="1400" b="1">
                <a:solidFill>
                  <a:schemeClr val="tx2"/>
                </a:solidFill>
              </a:rPr>
              <a:t>Solution Description</a:t>
            </a:r>
          </a:p>
        </p:txBody>
      </p:sp>
      <p:sp>
        <p:nvSpPr>
          <p:cNvPr id="31" name="TextBox 30">
            <a:extLst>
              <a:ext uri="{FF2B5EF4-FFF2-40B4-BE49-F238E27FC236}">
                <a16:creationId xmlns:a16="http://schemas.microsoft.com/office/drawing/2014/main" id="{CCD3057F-45AF-42D4-6BE0-592EF9927F49}"/>
              </a:ext>
            </a:extLst>
          </p:cNvPr>
          <p:cNvSpPr txBox="1"/>
          <p:nvPr/>
        </p:nvSpPr>
        <p:spPr>
          <a:xfrm>
            <a:off x="7342714" y="1524647"/>
            <a:ext cx="1591736" cy="338554"/>
          </a:xfrm>
          <a:prstGeom prst="rect">
            <a:avLst/>
          </a:prstGeom>
          <a:noFill/>
        </p:spPr>
        <p:txBody>
          <a:bodyPr wrap="square" rtlCol="0">
            <a:spAutoFit/>
          </a:bodyPr>
          <a:lstStyle/>
          <a:p>
            <a:pPr>
              <a:buClr>
                <a:schemeClr val="tx1"/>
              </a:buClr>
            </a:pPr>
            <a:r>
              <a:rPr lang="en-GB" sz="1600" b="1">
                <a:solidFill>
                  <a:schemeClr val="tx2"/>
                </a:solidFill>
              </a:rPr>
              <a:t>Dev Scope</a:t>
            </a:r>
          </a:p>
        </p:txBody>
      </p:sp>
      <p:sp>
        <p:nvSpPr>
          <p:cNvPr id="32" name="TextBox 31">
            <a:extLst>
              <a:ext uri="{FF2B5EF4-FFF2-40B4-BE49-F238E27FC236}">
                <a16:creationId xmlns:a16="http://schemas.microsoft.com/office/drawing/2014/main" id="{BC111817-424A-DD9A-BC73-AA12F9CC2F84}"/>
              </a:ext>
            </a:extLst>
          </p:cNvPr>
          <p:cNvSpPr txBox="1"/>
          <p:nvPr/>
        </p:nvSpPr>
        <p:spPr>
          <a:xfrm>
            <a:off x="390593" y="4294935"/>
            <a:ext cx="3468103" cy="307777"/>
          </a:xfrm>
          <a:prstGeom prst="rect">
            <a:avLst/>
          </a:prstGeom>
          <a:noFill/>
        </p:spPr>
        <p:txBody>
          <a:bodyPr wrap="square" rtlCol="0">
            <a:spAutoFit/>
          </a:bodyPr>
          <a:lstStyle/>
          <a:p>
            <a:pPr>
              <a:buClr>
                <a:schemeClr val="tx1"/>
              </a:buClr>
            </a:pPr>
            <a:r>
              <a:rPr lang="en-GB" sz="1400" b="1">
                <a:solidFill>
                  <a:schemeClr val="tx2"/>
                </a:solidFill>
              </a:rPr>
              <a:t>AI First Strategy</a:t>
            </a:r>
          </a:p>
        </p:txBody>
      </p:sp>
      <p:sp>
        <p:nvSpPr>
          <p:cNvPr id="33" name="TextBox 32">
            <a:extLst>
              <a:ext uri="{FF2B5EF4-FFF2-40B4-BE49-F238E27FC236}">
                <a16:creationId xmlns:a16="http://schemas.microsoft.com/office/drawing/2014/main" id="{87A0E726-1D1E-D0D7-B9CB-8B45678B6351}"/>
              </a:ext>
            </a:extLst>
          </p:cNvPr>
          <p:cNvSpPr txBox="1"/>
          <p:nvPr/>
        </p:nvSpPr>
        <p:spPr>
          <a:xfrm>
            <a:off x="404125" y="1196230"/>
            <a:ext cx="6720149" cy="3162404"/>
          </a:xfrm>
          <a:prstGeom prst="rect">
            <a:avLst/>
          </a:prstGeom>
          <a:noFill/>
          <a:ln>
            <a:noFill/>
          </a:ln>
        </p:spPr>
        <p:txBody>
          <a:bodyPr wrap="square" lIns="91440" tIns="45720" rIns="91440" bIns="45720" rtlCol="0" anchor="t">
            <a:spAutoFit/>
          </a:bodyPr>
          <a:lstStyle/>
          <a:p>
            <a:pPr>
              <a:buClr>
                <a:schemeClr val="bg2"/>
              </a:buClr>
            </a:pPr>
            <a:r>
              <a:rPr lang="en-GB" sz="930" b="1"/>
              <a:t>Managed File Transfer (MFT)</a:t>
            </a:r>
            <a:endParaRPr lang="en-GB" sz="930"/>
          </a:p>
          <a:p>
            <a:pPr marL="171450" indent="-171450">
              <a:buClr>
                <a:schemeClr val="bg2"/>
              </a:buClr>
              <a:buFont typeface="Arial" panose="020B0604020202020204" pitchFamily="34" charset="0"/>
              <a:buChar char="•"/>
            </a:pPr>
            <a:r>
              <a:rPr lang="en-US" sz="930"/>
              <a:t>Enables data sharing through a secure and reliable delivery method based on </a:t>
            </a:r>
            <a:r>
              <a:rPr lang="en-US" sz="930" err="1"/>
              <a:t>GoAnyWhere</a:t>
            </a:r>
            <a:r>
              <a:rPr lang="en-US" sz="930"/>
              <a:t> MFT, ensuring the protection of proprietary and personal data both in transit and at rest. Uses standard protocols (SFTP(SSH), Https, AS2). Service is hosted in Azure.  Uses secure </a:t>
            </a:r>
            <a:r>
              <a:rPr lang="en-GB" sz="930" err="1"/>
              <a:t>dropboxes</a:t>
            </a:r>
            <a:r>
              <a:rPr lang="en-GB" sz="930"/>
              <a:t> as well as automated transfers, integrated in numerous critical applications.  Ensures secure, policy-driven file exchange with encryption, automation, and monitoring.  Files are moved between the IT and OT networks as well as exchanges between GSK and external partners.  Essential for numerous business critical applications and services.</a:t>
            </a:r>
          </a:p>
          <a:p>
            <a:pPr marL="171450" indent="-171450">
              <a:buClr>
                <a:schemeClr val="bg2"/>
              </a:buClr>
              <a:buFont typeface="Arial" panose="020B0604020202020204" pitchFamily="34" charset="0"/>
              <a:buChar char="•"/>
            </a:pPr>
            <a:r>
              <a:rPr lang="en-US" sz="930"/>
              <a:t>Dependency/linkage/synergy with any other </a:t>
            </a:r>
            <a:r>
              <a:rPr lang="en-US" sz="930" err="1"/>
              <a:t>Workpackages</a:t>
            </a:r>
            <a:r>
              <a:rPr lang="en-US" sz="930"/>
              <a:t>:</a:t>
            </a:r>
          </a:p>
          <a:p>
            <a:pPr marL="781035" lvl="1" indent="-171450">
              <a:buClr>
                <a:schemeClr val="bg2"/>
              </a:buClr>
              <a:buFont typeface="Arial" panose="020B0604020202020204" pitchFamily="34" charset="0"/>
              <a:buChar char="•"/>
            </a:pPr>
            <a:r>
              <a:rPr lang="en-US" sz="930"/>
              <a:t>Cloud and LAN/WAN Network Infrastructure</a:t>
            </a:r>
          </a:p>
          <a:p>
            <a:pPr marL="781035" lvl="1" indent="-171450">
              <a:buClr>
                <a:schemeClr val="bg2"/>
              </a:buClr>
              <a:buFont typeface="Arial" panose="020B0604020202020204" pitchFamily="34" charset="0"/>
              <a:buChar char="•"/>
            </a:pPr>
            <a:r>
              <a:rPr lang="en-US" sz="930"/>
              <a:t>Identity and Access Management</a:t>
            </a:r>
          </a:p>
          <a:p>
            <a:pPr marL="781035" lvl="1" indent="-171450">
              <a:buClr>
                <a:schemeClr val="bg2"/>
              </a:buClr>
              <a:buFont typeface="Arial" panose="020B0604020202020204" pitchFamily="34" charset="0"/>
              <a:buChar char="•"/>
            </a:pPr>
            <a:r>
              <a:rPr lang="en-US" sz="930"/>
              <a:t>CSO, Global Risk and Compliance</a:t>
            </a:r>
          </a:p>
          <a:p>
            <a:pPr marL="781035" lvl="1" indent="-171450">
              <a:buClr>
                <a:schemeClr val="bg2"/>
              </a:buClr>
              <a:buFont typeface="Arial" panose="020B0604020202020204" pitchFamily="34" charset="0"/>
              <a:buChar char="•"/>
            </a:pPr>
            <a:r>
              <a:rPr lang="en-US" sz="930"/>
              <a:t>Business application integration</a:t>
            </a:r>
          </a:p>
          <a:p>
            <a:pPr marL="171450" indent="-171450">
              <a:buClr>
                <a:schemeClr val="bg2"/>
              </a:buClr>
              <a:buFont typeface="Arial" panose="020B0604020202020204" pitchFamily="34" charset="0"/>
              <a:buChar char="•"/>
            </a:pPr>
            <a:r>
              <a:rPr lang="en-US" sz="930"/>
              <a:t>Current solution is cloud-hosted GoAnyWhere MFT, contract expires 2027.</a:t>
            </a:r>
            <a:endParaRPr lang="en-US" sz="930">
              <a:highlight>
                <a:srgbClr val="00FFFF"/>
              </a:highlight>
            </a:endParaRPr>
          </a:p>
          <a:p>
            <a:pPr marL="171450" indent="-171450">
              <a:buClr>
                <a:schemeClr val="bg2"/>
              </a:buClr>
              <a:buFont typeface="Arial" panose="020B0604020202020204" pitchFamily="34" charset="0"/>
              <a:buChar char="•"/>
            </a:pPr>
            <a:r>
              <a:rPr lang="en-US" sz="930"/>
              <a:t>Expertise with product specific design, build, Ops support, ongoing development, improving user experience, change management, service reporting and communications, and decommissioning</a:t>
            </a:r>
          </a:p>
          <a:p>
            <a:pPr>
              <a:buClr>
                <a:schemeClr val="bg2"/>
              </a:buClr>
            </a:pPr>
            <a:r>
              <a:rPr lang="en-GB" sz="930" b="1"/>
              <a:t>Task Details &amp; Expected Outcomes</a:t>
            </a:r>
          </a:p>
          <a:p>
            <a:pPr marL="171450" indent="-171450">
              <a:buClr>
                <a:schemeClr val="bg2"/>
              </a:buClr>
              <a:buFont typeface="Arial"/>
              <a:buChar char="•"/>
            </a:pPr>
            <a:r>
              <a:rPr lang="en-US" sz="930"/>
              <a:t>The Supplier will have full end-to-end responsibility for the service, covering design, build, operations, and continuous improvement. The service must be scalable, cost-</a:t>
            </a:r>
            <a:r>
              <a:rPr lang="en-US" sz="930" err="1"/>
              <a:t>optimised</a:t>
            </a:r>
            <a:r>
              <a:rPr lang="en-US" sz="930"/>
              <a:t>, fit for purpose, and fully aligned with GSK standards, policies, and ITIL practices. GSK will provide Engineering and Product Ownership only; all other aspects are owned and delivered by the Supplier. The Supplier is expected to leverage AI and automation to reduce incidents, improve customer experience, and drive ongoing service </a:t>
            </a:r>
            <a:r>
              <a:rPr lang="en-US" sz="930" err="1"/>
              <a:t>optimisation</a:t>
            </a:r>
            <a:r>
              <a:rPr lang="en-US" sz="930"/>
              <a:t>.</a:t>
            </a:r>
          </a:p>
        </p:txBody>
      </p:sp>
      <p:cxnSp>
        <p:nvCxnSpPr>
          <p:cNvPr id="34" name="Straight Connector 33">
            <a:extLst>
              <a:ext uri="{FF2B5EF4-FFF2-40B4-BE49-F238E27FC236}">
                <a16:creationId xmlns:a16="http://schemas.microsoft.com/office/drawing/2014/main" id="{9632EA06-1DD4-9FCE-509A-D1BF67862005}"/>
              </a:ext>
            </a:extLst>
          </p:cNvPr>
          <p:cNvCxnSpPr>
            <a:cxnSpLocks/>
          </p:cNvCxnSpPr>
          <p:nvPr/>
        </p:nvCxnSpPr>
        <p:spPr>
          <a:xfrm flipH="1" flipV="1">
            <a:off x="3798495" y="4334908"/>
            <a:ext cx="18641" cy="1784718"/>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050E7BD1-7661-47F4-A7E6-46B61978D21F}"/>
              </a:ext>
            </a:extLst>
          </p:cNvPr>
          <p:cNvSpPr txBox="1"/>
          <p:nvPr/>
        </p:nvSpPr>
        <p:spPr>
          <a:xfrm>
            <a:off x="3817136" y="4292463"/>
            <a:ext cx="3545108" cy="307777"/>
          </a:xfrm>
          <a:prstGeom prst="rect">
            <a:avLst/>
          </a:prstGeom>
          <a:noFill/>
        </p:spPr>
        <p:txBody>
          <a:bodyPr wrap="square" rtlCol="0">
            <a:spAutoFit/>
          </a:bodyPr>
          <a:lstStyle/>
          <a:p>
            <a:pPr>
              <a:buClr>
                <a:schemeClr val="tx1"/>
              </a:buClr>
            </a:pPr>
            <a:r>
              <a:rPr lang="en-GB" sz="1400" b="1">
                <a:solidFill>
                  <a:schemeClr val="tx2"/>
                </a:solidFill>
              </a:rPr>
              <a:t>Product Strategy/2026 Major Milestones</a:t>
            </a:r>
          </a:p>
        </p:txBody>
      </p:sp>
      <p:graphicFrame>
        <p:nvGraphicFramePr>
          <p:cNvPr id="36" name="Table 15">
            <a:extLst>
              <a:ext uri="{FF2B5EF4-FFF2-40B4-BE49-F238E27FC236}">
                <a16:creationId xmlns:a16="http://schemas.microsoft.com/office/drawing/2014/main" id="{07379E4F-4DFD-828F-BCF1-5001F6311E1E}"/>
              </a:ext>
            </a:extLst>
          </p:cNvPr>
          <p:cNvGraphicFramePr>
            <a:graphicFrameLocks noGrp="1"/>
          </p:cNvGraphicFramePr>
          <p:nvPr/>
        </p:nvGraphicFramePr>
        <p:xfrm>
          <a:off x="9439276" y="590665"/>
          <a:ext cx="2688459" cy="335280"/>
        </p:xfrm>
        <a:graphic>
          <a:graphicData uri="http://schemas.openxmlformats.org/drawingml/2006/table">
            <a:tbl>
              <a:tblPr firstRow="1" bandRow="1">
                <a:tableStyleId>{5C22544A-7EE6-4342-B048-85BDC9FD1C3A}</a:tableStyleId>
              </a:tblPr>
              <a:tblGrid>
                <a:gridCol w="925006">
                  <a:extLst>
                    <a:ext uri="{9D8B030D-6E8A-4147-A177-3AD203B41FA5}">
                      <a16:colId xmlns:a16="http://schemas.microsoft.com/office/drawing/2014/main" val="3906732604"/>
                    </a:ext>
                  </a:extLst>
                </a:gridCol>
                <a:gridCol w="886845">
                  <a:extLst>
                    <a:ext uri="{9D8B030D-6E8A-4147-A177-3AD203B41FA5}">
                      <a16:colId xmlns:a16="http://schemas.microsoft.com/office/drawing/2014/main" val="3893182027"/>
                    </a:ext>
                  </a:extLst>
                </a:gridCol>
                <a:gridCol w="876608">
                  <a:extLst>
                    <a:ext uri="{9D8B030D-6E8A-4147-A177-3AD203B41FA5}">
                      <a16:colId xmlns:a16="http://schemas.microsoft.com/office/drawing/2014/main" val="2672437179"/>
                    </a:ext>
                  </a:extLst>
                </a:gridCol>
              </a:tblGrid>
              <a:tr h="335280">
                <a:tc>
                  <a:txBody>
                    <a:bodyPr/>
                    <a:lstStyle/>
                    <a:p>
                      <a:pPr algn="ctr"/>
                      <a:r>
                        <a:rPr lang="en-US" sz="1200">
                          <a:solidFill>
                            <a:schemeClr val="tx1"/>
                          </a:solidFill>
                        </a:rPr>
                        <a:t>Support</a:t>
                      </a:r>
                    </a:p>
                  </a:txBody>
                  <a:tcPr marL="121920" marR="121920" marT="60960" marB="6096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sz="1200">
                          <a:solidFill>
                            <a:schemeClr val="tx1"/>
                          </a:solidFill>
                        </a:rPr>
                        <a:t>Dev</a:t>
                      </a:r>
                    </a:p>
                  </a:txBody>
                  <a:tcPr marL="121920" marR="121920" marT="60960" marB="6096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sz="1200">
                          <a:solidFill>
                            <a:schemeClr val="tx1"/>
                          </a:solidFill>
                        </a:rPr>
                        <a:t>Hybrid</a:t>
                      </a:r>
                    </a:p>
                  </a:txBody>
                  <a:tcPr marL="121920" marR="121920" marT="60960" marB="6096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solidFill>
                  </a:tcPr>
                </a:tc>
                <a:extLst>
                  <a:ext uri="{0D108BD9-81ED-4DB2-BD59-A6C34878D82A}">
                    <a16:rowId xmlns:a16="http://schemas.microsoft.com/office/drawing/2014/main" val="2586814064"/>
                  </a:ext>
                </a:extLst>
              </a:tr>
            </a:tbl>
          </a:graphicData>
        </a:graphic>
      </p:graphicFrame>
      <p:sp>
        <p:nvSpPr>
          <p:cNvPr id="39" name="TextBox 38">
            <a:extLst>
              <a:ext uri="{FF2B5EF4-FFF2-40B4-BE49-F238E27FC236}">
                <a16:creationId xmlns:a16="http://schemas.microsoft.com/office/drawing/2014/main" id="{162B522A-40E7-7612-6C3B-B521E4A2ED7A}"/>
              </a:ext>
            </a:extLst>
          </p:cNvPr>
          <p:cNvSpPr txBox="1"/>
          <p:nvPr/>
        </p:nvSpPr>
        <p:spPr>
          <a:xfrm>
            <a:off x="3817136" y="4616276"/>
            <a:ext cx="3293605" cy="384721"/>
          </a:xfrm>
          <a:prstGeom prst="rect">
            <a:avLst/>
          </a:prstGeom>
          <a:noFill/>
        </p:spPr>
        <p:txBody>
          <a:bodyPr wrap="square" rtlCol="0">
            <a:spAutoFit/>
          </a:bodyPr>
          <a:lstStyle/>
          <a:p>
            <a:pPr marL="152396" indent="-152396">
              <a:buClr>
                <a:schemeClr val="bg2"/>
              </a:buClr>
              <a:buFont typeface="+mj-lt"/>
              <a:buAutoNum type="arabicPeriod"/>
            </a:pPr>
            <a:r>
              <a:rPr lang="en-GB" sz="950"/>
              <a:t>Increase scope/volumes to incorporate further secure exchange between IT and OT networks.</a:t>
            </a:r>
          </a:p>
        </p:txBody>
      </p:sp>
      <p:graphicFrame>
        <p:nvGraphicFramePr>
          <p:cNvPr id="3" name="Table 2">
            <a:extLst>
              <a:ext uri="{FF2B5EF4-FFF2-40B4-BE49-F238E27FC236}">
                <a16:creationId xmlns:a16="http://schemas.microsoft.com/office/drawing/2014/main" id="{A3B626D9-8032-95B1-64EE-786F9208F272}"/>
              </a:ext>
            </a:extLst>
          </p:cNvPr>
          <p:cNvGraphicFramePr>
            <a:graphicFrameLocks noGrp="1"/>
          </p:cNvGraphicFramePr>
          <p:nvPr>
            <p:extLst>
              <p:ext uri="{D42A27DB-BD31-4B8C-83A1-F6EECF244321}">
                <p14:modId xmlns:p14="http://schemas.microsoft.com/office/powerpoint/2010/main" val="1689756484"/>
              </p:ext>
            </p:extLst>
          </p:nvPr>
        </p:nvGraphicFramePr>
        <p:xfrm>
          <a:off x="7444314" y="3643110"/>
          <a:ext cx="4683422" cy="1091670"/>
        </p:xfrm>
        <a:graphic>
          <a:graphicData uri="http://schemas.openxmlformats.org/drawingml/2006/table">
            <a:tbl>
              <a:tblPr firstRow="1" bandRow="1">
                <a:tableStyleId>{5C22544A-7EE6-4342-B048-85BDC9FD1C3A}</a:tableStyleId>
              </a:tblPr>
              <a:tblGrid>
                <a:gridCol w="2601929">
                  <a:extLst>
                    <a:ext uri="{9D8B030D-6E8A-4147-A177-3AD203B41FA5}">
                      <a16:colId xmlns:a16="http://schemas.microsoft.com/office/drawing/2014/main" val="2715083338"/>
                    </a:ext>
                  </a:extLst>
                </a:gridCol>
                <a:gridCol w="564735">
                  <a:extLst>
                    <a:ext uri="{9D8B030D-6E8A-4147-A177-3AD203B41FA5}">
                      <a16:colId xmlns:a16="http://schemas.microsoft.com/office/drawing/2014/main" val="3277892068"/>
                    </a:ext>
                  </a:extLst>
                </a:gridCol>
                <a:gridCol w="505586">
                  <a:extLst>
                    <a:ext uri="{9D8B030D-6E8A-4147-A177-3AD203B41FA5}">
                      <a16:colId xmlns:a16="http://schemas.microsoft.com/office/drawing/2014/main" val="716918256"/>
                    </a:ext>
                  </a:extLst>
                </a:gridCol>
                <a:gridCol w="505586">
                  <a:extLst>
                    <a:ext uri="{9D8B030D-6E8A-4147-A177-3AD203B41FA5}">
                      <a16:colId xmlns:a16="http://schemas.microsoft.com/office/drawing/2014/main" val="3785101451"/>
                    </a:ext>
                  </a:extLst>
                </a:gridCol>
                <a:gridCol w="505586">
                  <a:extLst>
                    <a:ext uri="{9D8B030D-6E8A-4147-A177-3AD203B41FA5}">
                      <a16:colId xmlns:a16="http://schemas.microsoft.com/office/drawing/2014/main" val="298240070"/>
                    </a:ext>
                  </a:extLst>
                </a:gridCol>
              </a:tblGrid>
              <a:tr h="817922">
                <a:tc>
                  <a:txBody>
                    <a:bodyPr/>
                    <a:lstStyle/>
                    <a:p>
                      <a:pPr algn="ctr"/>
                      <a:endParaRPr lang="en-GB" sz="800"/>
                    </a:p>
                  </a:txBody>
                  <a:tcPr marL="121920" marR="121920" marT="60960" marB="60960" anchor="ctr">
                    <a:lnL w="12700" cmpd="sng">
                      <a:noFill/>
                    </a:lnL>
                    <a:lnR w="12700" cap="flat" cmpd="sng" algn="ctr">
                      <a:solidFill>
                        <a:schemeClr val="bg1">
                          <a:lumMod val="75000"/>
                        </a:schemeClr>
                      </a:solidFill>
                      <a:prstDash val="solid"/>
                      <a:round/>
                      <a:headEnd type="none" w="med" len="med"/>
                      <a:tailEnd type="none" w="med" len="med"/>
                    </a:lnR>
                    <a:lnT w="127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800">
                          <a:solidFill>
                            <a:schemeClr val="tx1"/>
                          </a:solidFill>
                        </a:rPr>
                        <a:t>Incidents</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800">
                          <a:solidFill>
                            <a:schemeClr val="tx1"/>
                          </a:solidFill>
                        </a:rPr>
                        <a:t>Problems</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800">
                          <a:solidFill>
                            <a:schemeClr val="tx1"/>
                          </a:solidFill>
                        </a:rPr>
                        <a:t>Changes</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800">
                          <a:solidFill>
                            <a:schemeClr val="tx1"/>
                          </a:solidFill>
                        </a:rPr>
                        <a:t>Requests</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043913987"/>
                  </a:ext>
                </a:extLst>
              </a:tr>
              <a:tr h="273748">
                <a:tc>
                  <a:txBody>
                    <a:bodyPr/>
                    <a:lstStyle/>
                    <a:p>
                      <a:r>
                        <a:rPr lang="en-GB" sz="900" b="0"/>
                        <a:t>MFT</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850</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0</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35</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1150</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90279235"/>
                  </a:ext>
                </a:extLst>
              </a:tr>
            </a:tbl>
          </a:graphicData>
        </a:graphic>
      </p:graphicFrame>
      <p:sp>
        <p:nvSpPr>
          <p:cNvPr id="4" name="TextBox 3">
            <a:extLst>
              <a:ext uri="{FF2B5EF4-FFF2-40B4-BE49-F238E27FC236}">
                <a16:creationId xmlns:a16="http://schemas.microsoft.com/office/drawing/2014/main" id="{D24FF8D5-E88E-A9C2-D005-CA4ABCBB209A}"/>
              </a:ext>
            </a:extLst>
          </p:cNvPr>
          <p:cNvSpPr txBox="1"/>
          <p:nvPr/>
        </p:nvSpPr>
        <p:spPr>
          <a:xfrm>
            <a:off x="7444314" y="4006272"/>
            <a:ext cx="1807921" cy="477054"/>
          </a:xfrm>
          <a:prstGeom prst="rect">
            <a:avLst/>
          </a:prstGeom>
          <a:noFill/>
        </p:spPr>
        <p:txBody>
          <a:bodyPr wrap="square" rtlCol="0">
            <a:spAutoFit/>
          </a:bodyPr>
          <a:lstStyle/>
          <a:p>
            <a:pPr>
              <a:buClr>
                <a:schemeClr val="tx1"/>
              </a:buClr>
            </a:pPr>
            <a:r>
              <a:rPr lang="en-GB" sz="1600" b="1">
                <a:solidFill>
                  <a:schemeClr val="tx2"/>
                </a:solidFill>
              </a:rPr>
              <a:t>Ticket Summary</a:t>
            </a:r>
          </a:p>
          <a:p>
            <a:pPr>
              <a:buClr>
                <a:schemeClr val="tx1"/>
              </a:buClr>
            </a:pPr>
            <a:r>
              <a:rPr lang="en-GB" sz="900" b="1">
                <a:solidFill>
                  <a:schemeClr val="tx2"/>
                </a:solidFill>
              </a:rPr>
              <a:t>(Annualised)</a:t>
            </a:r>
            <a:endParaRPr lang="en-GB" sz="1100" b="1">
              <a:solidFill>
                <a:schemeClr val="tx2"/>
              </a:solidFill>
            </a:endParaRPr>
          </a:p>
        </p:txBody>
      </p:sp>
      <p:sp>
        <p:nvSpPr>
          <p:cNvPr id="2" name="TextBox 1">
            <a:extLst>
              <a:ext uri="{FF2B5EF4-FFF2-40B4-BE49-F238E27FC236}">
                <a16:creationId xmlns:a16="http://schemas.microsoft.com/office/drawing/2014/main" id="{5F65B55E-A5FF-FA3C-D439-866CE9317D4B}"/>
              </a:ext>
            </a:extLst>
          </p:cNvPr>
          <p:cNvSpPr txBox="1"/>
          <p:nvPr/>
        </p:nvSpPr>
        <p:spPr>
          <a:xfrm>
            <a:off x="4833938" y="6364287"/>
            <a:ext cx="914400" cy="914400"/>
          </a:xfrm>
          <a:prstGeom prst="rect">
            <a:avLst/>
          </a:prstGeom>
          <a:noFill/>
        </p:spPr>
        <p:txBody>
          <a:bodyPr wrap="none" lIns="180000" tIns="180000" rIns="180000" bIns="180000" rtlCol="0">
            <a:normAutofit/>
          </a:bodyPr>
          <a:lstStyle/>
          <a:p>
            <a:pPr algn="l">
              <a:spcBef>
                <a:spcPts val="300"/>
              </a:spcBef>
              <a:spcAft>
                <a:spcPts val="300"/>
              </a:spcAft>
              <a:buClr>
                <a:schemeClr val="tx2"/>
              </a:buClr>
              <a:buSzPct val="150000"/>
            </a:pPr>
            <a:r>
              <a:rPr lang="en-GB" sz="1100">
                <a:solidFill>
                  <a:srgbClr val="FF0000"/>
                </a:solidFill>
              </a:rPr>
              <a:t>GSK Confidential – Not for External Distribution</a:t>
            </a:r>
          </a:p>
        </p:txBody>
      </p:sp>
    </p:spTree>
    <p:extLst>
      <p:ext uri="{BB962C8B-B14F-4D97-AF65-F5344CB8AC3E}">
        <p14:creationId xmlns:p14="http://schemas.microsoft.com/office/powerpoint/2010/main" val="2407809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5F46D-F344-6EC6-8C9C-B8F3B4737A59}"/>
            </a:ext>
          </a:extLst>
        </p:cNvPr>
        <p:cNvGrpSpPr/>
        <p:nvPr/>
      </p:nvGrpSpPr>
      <p:grpSpPr>
        <a:xfrm>
          <a:off x="0" y="0"/>
          <a:ext cx="0" cy="0"/>
          <a:chOff x="0" y="0"/>
          <a:chExt cx="0" cy="0"/>
        </a:xfrm>
      </p:grpSpPr>
      <p:sp>
        <p:nvSpPr>
          <p:cNvPr id="38" name="TextBox 37">
            <a:extLst>
              <a:ext uri="{FF2B5EF4-FFF2-40B4-BE49-F238E27FC236}">
                <a16:creationId xmlns:a16="http://schemas.microsoft.com/office/drawing/2014/main" id="{5C75D7AB-7EBD-AF06-FF71-09E064B953CA}"/>
              </a:ext>
            </a:extLst>
          </p:cNvPr>
          <p:cNvSpPr txBox="1"/>
          <p:nvPr/>
        </p:nvSpPr>
        <p:spPr>
          <a:xfrm>
            <a:off x="390594" y="1137920"/>
            <a:ext cx="6873212" cy="3059176"/>
          </a:xfrm>
          <a:prstGeom prst="rect">
            <a:avLst/>
          </a:prstGeom>
          <a:noFill/>
          <a:ln>
            <a:solidFill>
              <a:schemeClr val="bg1">
                <a:lumMod val="75000"/>
              </a:schemeClr>
            </a:solidFill>
          </a:ln>
        </p:spPr>
        <p:txBody>
          <a:bodyPr wrap="square" lIns="180000" tIns="180000" rIns="180000" bIns="180000" rtlCol="0">
            <a:normAutofit/>
          </a:bodyPr>
          <a:lstStyle/>
          <a:p>
            <a:pPr marL="285750" indent="-285750" algn="l">
              <a:spcBef>
                <a:spcPts val="300"/>
              </a:spcBef>
              <a:spcAft>
                <a:spcPts val="300"/>
              </a:spcAft>
              <a:buClr>
                <a:schemeClr val="tx2"/>
              </a:buClr>
              <a:buSzPct val="150000"/>
              <a:buFont typeface="Arial" panose="020B0604020202020204" pitchFamily="34" charset="0"/>
              <a:buChar char="•"/>
            </a:pPr>
            <a:endParaRPr lang="en-US" sz="1600" err="1"/>
          </a:p>
        </p:txBody>
      </p:sp>
      <p:sp>
        <p:nvSpPr>
          <p:cNvPr id="41" name="TextBox 40">
            <a:extLst>
              <a:ext uri="{FF2B5EF4-FFF2-40B4-BE49-F238E27FC236}">
                <a16:creationId xmlns:a16="http://schemas.microsoft.com/office/drawing/2014/main" id="{71872763-20BE-5549-D38D-5E219BC4D9BE}"/>
              </a:ext>
            </a:extLst>
          </p:cNvPr>
          <p:cNvSpPr txBox="1"/>
          <p:nvPr/>
        </p:nvSpPr>
        <p:spPr>
          <a:xfrm>
            <a:off x="390594" y="4334909"/>
            <a:ext cx="6873212" cy="1784718"/>
          </a:xfrm>
          <a:prstGeom prst="rect">
            <a:avLst/>
          </a:prstGeom>
          <a:noFill/>
          <a:ln>
            <a:solidFill>
              <a:schemeClr val="bg1">
                <a:lumMod val="75000"/>
              </a:schemeClr>
            </a:solidFill>
          </a:ln>
        </p:spPr>
        <p:txBody>
          <a:bodyPr wrap="square" lIns="180000" tIns="180000" rIns="180000" bIns="180000" rtlCol="0">
            <a:normAutofit/>
          </a:bodyPr>
          <a:lstStyle/>
          <a:p>
            <a:pPr marL="285750" indent="-285750" algn="l">
              <a:spcBef>
                <a:spcPts val="300"/>
              </a:spcBef>
              <a:spcAft>
                <a:spcPts val="300"/>
              </a:spcAft>
              <a:buClr>
                <a:schemeClr val="tx2"/>
              </a:buClr>
              <a:buSzPct val="150000"/>
              <a:buFont typeface="Arial" panose="020B0604020202020204" pitchFamily="34" charset="0"/>
              <a:buChar char="•"/>
            </a:pPr>
            <a:endParaRPr lang="en-US" sz="1600" err="1"/>
          </a:p>
        </p:txBody>
      </p:sp>
      <p:graphicFrame>
        <p:nvGraphicFramePr>
          <p:cNvPr id="25" name="Table 24">
            <a:extLst>
              <a:ext uri="{FF2B5EF4-FFF2-40B4-BE49-F238E27FC236}">
                <a16:creationId xmlns:a16="http://schemas.microsoft.com/office/drawing/2014/main" id="{1050C6D4-65A7-EE28-5730-163261C3132E}"/>
              </a:ext>
            </a:extLst>
          </p:cNvPr>
          <p:cNvGraphicFramePr>
            <a:graphicFrameLocks noGrp="1"/>
          </p:cNvGraphicFramePr>
          <p:nvPr>
            <p:extLst>
              <p:ext uri="{D42A27DB-BD31-4B8C-83A1-F6EECF244321}">
                <p14:modId xmlns:p14="http://schemas.microsoft.com/office/powerpoint/2010/main" val="2438241668"/>
              </p:ext>
            </p:extLst>
          </p:nvPr>
        </p:nvGraphicFramePr>
        <p:xfrm>
          <a:off x="7444314" y="1107118"/>
          <a:ext cx="4683422" cy="1033175"/>
        </p:xfrm>
        <a:graphic>
          <a:graphicData uri="http://schemas.openxmlformats.org/drawingml/2006/table">
            <a:tbl>
              <a:tblPr firstRow="1" bandRow="1">
                <a:tableStyleId>{5C22544A-7EE6-4342-B048-85BDC9FD1C3A}</a:tableStyleId>
              </a:tblPr>
              <a:tblGrid>
                <a:gridCol w="1965415">
                  <a:extLst>
                    <a:ext uri="{9D8B030D-6E8A-4147-A177-3AD203B41FA5}">
                      <a16:colId xmlns:a16="http://schemas.microsoft.com/office/drawing/2014/main" val="3891676494"/>
                    </a:ext>
                  </a:extLst>
                </a:gridCol>
                <a:gridCol w="426583">
                  <a:extLst>
                    <a:ext uri="{9D8B030D-6E8A-4147-A177-3AD203B41FA5}">
                      <a16:colId xmlns:a16="http://schemas.microsoft.com/office/drawing/2014/main" val="2140829158"/>
                    </a:ext>
                  </a:extLst>
                </a:gridCol>
                <a:gridCol w="381904">
                  <a:extLst>
                    <a:ext uri="{9D8B030D-6E8A-4147-A177-3AD203B41FA5}">
                      <a16:colId xmlns:a16="http://schemas.microsoft.com/office/drawing/2014/main" val="778784682"/>
                    </a:ext>
                  </a:extLst>
                </a:gridCol>
                <a:gridCol w="381904">
                  <a:extLst>
                    <a:ext uri="{9D8B030D-6E8A-4147-A177-3AD203B41FA5}">
                      <a16:colId xmlns:a16="http://schemas.microsoft.com/office/drawing/2014/main" val="953935180"/>
                    </a:ext>
                  </a:extLst>
                </a:gridCol>
                <a:gridCol w="381904">
                  <a:extLst>
                    <a:ext uri="{9D8B030D-6E8A-4147-A177-3AD203B41FA5}">
                      <a16:colId xmlns:a16="http://schemas.microsoft.com/office/drawing/2014/main" val="3965651416"/>
                    </a:ext>
                  </a:extLst>
                </a:gridCol>
                <a:gridCol w="381904">
                  <a:extLst>
                    <a:ext uri="{9D8B030D-6E8A-4147-A177-3AD203B41FA5}">
                      <a16:colId xmlns:a16="http://schemas.microsoft.com/office/drawing/2014/main" val="3142468582"/>
                    </a:ext>
                  </a:extLst>
                </a:gridCol>
                <a:gridCol w="381904">
                  <a:extLst>
                    <a:ext uri="{9D8B030D-6E8A-4147-A177-3AD203B41FA5}">
                      <a16:colId xmlns:a16="http://schemas.microsoft.com/office/drawing/2014/main" val="3472251507"/>
                    </a:ext>
                  </a:extLst>
                </a:gridCol>
                <a:gridCol w="381904">
                  <a:extLst>
                    <a:ext uri="{9D8B030D-6E8A-4147-A177-3AD203B41FA5}">
                      <a16:colId xmlns:a16="http://schemas.microsoft.com/office/drawing/2014/main" val="441887277"/>
                    </a:ext>
                  </a:extLst>
                </a:gridCol>
              </a:tblGrid>
              <a:tr h="774095">
                <a:tc>
                  <a:txBody>
                    <a:bodyPr/>
                    <a:lstStyle/>
                    <a:p>
                      <a:pPr algn="ctr"/>
                      <a:endParaRPr lang="en-GB" sz="800"/>
                    </a:p>
                  </a:txBody>
                  <a:tcPr marL="121920" marR="121920" marT="60960" marB="60960" anchor="ctr">
                    <a:lnL w="12700" cmpd="sng">
                      <a:noFill/>
                    </a:lnL>
                    <a:lnR w="12700" cap="flat" cmpd="sng" algn="ctr">
                      <a:solidFill>
                        <a:schemeClr val="bg1">
                          <a:lumMod val="75000"/>
                        </a:schemeClr>
                      </a:solidFill>
                      <a:prstDash val="solid"/>
                      <a:round/>
                      <a:headEnd type="none" w="med" len="med"/>
                      <a:tailEnd type="none" w="med" len="med"/>
                    </a:lnR>
                    <a:lnT w="127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700">
                          <a:solidFill>
                            <a:schemeClr val="tx1"/>
                          </a:solidFill>
                        </a:rPr>
                        <a:t>Design</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Build</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Test/ QA</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Op Support</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Ongoing Development</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Change Management</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b="1" kern="1200">
                          <a:solidFill>
                            <a:schemeClr val="tx1"/>
                          </a:solidFill>
                          <a:latin typeface="+mn-lt"/>
                          <a:ea typeface="+mn-ea"/>
                          <a:cs typeface="+mn-cs"/>
                        </a:rPr>
                        <a:t>Decommissioning</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438671849"/>
                  </a:ext>
                </a:extLst>
              </a:tr>
              <a:tr h="148631">
                <a:tc>
                  <a:txBody>
                    <a:bodyPr/>
                    <a:lstStyle/>
                    <a:p>
                      <a:r>
                        <a:rPr lang="en-GB" sz="900" b="0"/>
                        <a:t>WSSG</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800" b="1" kern="1200">
                          <a:solidFill>
                            <a:schemeClr val="tx1"/>
                          </a:solidFill>
                          <a:latin typeface="+mn-lt"/>
                          <a:ea typeface="+mn-ea"/>
                          <a:cs typeface="+mn-cs"/>
                        </a:rPr>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05620272"/>
                  </a:ext>
                </a:extLst>
              </a:tr>
            </a:tbl>
          </a:graphicData>
        </a:graphic>
      </p:graphicFrame>
      <p:sp>
        <p:nvSpPr>
          <p:cNvPr id="26" name="TextBox 25">
            <a:extLst>
              <a:ext uri="{FF2B5EF4-FFF2-40B4-BE49-F238E27FC236}">
                <a16:creationId xmlns:a16="http://schemas.microsoft.com/office/drawing/2014/main" id="{C8E7D32A-A091-46C6-D45D-19DF224EBA24}"/>
              </a:ext>
            </a:extLst>
          </p:cNvPr>
          <p:cNvSpPr txBox="1"/>
          <p:nvPr/>
        </p:nvSpPr>
        <p:spPr>
          <a:xfrm>
            <a:off x="470595" y="4610362"/>
            <a:ext cx="3293605" cy="969496"/>
          </a:xfrm>
          <a:prstGeom prst="rect">
            <a:avLst/>
          </a:prstGeom>
          <a:noFill/>
        </p:spPr>
        <p:txBody>
          <a:bodyPr wrap="square" rtlCol="0">
            <a:spAutoFit/>
          </a:bodyPr>
          <a:lstStyle/>
          <a:p>
            <a:pPr marL="228600" indent="-228600" fontAlgn="base">
              <a:buFont typeface="+mj-lt"/>
              <a:buAutoNum type="arabicPeriod"/>
            </a:pPr>
            <a:r>
              <a:rPr lang="en-GB" sz="950"/>
              <a:t>Focus on improved monitoring and observability to support AI Ops.</a:t>
            </a:r>
            <a:r>
              <a:rPr lang="en-US" sz="950"/>
              <a:t>​</a:t>
            </a:r>
          </a:p>
          <a:p>
            <a:pPr marL="228600" indent="-228600" fontAlgn="base">
              <a:buFont typeface="+mj-lt"/>
              <a:buAutoNum type="arabicPeriod"/>
            </a:pPr>
            <a:r>
              <a:rPr lang="en-GB" sz="950"/>
              <a:t>Expertise in the platforms and investment in tooling to support GP&amp;T AI Ops goals.</a:t>
            </a:r>
            <a:r>
              <a:rPr lang="en-US" sz="950"/>
              <a:t>​</a:t>
            </a:r>
          </a:p>
          <a:p>
            <a:pPr marL="228600" indent="-228600" fontAlgn="base">
              <a:buFont typeface="+mj-lt"/>
              <a:buAutoNum type="arabicPeriod"/>
            </a:pPr>
            <a:r>
              <a:rPr lang="en-GB" sz="950"/>
              <a:t>Use AI and automation to improve service reliability, speed repairs and improve CX.</a:t>
            </a:r>
            <a:endParaRPr lang="en-US" sz="950"/>
          </a:p>
        </p:txBody>
      </p:sp>
      <p:sp>
        <p:nvSpPr>
          <p:cNvPr id="27" name="Title 17">
            <a:extLst>
              <a:ext uri="{FF2B5EF4-FFF2-40B4-BE49-F238E27FC236}">
                <a16:creationId xmlns:a16="http://schemas.microsoft.com/office/drawing/2014/main" id="{7B215898-6295-6467-799F-4A58E6CCAE99}"/>
              </a:ext>
            </a:extLst>
          </p:cNvPr>
          <p:cNvSpPr>
            <a:spLocks noGrp="1"/>
          </p:cNvSpPr>
          <p:nvPr>
            <p:ph type="title"/>
          </p:nvPr>
        </p:nvSpPr>
        <p:spPr>
          <a:xfrm>
            <a:off x="483998" y="362490"/>
            <a:ext cx="10102852" cy="451405"/>
          </a:xfrm>
        </p:spPr>
        <p:txBody>
          <a:bodyPr>
            <a:normAutofit fontScale="90000"/>
          </a:bodyPr>
          <a:lstStyle/>
          <a:p>
            <a:r>
              <a:rPr lang="en-US" sz="2400"/>
              <a:t>Scope Executive Summary – EAS: 	Web Services </a:t>
            </a:r>
            <a:br>
              <a:rPr lang="en-US" sz="2400"/>
            </a:br>
            <a:r>
              <a:rPr lang="en-US" sz="2400"/>
              <a:t>				Security Gateway (WSSG)</a:t>
            </a:r>
          </a:p>
        </p:txBody>
      </p:sp>
      <p:sp>
        <p:nvSpPr>
          <p:cNvPr id="28" name="Date Placeholder 5">
            <a:extLst>
              <a:ext uri="{FF2B5EF4-FFF2-40B4-BE49-F238E27FC236}">
                <a16:creationId xmlns:a16="http://schemas.microsoft.com/office/drawing/2014/main" id="{10332777-7A23-3CCC-A12F-1EF7428208AE}"/>
              </a:ext>
            </a:extLst>
          </p:cNvPr>
          <p:cNvSpPr txBox="1">
            <a:spLocks/>
          </p:cNvSpPr>
          <p:nvPr/>
        </p:nvSpPr>
        <p:spPr>
          <a:xfrm>
            <a:off x="10968821" y="65881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sp>
        <p:nvSpPr>
          <p:cNvPr id="29" name="Slide Number Placeholder 7">
            <a:extLst>
              <a:ext uri="{FF2B5EF4-FFF2-40B4-BE49-F238E27FC236}">
                <a16:creationId xmlns:a16="http://schemas.microsoft.com/office/drawing/2014/main" id="{B86AC1F6-9A5F-C37B-2C20-CF92B0437A26}"/>
              </a:ext>
            </a:extLst>
          </p:cNvPr>
          <p:cNvSpPr txBox="1">
            <a:spLocks/>
          </p:cNvSpPr>
          <p:nvPr/>
        </p:nvSpPr>
        <p:spPr>
          <a:xfrm>
            <a:off x="11285288" y="6189646"/>
            <a:ext cx="540000" cy="269875"/>
          </a:xfrm>
          <a:prstGeom prst="rect">
            <a:avLst/>
          </a:prstGeom>
        </p:spPr>
        <p:txBody>
          <a:bodyPr vert="horz" lIns="0" tIns="0" rIns="0" bIns="0" rtlCol="0" anchor="b" anchorCtr="0">
            <a:normAutofit/>
          </a:bodyPr>
          <a:lstStyle>
            <a:defPPr>
              <a:defRPr lang="en-US"/>
            </a:defPPr>
            <a:lvl1pPr marL="0" algn="l" defTabSz="1219170" rtl="0" eaLnBrk="1" latinLnBrk="0" hangingPunct="1">
              <a:defRPr sz="12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9F9F533D-B52E-4A2F-BF72-0ADD2D94BD75}" type="slidenum">
              <a:rPr lang="en-GB" smtClean="0"/>
              <a:pPr/>
              <a:t>5</a:t>
            </a:fld>
            <a:endParaRPr lang="en-GB"/>
          </a:p>
        </p:txBody>
      </p:sp>
      <p:sp>
        <p:nvSpPr>
          <p:cNvPr id="30" name="TextBox 29">
            <a:extLst>
              <a:ext uri="{FF2B5EF4-FFF2-40B4-BE49-F238E27FC236}">
                <a16:creationId xmlns:a16="http://schemas.microsoft.com/office/drawing/2014/main" id="{AD14F18E-1DF8-B88C-E5BC-00FD0CE7576B}"/>
              </a:ext>
            </a:extLst>
          </p:cNvPr>
          <p:cNvSpPr txBox="1"/>
          <p:nvPr/>
        </p:nvSpPr>
        <p:spPr>
          <a:xfrm>
            <a:off x="532833" y="976382"/>
            <a:ext cx="1997007" cy="307777"/>
          </a:xfrm>
          <a:prstGeom prst="rect">
            <a:avLst/>
          </a:prstGeom>
          <a:solidFill>
            <a:schemeClr val="bg1"/>
          </a:solidFill>
        </p:spPr>
        <p:txBody>
          <a:bodyPr wrap="square" rtlCol="0">
            <a:spAutoFit/>
          </a:bodyPr>
          <a:lstStyle/>
          <a:p>
            <a:pPr>
              <a:buClr>
                <a:schemeClr val="tx1"/>
              </a:buClr>
            </a:pPr>
            <a:r>
              <a:rPr lang="en-GB" sz="1400" b="1">
                <a:solidFill>
                  <a:schemeClr val="tx2"/>
                </a:solidFill>
              </a:rPr>
              <a:t>Solution Description</a:t>
            </a:r>
          </a:p>
        </p:txBody>
      </p:sp>
      <p:sp>
        <p:nvSpPr>
          <p:cNvPr id="31" name="TextBox 30">
            <a:extLst>
              <a:ext uri="{FF2B5EF4-FFF2-40B4-BE49-F238E27FC236}">
                <a16:creationId xmlns:a16="http://schemas.microsoft.com/office/drawing/2014/main" id="{5F716D6C-3AA3-2450-D5E4-51D50C3FC61A}"/>
              </a:ext>
            </a:extLst>
          </p:cNvPr>
          <p:cNvSpPr txBox="1"/>
          <p:nvPr/>
        </p:nvSpPr>
        <p:spPr>
          <a:xfrm>
            <a:off x="7342714" y="1524647"/>
            <a:ext cx="1591736" cy="338554"/>
          </a:xfrm>
          <a:prstGeom prst="rect">
            <a:avLst/>
          </a:prstGeom>
          <a:noFill/>
        </p:spPr>
        <p:txBody>
          <a:bodyPr wrap="square" rtlCol="0">
            <a:spAutoFit/>
          </a:bodyPr>
          <a:lstStyle/>
          <a:p>
            <a:pPr>
              <a:buClr>
                <a:schemeClr val="tx1"/>
              </a:buClr>
            </a:pPr>
            <a:r>
              <a:rPr lang="en-GB" sz="1600" b="1">
                <a:solidFill>
                  <a:schemeClr val="tx2"/>
                </a:solidFill>
              </a:rPr>
              <a:t>Dev Scope</a:t>
            </a:r>
          </a:p>
        </p:txBody>
      </p:sp>
      <p:sp>
        <p:nvSpPr>
          <p:cNvPr id="32" name="TextBox 31">
            <a:extLst>
              <a:ext uri="{FF2B5EF4-FFF2-40B4-BE49-F238E27FC236}">
                <a16:creationId xmlns:a16="http://schemas.microsoft.com/office/drawing/2014/main" id="{D09ECEBF-BB80-6298-7589-874DBBBFA783}"/>
              </a:ext>
            </a:extLst>
          </p:cNvPr>
          <p:cNvSpPr txBox="1"/>
          <p:nvPr/>
        </p:nvSpPr>
        <p:spPr>
          <a:xfrm>
            <a:off x="390593" y="4294935"/>
            <a:ext cx="3468103" cy="307777"/>
          </a:xfrm>
          <a:prstGeom prst="rect">
            <a:avLst/>
          </a:prstGeom>
          <a:noFill/>
        </p:spPr>
        <p:txBody>
          <a:bodyPr wrap="square" rtlCol="0">
            <a:spAutoFit/>
          </a:bodyPr>
          <a:lstStyle/>
          <a:p>
            <a:pPr>
              <a:buClr>
                <a:schemeClr val="tx1"/>
              </a:buClr>
            </a:pPr>
            <a:r>
              <a:rPr lang="en-GB" sz="1400" b="1">
                <a:solidFill>
                  <a:schemeClr val="tx2"/>
                </a:solidFill>
              </a:rPr>
              <a:t>AI First Strategy</a:t>
            </a:r>
          </a:p>
        </p:txBody>
      </p:sp>
      <p:sp>
        <p:nvSpPr>
          <p:cNvPr id="33" name="TextBox 32">
            <a:extLst>
              <a:ext uri="{FF2B5EF4-FFF2-40B4-BE49-F238E27FC236}">
                <a16:creationId xmlns:a16="http://schemas.microsoft.com/office/drawing/2014/main" id="{D4359774-266A-8F0C-04B6-8E6CEE2A0099}"/>
              </a:ext>
            </a:extLst>
          </p:cNvPr>
          <p:cNvSpPr txBox="1"/>
          <p:nvPr/>
        </p:nvSpPr>
        <p:spPr>
          <a:xfrm>
            <a:off x="390593" y="1231887"/>
            <a:ext cx="6952121" cy="3034677"/>
          </a:xfrm>
          <a:prstGeom prst="rect">
            <a:avLst/>
          </a:prstGeom>
          <a:noFill/>
          <a:ln>
            <a:noFill/>
          </a:ln>
        </p:spPr>
        <p:txBody>
          <a:bodyPr wrap="square" lIns="91440" tIns="45720" rIns="91440" bIns="45720" rtlCol="0" anchor="t">
            <a:spAutoFit/>
          </a:bodyPr>
          <a:lstStyle/>
          <a:p>
            <a:pPr>
              <a:buClr>
                <a:schemeClr val="bg2"/>
              </a:buClr>
            </a:pPr>
            <a:r>
              <a:rPr lang="en-GB" sz="1070" b="1"/>
              <a:t>Web Services Security Gateway (WSSG)</a:t>
            </a:r>
            <a:endParaRPr lang="en-GB" sz="1070"/>
          </a:p>
          <a:p>
            <a:pPr marL="171450" indent="-171450">
              <a:buClr>
                <a:schemeClr val="bg2"/>
              </a:buClr>
              <a:buFont typeface="Arial" panose="020B0604020202020204" pitchFamily="34" charset="0"/>
              <a:buChar char="•"/>
            </a:pPr>
            <a:r>
              <a:rPr lang="en-US" sz="950"/>
              <a:t>Web Services Security Gateway based on IBM DataPower, facilitates gateway services for inbound and outbound HTTPS calls. It ensures SSL authentication along with message-level authentication and authorization for every transaction. </a:t>
            </a:r>
            <a:r>
              <a:rPr lang="en-GB" sz="950"/>
              <a:t>Cloud-hosted gateways for secure structured data exchange over internet protocols..</a:t>
            </a:r>
          </a:p>
          <a:p>
            <a:pPr marL="171450" indent="-171450">
              <a:buClr>
                <a:schemeClr val="bg2"/>
              </a:buClr>
              <a:buFont typeface="Arial" panose="020B0604020202020204" pitchFamily="34" charset="0"/>
              <a:buChar char="•"/>
            </a:pPr>
            <a:r>
              <a:rPr lang="en-US" sz="950"/>
              <a:t>Identified as a Digital Crown Jewel at GSK</a:t>
            </a:r>
          </a:p>
          <a:p>
            <a:pPr marL="171450" indent="-171450">
              <a:buClr>
                <a:schemeClr val="bg2"/>
              </a:buClr>
              <a:buFont typeface="Arial" panose="020B0604020202020204" pitchFamily="34" charset="0"/>
              <a:buChar char="•"/>
            </a:pPr>
            <a:r>
              <a:rPr lang="en-US" sz="950"/>
              <a:t>Dependency/linkage/synergy with any other </a:t>
            </a:r>
            <a:r>
              <a:rPr lang="en-US" sz="950" err="1"/>
              <a:t>Workpackages</a:t>
            </a:r>
            <a:r>
              <a:rPr lang="en-US" sz="950"/>
              <a:t>:</a:t>
            </a:r>
          </a:p>
          <a:p>
            <a:pPr marL="781035" lvl="1" indent="-171450">
              <a:buClr>
                <a:schemeClr val="bg2"/>
              </a:buClr>
              <a:buFont typeface="Arial" panose="020B0604020202020204" pitchFamily="34" charset="0"/>
              <a:buChar char="•"/>
            </a:pPr>
            <a:r>
              <a:rPr lang="en-US" sz="950"/>
              <a:t>Cloud and Network Infrastructure</a:t>
            </a:r>
          </a:p>
          <a:p>
            <a:pPr marL="781035" lvl="1" indent="-171450">
              <a:buClr>
                <a:schemeClr val="bg2"/>
              </a:buClr>
              <a:buFont typeface="Arial" panose="020B0604020202020204" pitchFamily="34" charset="0"/>
              <a:buChar char="•"/>
            </a:pPr>
            <a:r>
              <a:rPr lang="en-US" sz="950"/>
              <a:t>Identity and Access Management</a:t>
            </a:r>
          </a:p>
          <a:p>
            <a:pPr marL="781035" lvl="1" indent="-171450">
              <a:buClr>
                <a:schemeClr val="bg2"/>
              </a:buClr>
              <a:buFont typeface="Arial" panose="020B0604020202020204" pitchFamily="34" charset="0"/>
              <a:buChar char="•"/>
            </a:pPr>
            <a:r>
              <a:rPr lang="en-US" sz="950"/>
              <a:t>CSO, Global Risk and Compliance</a:t>
            </a:r>
          </a:p>
          <a:p>
            <a:pPr marL="781035" lvl="1" indent="-171450">
              <a:buClr>
                <a:schemeClr val="bg2"/>
              </a:buClr>
              <a:buFont typeface="Arial" panose="020B0604020202020204" pitchFamily="34" charset="0"/>
              <a:buChar char="•"/>
            </a:pPr>
            <a:r>
              <a:rPr lang="en-US" sz="950"/>
              <a:t>Business application integration</a:t>
            </a:r>
          </a:p>
          <a:p>
            <a:pPr marL="781035" lvl="1" indent="-171450">
              <a:buClr>
                <a:schemeClr val="bg2"/>
              </a:buClr>
              <a:buFont typeface="Arial" panose="020B0604020202020204" pitchFamily="34" charset="0"/>
              <a:buChar char="•"/>
            </a:pPr>
            <a:r>
              <a:rPr lang="en-US" sz="950"/>
              <a:t>Middleware (B2B)</a:t>
            </a:r>
          </a:p>
          <a:p>
            <a:pPr marL="171450" indent="-171450">
              <a:buClr>
                <a:schemeClr val="bg2"/>
              </a:buClr>
              <a:buFont typeface="Arial" panose="020B0604020202020204" pitchFamily="34" charset="0"/>
              <a:buChar char="•"/>
            </a:pPr>
            <a:r>
              <a:rPr lang="en-US" sz="950"/>
              <a:t>Current IBM contract expires 2029.</a:t>
            </a:r>
            <a:endParaRPr lang="en-US" sz="950">
              <a:highlight>
                <a:srgbClr val="00FFFF"/>
              </a:highlight>
            </a:endParaRPr>
          </a:p>
          <a:p>
            <a:pPr marL="171450" indent="-171450">
              <a:buClr>
                <a:schemeClr val="bg2"/>
              </a:buClr>
              <a:buFont typeface="Arial" panose="020B0604020202020204" pitchFamily="34" charset="0"/>
              <a:buChar char="•"/>
            </a:pPr>
            <a:r>
              <a:rPr lang="en-US" sz="950"/>
              <a:t>Expertise with design, build, Ops support, ongoing development, improving user experience, change management, service reporting and communications, and decommissioning</a:t>
            </a:r>
          </a:p>
          <a:p>
            <a:pPr>
              <a:buClr>
                <a:schemeClr val="bg2"/>
              </a:buClr>
            </a:pPr>
            <a:r>
              <a:rPr lang="en-GB" sz="950" b="1"/>
              <a:t>Task Details &amp; Expected Outcomes</a:t>
            </a:r>
          </a:p>
          <a:p>
            <a:pPr marL="171450" indent="-171450">
              <a:buClr>
                <a:schemeClr val="bg2"/>
              </a:buClr>
              <a:buFont typeface="Arial"/>
              <a:buChar char="•"/>
            </a:pPr>
            <a:r>
              <a:rPr lang="en-US" sz="950"/>
              <a:t>The Supplier will have full end-to-end responsibility for the service, covering design, build, operations, and continuous improvement. The service must be scalable, cost-</a:t>
            </a:r>
            <a:r>
              <a:rPr lang="en-US" sz="950" err="1"/>
              <a:t>optimised</a:t>
            </a:r>
            <a:r>
              <a:rPr lang="en-US" sz="950"/>
              <a:t>, fit for purpose, and fully aligned with GSK standards, policies, and ITIL practices. GSK will provide Engineering and Product Ownership only; all other aspects are owned and delivered by the Supplier. The Supplier is expected to leverage AI and automation to reduce incidents, improve customer experience, and drive ongoing service </a:t>
            </a:r>
            <a:r>
              <a:rPr lang="en-US" sz="950" err="1"/>
              <a:t>optimisation</a:t>
            </a:r>
            <a:r>
              <a:rPr lang="en-US" sz="950"/>
              <a:t>.</a:t>
            </a:r>
          </a:p>
        </p:txBody>
      </p:sp>
      <p:cxnSp>
        <p:nvCxnSpPr>
          <p:cNvPr id="34" name="Straight Connector 33">
            <a:extLst>
              <a:ext uri="{FF2B5EF4-FFF2-40B4-BE49-F238E27FC236}">
                <a16:creationId xmlns:a16="http://schemas.microsoft.com/office/drawing/2014/main" id="{1C31F456-2453-DB39-6246-3D23B8F7AE84}"/>
              </a:ext>
            </a:extLst>
          </p:cNvPr>
          <p:cNvCxnSpPr>
            <a:cxnSpLocks/>
          </p:cNvCxnSpPr>
          <p:nvPr/>
        </p:nvCxnSpPr>
        <p:spPr>
          <a:xfrm flipH="1" flipV="1">
            <a:off x="3798495" y="4334908"/>
            <a:ext cx="18641" cy="1784718"/>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0B1B0E5F-381E-9EBD-66D9-91F8B1F8F883}"/>
              </a:ext>
            </a:extLst>
          </p:cNvPr>
          <p:cNvSpPr txBox="1"/>
          <p:nvPr/>
        </p:nvSpPr>
        <p:spPr>
          <a:xfrm>
            <a:off x="3817136" y="4292463"/>
            <a:ext cx="3545108" cy="307777"/>
          </a:xfrm>
          <a:prstGeom prst="rect">
            <a:avLst/>
          </a:prstGeom>
          <a:noFill/>
        </p:spPr>
        <p:txBody>
          <a:bodyPr wrap="square" rtlCol="0">
            <a:spAutoFit/>
          </a:bodyPr>
          <a:lstStyle/>
          <a:p>
            <a:pPr>
              <a:buClr>
                <a:schemeClr val="tx1"/>
              </a:buClr>
            </a:pPr>
            <a:r>
              <a:rPr lang="en-GB" sz="1400" b="1">
                <a:solidFill>
                  <a:schemeClr val="tx2"/>
                </a:solidFill>
              </a:rPr>
              <a:t>Product Strategy/2026 Major Milestones</a:t>
            </a:r>
          </a:p>
        </p:txBody>
      </p:sp>
      <p:graphicFrame>
        <p:nvGraphicFramePr>
          <p:cNvPr id="36" name="Table 15">
            <a:extLst>
              <a:ext uri="{FF2B5EF4-FFF2-40B4-BE49-F238E27FC236}">
                <a16:creationId xmlns:a16="http://schemas.microsoft.com/office/drawing/2014/main" id="{9C42B716-CDCC-0300-7DE7-52E51DF8CC69}"/>
              </a:ext>
            </a:extLst>
          </p:cNvPr>
          <p:cNvGraphicFramePr>
            <a:graphicFrameLocks noGrp="1"/>
          </p:cNvGraphicFramePr>
          <p:nvPr/>
        </p:nvGraphicFramePr>
        <p:xfrm>
          <a:off x="9439276" y="590665"/>
          <a:ext cx="2688459" cy="335280"/>
        </p:xfrm>
        <a:graphic>
          <a:graphicData uri="http://schemas.openxmlformats.org/drawingml/2006/table">
            <a:tbl>
              <a:tblPr firstRow="1" bandRow="1">
                <a:tableStyleId>{5C22544A-7EE6-4342-B048-85BDC9FD1C3A}</a:tableStyleId>
              </a:tblPr>
              <a:tblGrid>
                <a:gridCol w="925006">
                  <a:extLst>
                    <a:ext uri="{9D8B030D-6E8A-4147-A177-3AD203B41FA5}">
                      <a16:colId xmlns:a16="http://schemas.microsoft.com/office/drawing/2014/main" val="3906732604"/>
                    </a:ext>
                  </a:extLst>
                </a:gridCol>
                <a:gridCol w="886845">
                  <a:extLst>
                    <a:ext uri="{9D8B030D-6E8A-4147-A177-3AD203B41FA5}">
                      <a16:colId xmlns:a16="http://schemas.microsoft.com/office/drawing/2014/main" val="3893182027"/>
                    </a:ext>
                  </a:extLst>
                </a:gridCol>
                <a:gridCol w="876608">
                  <a:extLst>
                    <a:ext uri="{9D8B030D-6E8A-4147-A177-3AD203B41FA5}">
                      <a16:colId xmlns:a16="http://schemas.microsoft.com/office/drawing/2014/main" val="2672437179"/>
                    </a:ext>
                  </a:extLst>
                </a:gridCol>
              </a:tblGrid>
              <a:tr h="335280">
                <a:tc>
                  <a:txBody>
                    <a:bodyPr/>
                    <a:lstStyle/>
                    <a:p>
                      <a:pPr algn="ctr"/>
                      <a:r>
                        <a:rPr lang="en-US" sz="1200">
                          <a:solidFill>
                            <a:schemeClr val="tx1"/>
                          </a:solidFill>
                        </a:rPr>
                        <a:t>Support</a:t>
                      </a:r>
                    </a:p>
                  </a:txBody>
                  <a:tcPr marL="121920" marR="121920" marT="60960" marB="6096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sz="1200">
                          <a:solidFill>
                            <a:schemeClr val="tx1"/>
                          </a:solidFill>
                        </a:rPr>
                        <a:t>Dev</a:t>
                      </a:r>
                    </a:p>
                  </a:txBody>
                  <a:tcPr marL="121920" marR="121920" marT="60960" marB="6096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sz="1200">
                          <a:solidFill>
                            <a:schemeClr val="tx1"/>
                          </a:solidFill>
                        </a:rPr>
                        <a:t>Hybrid</a:t>
                      </a:r>
                    </a:p>
                  </a:txBody>
                  <a:tcPr marL="121920" marR="121920" marT="60960" marB="6096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solidFill>
                  </a:tcPr>
                </a:tc>
                <a:extLst>
                  <a:ext uri="{0D108BD9-81ED-4DB2-BD59-A6C34878D82A}">
                    <a16:rowId xmlns:a16="http://schemas.microsoft.com/office/drawing/2014/main" val="2586814064"/>
                  </a:ext>
                </a:extLst>
              </a:tr>
            </a:tbl>
          </a:graphicData>
        </a:graphic>
      </p:graphicFrame>
      <p:sp>
        <p:nvSpPr>
          <p:cNvPr id="39" name="TextBox 38">
            <a:extLst>
              <a:ext uri="{FF2B5EF4-FFF2-40B4-BE49-F238E27FC236}">
                <a16:creationId xmlns:a16="http://schemas.microsoft.com/office/drawing/2014/main" id="{8869F6CD-9F4C-92F3-A38F-6FAF2061551B}"/>
              </a:ext>
            </a:extLst>
          </p:cNvPr>
          <p:cNvSpPr txBox="1"/>
          <p:nvPr/>
        </p:nvSpPr>
        <p:spPr>
          <a:xfrm>
            <a:off x="3817136" y="4616276"/>
            <a:ext cx="3293605" cy="256993"/>
          </a:xfrm>
          <a:prstGeom prst="rect">
            <a:avLst/>
          </a:prstGeom>
          <a:noFill/>
        </p:spPr>
        <p:txBody>
          <a:bodyPr wrap="square" rtlCol="0">
            <a:spAutoFit/>
          </a:bodyPr>
          <a:lstStyle/>
          <a:p>
            <a:pPr marL="152396" indent="-152396">
              <a:buClr>
                <a:schemeClr val="bg2"/>
              </a:buClr>
              <a:buFont typeface="+mj-lt"/>
              <a:buAutoNum type="arabicPeriod"/>
            </a:pPr>
            <a:r>
              <a:rPr lang="en-GB" sz="950"/>
              <a:t>No major strategy changes expected</a:t>
            </a:r>
            <a:r>
              <a:rPr lang="en-GB" sz="1070"/>
              <a:t>.</a:t>
            </a:r>
          </a:p>
        </p:txBody>
      </p:sp>
      <p:graphicFrame>
        <p:nvGraphicFramePr>
          <p:cNvPr id="3" name="Table 2">
            <a:extLst>
              <a:ext uri="{FF2B5EF4-FFF2-40B4-BE49-F238E27FC236}">
                <a16:creationId xmlns:a16="http://schemas.microsoft.com/office/drawing/2014/main" id="{FF73BA74-9BC2-49AB-EBDF-76DA116532D0}"/>
              </a:ext>
            </a:extLst>
          </p:cNvPr>
          <p:cNvGraphicFramePr>
            <a:graphicFrameLocks noGrp="1"/>
          </p:cNvGraphicFramePr>
          <p:nvPr>
            <p:extLst>
              <p:ext uri="{D42A27DB-BD31-4B8C-83A1-F6EECF244321}">
                <p14:modId xmlns:p14="http://schemas.microsoft.com/office/powerpoint/2010/main" val="4155271247"/>
              </p:ext>
            </p:extLst>
          </p:nvPr>
        </p:nvGraphicFramePr>
        <p:xfrm>
          <a:off x="7444314" y="3643110"/>
          <a:ext cx="4683422" cy="1091670"/>
        </p:xfrm>
        <a:graphic>
          <a:graphicData uri="http://schemas.openxmlformats.org/drawingml/2006/table">
            <a:tbl>
              <a:tblPr firstRow="1" bandRow="1">
                <a:tableStyleId>{5C22544A-7EE6-4342-B048-85BDC9FD1C3A}</a:tableStyleId>
              </a:tblPr>
              <a:tblGrid>
                <a:gridCol w="2601929">
                  <a:extLst>
                    <a:ext uri="{9D8B030D-6E8A-4147-A177-3AD203B41FA5}">
                      <a16:colId xmlns:a16="http://schemas.microsoft.com/office/drawing/2014/main" val="2715083338"/>
                    </a:ext>
                  </a:extLst>
                </a:gridCol>
                <a:gridCol w="564735">
                  <a:extLst>
                    <a:ext uri="{9D8B030D-6E8A-4147-A177-3AD203B41FA5}">
                      <a16:colId xmlns:a16="http://schemas.microsoft.com/office/drawing/2014/main" val="3277892068"/>
                    </a:ext>
                  </a:extLst>
                </a:gridCol>
                <a:gridCol w="505586">
                  <a:extLst>
                    <a:ext uri="{9D8B030D-6E8A-4147-A177-3AD203B41FA5}">
                      <a16:colId xmlns:a16="http://schemas.microsoft.com/office/drawing/2014/main" val="716918256"/>
                    </a:ext>
                  </a:extLst>
                </a:gridCol>
                <a:gridCol w="505586">
                  <a:extLst>
                    <a:ext uri="{9D8B030D-6E8A-4147-A177-3AD203B41FA5}">
                      <a16:colId xmlns:a16="http://schemas.microsoft.com/office/drawing/2014/main" val="3785101451"/>
                    </a:ext>
                  </a:extLst>
                </a:gridCol>
                <a:gridCol w="505586">
                  <a:extLst>
                    <a:ext uri="{9D8B030D-6E8A-4147-A177-3AD203B41FA5}">
                      <a16:colId xmlns:a16="http://schemas.microsoft.com/office/drawing/2014/main" val="298240070"/>
                    </a:ext>
                  </a:extLst>
                </a:gridCol>
              </a:tblGrid>
              <a:tr h="817922">
                <a:tc>
                  <a:txBody>
                    <a:bodyPr/>
                    <a:lstStyle/>
                    <a:p>
                      <a:pPr algn="ctr"/>
                      <a:endParaRPr lang="en-GB" sz="800"/>
                    </a:p>
                  </a:txBody>
                  <a:tcPr marL="121920" marR="121920" marT="60960" marB="60960" anchor="ctr">
                    <a:lnL w="12700" cmpd="sng">
                      <a:noFill/>
                    </a:lnL>
                    <a:lnR w="12700" cap="flat" cmpd="sng" algn="ctr">
                      <a:solidFill>
                        <a:schemeClr val="bg1">
                          <a:lumMod val="75000"/>
                        </a:schemeClr>
                      </a:solidFill>
                      <a:prstDash val="solid"/>
                      <a:round/>
                      <a:headEnd type="none" w="med" len="med"/>
                      <a:tailEnd type="none" w="med" len="med"/>
                    </a:lnR>
                    <a:lnT w="127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800">
                          <a:solidFill>
                            <a:schemeClr val="tx1"/>
                          </a:solidFill>
                        </a:rPr>
                        <a:t>Incidents</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800">
                          <a:solidFill>
                            <a:schemeClr val="tx1"/>
                          </a:solidFill>
                        </a:rPr>
                        <a:t>Problems</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800">
                          <a:solidFill>
                            <a:schemeClr val="tx1"/>
                          </a:solidFill>
                        </a:rPr>
                        <a:t>Changes</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800">
                          <a:solidFill>
                            <a:schemeClr val="tx1"/>
                          </a:solidFill>
                        </a:rPr>
                        <a:t>Requests</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043913987"/>
                  </a:ext>
                </a:extLst>
              </a:tr>
              <a:tr h="273748">
                <a:tc>
                  <a:txBody>
                    <a:bodyPr/>
                    <a:lstStyle/>
                    <a:p>
                      <a:r>
                        <a:rPr lang="en-GB" sz="900" b="0"/>
                        <a:t>WSSG</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50</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0</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15</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15</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90279235"/>
                  </a:ext>
                </a:extLst>
              </a:tr>
            </a:tbl>
          </a:graphicData>
        </a:graphic>
      </p:graphicFrame>
      <p:sp>
        <p:nvSpPr>
          <p:cNvPr id="4" name="TextBox 3">
            <a:extLst>
              <a:ext uri="{FF2B5EF4-FFF2-40B4-BE49-F238E27FC236}">
                <a16:creationId xmlns:a16="http://schemas.microsoft.com/office/drawing/2014/main" id="{753C3554-9E5E-4883-08A7-563DBE57B868}"/>
              </a:ext>
            </a:extLst>
          </p:cNvPr>
          <p:cNvSpPr txBox="1"/>
          <p:nvPr/>
        </p:nvSpPr>
        <p:spPr>
          <a:xfrm>
            <a:off x="7444314" y="4006272"/>
            <a:ext cx="1807921" cy="477054"/>
          </a:xfrm>
          <a:prstGeom prst="rect">
            <a:avLst/>
          </a:prstGeom>
          <a:noFill/>
        </p:spPr>
        <p:txBody>
          <a:bodyPr wrap="square" rtlCol="0">
            <a:spAutoFit/>
          </a:bodyPr>
          <a:lstStyle/>
          <a:p>
            <a:pPr>
              <a:buClr>
                <a:schemeClr val="tx1"/>
              </a:buClr>
            </a:pPr>
            <a:r>
              <a:rPr lang="en-GB" sz="1600" b="1">
                <a:solidFill>
                  <a:schemeClr val="tx2"/>
                </a:solidFill>
              </a:rPr>
              <a:t>Ticket Summary</a:t>
            </a:r>
          </a:p>
          <a:p>
            <a:pPr>
              <a:buClr>
                <a:schemeClr val="tx1"/>
              </a:buClr>
            </a:pPr>
            <a:r>
              <a:rPr lang="en-GB" sz="900" b="1">
                <a:solidFill>
                  <a:schemeClr val="tx2"/>
                </a:solidFill>
              </a:rPr>
              <a:t>(Annualised)</a:t>
            </a:r>
            <a:endParaRPr lang="en-GB" sz="1100" b="1">
              <a:solidFill>
                <a:schemeClr val="tx2"/>
              </a:solidFill>
            </a:endParaRPr>
          </a:p>
        </p:txBody>
      </p:sp>
      <p:sp>
        <p:nvSpPr>
          <p:cNvPr id="2" name="TextBox 1">
            <a:extLst>
              <a:ext uri="{FF2B5EF4-FFF2-40B4-BE49-F238E27FC236}">
                <a16:creationId xmlns:a16="http://schemas.microsoft.com/office/drawing/2014/main" id="{EC596BF7-03F2-CB0B-E506-586721C13610}"/>
              </a:ext>
            </a:extLst>
          </p:cNvPr>
          <p:cNvSpPr txBox="1"/>
          <p:nvPr/>
        </p:nvSpPr>
        <p:spPr>
          <a:xfrm>
            <a:off x="4833938" y="6364287"/>
            <a:ext cx="914400" cy="914400"/>
          </a:xfrm>
          <a:prstGeom prst="rect">
            <a:avLst/>
          </a:prstGeom>
          <a:noFill/>
        </p:spPr>
        <p:txBody>
          <a:bodyPr wrap="none" lIns="180000" tIns="180000" rIns="180000" bIns="180000" rtlCol="0">
            <a:normAutofit/>
          </a:bodyPr>
          <a:lstStyle/>
          <a:p>
            <a:pPr algn="l">
              <a:spcBef>
                <a:spcPts val="300"/>
              </a:spcBef>
              <a:spcAft>
                <a:spcPts val="300"/>
              </a:spcAft>
              <a:buClr>
                <a:schemeClr val="tx2"/>
              </a:buClr>
              <a:buSzPct val="150000"/>
            </a:pPr>
            <a:r>
              <a:rPr lang="en-GB" sz="1100">
                <a:solidFill>
                  <a:srgbClr val="FF0000"/>
                </a:solidFill>
              </a:rPr>
              <a:t>GSK Confidential – Not for External Distribution</a:t>
            </a:r>
          </a:p>
        </p:txBody>
      </p:sp>
    </p:spTree>
    <p:extLst>
      <p:ext uri="{BB962C8B-B14F-4D97-AF65-F5344CB8AC3E}">
        <p14:creationId xmlns:p14="http://schemas.microsoft.com/office/powerpoint/2010/main" val="203223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DA486-26C6-B64E-2D10-871103B1C630}"/>
            </a:ext>
          </a:extLst>
        </p:cNvPr>
        <p:cNvGrpSpPr/>
        <p:nvPr/>
      </p:nvGrpSpPr>
      <p:grpSpPr>
        <a:xfrm>
          <a:off x="0" y="0"/>
          <a:ext cx="0" cy="0"/>
          <a:chOff x="0" y="0"/>
          <a:chExt cx="0" cy="0"/>
        </a:xfrm>
      </p:grpSpPr>
      <p:sp>
        <p:nvSpPr>
          <p:cNvPr id="27" name="Title 17">
            <a:extLst>
              <a:ext uri="{FF2B5EF4-FFF2-40B4-BE49-F238E27FC236}">
                <a16:creationId xmlns:a16="http://schemas.microsoft.com/office/drawing/2014/main" id="{22D0FCF3-45B8-B8DD-9D69-02BC3707ACD2}"/>
              </a:ext>
            </a:extLst>
          </p:cNvPr>
          <p:cNvSpPr>
            <a:spLocks noGrp="1"/>
          </p:cNvSpPr>
          <p:nvPr>
            <p:ph type="title"/>
          </p:nvPr>
        </p:nvSpPr>
        <p:spPr>
          <a:xfrm>
            <a:off x="478870" y="230848"/>
            <a:ext cx="10102852" cy="451405"/>
          </a:xfrm>
        </p:spPr>
        <p:txBody>
          <a:bodyPr>
            <a:normAutofit/>
          </a:bodyPr>
          <a:lstStyle/>
          <a:p>
            <a:r>
              <a:rPr lang="en-US"/>
              <a:t>Scope Detail – EAS: Virtual Apps &amp; Desktops</a:t>
            </a:r>
          </a:p>
        </p:txBody>
      </p:sp>
      <p:sp>
        <p:nvSpPr>
          <p:cNvPr id="28" name="Date Placeholder 5">
            <a:extLst>
              <a:ext uri="{FF2B5EF4-FFF2-40B4-BE49-F238E27FC236}">
                <a16:creationId xmlns:a16="http://schemas.microsoft.com/office/drawing/2014/main" id="{02187FEF-6D81-0175-BBB8-03AF9C26F6A5}"/>
              </a:ext>
            </a:extLst>
          </p:cNvPr>
          <p:cNvSpPr txBox="1">
            <a:spLocks/>
          </p:cNvSpPr>
          <p:nvPr/>
        </p:nvSpPr>
        <p:spPr>
          <a:xfrm>
            <a:off x="10968821" y="65881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sp>
        <p:nvSpPr>
          <p:cNvPr id="29" name="Slide Number Placeholder 7">
            <a:extLst>
              <a:ext uri="{FF2B5EF4-FFF2-40B4-BE49-F238E27FC236}">
                <a16:creationId xmlns:a16="http://schemas.microsoft.com/office/drawing/2014/main" id="{D69992E0-1FF7-5FB4-07DD-71641D0B7CCA}"/>
              </a:ext>
            </a:extLst>
          </p:cNvPr>
          <p:cNvSpPr txBox="1">
            <a:spLocks/>
          </p:cNvSpPr>
          <p:nvPr/>
        </p:nvSpPr>
        <p:spPr>
          <a:xfrm>
            <a:off x="11285288" y="6189646"/>
            <a:ext cx="540000" cy="269875"/>
          </a:xfrm>
          <a:prstGeom prst="rect">
            <a:avLst/>
          </a:prstGeom>
        </p:spPr>
        <p:txBody>
          <a:bodyPr vert="horz" lIns="0" tIns="0" rIns="0" bIns="0" rtlCol="0" anchor="b" anchorCtr="0">
            <a:normAutofit/>
          </a:bodyPr>
          <a:lstStyle>
            <a:defPPr>
              <a:defRPr lang="en-US"/>
            </a:defPPr>
            <a:lvl1pPr marL="0" algn="l" defTabSz="1219170" rtl="0" eaLnBrk="1" latinLnBrk="0" hangingPunct="1">
              <a:defRPr sz="12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9F9F533D-B52E-4A2F-BF72-0ADD2D94BD75}" type="slidenum">
              <a:rPr lang="en-GB" smtClean="0"/>
              <a:pPr/>
              <a:t>6</a:t>
            </a:fld>
            <a:endParaRPr lang="en-GB"/>
          </a:p>
        </p:txBody>
      </p:sp>
      <p:graphicFrame>
        <p:nvGraphicFramePr>
          <p:cNvPr id="2" name="Table 1">
            <a:extLst>
              <a:ext uri="{FF2B5EF4-FFF2-40B4-BE49-F238E27FC236}">
                <a16:creationId xmlns:a16="http://schemas.microsoft.com/office/drawing/2014/main" id="{A314FE22-C559-482C-F878-2CA2FA5C1B17}"/>
              </a:ext>
            </a:extLst>
          </p:cNvPr>
          <p:cNvGraphicFramePr>
            <a:graphicFrameLocks noGrp="1"/>
          </p:cNvGraphicFramePr>
          <p:nvPr>
            <p:extLst>
              <p:ext uri="{D42A27DB-BD31-4B8C-83A1-F6EECF244321}">
                <p14:modId xmlns:p14="http://schemas.microsoft.com/office/powerpoint/2010/main" val="2836813367"/>
              </p:ext>
            </p:extLst>
          </p:nvPr>
        </p:nvGraphicFramePr>
        <p:xfrm>
          <a:off x="478870" y="810857"/>
          <a:ext cx="11209696" cy="4567560"/>
        </p:xfrm>
        <a:graphic>
          <a:graphicData uri="http://schemas.openxmlformats.org/drawingml/2006/table">
            <a:tbl>
              <a:tblPr/>
              <a:tblGrid>
                <a:gridCol w="757933">
                  <a:extLst>
                    <a:ext uri="{9D8B030D-6E8A-4147-A177-3AD203B41FA5}">
                      <a16:colId xmlns:a16="http://schemas.microsoft.com/office/drawing/2014/main" val="4100041905"/>
                    </a:ext>
                  </a:extLst>
                </a:gridCol>
                <a:gridCol w="1308212">
                  <a:extLst>
                    <a:ext uri="{9D8B030D-6E8A-4147-A177-3AD203B41FA5}">
                      <a16:colId xmlns:a16="http://schemas.microsoft.com/office/drawing/2014/main" val="4189356408"/>
                    </a:ext>
                  </a:extLst>
                </a:gridCol>
                <a:gridCol w="1428340">
                  <a:extLst>
                    <a:ext uri="{9D8B030D-6E8A-4147-A177-3AD203B41FA5}">
                      <a16:colId xmlns:a16="http://schemas.microsoft.com/office/drawing/2014/main" val="2528964953"/>
                    </a:ext>
                  </a:extLst>
                </a:gridCol>
                <a:gridCol w="1307450">
                  <a:extLst>
                    <a:ext uri="{9D8B030D-6E8A-4147-A177-3AD203B41FA5}">
                      <a16:colId xmlns:a16="http://schemas.microsoft.com/office/drawing/2014/main" val="1911952412"/>
                    </a:ext>
                  </a:extLst>
                </a:gridCol>
                <a:gridCol w="1246152">
                  <a:extLst>
                    <a:ext uri="{9D8B030D-6E8A-4147-A177-3AD203B41FA5}">
                      <a16:colId xmlns:a16="http://schemas.microsoft.com/office/drawing/2014/main" val="577542454"/>
                    </a:ext>
                  </a:extLst>
                </a:gridCol>
                <a:gridCol w="1246152">
                  <a:extLst>
                    <a:ext uri="{9D8B030D-6E8A-4147-A177-3AD203B41FA5}">
                      <a16:colId xmlns:a16="http://schemas.microsoft.com/office/drawing/2014/main" val="1933246734"/>
                    </a:ext>
                  </a:extLst>
                </a:gridCol>
                <a:gridCol w="1246152">
                  <a:extLst>
                    <a:ext uri="{9D8B030D-6E8A-4147-A177-3AD203B41FA5}">
                      <a16:colId xmlns:a16="http://schemas.microsoft.com/office/drawing/2014/main" val="3162761371"/>
                    </a:ext>
                  </a:extLst>
                </a:gridCol>
                <a:gridCol w="1364466">
                  <a:extLst>
                    <a:ext uri="{9D8B030D-6E8A-4147-A177-3AD203B41FA5}">
                      <a16:colId xmlns:a16="http://schemas.microsoft.com/office/drawing/2014/main" val="3470399098"/>
                    </a:ext>
                  </a:extLst>
                </a:gridCol>
                <a:gridCol w="1304839">
                  <a:extLst>
                    <a:ext uri="{9D8B030D-6E8A-4147-A177-3AD203B41FA5}">
                      <a16:colId xmlns:a16="http://schemas.microsoft.com/office/drawing/2014/main" val="1624193255"/>
                    </a:ext>
                  </a:extLst>
                </a:gridCol>
              </a:tblGrid>
              <a:tr h="972870">
                <a:tc>
                  <a:txBody>
                    <a:bodyPr/>
                    <a:lstStyle/>
                    <a:p>
                      <a:pPr algn="ctr" fontAlgn="ctr"/>
                      <a:r>
                        <a:rPr lang="en-GB" sz="1100" b="1" i="0" u="none" strike="noStrike">
                          <a:solidFill>
                            <a:srgbClr val="000000"/>
                          </a:solidFill>
                          <a:effectLst/>
                          <a:latin typeface="Aptos Narrow" panose="020B0004020202020204" pitchFamily="34" charset="0"/>
                        </a:rPr>
                        <a:t>App/ Service Name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ctr"/>
                      <a:r>
                        <a:rPr lang="en-GB" sz="1100" b="1" i="0" u="none" strike="noStrike">
                          <a:solidFill>
                            <a:srgbClr val="000000"/>
                          </a:solidFill>
                          <a:effectLst/>
                          <a:latin typeface="Aptos Narrow" panose="020B0004020202020204" pitchFamily="34" charset="0"/>
                        </a:rPr>
                        <a:t>Description of App/ Service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ctr"/>
                      <a:r>
                        <a:rPr lang="en-GB" sz="1100" b="1" i="0" u="none" strike="noStrike">
                          <a:solidFill>
                            <a:srgbClr val="000000"/>
                          </a:solidFill>
                          <a:effectLst/>
                          <a:latin typeface="Aptos Narrow" panose="020B0004020202020204" pitchFamily="34" charset="0"/>
                        </a:rPr>
                        <a:t>2025 Service Volumes</a:t>
                      </a:r>
                    </a:p>
                    <a:p>
                      <a:pPr algn="ctr" fontAlgn="ctr"/>
                      <a:r>
                        <a:rPr lang="en-GB" sz="900" b="0" i="1" u="none" strike="noStrike">
                          <a:solidFill>
                            <a:srgbClr val="000000"/>
                          </a:solidFill>
                          <a:effectLst/>
                          <a:latin typeface="Aptos Narrow" panose="020B0004020202020204" pitchFamily="34" charset="0"/>
                        </a:rPr>
                        <a:t>(Current average number of Sprints/ Story Points/ Tickets per month)</a:t>
                      </a:r>
                      <a:endParaRPr lang="en-GB" sz="1100" b="0" i="1"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ctr"/>
                      <a:r>
                        <a:rPr lang="en-GB" sz="1100" b="1" i="0" u="none" strike="noStrike">
                          <a:solidFill>
                            <a:srgbClr val="000000"/>
                          </a:solidFill>
                          <a:effectLst/>
                          <a:latin typeface="Aptos Narrow" panose="020B0004020202020204" pitchFamily="34" charset="0"/>
                        </a:rPr>
                        <a:t>Expected Year 1 Service volumes</a:t>
                      </a:r>
                    </a:p>
                    <a:p>
                      <a:pPr marL="0" marR="0" lvl="0" indent="0" algn="ctr" defTabSz="1219170" rtl="0" eaLnBrk="1" fontAlgn="ctr" latinLnBrk="0" hangingPunct="1">
                        <a:lnSpc>
                          <a:spcPct val="100000"/>
                        </a:lnSpc>
                        <a:spcBef>
                          <a:spcPts val="0"/>
                        </a:spcBef>
                        <a:spcAft>
                          <a:spcPts val="0"/>
                        </a:spcAft>
                        <a:buClrTx/>
                        <a:buSzTx/>
                        <a:buFontTx/>
                        <a:buNone/>
                        <a:tabLst/>
                        <a:defRPr/>
                      </a:pPr>
                      <a:r>
                        <a:rPr lang="en-GB" sz="900" b="0" i="1" u="none" strike="noStrike">
                          <a:solidFill>
                            <a:srgbClr val="000000"/>
                          </a:solidFill>
                          <a:effectLst/>
                          <a:latin typeface="Aptos Narrow" panose="020B0004020202020204" pitchFamily="34" charset="0"/>
                        </a:rPr>
                        <a:t>(Future number of Sprints/ Story Points/ Tickets per month)</a:t>
                      </a:r>
                      <a:endParaRPr lang="en-GB" sz="1100" b="1"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marL="0" algn="ctr" defTabSz="1219170" rtl="0" eaLnBrk="1" fontAlgn="ctr" latinLnBrk="0" hangingPunct="1"/>
                      <a:r>
                        <a:rPr lang="en-GB" sz="1100" b="1" i="0" u="none" strike="noStrike" kern="1200">
                          <a:solidFill>
                            <a:srgbClr val="000000"/>
                          </a:solidFill>
                          <a:effectLst/>
                          <a:latin typeface="Aptos Narrow" panose="020B0004020202020204" pitchFamily="34" charset="0"/>
                          <a:ea typeface="+mn-ea"/>
                          <a:cs typeface="+mn-cs"/>
                        </a:rPr>
                        <a:t>Expected Year 2 Service volumes</a:t>
                      </a:r>
                    </a:p>
                    <a:p>
                      <a:pPr marL="0" marR="0" lvl="0" indent="0" algn="ctr" defTabSz="1219170" rtl="0" eaLnBrk="1" fontAlgn="ctr" latinLnBrk="0" hangingPunct="1">
                        <a:lnSpc>
                          <a:spcPct val="100000"/>
                        </a:lnSpc>
                        <a:spcBef>
                          <a:spcPts val="0"/>
                        </a:spcBef>
                        <a:spcAft>
                          <a:spcPts val="0"/>
                        </a:spcAft>
                        <a:buClrTx/>
                        <a:buSzTx/>
                        <a:buFontTx/>
                        <a:buNone/>
                        <a:tabLst/>
                        <a:defRPr/>
                      </a:pPr>
                      <a:r>
                        <a:rPr lang="en-GB" sz="900" b="0" i="1" u="none" strike="noStrike" kern="1200">
                          <a:solidFill>
                            <a:srgbClr val="000000"/>
                          </a:solidFill>
                          <a:effectLst/>
                          <a:latin typeface="Aptos Narrow" panose="020B0004020202020204" pitchFamily="34" charset="0"/>
                          <a:ea typeface="+mn-ea"/>
                          <a:cs typeface="+mn-cs"/>
                        </a:rPr>
                        <a:t>(Future number of Sprints/ Story Points/ Tickets per month)</a:t>
                      </a:r>
                      <a:endParaRPr lang="en-GB" sz="11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marL="0" algn="ctr" defTabSz="1219170" rtl="0" eaLnBrk="1" fontAlgn="ctr" latinLnBrk="0" hangingPunct="1"/>
                      <a:r>
                        <a:rPr lang="en-GB" sz="1100" b="1" i="0" u="none" strike="noStrike" kern="1200">
                          <a:solidFill>
                            <a:srgbClr val="000000"/>
                          </a:solidFill>
                          <a:effectLst/>
                          <a:latin typeface="Aptos Narrow" panose="020B0004020202020204" pitchFamily="34" charset="0"/>
                          <a:ea typeface="+mn-ea"/>
                          <a:cs typeface="+mn-cs"/>
                        </a:rPr>
                        <a:t>Expected Year 3 Service volumes</a:t>
                      </a:r>
                    </a:p>
                    <a:p>
                      <a:pPr marL="0" marR="0" lvl="0" indent="0" algn="ctr" defTabSz="1219170" rtl="0" eaLnBrk="1" fontAlgn="ctr" latinLnBrk="0" hangingPunct="1">
                        <a:lnSpc>
                          <a:spcPct val="100000"/>
                        </a:lnSpc>
                        <a:spcBef>
                          <a:spcPts val="0"/>
                        </a:spcBef>
                        <a:spcAft>
                          <a:spcPts val="0"/>
                        </a:spcAft>
                        <a:buClrTx/>
                        <a:buSzTx/>
                        <a:buFontTx/>
                        <a:buNone/>
                        <a:tabLst/>
                        <a:defRPr/>
                      </a:pPr>
                      <a:r>
                        <a:rPr lang="en-GB" sz="900" b="0" i="1" u="none" strike="noStrike" kern="1200">
                          <a:solidFill>
                            <a:srgbClr val="000000"/>
                          </a:solidFill>
                          <a:effectLst/>
                          <a:latin typeface="Aptos Narrow" panose="020B0004020202020204" pitchFamily="34" charset="0"/>
                          <a:ea typeface="+mn-ea"/>
                          <a:cs typeface="+mn-cs"/>
                        </a:rPr>
                        <a:t>(Future number of Sprints/ Story Points/ Tickets per month)</a:t>
                      </a:r>
                      <a:endParaRPr lang="en-GB" sz="11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ctr"/>
                      <a:r>
                        <a:rPr lang="en-GB" sz="1100" b="1" i="0" u="none" strike="noStrike">
                          <a:solidFill>
                            <a:srgbClr val="000000"/>
                          </a:solidFill>
                          <a:effectLst/>
                          <a:latin typeface="Aptos Narrow" panose="020B0004020202020204" pitchFamily="34" charset="0"/>
                        </a:rPr>
                        <a:t>Other variables</a:t>
                      </a:r>
                    </a:p>
                    <a:p>
                      <a:pPr algn="ctr" fontAlgn="ctr"/>
                      <a:r>
                        <a:rPr lang="en-GB" sz="900" b="0" i="0" u="none" strike="noStrike">
                          <a:solidFill>
                            <a:srgbClr val="000000"/>
                          </a:solidFill>
                          <a:effectLst/>
                          <a:latin typeface="Aptos Narrow" panose="020B0004020202020204" pitchFamily="34" charset="0"/>
                        </a:rPr>
                        <a:t>(e.g., Number of Users, Number of instances) </a:t>
                      </a:r>
                      <a:endParaRPr lang="en-GB" sz="11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ctr"/>
                      <a:r>
                        <a:rPr lang="en-GB" sz="1100" b="1" i="0" u="none" strike="noStrike">
                          <a:solidFill>
                            <a:srgbClr val="000000"/>
                          </a:solidFill>
                          <a:effectLst/>
                          <a:latin typeface="Aptos Narrow" panose="020B0004020202020204" pitchFamily="34" charset="0"/>
                        </a:rPr>
                        <a:t>Language + Location Requirements</a:t>
                      </a:r>
                    </a:p>
                    <a:p>
                      <a:pPr algn="ctr" fontAlgn="ctr"/>
                      <a:r>
                        <a:rPr lang="nn-NO" sz="900" b="0" i="1" u="none" strike="noStrike">
                          <a:solidFill>
                            <a:srgbClr val="000000"/>
                          </a:solidFill>
                          <a:effectLst/>
                          <a:latin typeface="Aptos Narrow" panose="020B0004020202020204" pitchFamily="34" charset="0"/>
                        </a:rPr>
                        <a:t>(leave blank if not applicable)</a:t>
                      </a:r>
                      <a:endParaRPr lang="en-GB" sz="1100" b="1"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ctr"/>
                      <a:r>
                        <a:rPr lang="en-GB" sz="1100" b="1" i="0" u="none" strike="noStrike">
                          <a:solidFill>
                            <a:srgbClr val="000000"/>
                          </a:solidFill>
                          <a:effectLst/>
                          <a:latin typeface="Aptos Narrow" panose="020B0004020202020204" pitchFamily="34" charset="0"/>
                        </a:rPr>
                        <a:t>Availability </a:t>
                      </a:r>
                    </a:p>
                    <a:p>
                      <a:pPr algn="ctr" fontAlgn="ctr"/>
                      <a:r>
                        <a:rPr lang="en-GB" sz="900" b="0" i="1" u="none" strike="noStrike">
                          <a:solidFill>
                            <a:srgbClr val="000000"/>
                          </a:solidFill>
                          <a:effectLst/>
                          <a:latin typeface="Aptos Narrow" panose="020B0004020202020204" pitchFamily="34" charset="0"/>
                        </a:rPr>
                        <a:t>(e.g., 24 x 7)</a:t>
                      </a:r>
                      <a:endParaRPr lang="en-GB" sz="1100" b="0" i="1"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2896408235"/>
                  </a:ext>
                </a:extLst>
              </a:tr>
              <a:tr h="362570">
                <a:tc>
                  <a:txBody>
                    <a:bodyPr/>
                    <a:lstStyle/>
                    <a:p>
                      <a:pPr algn="ctr" fontAlgn="b"/>
                      <a:r>
                        <a:rPr lang="en-GB" sz="900" b="1" i="0" u="none" strike="noStrike">
                          <a:solidFill>
                            <a:srgbClr val="000000"/>
                          </a:solidFill>
                          <a:effectLst/>
                          <a:latin typeface="Aptos Narrow" panose="020B0004020202020204" pitchFamily="34" charset="0"/>
                        </a:rPr>
                        <a:t>VA&amp;D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1" i="0" u="none" strike="noStrike">
                          <a:solidFill>
                            <a:srgbClr val="000000"/>
                          </a:solidFill>
                          <a:effectLst/>
                          <a:latin typeface="Aptos Narrow" panose="020B0004020202020204" pitchFamily="34" charset="0"/>
                        </a:rPr>
                        <a:t>Virtual Apps and Desktop services as a whole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20,500 incidents</a:t>
                      </a:r>
                    </a:p>
                    <a:p>
                      <a:pPr algn="ctr" fontAlgn="b"/>
                      <a:r>
                        <a:rPr lang="en-GB" sz="900" b="0" i="0" u="none" strike="noStrike">
                          <a:solidFill>
                            <a:srgbClr val="000000"/>
                          </a:solidFill>
                          <a:effectLst/>
                          <a:latin typeface="Aptos Narrow" panose="020B0004020202020204" pitchFamily="34" charset="0"/>
                        </a:rPr>
                        <a:t>1000 requests</a:t>
                      </a:r>
                    </a:p>
                    <a:p>
                      <a:pPr algn="ctr" fontAlgn="b"/>
                      <a:r>
                        <a:rPr lang="en-GB" sz="900" b="0" i="0" u="none" strike="noStrike">
                          <a:solidFill>
                            <a:srgbClr val="000000"/>
                          </a:solidFill>
                          <a:effectLst/>
                          <a:latin typeface="Aptos Narrow" panose="020B0004020202020204" pitchFamily="34" charset="0"/>
                        </a:rPr>
                        <a:t>635 changes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[Year of transformation]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Materially lower than 2025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Lower than Year 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See below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219170" rtl="0" eaLnBrk="1" fontAlgn="b" latinLnBrk="0" hangingPunct="1">
                        <a:lnSpc>
                          <a:spcPct val="100000"/>
                        </a:lnSpc>
                        <a:spcBef>
                          <a:spcPts val="0"/>
                        </a:spcBef>
                        <a:spcAft>
                          <a:spcPts val="0"/>
                        </a:spcAft>
                        <a:buClrTx/>
                        <a:buSzTx/>
                        <a:buFontTx/>
                        <a:buNone/>
                        <a:tabLst/>
                        <a:defRPr/>
                      </a:pPr>
                      <a:r>
                        <a:rPr lang="en-GB" sz="900" b="0" i="0" u="none" strike="noStrike">
                          <a:solidFill>
                            <a:srgbClr val="000000"/>
                          </a:solidFill>
                          <a:effectLst/>
                          <a:latin typeface="Aptos Narrow" panose="020B0004020202020204" pitchFamily="34" charset="0"/>
                        </a:rPr>
                        <a:t>24x7x365</a:t>
                      </a:r>
                    </a:p>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5206059"/>
                  </a:ext>
                </a:extLst>
              </a:tr>
              <a:tr h="362570">
                <a:tc>
                  <a:txBody>
                    <a:bodyPr/>
                    <a:lstStyle/>
                    <a:p>
                      <a:pPr algn="ctr" fontAlgn="b"/>
                      <a:r>
                        <a:rPr lang="en-GB" sz="900" b="0" i="0" u="none" strike="noStrike">
                          <a:solidFill>
                            <a:srgbClr val="000000"/>
                          </a:solidFill>
                          <a:effectLst/>
                          <a:latin typeface="Aptos Narrow" panose="020B0004020202020204" pitchFamily="34" charset="0"/>
                        </a:rPr>
                        <a:t>Persistent VDIs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Single-session Windows 11 VDI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6500 VDIs</a:t>
                      </a:r>
                    </a:p>
                    <a:p>
                      <a:pPr algn="ctr" fontAlgn="b"/>
                      <a:r>
                        <a:rPr lang="en-GB" sz="900" b="0" i="0" u="none" strike="noStrike">
                          <a:solidFill>
                            <a:srgbClr val="000000"/>
                          </a:solidFill>
                          <a:effectLst/>
                          <a:latin typeface="Aptos Narrow" panose="020B0004020202020204" pitchFamily="34" charset="0"/>
                        </a:rPr>
                        <a:t>3 desktop images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24x7x365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3074086"/>
                  </a:ext>
                </a:extLst>
              </a:tr>
              <a:tr h="362570">
                <a:tc>
                  <a:txBody>
                    <a:bodyPr/>
                    <a:lstStyle/>
                    <a:p>
                      <a:pPr algn="ctr" fontAlgn="b"/>
                      <a:r>
                        <a:rPr lang="en-GB" sz="900" b="0" i="0" u="none" strike="noStrike">
                          <a:solidFill>
                            <a:srgbClr val="000000"/>
                          </a:solidFill>
                          <a:effectLst/>
                          <a:latin typeface="Aptos Narrow" panose="020B0004020202020204" pitchFamily="34" charset="0"/>
                        </a:rPr>
                        <a:t>Multi-session VDIs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Multi-session Windows 11 VDI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219170" rtl="0" eaLnBrk="1" fontAlgn="b" latinLnBrk="0" hangingPunct="1">
                        <a:lnSpc>
                          <a:spcPct val="100000"/>
                        </a:lnSpc>
                        <a:spcBef>
                          <a:spcPts val="0"/>
                        </a:spcBef>
                        <a:spcAft>
                          <a:spcPts val="0"/>
                        </a:spcAft>
                        <a:buClrTx/>
                        <a:buSzTx/>
                        <a:buFontTx/>
                        <a:buNone/>
                        <a:tabLst/>
                        <a:defRPr/>
                      </a:pPr>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219170" rtl="0" eaLnBrk="1" fontAlgn="b" latinLnBrk="0" hangingPunct="1">
                        <a:lnSpc>
                          <a:spcPct val="100000"/>
                        </a:lnSpc>
                        <a:spcBef>
                          <a:spcPts val="0"/>
                        </a:spcBef>
                        <a:spcAft>
                          <a:spcPts val="0"/>
                        </a:spcAft>
                        <a:buClrTx/>
                        <a:buSzTx/>
                        <a:buFontTx/>
                        <a:buNone/>
                        <a:tabLst/>
                        <a:defRPr/>
                      </a:pPr>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219170" rtl="0" eaLnBrk="1" fontAlgn="b" latinLnBrk="0" hangingPunct="1">
                        <a:lnSpc>
                          <a:spcPct val="100000"/>
                        </a:lnSpc>
                        <a:spcBef>
                          <a:spcPts val="0"/>
                        </a:spcBef>
                        <a:spcAft>
                          <a:spcPts val="0"/>
                        </a:spcAft>
                        <a:buClrTx/>
                        <a:buSzTx/>
                        <a:buFontTx/>
                        <a:buNone/>
                        <a:tabLst/>
                        <a:defRPr/>
                      </a:pPr>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13500 VDIs</a:t>
                      </a:r>
                      <a:br>
                        <a:rPr lang="en-GB" sz="900" b="0" i="0" u="none" strike="noStrike">
                          <a:solidFill>
                            <a:srgbClr val="000000"/>
                          </a:solidFill>
                          <a:effectLst/>
                          <a:latin typeface="Aptos Narrow" panose="020B0004020202020204" pitchFamily="34" charset="0"/>
                        </a:rPr>
                      </a:br>
                      <a:r>
                        <a:rPr lang="en-GB" sz="900" b="0" i="0" u="none" strike="noStrike">
                          <a:solidFill>
                            <a:srgbClr val="000000"/>
                          </a:solidFill>
                          <a:effectLst/>
                          <a:latin typeface="Aptos Narrow" panose="020B0004020202020204" pitchFamily="34" charset="0"/>
                        </a:rPr>
                        <a:t>Up to 20 desktop images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219170" rtl="0" eaLnBrk="1" fontAlgn="b"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000000"/>
                          </a:solidFill>
                          <a:effectLst/>
                          <a:uLnTx/>
                          <a:uFillTx/>
                          <a:latin typeface="Aptos Narrow" panose="020B0004020202020204" pitchFamily="34" charset="0"/>
                          <a:ea typeface="+mn-ea"/>
                          <a:cs typeface="Noto Sans"/>
                        </a:rPr>
                        <a:t>24x7x365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88985250"/>
                  </a:ext>
                </a:extLst>
              </a:tr>
              <a:tr h="362570">
                <a:tc>
                  <a:txBody>
                    <a:bodyPr/>
                    <a:lstStyle/>
                    <a:p>
                      <a:pPr algn="ctr" fontAlgn="b"/>
                      <a:r>
                        <a:rPr lang="en-GB" sz="900" b="0" i="0" u="none" strike="noStrike">
                          <a:solidFill>
                            <a:srgbClr val="000000"/>
                          </a:solidFill>
                          <a:effectLst/>
                          <a:latin typeface="Aptos Narrow" panose="020B0004020202020204" pitchFamily="34" charset="0"/>
                        </a:rPr>
                        <a:t>Server-hosted desktop servers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Hosting virtualised apps  and desktops not compatible with a desktop OS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100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219170" rtl="0" eaLnBrk="1" fontAlgn="b"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000000"/>
                          </a:solidFill>
                          <a:effectLst/>
                          <a:uLnTx/>
                          <a:uFillTx/>
                          <a:latin typeface="Aptos Narrow" panose="020B0004020202020204" pitchFamily="34" charset="0"/>
                          <a:ea typeface="+mn-ea"/>
                          <a:cs typeface="Noto Sans"/>
                        </a:rPr>
                        <a:t>24x7x365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0594004"/>
                  </a:ext>
                </a:extLst>
              </a:tr>
              <a:tr h="362570">
                <a:tc>
                  <a:txBody>
                    <a:bodyPr/>
                    <a:lstStyle/>
                    <a:p>
                      <a:pPr algn="ctr" fontAlgn="b"/>
                      <a:r>
                        <a:rPr lang="en-GB" sz="900" b="0" i="0" u="none" strike="noStrike">
                          <a:solidFill>
                            <a:srgbClr val="000000"/>
                          </a:solidFill>
                          <a:effectLst/>
                          <a:latin typeface="Aptos Narrow" panose="020B0004020202020204" pitchFamily="34" charset="0"/>
                        </a:rPr>
                        <a:t> Citrix Cloud Controllers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Manage and broker user access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15 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219170" rtl="0" eaLnBrk="1" fontAlgn="b"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000000"/>
                          </a:solidFill>
                          <a:effectLst/>
                          <a:uLnTx/>
                          <a:uFillTx/>
                          <a:latin typeface="Aptos Narrow" panose="020B0004020202020204" pitchFamily="34" charset="0"/>
                          <a:ea typeface="+mn-ea"/>
                          <a:cs typeface="Noto Sans"/>
                        </a:rPr>
                        <a:t>24x7x365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46569073"/>
                  </a:ext>
                </a:extLst>
              </a:tr>
              <a:tr h="237885">
                <a:tc>
                  <a:txBody>
                    <a:bodyPr/>
                    <a:lstStyle/>
                    <a:p>
                      <a:pPr algn="ctr" fontAlgn="b"/>
                      <a:r>
                        <a:rPr lang="en-GB" sz="900" b="0" i="0" u="none" strike="noStrike">
                          <a:solidFill>
                            <a:srgbClr val="000000"/>
                          </a:solidFill>
                          <a:effectLst/>
                          <a:latin typeface="Aptos Narrow" panose="020B0004020202020204" pitchFamily="34" charset="0"/>
                        </a:rPr>
                        <a:t> RDSCal servers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 Authorise and manage licensed desktop users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 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219170" rtl="0" eaLnBrk="1" fontAlgn="b"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000000"/>
                          </a:solidFill>
                          <a:effectLst/>
                          <a:uLnTx/>
                          <a:uFillTx/>
                          <a:latin typeface="Aptos Narrow" panose="020B0004020202020204" pitchFamily="34" charset="0"/>
                          <a:ea typeface="+mn-ea"/>
                          <a:cs typeface="Noto Sans"/>
                        </a:rPr>
                        <a:t>24x7x365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21430978"/>
                  </a:ext>
                </a:extLst>
              </a:tr>
              <a:tr h="362570">
                <a:tc>
                  <a:txBody>
                    <a:bodyPr/>
                    <a:lstStyle/>
                    <a:p>
                      <a:pPr algn="ctr" fontAlgn="b"/>
                      <a:r>
                        <a:rPr lang="en-GB" sz="900" b="0" i="0" u="none" strike="noStrike">
                          <a:solidFill>
                            <a:srgbClr val="000000"/>
                          </a:solidFill>
                          <a:effectLst/>
                          <a:latin typeface="Aptos Narrow" panose="020B0004020202020204" pitchFamily="34" charset="0"/>
                        </a:rPr>
                        <a:t> Storefront Servers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Authenticate users and provides the personalised interface to the apps/desktops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7 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219170" rtl="0" eaLnBrk="1" fontAlgn="b"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000000"/>
                          </a:solidFill>
                          <a:effectLst/>
                          <a:uLnTx/>
                          <a:uFillTx/>
                          <a:latin typeface="Aptos Narrow" panose="020B0004020202020204" pitchFamily="34" charset="0"/>
                          <a:ea typeface="+mn-ea"/>
                          <a:cs typeface="Noto Sans"/>
                        </a:rPr>
                        <a:t>24x7x365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49741305"/>
                  </a:ext>
                </a:extLst>
              </a:tr>
              <a:tr h="237885">
                <a:tc>
                  <a:txBody>
                    <a:bodyPr/>
                    <a:lstStyle/>
                    <a:p>
                      <a:pPr algn="ctr" fontAlgn="b"/>
                      <a:r>
                        <a:rPr lang="en-GB" sz="900" b="0" i="0" u="none" strike="noStrike">
                          <a:solidFill>
                            <a:srgbClr val="000000"/>
                          </a:solidFill>
                          <a:effectLst/>
                          <a:latin typeface="Aptos Narrow" panose="020B0004020202020204" pitchFamily="34" charset="0"/>
                        </a:rPr>
                        <a:t> Ivanti servers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 Desktop personalisation,  profile and endpoint maanagement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9 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219170" rtl="0" eaLnBrk="1" fontAlgn="b"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000000"/>
                          </a:solidFill>
                          <a:effectLst/>
                          <a:uLnTx/>
                          <a:uFillTx/>
                          <a:latin typeface="Aptos Narrow" panose="020B0004020202020204" pitchFamily="34" charset="0"/>
                          <a:ea typeface="+mn-ea"/>
                          <a:cs typeface="Noto Sans"/>
                        </a:rPr>
                        <a:t>24x7x365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66363102"/>
                  </a:ext>
                </a:extLst>
              </a:tr>
              <a:tr h="237885">
                <a:tc>
                  <a:txBody>
                    <a:bodyPr/>
                    <a:lstStyle/>
                    <a:p>
                      <a:pPr algn="ctr" fontAlgn="b"/>
                      <a:r>
                        <a:rPr lang="en-GB" sz="900" b="0" i="0" u="none" strike="noStrike">
                          <a:solidFill>
                            <a:srgbClr val="000000"/>
                          </a:solidFill>
                          <a:effectLst/>
                          <a:latin typeface="Aptos Narrow" panose="020B0004020202020204" pitchFamily="34" charset="0"/>
                        </a:rPr>
                        <a:t> SQL servers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Database servers required by Ivanti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GB" sz="9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900" b="0" i="0" u="none" strike="noStrike">
                          <a:solidFill>
                            <a:srgbClr val="000000"/>
                          </a:solidFill>
                          <a:effectLst/>
                          <a:latin typeface="Aptos Narrow" panose="020B0004020202020204" pitchFamily="34" charset="0"/>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219170" rtl="0" eaLnBrk="1" fontAlgn="b"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000000"/>
                          </a:solidFill>
                          <a:effectLst/>
                          <a:uLnTx/>
                          <a:uFillTx/>
                          <a:latin typeface="Aptos Narrow" panose="020B0004020202020204" pitchFamily="34" charset="0"/>
                          <a:ea typeface="+mn-ea"/>
                          <a:cs typeface="Noto Sans"/>
                        </a:rPr>
                        <a:t>24x7x365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4222365"/>
                  </a:ext>
                </a:extLst>
              </a:tr>
            </a:tbl>
          </a:graphicData>
        </a:graphic>
      </p:graphicFrame>
    </p:spTree>
    <p:extLst>
      <p:ext uri="{BB962C8B-B14F-4D97-AF65-F5344CB8AC3E}">
        <p14:creationId xmlns:p14="http://schemas.microsoft.com/office/powerpoint/2010/main" val="4019384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D6169-439B-4E06-7CCE-176CE885F08F}"/>
            </a:ext>
          </a:extLst>
        </p:cNvPr>
        <p:cNvGrpSpPr/>
        <p:nvPr/>
      </p:nvGrpSpPr>
      <p:grpSpPr>
        <a:xfrm>
          <a:off x="0" y="0"/>
          <a:ext cx="0" cy="0"/>
          <a:chOff x="0" y="0"/>
          <a:chExt cx="0" cy="0"/>
        </a:xfrm>
      </p:grpSpPr>
      <p:sp>
        <p:nvSpPr>
          <p:cNvPr id="38" name="TextBox 37">
            <a:extLst>
              <a:ext uri="{FF2B5EF4-FFF2-40B4-BE49-F238E27FC236}">
                <a16:creationId xmlns:a16="http://schemas.microsoft.com/office/drawing/2014/main" id="{6081AE7C-45DC-BFFE-16F1-FE09C9F8C41D}"/>
              </a:ext>
            </a:extLst>
          </p:cNvPr>
          <p:cNvSpPr txBox="1"/>
          <p:nvPr/>
        </p:nvSpPr>
        <p:spPr>
          <a:xfrm>
            <a:off x="385754" y="746555"/>
            <a:ext cx="11327377" cy="5378789"/>
          </a:xfrm>
          <a:prstGeom prst="rect">
            <a:avLst/>
          </a:prstGeom>
          <a:noFill/>
          <a:ln>
            <a:solidFill>
              <a:schemeClr val="bg1">
                <a:lumMod val="75000"/>
              </a:schemeClr>
            </a:solidFill>
          </a:ln>
        </p:spPr>
        <p:txBody>
          <a:bodyPr wrap="square" lIns="180000" tIns="180000" rIns="180000" bIns="180000" rtlCol="0">
            <a:normAutofit/>
          </a:bodyPr>
          <a:lstStyle/>
          <a:p>
            <a:pPr marL="285750" indent="-285750" algn="l">
              <a:spcBef>
                <a:spcPts val="300"/>
              </a:spcBef>
              <a:spcAft>
                <a:spcPts val="300"/>
              </a:spcAft>
              <a:buClr>
                <a:schemeClr val="tx2"/>
              </a:buClr>
              <a:buSzPct val="150000"/>
              <a:buFont typeface="Arial" panose="020B0604020202020204" pitchFamily="34" charset="0"/>
              <a:buChar char="•"/>
            </a:pPr>
            <a:endParaRPr lang="en-US" sz="1600" err="1"/>
          </a:p>
        </p:txBody>
      </p:sp>
      <p:sp>
        <p:nvSpPr>
          <p:cNvPr id="27" name="Title 17">
            <a:extLst>
              <a:ext uri="{FF2B5EF4-FFF2-40B4-BE49-F238E27FC236}">
                <a16:creationId xmlns:a16="http://schemas.microsoft.com/office/drawing/2014/main" id="{0F3F44FA-A60E-AC2A-C017-37D97DF011A8}"/>
              </a:ext>
            </a:extLst>
          </p:cNvPr>
          <p:cNvSpPr>
            <a:spLocks noGrp="1"/>
          </p:cNvSpPr>
          <p:nvPr>
            <p:ph type="title"/>
          </p:nvPr>
        </p:nvSpPr>
        <p:spPr>
          <a:xfrm>
            <a:off x="478870" y="230848"/>
            <a:ext cx="10102852" cy="451405"/>
          </a:xfrm>
        </p:spPr>
        <p:txBody>
          <a:bodyPr>
            <a:normAutofit/>
          </a:bodyPr>
          <a:lstStyle/>
          <a:p>
            <a:r>
              <a:rPr lang="en-US"/>
              <a:t>Scope Detail – EAS: Virtual Apps &amp; Desktops</a:t>
            </a:r>
          </a:p>
        </p:txBody>
      </p:sp>
      <p:sp>
        <p:nvSpPr>
          <p:cNvPr id="28" name="Date Placeholder 5">
            <a:extLst>
              <a:ext uri="{FF2B5EF4-FFF2-40B4-BE49-F238E27FC236}">
                <a16:creationId xmlns:a16="http://schemas.microsoft.com/office/drawing/2014/main" id="{5B0110F8-E9F8-0E9A-AA8D-3E80F63FAC33}"/>
              </a:ext>
            </a:extLst>
          </p:cNvPr>
          <p:cNvSpPr txBox="1">
            <a:spLocks/>
          </p:cNvSpPr>
          <p:nvPr/>
        </p:nvSpPr>
        <p:spPr>
          <a:xfrm>
            <a:off x="10968821" y="65881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sp>
        <p:nvSpPr>
          <p:cNvPr id="29" name="Slide Number Placeholder 7">
            <a:extLst>
              <a:ext uri="{FF2B5EF4-FFF2-40B4-BE49-F238E27FC236}">
                <a16:creationId xmlns:a16="http://schemas.microsoft.com/office/drawing/2014/main" id="{B3934AF3-DF6E-16C1-38E9-3B8F64319CDF}"/>
              </a:ext>
            </a:extLst>
          </p:cNvPr>
          <p:cNvSpPr txBox="1">
            <a:spLocks/>
          </p:cNvSpPr>
          <p:nvPr/>
        </p:nvSpPr>
        <p:spPr>
          <a:xfrm>
            <a:off x="11285288" y="6189646"/>
            <a:ext cx="540000" cy="269875"/>
          </a:xfrm>
          <a:prstGeom prst="rect">
            <a:avLst/>
          </a:prstGeom>
        </p:spPr>
        <p:txBody>
          <a:bodyPr vert="horz" lIns="0" tIns="0" rIns="0" bIns="0" rtlCol="0" anchor="b" anchorCtr="0">
            <a:normAutofit/>
          </a:bodyPr>
          <a:lstStyle>
            <a:defPPr>
              <a:defRPr lang="en-US"/>
            </a:defPPr>
            <a:lvl1pPr marL="0" algn="l" defTabSz="1219170" rtl="0" eaLnBrk="1" latinLnBrk="0" hangingPunct="1">
              <a:defRPr sz="12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9F9F533D-B52E-4A2F-BF72-0ADD2D94BD75}" type="slidenum">
              <a:rPr lang="en-GB" smtClean="0"/>
              <a:pPr/>
              <a:t>7</a:t>
            </a:fld>
            <a:endParaRPr lang="en-GB"/>
          </a:p>
        </p:txBody>
      </p:sp>
      <p:sp>
        <p:nvSpPr>
          <p:cNvPr id="30" name="TextBox 29">
            <a:extLst>
              <a:ext uri="{FF2B5EF4-FFF2-40B4-BE49-F238E27FC236}">
                <a16:creationId xmlns:a16="http://schemas.microsoft.com/office/drawing/2014/main" id="{03CF2BD0-6DA8-BBB1-681F-EE139CF22362}"/>
              </a:ext>
            </a:extLst>
          </p:cNvPr>
          <p:cNvSpPr txBox="1"/>
          <p:nvPr/>
        </p:nvSpPr>
        <p:spPr>
          <a:xfrm>
            <a:off x="407893" y="759755"/>
            <a:ext cx="1997007" cy="307777"/>
          </a:xfrm>
          <a:prstGeom prst="rect">
            <a:avLst/>
          </a:prstGeom>
          <a:solidFill>
            <a:schemeClr val="bg1"/>
          </a:solidFill>
        </p:spPr>
        <p:txBody>
          <a:bodyPr wrap="square" rtlCol="0">
            <a:spAutoFit/>
          </a:bodyPr>
          <a:lstStyle/>
          <a:p>
            <a:pPr>
              <a:buClr>
                <a:schemeClr val="tx1"/>
              </a:buClr>
            </a:pPr>
            <a:r>
              <a:rPr lang="en-GB" sz="1400" b="1">
                <a:solidFill>
                  <a:schemeClr val="tx2"/>
                </a:solidFill>
              </a:rPr>
              <a:t>Scope Description</a:t>
            </a:r>
          </a:p>
        </p:txBody>
      </p:sp>
      <p:sp>
        <p:nvSpPr>
          <p:cNvPr id="33" name="TextBox 32">
            <a:extLst>
              <a:ext uri="{FF2B5EF4-FFF2-40B4-BE49-F238E27FC236}">
                <a16:creationId xmlns:a16="http://schemas.microsoft.com/office/drawing/2014/main" id="{FEA1E93C-A0B8-B96B-CB6E-5600B81A1184}"/>
              </a:ext>
            </a:extLst>
          </p:cNvPr>
          <p:cNvSpPr txBox="1"/>
          <p:nvPr/>
        </p:nvSpPr>
        <p:spPr>
          <a:xfrm>
            <a:off x="366712" y="1080732"/>
            <a:ext cx="11233971" cy="4493538"/>
          </a:xfrm>
          <a:prstGeom prst="rect">
            <a:avLst/>
          </a:prstGeom>
          <a:noFill/>
          <a:ln>
            <a:noFill/>
          </a:ln>
        </p:spPr>
        <p:txBody>
          <a:bodyPr wrap="square" lIns="91440" tIns="45720" rIns="91440" bIns="45720" numCol="1" rtlCol="0" anchor="t">
            <a:spAutoFit/>
          </a:bodyPr>
          <a:lstStyle/>
          <a:p>
            <a:pPr>
              <a:buClr>
                <a:schemeClr val="bg2"/>
              </a:buClr>
            </a:pPr>
            <a:r>
              <a:rPr lang="en-GB" sz="1100" b="1"/>
              <a:t>Application Dev/ Support Service Detail</a:t>
            </a:r>
            <a:endParaRPr lang="en-GB" sz="1100"/>
          </a:p>
          <a:p>
            <a:pPr marL="171450" indent="-171450">
              <a:buClr>
                <a:schemeClr val="bg2"/>
              </a:buClr>
              <a:buFont typeface="Arial" panose="020B0604020202020204" pitchFamily="34" charset="0"/>
              <a:buChar char="•"/>
            </a:pPr>
            <a:r>
              <a:rPr lang="en-US" sz="1100"/>
              <a:t>The Supplier shall assume full and comprehensive responsibility for the service, including its design, build, implementation, and ongoing operational support. This responsibility spans all levels of the ITIL framework and includes proactive identification and delivery of service improvements throughout the lifecycle.  As GSK’s internal roles are limited to Engineering and Product Ownership, the Supplier is expected to manage and operate the service in its entirety. </a:t>
            </a:r>
          </a:p>
          <a:p>
            <a:pPr marL="171450" indent="-171450">
              <a:buClr>
                <a:schemeClr val="bg2"/>
              </a:buClr>
              <a:buFont typeface="Arial" panose="020B0604020202020204" pitchFamily="34" charset="0"/>
              <a:buChar char="•"/>
            </a:pPr>
            <a:r>
              <a:rPr lang="en-US" sz="1100"/>
              <a:t>The service must be scalable, fit for purpose, and continuously </a:t>
            </a:r>
            <a:r>
              <a:rPr lang="en-US" sz="1100" err="1"/>
              <a:t>optimised</a:t>
            </a:r>
            <a:r>
              <a:rPr lang="en-US" sz="1100"/>
              <a:t> for performance, resilience, and cost-effectiveness. Supplier must ensure all solutions comply with GSK’s security policies, data protection standards, and relevant regulatory requirements (e.g., GDPR, GXP, SOX, HIPAA as applicable).</a:t>
            </a:r>
          </a:p>
          <a:p>
            <a:pPr marL="171450" indent="-171450">
              <a:buClr>
                <a:schemeClr val="bg2"/>
              </a:buClr>
              <a:buFont typeface="Arial" panose="020B0604020202020204" pitchFamily="34" charset="0"/>
              <a:buChar char="•"/>
            </a:pPr>
            <a:r>
              <a:rPr lang="en-US" sz="1100"/>
              <a:t>The Supplier is expected to leverage AI and automation to proactively reduce incidents, improve customer experience, and drive continuous service </a:t>
            </a:r>
            <a:r>
              <a:rPr lang="en-US" sz="1100" err="1"/>
              <a:t>optimisation</a:t>
            </a:r>
            <a:r>
              <a:rPr lang="en-US" sz="1100"/>
              <a:t>. Supplier shall implement AI Ops capabilities including but not limited to automated provisioning workflows, intelligent chatbot integrations for Tier 1 support, predictive analytics for performance degradation, and self-healing mechanisms.  Consequently, Supplier shall commit to material reductions in incident volumes, with commercially backed KPIs</a:t>
            </a:r>
          </a:p>
          <a:p>
            <a:pPr marL="171450" indent="-171450">
              <a:buClr>
                <a:schemeClr val="bg2"/>
              </a:buClr>
              <a:buFont typeface="Arial" panose="020B0604020202020204" pitchFamily="34" charset="0"/>
              <a:buChar char="•"/>
            </a:pPr>
            <a:r>
              <a:rPr lang="en-US" sz="1100"/>
              <a:t>The Supplier shall ensure the service remains aligned with evolving business needs and technological advancements. This includes maintaining appropriate documentation, managing technical debt, and ensuring the service is secure, supportable, and maintainable. Clear governance structures, reporting mechanisms, and escalation paths must be in place to ensure transparency and accountability in service delivery.</a:t>
            </a:r>
          </a:p>
          <a:p>
            <a:pPr marL="171450" indent="-171450">
              <a:buClr>
                <a:schemeClr val="bg2"/>
              </a:buClr>
              <a:buFont typeface="Arial" panose="020B0604020202020204" pitchFamily="34" charset="0"/>
              <a:buChar char="•"/>
            </a:pPr>
            <a:endParaRPr lang="en-US" sz="1100"/>
          </a:p>
          <a:p>
            <a:pPr marL="171450" indent="-171450">
              <a:buClr>
                <a:schemeClr val="bg2"/>
              </a:buClr>
              <a:buFont typeface="Arial" panose="020B0604020202020204" pitchFamily="34" charset="0"/>
              <a:buChar char="•"/>
            </a:pPr>
            <a:r>
              <a:rPr lang="en-US" sz="1100"/>
              <a:t>GSK has a cloud-hosted VDI estate based on Citrix, serving approx. 22,000 users.  Supplier will be responsible for </a:t>
            </a:r>
            <a:r>
              <a:rPr lang="en-US" sz="1100" b="1"/>
              <a:t>end-to-end </a:t>
            </a:r>
            <a:r>
              <a:rPr lang="en-US" sz="1100" b="1" err="1"/>
              <a:t>modernisation</a:t>
            </a:r>
            <a:r>
              <a:rPr lang="en-US" sz="1100"/>
              <a:t>, establishing the new platforms and migrating users.  GSK is anticipating this will be Windows365 and Azure Virtual Desktop with Nerdio.  Supplier must execute the transition and eliminate Citrix (unless business requires exception, approved by GSK) </a:t>
            </a:r>
            <a:r>
              <a:rPr lang="en-US" sz="1100" b="1"/>
              <a:t>by end 2026</a:t>
            </a:r>
            <a:r>
              <a:rPr lang="en-US" sz="1100"/>
              <a:t>.  Migrations shall be persona- and requirement-based, with solutions </a:t>
            </a:r>
            <a:r>
              <a:rPr lang="en-US" sz="1100" err="1"/>
              <a:t>optimised</a:t>
            </a:r>
            <a:r>
              <a:rPr lang="en-US" sz="1100"/>
              <a:t> for cost and performance.  Supplier shall determine target architecture and migration plan, to be approved by GSK.  Supplier shall:</a:t>
            </a:r>
          </a:p>
          <a:p>
            <a:pPr marL="781035" lvl="1" indent="-171450">
              <a:buClr>
                <a:schemeClr val="bg2"/>
              </a:buClr>
              <a:buFont typeface="Arial" panose="020B0604020202020204" pitchFamily="34" charset="0"/>
              <a:buChar char="•"/>
            </a:pPr>
            <a:r>
              <a:rPr lang="en-US" sz="1100"/>
              <a:t>Conduct discovery and assessment of the current Citrix environment.</a:t>
            </a:r>
          </a:p>
          <a:p>
            <a:pPr marL="781035" lvl="1" indent="-171450">
              <a:buClr>
                <a:schemeClr val="bg2"/>
              </a:buClr>
              <a:buFont typeface="Arial" panose="020B0604020202020204" pitchFamily="34" charset="0"/>
              <a:buChar char="•"/>
            </a:pPr>
            <a:r>
              <a:rPr lang="en-US" sz="1100"/>
              <a:t>Define and propose a target architecture.</a:t>
            </a:r>
          </a:p>
          <a:p>
            <a:pPr marL="781035" lvl="1" indent="-171450">
              <a:buClr>
                <a:schemeClr val="bg2"/>
              </a:buClr>
              <a:buFont typeface="Arial" panose="020B0604020202020204" pitchFamily="34" charset="0"/>
              <a:buChar char="•"/>
            </a:pPr>
            <a:r>
              <a:rPr lang="en-US" sz="1100"/>
              <a:t>Develop and execute a migration plan, subject to GSK approval</a:t>
            </a:r>
          </a:p>
          <a:p>
            <a:pPr marL="781035" lvl="1" indent="-171450">
              <a:buClr>
                <a:schemeClr val="bg2"/>
              </a:buClr>
              <a:buFont typeface="Arial" panose="020B0604020202020204" pitchFamily="34" charset="0"/>
              <a:buChar char="•"/>
            </a:pPr>
            <a:r>
              <a:rPr lang="en-US" sz="1100"/>
              <a:t>Engage with technology providers including Microsoft and Nerdio.</a:t>
            </a:r>
          </a:p>
          <a:p>
            <a:pPr marL="781035" lvl="1" indent="-171450">
              <a:buClr>
                <a:schemeClr val="bg2"/>
              </a:buClr>
              <a:buFont typeface="Arial" panose="020B0604020202020204" pitchFamily="34" charset="0"/>
              <a:buChar char="•"/>
            </a:pPr>
            <a:r>
              <a:rPr lang="en-US" sz="1100"/>
              <a:t>Run </a:t>
            </a:r>
            <a:r>
              <a:rPr lang="en-US" sz="1100" err="1"/>
              <a:t>PoCs</a:t>
            </a:r>
            <a:r>
              <a:rPr lang="en-US" sz="1100"/>
              <a:t>, early adopter pilots, and user acceptance testing to successful adoption</a:t>
            </a:r>
          </a:p>
          <a:p>
            <a:pPr marL="781035" lvl="1" indent="-171450">
              <a:buClr>
                <a:schemeClr val="bg2"/>
              </a:buClr>
              <a:buFont typeface="Arial" panose="020B0604020202020204" pitchFamily="34" charset="0"/>
              <a:buChar char="•"/>
            </a:pPr>
            <a:endParaRPr lang="en-US" sz="1100"/>
          </a:p>
          <a:p>
            <a:pPr marL="171450" indent="-171450">
              <a:buClr>
                <a:schemeClr val="bg2"/>
              </a:buClr>
              <a:buFont typeface="Arial" panose="020B0604020202020204" pitchFamily="34" charset="0"/>
              <a:buChar char="•"/>
            </a:pPr>
            <a:r>
              <a:rPr lang="en-US" sz="1100"/>
              <a:t>Supplier will have </a:t>
            </a:r>
            <a:r>
              <a:rPr lang="en-US" sz="1100" b="1"/>
              <a:t>end-to-end responsibility </a:t>
            </a:r>
            <a:r>
              <a:rPr lang="en-US" sz="1100"/>
              <a:t>for the new VDI platform(s) and any remaining Citrix implementation. </a:t>
            </a:r>
          </a:p>
          <a:p>
            <a:pPr marL="171450" indent="-171450">
              <a:buClr>
                <a:schemeClr val="bg2"/>
              </a:buClr>
              <a:buFont typeface="Arial" panose="020B0604020202020204" pitchFamily="34" charset="0"/>
              <a:buChar char="•"/>
            </a:pPr>
            <a:endParaRPr lang="en-US" sz="1100"/>
          </a:p>
          <a:p>
            <a:pPr>
              <a:buClr>
                <a:schemeClr val="bg2"/>
              </a:buClr>
            </a:pPr>
            <a:endParaRPr lang="en-US" sz="1100"/>
          </a:p>
        </p:txBody>
      </p:sp>
    </p:spTree>
    <p:extLst>
      <p:ext uri="{BB962C8B-B14F-4D97-AF65-F5344CB8AC3E}">
        <p14:creationId xmlns:p14="http://schemas.microsoft.com/office/powerpoint/2010/main" val="1610148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5E90D-D071-B46E-53B1-0954955929DF}"/>
            </a:ext>
          </a:extLst>
        </p:cNvPr>
        <p:cNvGrpSpPr/>
        <p:nvPr/>
      </p:nvGrpSpPr>
      <p:grpSpPr>
        <a:xfrm>
          <a:off x="0" y="0"/>
          <a:ext cx="0" cy="0"/>
          <a:chOff x="0" y="0"/>
          <a:chExt cx="0" cy="0"/>
        </a:xfrm>
      </p:grpSpPr>
      <p:sp>
        <p:nvSpPr>
          <p:cNvPr id="38" name="TextBox 37">
            <a:extLst>
              <a:ext uri="{FF2B5EF4-FFF2-40B4-BE49-F238E27FC236}">
                <a16:creationId xmlns:a16="http://schemas.microsoft.com/office/drawing/2014/main" id="{7671F531-EAF9-2F49-31A2-7F0A25FB35FC}"/>
              </a:ext>
            </a:extLst>
          </p:cNvPr>
          <p:cNvSpPr txBox="1"/>
          <p:nvPr/>
        </p:nvSpPr>
        <p:spPr>
          <a:xfrm>
            <a:off x="385754" y="746555"/>
            <a:ext cx="11327377" cy="5378789"/>
          </a:xfrm>
          <a:prstGeom prst="rect">
            <a:avLst/>
          </a:prstGeom>
          <a:noFill/>
          <a:ln>
            <a:solidFill>
              <a:schemeClr val="bg1">
                <a:lumMod val="75000"/>
              </a:schemeClr>
            </a:solidFill>
          </a:ln>
        </p:spPr>
        <p:txBody>
          <a:bodyPr wrap="square" lIns="180000" tIns="180000" rIns="180000" bIns="180000" rtlCol="0">
            <a:normAutofit/>
          </a:bodyPr>
          <a:lstStyle/>
          <a:p>
            <a:pPr marL="285750" indent="-285750" algn="l">
              <a:spcBef>
                <a:spcPts val="300"/>
              </a:spcBef>
              <a:spcAft>
                <a:spcPts val="300"/>
              </a:spcAft>
              <a:buClr>
                <a:schemeClr val="tx2"/>
              </a:buClr>
              <a:buSzPct val="150000"/>
              <a:buFont typeface="Arial" panose="020B0604020202020204" pitchFamily="34" charset="0"/>
              <a:buChar char="•"/>
            </a:pPr>
            <a:endParaRPr lang="en-US" sz="1600" err="1"/>
          </a:p>
        </p:txBody>
      </p:sp>
      <p:sp>
        <p:nvSpPr>
          <p:cNvPr id="27" name="Title 17">
            <a:extLst>
              <a:ext uri="{FF2B5EF4-FFF2-40B4-BE49-F238E27FC236}">
                <a16:creationId xmlns:a16="http://schemas.microsoft.com/office/drawing/2014/main" id="{0377BB24-9136-4E35-6AB5-125B3136C70A}"/>
              </a:ext>
            </a:extLst>
          </p:cNvPr>
          <p:cNvSpPr>
            <a:spLocks noGrp="1"/>
          </p:cNvSpPr>
          <p:nvPr>
            <p:ph type="title"/>
          </p:nvPr>
        </p:nvSpPr>
        <p:spPr>
          <a:xfrm>
            <a:off x="478870" y="230848"/>
            <a:ext cx="10102852" cy="451405"/>
          </a:xfrm>
        </p:spPr>
        <p:txBody>
          <a:bodyPr>
            <a:normAutofit/>
          </a:bodyPr>
          <a:lstStyle/>
          <a:p>
            <a:r>
              <a:rPr lang="en-US"/>
              <a:t>Scope Detail – EAS: Virtual Apps &amp; Desktops</a:t>
            </a:r>
          </a:p>
        </p:txBody>
      </p:sp>
      <p:sp>
        <p:nvSpPr>
          <p:cNvPr id="28" name="Date Placeholder 5">
            <a:extLst>
              <a:ext uri="{FF2B5EF4-FFF2-40B4-BE49-F238E27FC236}">
                <a16:creationId xmlns:a16="http://schemas.microsoft.com/office/drawing/2014/main" id="{CD55683E-D153-1547-85A1-31576B6DA9CB}"/>
              </a:ext>
            </a:extLst>
          </p:cNvPr>
          <p:cNvSpPr txBox="1">
            <a:spLocks/>
          </p:cNvSpPr>
          <p:nvPr/>
        </p:nvSpPr>
        <p:spPr>
          <a:xfrm>
            <a:off x="10968821" y="65881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sp>
        <p:nvSpPr>
          <p:cNvPr id="29" name="Slide Number Placeholder 7">
            <a:extLst>
              <a:ext uri="{FF2B5EF4-FFF2-40B4-BE49-F238E27FC236}">
                <a16:creationId xmlns:a16="http://schemas.microsoft.com/office/drawing/2014/main" id="{491B51F9-F5A2-BC4E-E571-4C3E25A2B4EE}"/>
              </a:ext>
            </a:extLst>
          </p:cNvPr>
          <p:cNvSpPr txBox="1">
            <a:spLocks/>
          </p:cNvSpPr>
          <p:nvPr/>
        </p:nvSpPr>
        <p:spPr>
          <a:xfrm>
            <a:off x="11285288" y="6189646"/>
            <a:ext cx="540000" cy="269875"/>
          </a:xfrm>
          <a:prstGeom prst="rect">
            <a:avLst/>
          </a:prstGeom>
        </p:spPr>
        <p:txBody>
          <a:bodyPr vert="horz" lIns="0" tIns="0" rIns="0" bIns="0" rtlCol="0" anchor="b" anchorCtr="0">
            <a:normAutofit/>
          </a:bodyPr>
          <a:lstStyle>
            <a:defPPr>
              <a:defRPr lang="en-US"/>
            </a:defPPr>
            <a:lvl1pPr marL="0" algn="l" defTabSz="1219170" rtl="0" eaLnBrk="1" latinLnBrk="0" hangingPunct="1">
              <a:defRPr sz="12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9F9F533D-B52E-4A2F-BF72-0ADD2D94BD75}" type="slidenum">
              <a:rPr lang="en-GB" smtClean="0"/>
              <a:pPr/>
              <a:t>8</a:t>
            </a:fld>
            <a:endParaRPr lang="en-GB"/>
          </a:p>
        </p:txBody>
      </p:sp>
      <p:sp>
        <p:nvSpPr>
          <p:cNvPr id="30" name="TextBox 29">
            <a:extLst>
              <a:ext uri="{FF2B5EF4-FFF2-40B4-BE49-F238E27FC236}">
                <a16:creationId xmlns:a16="http://schemas.microsoft.com/office/drawing/2014/main" id="{EBA61718-AE21-ED7A-BB09-944A65400CC0}"/>
              </a:ext>
            </a:extLst>
          </p:cNvPr>
          <p:cNvSpPr txBox="1"/>
          <p:nvPr/>
        </p:nvSpPr>
        <p:spPr>
          <a:xfrm>
            <a:off x="407893" y="759755"/>
            <a:ext cx="1997007" cy="307777"/>
          </a:xfrm>
          <a:prstGeom prst="rect">
            <a:avLst/>
          </a:prstGeom>
          <a:solidFill>
            <a:schemeClr val="bg1"/>
          </a:solidFill>
        </p:spPr>
        <p:txBody>
          <a:bodyPr wrap="square" rtlCol="0">
            <a:spAutoFit/>
          </a:bodyPr>
          <a:lstStyle/>
          <a:p>
            <a:pPr>
              <a:buClr>
                <a:schemeClr val="tx1"/>
              </a:buClr>
            </a:pPr>
            <a:r>
              <a:rPr lang="en-GB" sz="1400" b="1">
                <a:solidFill>
                  <a:schemeClr val="tx2"/>
                </a:solidFill>
              </a:rPr>
              <a:t>Scope Description</a:t>
            </a:r>
          </a:p>
        </p:txBody>
      </p:sp>
      <p:sp>
        <p:nvSpPr>
          <p:cNvPr id="33" name="TextBox 32">
            <a:extLst>
              <a:ext uri="{FF2B5EF4-FFF2-40B4-BE49-F238E27FC236}">
                <a16:creationId xmlns:a16="http://schemas.microsoft.com/office/drawing/2014/main" id="{39430F1C-FB02-79E5-E8E0-BF97AE0AD034}"/>
              </a:ext>
            </a:extLst>
          </p:cNvPr>
          <p:cNvSpPr txBox="1"/>
          <p:nvPr/>
        </p:nvSpPr>
        <p:spPr>
          <a:xfrm>
            <a:off x="366712" y="1080732"/>
            <a:ext cx="11233971" cy="2292935"/>
          </a:xfrm>
          <a:prstGeom prst="rect">
            <a:avLst/>
          </a:prstGeom>
          <a:noFill/>
          <a:ln>
            <a:noFill/>
          </a:ln>
        </p:spPr>
        <p:txBody>
          <a:bodyPr wrap="square" lIns="91440" tIns="45720" rIns="91440" bIns="45720" numCol="1" rtlCol="0" anchor="t">
            <a:spAutoFit/>
          </a:bodyPr>
          <a:lstStyle/>
          <a:p>
            <a:pPr>
              <a:buClr>
                <a:schemeClr val="bg2"/>
              </a:buClr>
            </a:pPr>
            <a:r>
              <a:rPr lang="en-US" sz="1100"/>
              <a:t>Supplier shall:</a:t>
            </a:r>
          </a:p>
          <a:p>
            <a:pPr>
              <a:buClr>
                <a:schemeClr val="bg2"/>
              </a:buClr>
            </a:pPr>
            <a:r>
              <a:rPr lang="en-US" sz="1100"/>
              <a:t>Provide all necessary support and request management for any existing and additional environment requirements</a:t>
            </a:r>
          </a:p>
          <a:p>
            <a:pPr>
              <a:buClr>
                <a:schemeClr val="bg2"/>
              </a:buClr>
            </a:pPr>
            <a:r>
              <a:rPr lang="en-US" sz="1100"/>
              <a:t>Provide all necessary support relating to Cloud VDI API integration with third party technologies (SNOW or any monitoring tool)</a:t>
            </a:r>
          </a:p>
          <a:p>
            <a:pPr>
              <a:buClr>
                <a:schemeClr val="bg2"/>
              </a:buClr>
            </a:pPr>
            <a:r>
              <a:rPr lang="en-US" sz="1100"/>
              <a:t>Provision and manage GSK’s MCS or equivalent technology environment, both on-prem and cloud estate.</a:t>
            </a:r>
          </a:p>
          <a:p>
            <a:pPr>
              <a:buClr>
                <a:schemeClr val="bg2"/>
              </a:buClr>
            </a:pPr>
            <a:r>
              <a:rPr lang="en-US" sz="1100"/>
              <a:t>Provision, manage and automate provisioning including control, configuration and management of GSK VA&amp;D environment</a:t>
            </a:r>
          </a:p>
          <a:p>
            <a:pPr>
              <a:buClr>
                <a:schemeClr val="bg2"/>
              </a:buClr>
            </a:pPr>
            <a:r>
              <a:rPr lang="en-US" sz="1100"/>
              <a:t>Understand user requirements, document and deploy the best suited solution to meet business needs in line with the VA&amp;D Strategy</a:t>
            </a:r>
          </a:p>
          <a:p>
            <a:pPr>
              <a:buClr>
                <a:schemeClr val="bg2"/>
              </a:buClr>
            </a:pPr>
            <a:r>
              <a:rPr lang="en-US" sz="1100"/>
              <a:t>Advise, document, plan, deploy and maintain existing software / hardware (as per baseline) concurrency for GSK VA&amp;D environment</a:t>
            </a:r>
          </a:p>
          <a:p>
            <a:pPr>
              <a:buClr>
                <a:schemeClr val="bg2"/>
              </a:buClr>
            </a:pPr>
            <a:r>
              <a:rPr lang="en-US" sz="1100"/>
              <a:t>Monitor, manage, recommend and maintain performance to ensure optimum user experience without impact and VDI performance.</a:t>
            </a:r>
          </a:p>
          <a:p>
            <a:pPr>
              <a:buClr>
                <a:schemeClr val="bg2"/>
              </a:buClr>
            </a:pPr>
            <a:r>
              <a:rPr lang="en-US" sz="1100"/>
              <a:t>Maintain, record, update and report on Demand and Capacity to ensure License and capacity compliance for the VA&amp;D estate. </a:t>
            </a:r>
          </a:p>
          <a:p>
            <a:pPr>
              <a:buClr>
                <a:schemeClr val="bg2"/>
              </a:buClr>
            </a:pPr>
            <a:r>
              <a:rPr lang="en-US" sz="1100"/>
              <a:t>Propose, plan and implement measurable cost associated value adds for the GSK VA&amp;D environment</a:t>
            </a:r>
          </a:p>
          <a:p>
            <a:pPr>
              <a:buClr>
                <a:schemeClr val="bg2"/>
              </a:buClr>
            </a:pPr>
            <a:r>
              <a:rPr lang="en-US" sz="1100"/>
              <a:t>Ensure vulnerabilities are assessed, actioned and reported upon for the VA&amp;D environment for existing tools as per baseline</a:t>
            </a:r>
          </a:p>
          <a:p>
            <a:pPr>
              <a:buClr>
                <a:schemeClr val="bg2"/>
              </a:buClr>
            </a:pPr>
            <a:endParaRPr lang="en-US" sz="1100"/>
          </a:p>
          <a:p>
            <a:pPr>
              <a:buClr>
                <a:schemeClr val="bg2"/>
              </a:buClr>
            </a:pPr>
            <a:endParaRPr lang="en-US" sz="1100"/>
          </a:p>
        </p:txBody>
      </p:sp>
    </p:spTree>
    <p:extLst>
      <p:ext uri="{BB962C8B-B14F-4D97-AF65-F5344CB8AC3E}">
        <p14:creationId xmlns:p14="http://schemas.microsoft.com/office/powerpoint/2010/main" val="3285011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CBA33-1F09-07CA-F89E-4AE628234548}"/>
            </a:ext>
          </a:extLst>
        </p:cNvPr>
        <p:cNvGrpSpPr/>
        <p:nvPr/>
      </p:nvGrpSpPr>
      <p:grpSpPr>
        <a:xfrm>
          <a:off x="0" y="0"/>
          <a:ext cx="0" cy="0"/>
          <a:chOff x="0" y="0"/>
          <a:chExt cx="0" cy="0"/>
        </a:xfrm>
      </p:grpSpPr>
      <p:sp>
        <p:nvSpPr>
          <p:cNvPr id="38" name="TextBox 37">
            <a:extLst>
              <a:ext uri="{FF2B5EF4-FFF2-40B4-BE49-F238E27FC236}">
                <a16:creationId xmlns:a16="http://schemas.microsoft.com/office/drawing/2014/main" id="{DB58AC53-D299-40F4-946A-7E841D2EA308}"/>
              </a:ext>
            </a:extLst>
          </p:cNvPr>
          <p:cNvSpPr txBox="1"/>
          <p:nvPr/>
        </p:nvSpPr>
        <p:spPr>
          <a:xfrm>
            <a:off x="385754" y="746555"/>
            <a:ext cx="11327377" cy="5378789"/>
          </a:xfrm>
          <a:prstGeom prst="rect">
            <a:avLst/>
          </a:prstGeom>
          <a:noFill/>
          <a:ln>
            <a:solidFill>
              <a:schemeClr val="bg1">
                <a:lumMod val="75000"/>
              </a:schemeClr>
            </a:solidFill>
          </a:ln>
        </p:spPr>
        <p:txBody>
          <a:bodyPr wrap="square" lIns="180000" tIns="180000" rIns="180000" bIns="180000" rtlCol="0">
            <a:normAutofit/>
          </a:bodyPr>
          <a:lstStyle/>
          <a:p>
            <a:pPr marL="285750" indent="-285750" algn="l">
              <a:spcBef>
                <a:spcPts val="300"/>
              </a:spcBef>
              <a:spcAft>
                <a:spcPts val="300"/>
              </a:spcAft>
              <a:buClr>
                <a:schemeClr val="tx2"/>
              </a:buClr>
              <a:buSzPct val="150000"/>
              <a:buFont typeface="Arial" panose="020B0604020202020204" pitchFamily="34" charset="0"/>
              <a:buChar char="•"/>
            </a:pPr>
            <a:endParaRPr lang="en-US" sz="1600" err="1"/>
          </a:p>
        </p:txBody>
      </p:sp>
      <p:sp>
        <p:nvSpPr>
          <p:cNvPr id="27" name="Title 17">
            <a:extLst>
              <a:ext uri="{FF2B5EF4-FFF2-40B4-BE49-F238E27FC236}">
                <a16:creationId xmlns:a16="http://schemas.microsoft.com/office/drawing/2014/main" id="{AE805C93-CE30-C1D4-63A2-42569667DB71}"/>
              </a:ext>
            </a:extLst>
          </p:cNvPr>
          <p:cNvSpPr>
            <a:spLocks noGrp="1"/>
          </p:cNvSpPr>
          <p:nvPr>
            <p:ph type="title"/>
          </p:nvPr>
        </p:nvSpPr>
        <p:spPr>
          <a:xfrm>
            <a:off x="478870" y="230848"/>
            <a:ext cx="10102852" cy="451405"/>
          </a:xfrm>
        </p:spPr>
        <p:txBody>
          <a:bodyPr>
            <a:normAutofit/>
          </a:bodyPr>
          <a:lstStyle/>
          <a:p>
            <a:r>
              <a:rPr lang="en-US"/>
              <a:t>Scope Detail – EAS: Virtual Apps &amp; Desktops</a:t>
            </a:r>
          </a:p>
        </p:txBody>
      </p:sp>
      <p:sp>
        <p:nvSpPr>
          <p:cNvPr id="28" name="Date Placeholder 5">
            <a:extLst>
              <a:ext uri="{FF2B5EF4-FFF2-40B4-BE49-F238E27FC236}">
                <a16:creationId xmlns:a16="http://schemas.microsoft.com/office/drawing/2014/main" id="{EB92795E-1202-9939-EA4E-3E216B38DE76}"/>
              </a:ext>
            </a:extLst>
          </p:cNvPr>
          <p:cNvSpPr txBox="1">
            <a:spLocks/>
          </p:cNvSpPr>
          <p:nvPr/>
        </p:nvSpPr>
        <p:spPr>
          <a:xfrm>
            <a:off x="10968821" y="65881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sp>
        <p:nvSpPr>
          <p:cNvPr id="29" name="Slide Number Placeholder 7">
            <a:extLst>
              <a:ext uri="{FF2B5EF4-FFF2-40B4-BE49-F238E27FC236}">
                <a16:creationId xmlns:a16="http://schemas.microsoft.com/office/drawing/2014/main" id="{78E7843C-1771-71C5-B2F4-55212404F40C}"/>
              </a:ext>
            </a:extLst>
          </p:cNvPr>
          <p:cNvSpPr txBox="1">
            <a:spLocks/>
          </p:cNvSpPr>
          <p:nvPr/>
        </p:nvSpPr>
        <p:spPr>
          <a:xfrm>
            <a:off x="11285288" y="6189646"/>
            <a:ext cx="540000" cy="269875"/>
          </a:xfrm>
          <a:prstGeom prst="rect">
            <a:avLst/>
          </a:prstGeom>
        </p:spPr>
        <p:txBody>
          <a:bodyPr vert="horz" lIns="0" tIns="0" rIns="0" bIns="0" rtlCol="0" anchor="b" anchorCtr="0">
            <a:normAutofit/>
          </a:bodyPr>
          <a:lstStyle>
            <a:defPPr>
              <a:defRPr lang="en-US"/>
            </a:defPPr>
            <a:lvl1pPr marL="0" algn="l" defTabSz="1219170" rtl="0" eaLnBrk="1" latinLnBrk="0" hangingPunct="1">
              <a:defRPr sz="12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9F9F533D-B52E-4A2F-BF72-0ADD2D94BD75}" type="slidenum">
              <a:rPr lang="en-GB" smtClean="0"/>
              <a:pPr/>
              <a:t>9</a:t>
            </a:fld>
            <a:endParaRPr lang="en-GB"/>
          </a:p>
        </p:txBody>
      </p:sp>
      <p:sp>
        <p:nvSpPr>
          <p:cNvPr id="30" name="TextBox 29">
            <a:extLst>
              <a:ext uri="{FF2B5EF4-FFF2-40B4-BE49-F238E27FC236}">
                <a16:creationId xmlns:a16="http://schemas.microsoft.com/office/drawing/2014/main" id="{7174098D-2147-20C6-7F8B-14B4CFFFB40D}"/>
              </a:ext>
            </a:extLst>
          </p:cNvPr>
          <p:cNvSpPr txBox="1"/>
          <p:nvPr/>
        </p:nvSpPr>
        <p:spPr>
          <a:xfrm>
            <a:off x="407893" y="759755"/>
            <a:ext cx="1997007" cy="307777"/>
          </a:xfrm>
          <a:prstGeom prst="rect">
            <a:avLst/>
          </a:prstGeom>
          <a:solidFill>
            <a:schemeClr val="bg1"/>
          </a:solidFill>
        </p:spPr>
        <p:txBody>
          <a:bodyPr wrap="square" rtlCol="0">
            <a:spAutoFit/>
          </a:bodyPr>
          <a:lstStyle/>
          <a:p>
            <a:pPr>
              <a:buClr>
                <a:schemeClr val="tx1"/>
              </a:buClr>
            </a:pPr>
            <a:r>
              <a:rPr lang="en-GB" sz="1400" b="1">
                <a:solidFill>
                  <a:schemeClr val="tx2"/>
                </a:solidFill>
              </a:rPr>
              <a:t>Scope Description</a:t>
            </a:r>
          </a:p>
        </p:txBody>
      </p:sp>
      <p:sp>
        <p:nvSpPr>
          <p:cNvPr id="33" name="TextBox 32">
            <a:extLst>
              <a:ext uri="{FF2B5EF4-FFF2-40B4-BE49-F238E27FC236}">
                <a16:creationId xmlns:a16="http://schemas.microsoft.com/office/drawing/2014/main" id="{628A7389-C97F-16A8-0336-EDC9516DF8C4}"/>
              </a:ext>
            </a:extLst>
          </p:cNvPr>
          <p:cNvSpPr txBox="1"/>
          <p:nvPr/>
        </p:nvSpPr>
        <p:spPr>
          <a:xfrm>
            <a:off x="383067" y="948674"/>
            <a:ext cx="11233971" cy="5678478"/>
          </a:xfrm>
          <a:prstGeom prst="rect">
            <a:avLst/>
          </a:prstGeom>
          <a:noFill/>
          <a:ln>
            <a:noFill/>
          </a:ln>
        </p:spPr>
        <p:txBody>
          <a:bodyPr wrap="square" lIns="91440" tIns="45720" rIns="91440" bIns="45720" numCol="1" rtlCol="0" anchor="t">
            <a:spAutoFit/>
          </a:bodyPr>
          <a:lstStyle/>
          <a:p>
            <a:pPr>
              <a:buClr>
                <a:schemeClr val="bg2"/>
              </a:buClr>
            </a:pPr>
            <a:endParaRPr lang="en-US" sz="1100" b="1">
              <a:highlight>
                <a:srgbClr val="FFFF00"/>
              </a:highlight>
            </a:endParaRPr>
          </a:p>
          <a:p>
            <a:pPr>
              <a:buClr>
                <a:schemeClr val="bg2"/>
              </a:buClr>
            </a:pPr>
            <a:r>
              <a:rPr lang="en-GB" sz="1100" b="1"/>
              <a:t>Application Dev/ Support Service Detail (</a:t>
            </a:r>
            <a:r>
              <a:rPr lang="en-GB" sz="1100" b="1" err="1"/>
              <a:t>cont</a:t>
            </a:r>
            <a:r>
              <a:rPr lang="en-GB" sz="1100" b="1"/>
              <a:t>)</a:t>
            </a:r>
            <a:endParaRPr lang="en-GB" sz="1100"/>
          </a:p>
          <a:p>
            <a:pPr>
              <a:buClr>
                <a:schemeClr val="bg2"/>
              </a:buClr>
            </a:pPr>
            <a:endParaRPr lang="en-US" sz="1100"/>
          </a:p>
          <a:p>
            <a:pPr>
              <a:buClr>
                <a:schemeClr val="bg2"/>
              </a:buClr>
            </a:pPr>
            <a:r>
              <a:rPr lang="en-US" sz="1100" b="1" u="sng"/>
              <a:t>Current Citrix service description detail:</a:t>
            </a:r>
            <a:br>
              <a:rPr lang="en-US" sz="1100" b="1" u="sng"/>
            </a:br>
            <a:endParaRPr lang="en-US" sz="1100" b="1" u="sng"/>
          </a:p>
          <a:p>
            <a:pPr marL="171450" indent="-171450">
              <a:buClr>
                <a:schemeClr val="bg2"/>
              </a:buClr>
              <a:buFont typeface="Arial" panose="020B0604020202020204" pitchFamily="34" charset="0"/>
              <a:buChar char="•"/>
            </a:pPr>
            <a:r>
              <a:rPr lang="en-US" sz="1100"/>
              <a:t>~21000 users, comprising 17000 external partners and 4000 internal (GSK)</a:t>
            </a:r>
          </a:p>
          <a:p>
            <a:pPr marL="171450" indent="-171450">
              <a:buClr>
                <a:schemeClr val="bg2"/>
              </a:buClr>
              <a:buFont typeface="Arial" panose="020B0604020202020204" pitchFamily="34" charset="0"/>
              <a:buChar char="•"/>
            </a:pPr>
            <a:r>
              <a:rPr lang="en-US" sz="1100"/>
              <a:t>16500 concurrent users (peak)</a:t>
            </a:r>
          </a:p>
          <a:p>
            <a:pPr marL="171450" indent="-171450">
              <a:buClr>
                <a:schemeClr val="bg2"/>
              </a:buClr>
              <a:buFont typeface="Arial" panose="020B0604020202020204" pitchFamily="34" charset="0"/>
              <a:buChar char="•"/>
            </a:pPr>
            <a:r>
              <a:rPr lang="en-US" sz="1100"/>
              <a:t>200+ external partners utilizing the service</a:t>
            </a:r>
          </a:p>
          <a:p>
            <a:pPr marL="171450" indent="-171450">
              <a:buClr>
                <a:schemeClr val="bg2"/>
              </a:buClr>
              <a:buFont typeface="Arial" panose="020B0604020202020204" pitchFamily="34" charset="0"/>
              <a:buChar char="•"/>
            </a:pPr>
            <a:r>
              <a:rPr lang="en-US" sz="1100"/>
              <a:t>Approx 65% multi-session VDIs, 35% single-session persistent VDIs</a:t>
            </a:r>
          </a:p>
          <a:p>
            <a:pPr marL="171450" indent="-171450">
              <a:buClr>
                <a:schemeClr val="bg2"/>
              </a:buClr>
              <a:buFont typeface="Arial" panose="020B0604020202020204" pitchFamily="34" charset="0"/>
              <a:buChar char="•"/>
            </a:pPr>
            <a:r>
              <a:rPr lang="en-US" sz="1100"/>
              <a:t>Approx 20 desktop images, (Click to Deploy)</a:t>
            </a:r>
          </a:p>
          <a:p>
            <a:pPr marL="171450" indent="-171450">
              <a:buClr>
                <a:schemeClr val="bg2"/>
              </a:buClr>
              <a:buFont typeface="Arial" panose="020B0604020202020204" pitchFamily="34" charset="0"/>
              <a:buChar char="•"/>
            </a:pPr>
            <a:r>
              <a:rPr lang="en-US" sz="1100"/>
              <a:t>Hosted in Azure IE1 and US6</a:t>
            </a:r>
          </a:p>
          <a:p>
            <a:pPr marL="171450" indent="-171450">
              <a:buClr>
                <a:schemeClr val="bg2"/>
              </a:buClr>
              <a:buFont typeface="Arial" panose="020B0604020202020204" pitchFamily="34" charset="0"/>
              <a:buChar char="•"/>
            </a:pPr>
            <a:r>
              <a:rPr lang="en-US" sz="1100"/>
              <a:t>Storage utilizes CVO, planned migration to ANF</a:t>
            </a:r>
          </a:p>
          <a:p>
            <a:pPr marL="171450" indent="-171450">
              <a:buClr>
                <a:schemeClr val="bg2"/>
              </a:buClr>
              <a:buFont typeface="Arial" panose="020B0604020202020204" pitchFamily="34" charset="0"/>
              <a:buChar char="•"/>
            </a:pPr>
            <a:r>
              <a:rPr lang="en-US" sz="1100"/>
              <a:t>~100 server-hosted desktop servers </a:t>
            </a:r>
          </a:p>
          <a:p>
            <a:pPr marL="171450" indent="-171450">
              <a:buClr>
                <a:schemeClr val="bg2"/>
              </a:buClr>
              <a:buFont typeface="Arial" panose="020B0604020202020204" pitchFamily="34" charset="0"/>
              <a:buChar char="•"/>
            </a:pPr>
            <a:r>
              <a:rPr lang="en-US" sz="1100"/>
              <a:t>8500 VDAs</a:t>
            </a:r>
          </a:p>
          <a:p>
            <a:pPr marL="171450" indent="-171450">
              <a:buClr>
                <a:schemeClr val="bg2"/>
              </a:buClr>
              <a:buFont typeface="Arial" panose="020B0604020202020204" pitchFamily="34" charset="0"/>
              <a:buChar char="•"/>
            </a:pPr>
            <a:r>
              <a:rPr lang="en-US" sz="1100"/>
              <a:t>200 apps in multi-session VDI, 600+ apps in persistent VDI (SCCM &amp; </a:t>
            </a:r>
            <a:r>
              <a:rPr lang="en-US" sz="1100" err="1"/>
              <a:t>InTune</a:t>
            </a:r>
            <a:r>
              <a:rPr lang="en-US" sz="1100"/>
              <a:t> based)</a:t>
            </a:r>
          </a:p>
          <a:p>
            <a:pPr marL="171450" indent="-171450">
              <a:buClr>
                <a:schemeClr val="bg2"/>
              </a:buClr>
              <a:buFont typeface="Arial" panose="020B0604020202020204" pitchFamily="34" charset="0"/>
              <a:buChar char="•"/>
            </a:pPr>
            <a:r>
              <a:rPr lang="en-US" sz="1100"/>
              <a:t>Citrix Workspace Application version 2503 (CR)</a:t>
            </a:r>
          </a:p>
          <a:p>
            <a:pPr marL="171450" indent="-171450">
              <a:buClr>
                <a:schemeClr val="bg2"/>
              </a:buClr>
              <a:buFont typeface="Arial" panose="020B0604020202020204" pitchFamily="34" charset="0"/>
              <a:buChar char="•"/>
            </a:pPr>
            <a:r>
              <a:rPr lang="en-US" sz="1100"/>
              <a:t>VDA version 2402 CU1</a:t>
            </a:r>
          </a:p>
          <a:p>
            <a:pPr marL="171450" indent="-171450">
              <a:buClr>
                <a:schemeClr val="bg2"/>
              </a:buClr>
              <a:buFont typeface="Arial" panose="020B0604020202020204" pitchFamily="34" charset="0"/>
              <a:buChar char="•"/>
            </a:pPr>
            <a:r>
              <a:rPr lang="en-US" sz="1100"/>
              <a:t>10 siloed application servers, 13 siloed applications</a:t>
            </a:r>
          </a:p>
          <a:p>
            <a:pPr marL="171450" indent="-171450">
              <a:buClr>
                <a:schemeClr val="bg2"/>
              </a:buClr>
              <a:buFont typeface="Arial" panose="020B0604020202020204" pitchFamily="34" charset="0"/>
              <a:buChar char="•"/>
            </a:pPr>
            <a:r>
              <a:rPr lang="en-US" sz="1100"/>
              <a:t>Small on-prem instances in Wavre, Rosia, </a:t>
            </a:r>
            <a:r>
              <a:rPr lang="en-US" sz="1100" err="1"/>
              <a:t>Rixensart</a:t>
            </a:r>
            <a:r>
              <a:rPr lang="en-US" sz="1100"/>
              <a:t>, Sienna, APAC</a:t>
            </a:r>
            <a:br>
              <a:rPr lang="en-US" sz="1100"/>
            </a:br>
            <a:endParaRPr lang="en-US" sz="1100"/>
          </a:p>
          <a:p>
            <a:pPr>
              <a:buClr>
                <a:schemeClr val="bg2"/>
              </a:buClr>
            </a:pPr>
            <a:r>
              <a:rPr lang="en-US" sz="1100"/>
              <a:t>Software and versions:</a:t>
            </a:r>
          </a:p>
          <a:p>
            <a:pPr marL="171450" indent="-171450">
              <a:buFont typeface="Arial" panose="020B0604020202020204" pitchFamily="34" charset="0"/>
              <a:buChar char="•"/>
            </a:pPr>
            <a:r>
              <a:rPr lang="en-GB" sz="1100"/>
              <a:t>Personalisation and End Point Management : Ivanti AppSense Env Manager version 2025.2</a:t>
            </a:r>
          </a:p>
          <a:p>
            <a:pPr marL="171450" indent="-171450">
              <a:buFont typeface="Arial" panose="020B0604020202020204" pitchFamily="34" charset="0"/>
              <a:buChar char="•"/>
            </a:pPr>
            <a:r>
              <a:rPr lang="en-GB" sz="1100" err="1"/>
              <a:t>FSLogix</a:t>
            </a:r>
            <a:r>
              <a:rPr lang="en-GB" sz="1100"/>
              <a:t> for profile management/personalisation/management</a:t>
            </a:r>
          </a:p>
          <a:p>
            <a:pPr marL="171450" indent="-171450">
              <a:buFont typeface="Arial" panose="020B0604020202020204" pitchFamily="34" charset="0"/>
              <a:buChar char="•"/>
            </a:pPr>
            <a:r>
              <a:rPr lang="en-GB" sz="1100"/>
              <a:t>Windows Server OS 2k16 &amp; 2k19</a:t>
            </a:r>
          </a:p>
          <a:p>
            <a:pPr marL="171450" indent="-171450">
              <a:buFont typeface="Arial" panose="020B0604020202020204" pitchFamily="34" charset="0"/>
              <a:buChar char="•"/>
            </a:pPr>
            <a:r>
              <a:rPr lang="en-GB" sz="1100"/>
              <a:t>Client : CWA v 2503</a:t>
            </a:r>
          </a:p>
          <a:p>
            <a:pPr marL="171450" indent="-171450">
              <a:buFont typeface="Arial" panose="020B0604020202020204" pitchFamily="34" charset="0"/>
              <a:buChar char="•"/>
            </a:pPr>
            <a:r>
              <a:rPr lang="en-GB" sz="1100"/>
              <a:t>DEX: NexThink – 23.X</a:t>
            </a:r>
          </a:p>
          <a:p>
            <a:pPr marL="171450" indent="-171450">
              <a:buFont typeface="Arial" panose="020B0604020202020204" pitchFamily="34" charset="0"/>
              <a:buChar char="•"/>
            </a:pPr>
            <a:r>
              <a:rPr lang="en-GB" sz="1100"/>
              <a:t>Windows 11 desktop OS</a:t>
            </a:r>
          </a:p>
          <a:p>
            <a:pPr>
              <a:buClr>
                <a:schemeClr val="bg2"/>
              </a:buClr>
            </a:pPr>
            <a:endParaRPr lang="en-GB" sz="1100"/>
          </a:p>
          <a:p>
            <a:pPr>
              <a:buClr>
                <a:schemeClr val="bg2"/>
              </a:buClr>
            </a:pPr>
            <a:r>
              <a:rPr lang="en-US" sz="1100" b="1" u="sng"/>
              <a:t>Application Roadmap</a:t>
            </a:r>
          </a:p>
          <a:p>
            <a:pPr>
              <a:buClr>
                <a:schemeClr val="bg2"/>
              </a:buClr>
            </a:pPr>
            <a:r>
              <a:rPr lang="en-US" sz="1100"/>
              <a:t>The Supplier will lead the transformation of GSK’s Virtual Desktop Infrastructure (VDI), transitioning from the current Citrix-based estate by end 2026, as outlined above.</a:t>
            </a:r>
          </a:p>
          <a:p>
            <a:pPr>
              <a:buClr>
                <a:schemeClr val="bg2"/>
              </a:buClr>
            </a:pPr>
            <a:endParaRPr lang="en-GB" sz="1100"/>
          </a:p>
          <a:p>
            <a:pPr>
              <a:buClr>
                <a:schemeClr val="bg2"/>
              </a:buClr>
            </a:pPr>
            <a:endParaRPr lang="en-GB" sz="1100"/>
          </a:p>
          <a:p>
            <a:pPr>
              <a:buClr>
                <a:schemeClr val="bg2"/>
              </a:buClr>
            </a:pPr>
            <a:endParaRPr lang="en-US" sz="1100"/>
          </a:p>
        </p:txBody>
      </p:sp>
    </p:spTree>
    <p:extLst>
      <p:ext uri="{BB962C8B-B14F-4D97-AF65-F5344CB8AC3E}">
        <p14:creationId xmlns:p14="http://schemas.microsoft.com/office/powerpoint/2010/main" val="1880867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8067B-2938-4FB1-2892-F3BD88A614EE}"/>
            </a:ext>
          </a:extLst>
        </p:cNvPr>
        <p:cNvGrpSpPr/>
        <p:nvPr/>
      </p:nvGrpSpPr>
      <p:grpSpPr>
        <a:xfrm>
          <a:off x="0" y="0"/>
          <a:ext cx="0" cy="0"/>
          <a:chOff x="0" y="0"/>
          <a:chExt cx="0" cy="0"/>
        </a:xfrm>
      </p:grpSpPr>
      <p:sp>
        <p:nvSpPr>
          <p:cNvPr id="38" name="TextBox 37">
            <a:extLst>
              <a:ext uri="{FF2B5EF4-FFF2-40B4-BE49-F238E27FC236}">
                <a16:creationId xmlns:a16="http://schemas.microsoft.com/office/drawing/2014/main" id="{D7464867-6A46-161E-A72E-52C60D8E99CA}"/>
              </a:ext>
            </a:extLst>
          </p:cNvPr>
          <p:cNvSpPr txBox="1"/>
          <p:nvPr/>
        </p:nvSpPr>
        <p:spPr>
          <a:xfrm>
            <a:off x="478870" y="1065910"/>
            <a:ext cx="11327377" cy="5123736"/>
          </a:xfrm>
          <a:prstGeom prst="rect">
            <a:avLst/>
          </a:prstGeom>
          <a:noFill/>
          <a:ln>
            <a:solidFill>
              <a:schemeClr val="bg1">
                <a:lumMod val="75000"/>
              </a:schemeClr>
            </a:solidFill>
          </a:ln>
        </p:spPr>
        <p:txBody>
          <a:bodyPr wrap="square" lIns="180000" tIns="180000" rIns="180000" bIns="180000" rtlCol="0">
            <a:normAutofit/>
          </a:bodyPr>
          <a:lstStyle/>
          <a:p>
            <a:pPr marL="285750" indent="-285750" algn="l">
              <a:spcBef>
                <a:spcPts val="300"/>
              </a:spcBef>
              <a:spcAft>
                <a:spcPts val="300"/>
              </a:spcAft>
              <a:buClr>
                <a:schemeClr val="tx2"/>
              </a:buClr>
              <a:buSzPct val="150000"/>
              <a:buFont typeface="Arial" panose="020B0604020202020204" pitchFamily="34" charset="0"/>
              <a:buChar char="•"/>
            </a:pPr>
            <a:endParaRPr lang="en-US" sz="1600" err="1"/>
          </a:p>
        </p:txBody>
      </p:sp>
      <p:sp>
        <p:nvSpPr>
          <p:cNvPr id="27" name="Title 17">
            <a:extLst>
              <a:ext uri="{FF2B5EF4-FFF2-40B4-BE49-F238E27FC236}">
                <a16:creationId xmlns:a16="http://schemas.microsoft.com/office/drawing/2014/main" id="{D2A5A753-2CBA-84D9-9159-6B5F34C7B8B9}"/>
              </a:ext>
            </a:extLst>
          </p:cNvPr>
          <p:cNvSpPr>
            <a:spLocks noGrp="1"/>
          </p:cNvSpPr>
          <p:nvPr>
            <p:ph type="title"/>
          </p:nvPr>
        </p:nvSpPr>
        <p:spPr>
          <a:xfrm>
            <a:off x="478870" y="230848"/>
            <a:ext cx="10102852" cy="451405"/>
          </a:xfrm>
        </p:spPr>
        <p:txBody>
          <a:bodyPr>
            <a:normAutofit/>
          </a:bodyPr>
          <a:lstStyle/>
          <a:p>
            <a:r>
              <a:rPr lang="en-US"/>
              <a:t>Scope Detail – EAS: Virtual Apps &amp; Desktops (cont.)</a:t>
            </a:r>
          </a:p>
        </p:txBody>
      </p:sp>
      <p:sp>
        <p:nvSpPr>
          <p:cNvPr id="28" name="Date Placeholder 5">
            <a:extLst>
              <a:ext uri="{FF2B5EF4-FFF2-40B4-BE49-F238E27FC236}">
                <a16:creationId xmlns:a16="http://schemas.microsoft.com/office/drawing/2014/main" id="{EB3DE980-F3F9-3E8E-57EE-02354144A5E5}"/>
              </a:ext>
            </a:extLst>
          </p:cNvPr>
          <p:cNvSpPr txBox="1">
            <a:spLocks/>
          </p:cNvSpPr>
          <p:nvPr/>
        </p:nvSpPr>
        <p:spPr>
          <a:xfrm>
            <a:off x="10968821" y="65881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sp>
        <p:nvSpPr>
          <p:cNvPr id="29" name="Slide Number Placeholder 7">
            <a:extLst>
              <a:ext uri="{FF2B5EF4-FFF2-40B4-BE49-F238E27FC236}">
                <a16:creationId xmlns:a16="http://schemas.microsoft.com/office/drawing/2014/main" id="{8B47B627-9974-40CE-AE66-2C4E4CC60803}"/>
              </a:ext>
            </a:extLst>
          </p:cNvPr>
          <p:cNvSpPr txBox="1">
            <a:spLocks/>
          </p:cNvSpPr>
          <p:nvPr/>
        </p:nvSpPr>
        <p:spPr>
          <a:xfrm>
            <a:off x="11285288" y="6189646"/>
            <a:ext cx="540000" cy="269875"/>
          </a:xfrm>
          <a:prstGeom prst="rect">
            <a:avLst/>
          </a:prstGeom>
        </p:spPr>
        <p:txBody>
          <a:bodyPr vert="horz" lIns="0" tIns="0" rIns="0" bIns="0" rtlCol="0" anchor="b" anchorCtr="0">
            <a:normAutofit/>
          </a:bodyPr>
          <a:lstStyle>
            <a:defPPr>
              <a:defRPr lang="en-US"/>
            </a:defPPr>
            <a:lvl1pPr marL="0" algn="l" defTabSz="1219170" rtl="0" eaLnBrk="1" latinLnBrk="0" hangingPunct="1">
              <a:defRPr sz="12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9F9F533D-B52E-4A2F-BF72-0ADD2D94BD75}" type="slidenum">
              <a:rPr lang="en-GB" smtClean="0"/>
              <a:pPr/>
              <a:t>10</a:t>
            </a:fld>
            <a:endParaRPr lang="en-GB"/>
          </a:p>
        </p:txBody>
      </p:sp>
      <p:sp>
        <p:nvSpPr>
          <p:cNvPr id="30" name="TextBox 29">
            <a:extLst>
              <a:ext uri="{FF2B5EF4-FFF2-40B4-BE49-F238E27FC236}">
                <a16:creationId xmlns:a16="http://schemas.microsoft.com/office/drawing/2014/main" id="{01858984-4810-3620-7902-AC611F4391CF}"/>
              </a:ext>
            </a:extLst>
          </p:cNvPr>
          <p:cNvSpPr txBox="1"/>
          <p:nvPr/>
        </p:nvSpPr>
        <p:spPr>
          <a:xfrm>
            <a:off x="596549" y="913195"/>
            <a:ext cx="1997007" cy="307777"/>
          </a:xfrm>
          <a:prstGeom prst="rect">
            <a:avLst/>
          </a:prstGeom>
          <a:solidFill>
            <a:schemeClr val="bg1"/>
          </a:solidFill>
        </p:spPr>
        <p:txBody>
          <a:bodyPr wrap="square" rtlCol="0">
            <a:spAutoFit/>
          </a:bodyPr>
          <a:lstStyle/>
          <a:p>
            <a:pPr>
              <a:buClr>
                <a:schemeClr val="tx1"/>
              </a:buClr>
            </a:pPr>
            <a:r>
              <a:rPr lang="en-GB" sz="1400" b="1">
                <a:solidFill>
                  <a:schemeClr val="tx2"/>
                </a:solidFill>
              </a:rPr>
              <a:t>Scope Description</a:t>
            </a:r>
          </a:p>
        </p:txBody>
      </p:sp>
      <p:sp>
        <p:nvSpPr>
          <p:cNvPr id="33" name="TextBox 32">
            <a:extLst>
              <a:ext uri="{FF2B5EF4-FFF2-40B4-BE49-F238E27FC236}">
                <a16:creationId xmlns:a16="http://schemas.microsoft.com/office/drawing/2014/main" id="{8023BD4C-530A-C45E-8F0E-F4564D675B1E}"/>
              </a:ext>
            </a:extLst>
          </p:cNvPr>
          <p:cNvSpPr txBox="1"/>
          <p:nvPr/>
        </p:nvSpPr>
        <p:spPr>
          <a:xfrm>
            <a:off x="572275" y="1288605"/>
            <a:ext cx="11233971" cy="4616648"/>
          </a:xfrm>
          <a:prstGeom prst="rect">
            <a:avLst/>
          </a:prstGeom>
          <a:noFill/>
          <a:ln>
            <a:noFill/>
          </a:ln>
        </p:spPr>
        <p:txBody>
          <a:bodyPr wrap="square" lIns="91440" tIns="45720" rIns="91440" bIns="45720" numCol="1" rtlCol="0" anchor="t">
            <a:spAutoFit/>
          </a:bodyPr>
          <a:lstStyle/>
          <a:p>
            <a:pPr>
              <a:buClr>
                <a:schemeClr val="bg2"/>
              </a:buClr>
            </a:pPr>
            <a:r>
              <a:rPr lang="en-GB" sz="1050" b="1" u="sng"/>
              <a:t>Application Dev/ Support Service Detail (cont.)</a:t>
            </a:r>
          </a:p>
          <a:p>
            <a:pPr>
              <a:buClr>
                <a:schemeClr val="bg2"/>
              </a:buClr>
            </a:pPr>
            <a:endParaRPr lang="en-GB" sz="1050" b="1"/>
          </a:p>
          <a:p>
            <a:pPr>
              <a:buClr>
                <a:schemeClr val="bg2"/>
              </a:buClr>
            </a:pPr>
            <a:r>
              <a:rPr lang="en-US" sz="1050"/>
              <a:t>The Supplier must ensure that all personnel delivering services are appropriately trained, certified, and competent to perform their roles effectively. Services must be delivered in a secure, scalable, and cost-</a:t>
            </a:r>
            <a:r>
              <a:rPr lang="en-US" sz="1050" err="1"/>
              <a:t>optimised</a:t>
            </a:r>
            <a:r>
              <a:rPr lang="en-US" sz="1050"/>
              <a:t> manner, in full compliance with GSK’s policies, procedures, standards, and applicable data privacy and information security requirements.  The Supplier is expected to proactively leverage AI, automation, and analytics to reduce incidents, improve customer experience, and drive continuous service </a:t>
            </a:r>
            <a:r>
              <a:rPr lang="en-US" sz="1050" err="1"/>
              <a:t>optimisation</a:t>
            </a:r>
            <a:r>
              <a:rPr lang="en-US" sz="1050"/>
              <a:t>. This includes identifying opportunities for innovation and value </a:t>
            </a:r>
            <a:r>
              <a:rPr lang="en-US" sz="1050" err="1"/>
              <a:t>realisation</a:t>
            </a:r>
            <a:r>
              <a:rPr lang="en-US" sz="1050"/>
              <a:t> throughout the service lifecycle. </a:t>
            </a:r>
            <a:br>
              <a:rPr lang="en-US" sz="1050"/>
            </a:br>
            <a:br>
              <a:rPr lang="en-US" sz="1050"/>
            </a:br>
            <a:r>
              <a:rPr lang="en-US" sz="1050"/>
              <a:t>The following outlines key service areas and expectations, which are intended to be illustrative but not exhaustive.</a:t>
            </a:r>
          </a:p>
          <a:p>
            <a:pPr>
              <a:buClr>
                <a:schemeClr val="bg2"/>
              </a:buClr>
            </a:pPr>
            <a:endParaRPr lang="en-US" sz="1050"/>
          </a:p>
          <a:p>
            <a:pPr>
              <a:buClr>
                <a:schemeClr val="bg2"/>
              </a:buClr>
            </a:pPr>
            <a:r>
              <a:rPr lang="en-US" sz="1050" b="1"/>
              <a:t>Continuous Improvement</a:t>
            </a:r>
          </a:p>
          <a:p>
            <a:pPr>
              <a:buClr>
                <a:schemeClr val="bg2"/>
              </a:buClr>
            </a:pPr>
            <a:r>
              <a:rPr lang="en-US" sz="1050"/>
              <a:t>The Supplier shall implement a structured continuous improvement framework throughout the SOW term. This includes the use of AI and automation to reduce incident volumes, improve service quality, and enhance user satisfaction. Monthly reports must be provided to GSK detailing identified opportunities, actions taken, and progress against prior periods.</a:t>
            </a:r>
          </a:p>
          <a:p>
            <a:pPr>
              <a:buClr>
                <a:schemeClr val="bg2"/>
              </a:buClr>
            </a:pPr>
            <a:endParaRPr lang="en-US" sz="1050" b="1"/>
          </a:p>
          <a:p>
            <a:pPr>
              <a:buClr>
                <a:schemeClr val="bg2"/>
              </a:buClr>
            </a:pPr>
            <a:r>
              <a:rPr lang="en-US" sz="1050" b="1"/>
              <a:t>Audit, Compliance &amp; Security</a:t>
            </a:r>
          </a:p>
          <a:p>
            <a:pPr>
              <a:buClr>
                <a:schemeClr val="bg2"/>
              </a:buClr>
            </a:pPr>
            <a:r>
              <a:rPr lang="en-US" sz="1050"/>
              <a:t>The Supplier is responsible for ensuring full compliance with all applicable GSK policies, procedures, and regulatory requirements. This includes supporting internal and external audits, remediating findings, and responding to penetration testing and vulnerability scans. The Supplier must maintain accurate compliance documentation, manage license usage, and ensure infrastructure qualification is documented and up to date. All services must be delivered in accordance with GSK’s data privacy and information security standards, including secure access controls, event logging, and breach response protocols.</a:t>
            </a:r>
          </a:p>
          <a:p>
            <a:pPr>
              <a:buClr>
                <a:schemeClr val="bg2"/>
              </a:buClr>
            </a:pPr>
            <a:endParaRPr lang="en-US" sz="1050" b="1"/>
          </a:p>
          <a:p>
            <a:pPr>
              <a:buClr>
                <a:schemeClr val="bg2"/>
              </a:buClr>
            </a:pPr>
            <a:r>
              <a:rPr lang="en-US" sz="1050" b="1"/>
              <a:t>Service Request Management</a:t>
            </a:r>
          </a:p>
          <a:p>
            <a:pPr>
              <a:buClr>
                <a:schemeClr val="bg2"/>
              </a:buClr>
            </a:pPr>
            <a:r>
              <a:rPr lang="en-US" sz="1050"/>
              <a:t>The Supplier shall manage and fulfil service requests via GSK’s Service Catalog and provisioning tools. This includes validating, </a:t>
            </a:r>
            <a:r>
              <a:rPr lang="en-US" sz="1050" err="1"/>
              <a:t>categorising</a:t>
            </a:r>
            <a:r>
              <a:rPr lang="en-US" sz="1050"/>
              <a:t>, and escalating requests as needed, maintaining accurate records in GSK’s ITSM systems, and ensuring all user-facing documentation and help content is current and accessible.</a:t>
            </a:r>
          </a:p>
          <a:p>
            <a:pPr>
              <a:buClr>
                <a:schemeClr val="bg2"/>
              </a:buClr>
            </a:pPr>
            <a:endParaRPr lang="en-US" sz="1050" b="1"/>
          </a:p>
          <a:p>
            <a:pPr>
              <a:buClr>
                <a:schemeClr val="bg2"/>
              </a:buClr>
            </a:pPr>
            <a:r>
              <a:rPr lang="en-US" sz="1050" b="1"/>
              <a:t>Incident Management</a:t>
            </a:r>
          </a:p>
          <a:p>
            <a:pPr>
              <a:buClr>
                <a:schemeClr val="bg2"/>
              </a:buClr>
            </a:pPr>
            <a:r>
              <a:rPr lang="en-US" sz="1050"/>
              <a:t>The Supplier shall monitor, manage, and resolve all incidents related to in-scope services in accordance with SLAs and SOPs. This includes conducting root cause analysis for major incidents, leading SWAT calls, and providing timely updates to stakeholders. All incident data must be accurately maintained in GSK’s ITSM tools, with regular reporting on trends and resolution performance.</a:t>
            </a:r>
          </a:p>
          <a:p>
            <a:pPr>
              <a:buClr>
                <a:schemeClr val="bg2"/>
              </a:buClr>
            </a:pPr>
            <a:endParaRPr lang="en-US" sz="1050" b="1"/>
          </a:p>
        </p:txBody>
      </p:sp>
    </p:spTree>
    <p:extLst>
      <p:ext uri="{BB962C8B-B14F-4D97-AF65-F5344CB8AC3E}">
        <p14:creationId xmlns:p14="http://schemas.microsoft.com/office/powerpoint/2010/main" val="149325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BD63E-CBF4-5799-DA36-10F05272D65E}"/>
            </a:ext>
          </a:extLst>
        </p:cNvPr>
        <p:cNvGrpSpPr/>
        <p:nvPr/>
      </p:nvGrpSpPr>
      <p:grpSpPr>
        <a:xfrm>
          <a:off x="0" y="0"/>
          <a:ext cx="0" cy="0"/>
          <a:chOff x="0" y="0"/>
          <a:chExt cx="0" cy="0"/>
        </a:xfrm>
      </p:grpSpPr>
      <p:sp>
        <p:nvSpPr>
          <p:cNvPr id="38" name="TextBox 37">
            <a:extLst>
              <a:ext uri="{FF2B5EF4-FFF2-40B4-BE49-F238E27FC236}">
                <a16:creationId xmlns:a16="http://schemas.microsoft.com/office/drawing/2014/main" id="{40D84928-65FE-354C-C50E-0FE953303AE0}"/>
              </a:ext>
            </a:extLst>
          </p:cNvPr>
          <p:cNvSpPr txBox="1"/>
          <p:nvPr/>
        </p:nvSpPr>
        <p:spPr>
          <a:xfrm>
            <a:off x="478870" y="1065910"/>
            <a:ext cx="11327377" cy="5123736"/>
          </a:xfrm>
          <a:prstGeom prst="rect">
            <a:avLst/>
          </a:prstGeom>
          <a:noFill/>
          <a:ln>
            <a:solidFill>
              <a:schemeClr val="bg1">
                <a:lumMod val="75000"/>
              </a:schemeClr>
            </a:solidFill>
          </a:ln>
        </p:spPr>
        <p:txBody>
          <a:bodyPr wrap="square" lIns="180000" tIns="180000" rIns="180000" bIns="180000" rtlCol="0">
            <a:normAutofit/>
          </a:bodyPr>
          <a:lstStyle/>
          <a:p>
            <a:pPr marL="285750" indent="-285750" algn="l">
              <a:spcBef>
                <a:spcPts val="300"/>
              </a:spcBef>
              <a:spcAft>
                <a:spcPts val="300"/>
              </a:spcAft>
              <a:buClr>
                <a:schemeClr val="tx2"/>
              </a:buClr>
              <a:buSzPct val="150000"/>
              <a:buFont typeface="Arial" panose="020B0604020202020204" pitchFamily="34" charset="0"/>
              <a:buChar char="•"/>
            </a:pPr>
            <a:endParaRPr lang="en-US" sz="1600" err="1"/>
          </a:p>
        </p:txBody>
      </p:sp>
      <p:sp>
        <p:nvSpPr>
          <p:cNvPr id="27" name="Title 17">
            <a:extLst>
              <a:ext uri="{FF2B5EF4-FFF2-40B4-BE49-F238E27FC236}">
                <a16:creationId xmlns:a16="http://schemas.microsoft.com/office/drawing/2014/main" id="{0448EFAE-407F-2CCB-016D-17CE8672AFCA}"/>
              </a:ext>
            </a:extLst>
          </p:cNvPr>
          <p:cNvSpPr>
            <a:spLocks noGrp="1"/>
          </p:cNvSpPr>
          <p:nvPr>
            <p:ph type="title"/>
          </p:nvPr>
        </p:nvSpPr>
        <p:spPr>
          <a:xfrm>
            <a:off x="478870" y="230848"/>
            <a:ext cx="10102852" cy="451405"/>
          </a:xfrm>
        </p:spPr>
        <p:txBody>
          <a:bodyPr>
            <a:normAutofit/>
          </a:bodyPr>
          <a:lstStyle/>
          <a:p>
            <a:r>
              <a:rPr lang="en-US"/>
              <a:t>Scope Detail – EAS: Virtual Apps &amp; Desktops (cont.)</a:t>
            </a:r>
          </a:p>
        </p:txBody>
      </p:sp>
      <p:sp>
        <p:nvSpPr>
          <p:cNvPr id="28" name="Date Placeholder 5">
            <a:extLst>
              <a:ext uri="{FF2B5EF4-FFF2-40B4-BE49-F238E27FC236}">
                <a16:creationId xmlns:a16="http://schemas.microsoft.com/office/drawing/2014/main" id="{DF622DE3-215B-87CA-55EA-78889D2C134D}"/>
              </a:ext>
            </a:extLst>
          </p:cNvPr>
          <p:cNvSpPr txBox="1">
            <a:spLocks/>
          </p:cNvSpPr>
          <p:nvPr/>
        </p:nvSpPr>
        <p:spPr>
          <a:xfrm>
            <a:off x="10968821" y="65881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sp>
        <p:nvSpPr>
          <p:cNvPr id="29" name="Slide Number Placeholder 7">
            <a:extLst>
              <a:ext uri="{FF2B5EF4-FFF2-40B4-BE49-F238E27FC236}">
                <a16:creationId xmlns:a16="http://schemas.microsoft.com/office/drawing/2014/main" id="{770EA709-A127-DA2A-05D5-6AE139FBD3FB}"/>
              </a:ext>
            </a:extLst>
          </p:cNvPr>
          <p:cNvSpPr txBox="1">
            <a:spLocks/>
          </p:cNvSpPr>
          <p:nvPr/>
        </p:nvSpPr>
        <p:spPr>
          <a:xfrm>
            <a:off x="11285288" y="6189646"/>
            <a:ext cx="540000" cy="269875"/>
          </a:xfrm>
          <a:prstGeom prst="rect">
            <a:avLst/>
          </a:prstGeom>
        </p:spPr>
        <p:txBody>
          <a:bodyPr vert="horz" lIns="0" tIns="0" rIns="0" bIns="0" rtlCol="0" anchor="b" anchorCtr="0">
            <a:normAutofit/>
          </a:bodyPr>
          <a:lstStyle>
            <a:defPPr>
              <a:defRPr lang="en-US"/>
            </a:defPPr>
            <a:lvl1pPr marL="0" algn="l" defTabSz="1219170" rtl="0" eaLnBrk="1" latinLnBrk="0" hangingPunct="1">
              <a:defRPr sz="12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9F9F533D-B52E-4A2F-BF72-0ADD2D94BD75}" type="slidenum">
              <a:rPr lang="en-GB" smtClean="0"/>
              <a:pPr/>
              <a:t>11</a:t>
            </a:fld>
            <a:endParaRPr lang="en-GB"/>
          </a:p>
        </p:txBody>
      </p:sp>
      <p:sp>
        <p:nvSpPr>
          <p:cNvPr id="30" name="TextBox 29">
            <a:extLst>
              <a:ext uri="{FF2B5EF4-FFF2-40B4-BE49-F238E27FC236}">
                <a16:creationId xmlns:a16="http://schemas.microsoft.com/office/drawing/2014/main" id="{6A9E4C30-4DEA-701A-EE67-DD39EC7EB6A3}"/>
              </a:ext>
            </a:extLst>
          </p:cNvPr>
          <p:cNvSpPr txBox="1"/>
          <p:nvPr/>
        </p:nvSpPr>
        <p:spPr>
          <a:xfrm>
            <a:off x="596549" y="913195"/>
            <a:ext cx="1997007" cy="307777"/>
          </a:xfrm>
          <a:prstGeom prst="rect">
            <a:avLst/>
          </a:prstGeom>
          <a:solidFill>
            <a:schemeClr val="bg1"/>
          </a:solidFill>
        </p:spPr>
        <p:txBody>
          <a:bodyPr wrap="square" rtlCol="0">
            <a:spAutoFit/>
          </a:bodyPr>
          <a:lstStyle/>
          <a:p>
            <a:pPr>
              <a:buClr>
                <a:schemeClr val="tx1"/>
              </a:buClr>
            </a:pPr>
            <a:r>
              <a:rPr lang="en-GB" sz="1400" b="1">
                <a:solidFill>
                  <a:schemeClr val="tx2"/>
                </a:solidFill>
              </a:rPr>
              <a:t>Scope Description</a:t>
            </a:r>
          </a:p>
        </p:txBody>
      </p:sp>
      <p:sp>
        <p:nvSpPr>
          <p:cNvPr id="33" name="TextBox 32">
            <a:extLst>
              <a:ext uri="{FF2B5EF4-FFF2-40B4-BE49-F238E27FC236}">
                <a16:creationId xmlns:a16="http://schemas.microsoft.com/office/drawing/2014/main" id="{C5E7A91D-64B2-57C5-562A-F2C42E858699}"/>
              </a:ext>
            </a:extLst>
          </p:cNvPr>
          <p:cNvSpPr txBox="1"/>
          <p:nvPr/>
        </p:nvSpPr>
        <p:spPr>
          <a:xfrm>
            <a:off x="572275" y="1288605"/>
            <a:ext cx="11233971" cy="5101397"/>
          </a:xfrm>
          <a:prstGeom prst="rect">
            <a:avLst/>
          </a:prstGeom>
          <a:noFill/>
          <a:ln>
            <a:noFill/>
          </a:ln>
        </p:spPr>
        <p:txBody>
          <a:bodyPr wrap="square" lIns="91440" tIns="45720" rIns="91440" bIns="45720" numCol="1" rtlCol="0" anchor="t">
            <a:spAutoFit/>
          </a:bodyPr>
          <a:lstStyle/>
          <a:p>
            <a:pPr>
              <a:buClr>
                <a:schemeClr val="bg2"/>
              </a:buClr>
            </a:pPr>
            <a:r>
              <a:rPr lang="en-GB" sz="1050" b="1" u="sng"/>
              <a:t>Application Dev/ Support Service Detail (cont.)</a:t>
            </a:r>
            <a:r>
              <a:rPr lang="en-US" sz="1050" b="1" u="sng"/>
              <a:t> </a:t>
            </a:r>
            <a:br>
              <a:rPr lang="en-US" sz="1050" b="1"/>
            </a:br>
            <a:endParaRPr lang="en-US" sz="1050" b="1"/>
          </a:p>
          <a:p>
            <a:pPr>
              <a:buClr>
                <a:schemeClr val="bg2"/>
              </a:buClr>
            </a:pPr>
            <a:r>
              <a:rPr lang="en-US" sz="1050" b="1"/>
              <a:t>Problem Management</a:t>
            </a:r>
          </a:p>
          <a:p>
            <a:pPr>
              <a:buClr>
                <a:schemeClr val="bg2"/>
              </a:buClr>
            </a:pPr>
            <a:r>
              <a:rPr lang="en-US" sz="1050"/>
              <a:t>The Supplier shall identify and resolve underlying problems through proactive trend analysis and root cause investigation. Preventative measures must be proposed and implemented to reduce recurrence, and all problem records must be maintained in accordance with GSK standards.</a:t>
            </a:r>
          </a:p>
          <a:p>
            <a:pPr>
              <a:buClr>
                <a:schemeClr val="bg2"/>
              </a:buClr>
            </a:pPr>
            <a:endParaRPr lang="en-US" sz="1050" b="1"/>
          </a:p>
          <a:p>
            <a:pPr>
              <a:buClr>
                <a:schemeClr val="bg2"/>
              </a:buClr>
            </a:pPr>
            <a:r>
              <a:rPr lang="en-US" sz="1050" b="1"/>
              <a:t>Change Management</a:t>
            </a:r>
          </a:p>
          <a:p>
            <a:pPr>
              <a:buClr>
                <a:schemeClr val="bg2"/>
              </a:buClr>
            </a:pPr>
            <a:r>
              <a:rPr lang="en-US" sz="1050"/>
              <a:t>The Supplier is responsible for planning, executing, and documenting all technical changes. This includes risk assessments, backout plans, stakeholder communications, and participation in Change Advisory Board (CAB) meetings. All changes must follow GSK’s change control processes and be fully documented in the ITSM system.</a:t>
            </a:r>
          </a:p>
          <a:p>
            <a:pPr>
              <a:buClr>
                <a:schemeClr val="bg2"/>
              </a:buClr>
            </a:pPr>
            <a:endParaRPr lang="en-US" sz="1050" b="1"/>
          </a:p>
          <a:p>
            <a:pPr>
              <a:buClr>
                <a:schemeClr val="bg2"/>
              </a:buClr>
            </a:pPr>
            <a:r>
              <a:rPr lang="en-US" sz="1050" b="1"/>
              <a:t>Escalation Management</a:t>
            </a:r>
          </a:p>
          <a:p>
            <a:pPr>
              <a:buClr>
                <a:schemeClr val="bg2"/>
              </a:buClr>
            </a:pPr>
            <a:r>
              <a:rPr lang="en-US" sz="1050"/>
              <a:t>The Supplier shall follow GSK’s defined escalation procedures for incidents, problems, and changes. All escalations must be logged, communicated, and resolved in line with agreed timelines. Root cause analysis and mitigation plans must be provided for major or recurring issues.</a:t>
            </a:r>
          </a:p>
          <a:p>
            <a:pPr>
              <a:buClr>
                <a:schemeClr val="bg2"/>
              </a:buClr>
            </a:pPr>
            <a:endParaRPr lang="en-US" sz="1050" b="1"/>
          </a:p>
          <a:p>
            <a:pPr>
              <a:buClr>
                <a:schemeClr val="bg2"/>
              </a:buClr>
            </a:pPr>
            <a:r>
              <a:rPr lang="en-US" sz="1050" b="1"/>
              <a:t>Asset &amp; Configuration Management</a:t>
            </a:r>
          </a:p>
          <a:p>
            <a:pPr>
              <a:buClr>
                <a:schemeClr val="bg2"/>
              </a:buClr>
            </a:pPr>
            <a:r>
              <a:rPr lang="en-US" sz="1050"/>
              <a:t>The Supplier shall </a:t>
            </a:r>
            <a:r>
              <a:rPr lang="en-US" sz="1000"/>
              <a:t>maintain</a:t>
            </a:r>
            <a:r>
              <a:rPr lang="en-US" sz="1050"/>
              <a:t> accurate and complete asset and configuration data in GSK’s CMDB. This includes hardware, software, and system configurations, with quarterly verification of configuration items. Documentation must be aligned with OEM guidance, industry best practices, and GSK standards.</a:t>
            </a:r>
          </a:p>
          <a:p>
            <a:pPr>
              <a:buClr>
                <a:schemeClr val="bg2"/>
              </a:buClr>
            </a:pPr>
            <a:endParaRPr lang="en-US" sz="1050" b="1"/>
          </a:p>
          <a:p>
            <a:pPr>
              <a:buClr>
                <a:schemeClr val="bg2"/>
              </a:buClr>
            </a:pPr>
            <a:r>
              <a:rPr lang="en-US" sz="1050" b="1"/>
              <a:t>Knowledge Management</a:t>
            </a:r>
          </a:p>
          <a:p>
            <a:pPr>
              <a:buClr>
                <a:schemeClr val="bg2"/>
              </a:buClr>
            </a:pPr>
            <a:r>
              <a:rPr lang="en-US" sz="1050"/>
              <a:t>The Supplier shall be responsible for creating, maintaining, and continuously improving all knowledge assets related to the in-scope services. This includes service desk scripts, knowledge base (KB) articles, user guides, FAQs, and operational runbooks. All content must be accurate, up to date, and stored in GSK’s designated knowledge management systems. The Supplier must ensure that knowledge is accessible, searchable, and aligned with incident, problem, and request management processes to support first-time resolution and reduce repeat issues.</a:t>
            </a:r>
          </a:p>
          <a:p>
            <a:pPr>
              <a:buClr>
                <a:schemeClr val="bg2"/>
              </a:buClr>
            </a:pPr>
            <a:endParaRPr lang="en-US" sz="1050" b="1"/>
          </a:p>
          <a:p>
            <a:pPr>
              <a:buClr>
                <a:schemeClr val="bg2"/>
              </a:buClr>
            </a:pPr>
            <a:r>
              <a:rPr lang="en-US" sz="1050" b="1"/>
              <a:t>Governance &amp; Reporting</a:t>
            </a:r>
          </a:p>
          <a:p>
            <a:pPr>
              <a:buClr>
                <a:schemeClr val="bg2"/>
              </a:buClr>
            </a:pPr>
            <a:r>
              <a:rPr lang="en-US" sz="1050"/>
              <a:t>The Supplier shall participate in regular governance forums and service reviews with GSK. This includes providing transparent reporting on performance, SLAs, risks, and improvement initiatives. Clear escalation paths and stakeholder engagement protocols must be maintained.</a:t>
            </a:r>
          </a:p>
          <a:p>
            <a:pPr>
              <a:buClr>
                <a:schemeClr val="bg2"/>
              </a:buClr>
            </a:pPr>
            <a:endParaRPr lang="en-US" sz="1050" b="1"/>
          </a:p>
          <a:p>
            <a:pPr>
              <a:buClr>
                <a:schemeClr val="bg2"/>
              </a:buClr>
            </a:pPr>
            <a:r>
              <a:rPr lang="en-US" sz="1050" b="1"/>
              <a:t>Innovation &amp; Cost </a:t>
            </a:r>
            <a:r>
              <a:rPr lang="en-US" sz="1050" b="1" err="1"/>
              <a:t>Optimisation</a:t>
            </a:r>
            <a:endParaRPr lang="en-US" sz="1050" b="1"/>
          </a:p>
          <a:p>
            <a:pPr>
              <a:buClr>
                <a:schemeClr val="bg2"/>
              </a:buClr>
            </a:pPr>
            <a:r>
              <a:rPr lang="en-US" sz="1050"/>
              <a:t>The Supplier is expected to continuously identify opportunities to </a:t>
            </a:r>
            <a:r>
              <a:rPr lang="en-US" sz="1050" err="1"/>
              <a:t>optimise</a:t>
            </a:r>
            <a:r>
              <a:rPr lang="en-US" sz="1050"/>
              <a:t> cost, improve efficiency, and introduce innovation. This includes the use of AI, automation, and emerging technologies to deliver measurable business value and align with GSK’s strategic objectives.</a:t>
            </a:r>
            <a:endParaRPr lang="en-GB" sz="1050"/>
          </a:p>
        </p:txBody>
      </p:sp>
    </p:spTree>
    <p:extLst>
      <p:ext uri="{BB962C8B-B14F-4D97-AF65-F5344CB8AC3E}">
        <p14:creationId xmlns:p14="http://schemas.microsoft.com/office/powerpoint/2010/main" val="2454506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A1051-2971-1B5F-0742-17B11706FD3B}"/>
            </a:ext>
          </a:extLst>
        </p:cNvPr>
        <p:cNvGrpSpPr/>
        <p:nvPr/>
      </p:nvGrpSpPr>
      <p:grpSpPr>
        <a:xfrm>
          <a:off x="0" y="0"/>
          <a:ext cx="0" cy="0"/>
          <a:chOff x="0" y="0"/>
          <a:chExt cx="0" cy="0"/>
        </a:xfrm>
      </p:grpSpPr>
      <p:sp>
        <p:nvSpPr>
          <p:cNvPr id="38" name="TextBox 37">
            <a:extLst>
              <a:ext uri="{FF2B5EF4-FFF2-40B4-BE49-F238E27FC236}">
                <a16:creationId xmlns:a16="http://schemas.microsoft.com/office/drawing/2014/main" id="{5FEFEC0A-4FFF-374F-5D1B-2B0C0E12555D}"/>
              </a:ext>
            </a:extLst>
          </p:cNvPr>
          <p:cNvSpPr txBox="1"/>
          <p:nvPr/>
        </p:nvSpPr>
        <p:spPr>
          <a:xfrm>
            <a:off x="361190" y="3101382"/>
            <a:ext cx="11327377" cy="3023962"/>
          </a:xfrm>
          <a:prstGeom prst="rect">
            <a:avLst/>
          </a:prstGeom>
          <a:noFill/>
          <a:ln>
            <a:solidFill>
              <a:schemeClr val="bg1">
                <a:lumMod val="75000"/>
              </a:schemeClr>
            </a:solidFill>
          </a:ln>
        </p:spPr>
        <p:txBody>
          <a:bodyPr wrap="square" lIns="180000" tIns="180000" rIns="180000" bIns="180000" rtlCol="0">
            <a:normAutofit/>
          </a:bodyPr>
          <a:lstStyle/>
          <a:p>
            <a:pPr marL="285750" indent="-285750" algn="l">
              <a:spcBef>
                <a:spcPts val="300"/>
              </a:spcBef>
              <a:spcAft>
                <a:spcPts val="300"/>
              </a:spcAft>
              <a:buClr>
                <a:schemeClr val="tx2"/>
              </a:buClr>
              <a:buSzPct val="150000"/>
              <a:buFont typeface="Arial" panose="020B0604020202020204" pitchFamily="34" charset="0"/>
              <a:buChar char="•"/>
            </a:pPr>
            <a:endParaRPr lang="en-US" sz="1600"/>
          </a:p>
        </p:txBody>
      </p:sp>
      <p:sp>
        <p:nvSpPr>
          <p:cNvPr id="27" name="Title 17">
            <a:extLst>
              <a:ext uri="{FF2B5EF4-FFF2-40B4-BE49-F238E27FC236}">
                <a16:creationId xmlns:a16="http://schemas.microsoft.com/office/drawing/2014/main" id="{9ECAF5D8-5486-CE4B-6030-9ABB540E3728}"/>
              </a:ext>
            </a:extLst>
          </p:cNvPr>
          <p:cNvSpPr>
            <a:spLocks noGrp="1"/>
          </p:cNvSpPr>
          <p:nvPr>
            <p:ph type="title"/>
          </p:nvPr>
        </p:nvSpPr>
        <p:spPr>
          <a:xfrm>
            <a:off x="478870" y="230848"/>
            <a:ext cx="10102852" cy="451405"/>
          </a:xfrm>
        </p:spPr>
        <p:txBody>
          <a:bodyPr>
            <a:normAutofit/>
          </a:bodyPr>
          <a:lstStyle/>
          <a:p>
            <a:r>
              <a:rPr lang="en-US"/>
              <a:t>Scope Detail – EAS: VDI Gateway Services</a:t>
            </a:r>
          </a:p>
        </p:txBody>
      </p:sp>
      <p:sp>
        <p:nvSpPr>
          <p:cNvPr id="28" name="Date Placeholder 5">
            <a:extLst>
              <a:ext uri="{FF2B5EF4-FFF2-40B4-BE49-F238E27FC236}">
                <a16:creationId xmlns:a16="http://schemas.microsoft.com/office/drawing/2014/main" id="{C0F77301-1188-4D35-6456-2E89417F5E09}"/>
              </a:ext>
            </a:extLst>
          </p:cNvPr>
          <p:cNvSpPr txBox="1">
            <a:spLocks/>
          </p:cNvSpPr>
          <p:nvPr/>
        </p:nvSpPr>
        <p:spPr>
          <a:xfrm>
            <a:off x="10968821" y="65881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sp>
        <p:nvSpPr>
          <p:cNvPr id="29" name="Slide Number Placeholder 7">
            <a:extLst>
              <a:ext uri="{FF2B5EF4-FFF2-40B4-BE49-F238E27FC236}">
                <a16:creationId xmlns:a16="http://schemas.microsoft.com/office/drawing/2014/main" id="{A7AD172A-95A7-FB62-BDAE-1A7A78F87F11}"/>
              </a:ext>
            </a:extLst>
          </p:cNvPr>
          <p:cNvSpPr txBox="1">
            <a:spLocks/>
          </p:cNvSpPr>
          <p:nvPr/>
        </p:nvSpPr>
        <p:spPr>
          <a:xfrm>
            <a:off x="11285288" y="6189646"/>
            <a:ext cx="540000" cy="269875"/>
          </a:xfrm>
          <a:prstGeom prst="rect">
            <a:avLst/>
          </a:prstGeom>
        </p:spPr>
        <p:txBody>
          <a:bodyPr vert="horz" lIns="0" tIns="0" rIns="0" bIns="0" rtlCol="0" anchor="b" anchorCtr="0">
            <a:normAutofit/>
          </a:bodyPr>
          <a:lstStyle>
            <a:defPPr>
              <a:defRPr lang="en-US"/>
            </a:defPPr>
            <a:lvl1pPr marL="0" algn="l" defTabSz="1219170" rtl="0" eaLnBrk="1" latinLnBrk="0" hangingPunct="1">
              <a:defRPr sz="12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9F9F533D-B52E-4A2F-BF72-0ADD2D94BD75}" type="slidenum">
              <a:rPr lang="en-GB" smtClean="0"/>
              <a:pPr/>
              <a:t>12</a:t>
            </a:fld>
            <a:endParaRPr lang="en-GB"/>
          </a:p>
        </p:txBody>
      </p:sp>
      <p:sp>
        <p:nvSpPr>
          <p:cNvPr id="30" name="TextBox 29">
            <a:extLst>
              <a:ext uri="{FF2B5EF4-FFF2-40B4-BE49-F238E27FC236}">
                <a16:creationId xmlns:a16="http://schemas.microsoft.com/office/drawing/2014/main" id="{987589F3-2559-117E-3B09-AB376BD0B443}"/>
              </a:ext>
            </a:extLst>
          </p:cNvPr>
          <p:cNvSpPr txBox="1"/>
          <p:nvPr/>
        </p:nvSpPr>
        <p:spPr>
          <a:xfrm>
            <a:off x="503433" y="3016800"/>
            <a:ext cx="1997007" cy="307777"/>
          </a:xfrm>
          <a:prstGeom prst="rect">
            <a:avLst/>
          </a:prstGeom>
          <a:solidFill>
            <a:schemeClr val="bg1"/>
          </a:solidFill>
        </p:spPr>
        <p:txBody>
          <a:bodyPr wrap="square" rtlCol="0">
            <a:spAutoFit/>
          </a:bodyPr>
          <a:lstStyle/>
          <a:p>
            <a:pPr>
              <a:buClr>
                <a:schemeClr val="tx1"/>
              </a:buClr>
            </a:pPr>
            <a:r>
              <a:rPr lang="en-GB" sz="1400" b="1">
                <a:solidFill>
                  <a:schemeClr val="tx2"/>
                </a:solidFill>
              </a:rPr>
              <a:t>Scope Description</a:t>
            </a:r>
          </a:p>
        </p:txBody>
      </p:sp>
      <p:sp>
        <p:nvSpPr>
          <p:cNvPr id="33" name="TextBox 32">
            <a:extLst>
              <a:ext uri="{FF2B5EF4-FFF2-40B4-BE49-F238E27FC236}">
                <a16:creationId xmlns:a16="http://schemas.microsoft.com/office/drawing/2014/main" id="{9F83261B-3073-9026-CC6B-EBD41C308544}"/>
              </a:ext>
            </a:extLst>
          </p:cNvPr>
          <p:cNvSpPr txBox="1"/>
          <p:nvPr/>
        </p:nvSpPr>
        <p:spPr>
          <a:xfrm>
            <a:off x="454596" y="3388879"/>
            <a:ext cx="11233971" cy="2800767"/>
          </a:xfrm>
          <a:prstGeom prst="rect">
            <a:avLst/>
          </a:prstGeom>
          <a:noFill/>
          <a:ln>
            <a:noFill/>
          </a:ln>
        </p:spPr>
        <p:txBody>
          <a:bodyPr wrap="square" lIns="91440" tIns="45720" rIns="91440" bIns="45720" numCol="1" rtlCol="0" anchor="t">
            <a:spAutoFit/>
          </a:bodyPr>
          <a:lstStyle/>
          <a:p>
            <a:pPr>
              <a:buClr>
                <a:schemeClr val="bg2"/>
              </a:buClr>
            </a:pPr>
            <a:r>
              <a:rPr lang="en-GB" sz="1100" b="1" u="sng"/>
              <a:t>Application Roadmap</a:t>
            </a:r>
          </a:p>
          <a:p>
            <a:pPr>
              <a:buClr>
                <a:schemeClr val="bg2"/>
              </a:buClr>
            </a:pPr>
            <a:r>
              <a:rPr lang="en-GB" sz="1100"/>
              <a:t>Migration from current Citrix gateway solutions to a secure, modern, scalable gateway solution that integrates with the strategic VDI solution</a:t>
            </a:r>
            <a:endParaRPr lang="en-GB" sz="1100" b="1"/>
          </a:p>
          <a:p>
            <a:pPr>
              <a:buClr>
                <a:schemeClr val="bg2"/>
              </a:buClr>
            </a:pPr>
            <a:endParaRPr lang="en-GB" sz="1100" b="1"/>
          </a:p>
          <a:p>
            <a:pPr>
              <a:buClr>
                <a:schemeClr val="bg2"/>
              </a:buClr>
            </a:pPr>
            <a:r>
              <a:rPr lang="en-GB" sz="1100" b="1" u="sng"/>
              <a:t>Application Dev/ Support Service Detail</a:t>
            </a:r>
            <a:endParaRPr lang="en-GB" sz="1100" u="sng"/>
          </a:p>
          <a:p>
            <a:pPr marL="171450" indent="-171450">
              <a:buClr>
                <a:schemeClr val="bg2"/>
              </a:buClr>
              <a:buFont typeface="Arial" panose="020B0604020202020204" pitchFamily="34" charset="0"/>
              <a:buChar char="•"/>
            </a:pPr>
            <a:r>
              <a:rPr lang="en-US" sz="1100"/>
              <a:t>The Supplier shall assume full and comprehensive responsibility for the service, including its design, build, implementation, and ongoing operational support. This responsibility spans all levels of the ITIL framework and includes proactive identification and delivery of service improvements throughout the lifecycle.  As GSK’s internal roles are limited to Engineering and Product Ownership, the Supplier is expected to manage and operate the service in its entirety. </a:t>
            </a:r>
          </a:p>
          <a:p>
            <a:pPr marL="171450" indent="-171450">
              <a:buClr>
                <a:schemeClr val="bg2"/>
              </a:buClr>
              <a:buFont typeface="Arial" panose="020B0604020202020204" pitchFamily="34" charset="0"/>
              <a:buChar char="•"/>
            </a:pPr>
            <a:r>
              <a:rPr lang="en-US" sz="1100"/>
              <a:t>The service must be scalable, fit for purpose, and continuously </a:t>
            </a:r>
            <a:r>
              <a:rPr lang="en-US" sz="1100" err="1"/>
              <a:t>optimised</a:t>
            </a:r>
            <a:r>
              <a:rPr lang="en-US" sz="1100"/>
              <a:t> for performance, resilience, and cost-effectiveness. Supplier must ensure all solutions comply with GSK’s security policies, data protection standards, and relevant regulatory requirements (e.g., GDPR, GXP, SOX, HIPAA as applicable).</a:t>
            </a:r>
          </a:p>
          <a:p>
            <a:pPr marL="171450" indent="-171450">
              <a:buClr>
                <a:schemeClr val="bg2"/>
              </a:buClr>
              <a:buFont typeface="Arial" panose="020B0604020202020204" pitchFamily="34" charset="0"/>
              <a:buChar char="•"/>
            </a:pPr>
            <a:r>
              <a:rPr lang="en-US" sz="1100"/>
              <a:t>The Supplier is expected to leverage AI and automation to proactively reduce incidents, improve customer experience, and drive continuous service </a:t>
            </a:r>
            <a:r>
              <a:rPr lang="en-US" sz="1100" err="1"/>
              <a:t>optimisation</a:t>
            </a:r>
            <a:r>
              <a:rPr lang="en-US" sz="1100"/>
              <a:t>. Supplier shall implement AI Ops capabilities including but not limited to automated provisioning workflows, intelligent chatbot integrations for Tier 1 support, predictive analytics for performance degradation, and self-healing mechanisms.  Consequently, Supplier shall commit to material reductions in incident volumes, with commercially backed KPIs</a:t>
            </a:r>
          </a:p>
          <a:p>
            <a:pPr marL="171450" indent="-171450">
              <a:buClr>
                <a:schemeClr val="bg2"/>
              </a:buClr>
              <a:buFont typeface="Arial" panose="020B0604020202020204" pitchFamily="34" charset="0"/>
              <a:buChar char="•"/>
            </a:pPr>
            <a:r>
              <a:rPr lang="en-US" sz="1100"/>
              <a:t>The Supplier shall ensure the service remains aligned with evolving business needs and technological advancements. This includes maintaining appropriate documentation, managing technical debt, and ensuring the service is secure, supportable, and maintainable. Clear governance structures, reporting mechanisms, and escalation paths must be in place to ensure transparency and accountability in service delivery.</a:t>
            </a:r>
          </a:p>
          <a:p>
            <a:pPr>
              <a:buClr>
                <a:schemeClr val="bg2"/>
              </a:buClr>
            </a:pPr>
            <a:endParaRPr lang="en-US" sz="1100"/>
          </a:p>
        </p:txBody>
      </p:sp>
      <p:graphicFrame>
        <p:nvGraphicFramePr>
          <p:cNvPr id="2" name="Table 1">
            <a:extLst>
              <a:ext uri="{FF2B5EF4-FFF2-40B4-BE49-F238E27FC236}">
                <a16:creationId xmlns:a16="http://schemas.microsoft.com/office/drawing/2014/main" id="{6AC9D078-DA20-2E41-B610-8DB49CEDB3D4}"/>
              </a:ext>
            </a:extLst>
          </p:cNvPr>
          <p:cNvGraphicFramePr>
            <a:graphicFrameLocks noGrp="1"/>
          </p:cNvGraphicFramePr>
          <p:nvPr>
            <p:extLst>
              <p:ext uri="{D42A27DB-BD31-4B8C-83A1-F6EECF244321}">
                <p14:modId xmlns:p14="http://schemas.microsoft.com/office/powerpoint/2010/main" val="2831640967"/>
              </p:ext>
            </p:extLst>
          </p:nvPr>
        </p:nvGraphicFramePr>
        <p:xfrm>
          <a:off x="361191" y="1060842"/>
          <a:ext cx="11327376" cy="1582420"/>
        </p:xfrm>
        <a:graphic>
          <a:graphicData uri="http://schemas.openxmlformats.org/drawingml/2006/table">
            <a:tbl>
              <a:tblPr/>
              <a:tblGrid>
                <a:gridCol w="765890">
                  <a:extLst>
                    <a:ext uri="{9D8B030D-6E8A-4147-A177-3AD203B41FA5}">
                      <a16:colId xmlns:a16="http://schemas.microsoft.com/office/drawing/2014/main" val="4100041905"/>
                    </a:ext>
                  </a:extLst>
                </a:gridCol>
                <a:gridCol w="1321946">
                  <a:extLst>
                    <a:ext uri="{9D8B030D-6E8A-4147-A177-3AD203B41FA5}">
                      <a16:colId xmlns:a16="http://schemas.microsoft.com/office/drawing/2014/main" val="4189356408"/>
                    </a:ext>
                  </a:extLst>
                </a:gridCol>
                <a:gridCol w="1443335">
                  <a:extLst>
                    <a:ext uri="{9D8B030D-6E8A-4147-A177-3AD203B41FA5}">
                      <a16:colId xmlns:a16="http://schemas.microsoft.com/office/drawing/2014/main" val="2528964953"/>
                    </a:ext>
                  </a:extLst>
                </a:gridCol>
                <a:gridCol w="1321176">
                  <a:extLst>
                    <a:ext uri="{9D8B030D-6E8A-4147-A177-3AD203B41FA5}">
                      <a16:colId xmlns:a16="http://schemas.microsoft.com/office/drawing/2014/main" val="1911952412"/>
                    </a:ext>
                  </a:extLst>
                </a:gridCol>
                <a:gridCol w="1259234">
                  <a:extLst>
                    <a:ext uri="{9D8B030D-6E8A-4147-A177-3AD203B41FA5}">
                      <a16:colId xmlns:a16="http://schemas.microsoft.com/office/drawing/2014/main" val="577542454"/>
                    </a:ext>
                  </a:extLst>
                </a:gridCol>
                <a:gridCol w="1259234">
                  <a:extLst>
                    <a:ext uri="{9D8B030D-6E8A-4147-A177-3AD203B41FA5}">
                      <a16:colId xmlns:a16="http://schemas.microsoft.com/office/drawing/2014/main" val="1933246734"/>
                    </a:ext>
                  </a:extLst>
                </a:gridCol>
                <a:gridCol w="1259234">
                  <a:extLst>
                    <a:ext uri="{9D8B030D-6E8A-4147-A177-3AD203B41FA5}">
                      <a16:colId xmlns:a16="http://schemas.microsoft.com/office/drawing/2014/main" val="3162761371"/>
                    </a:ext>
                  </a:extLst>
                </a:gridCol>
                <a:gridCol w="1378790">
                  <a:extLst>
                    <a:ext uri="{9D8B030D-6E8A-4147-A177-3AD203B41FA5}">
                      <a16:colId xmlns:a16="http://schemas.microsoft.com/office/drawing/2014/main" val="3470399098"/>
                    </a:ext>
                  </a:extLst>
                </a:gridCol>
                <a:gridCol w="1318537">
                  <a:extLst>
                    <a:ext uri="{9D8B030D-6E8A-4147-A177-3AD203B41FA5}">
                      <a16:colId xmlns:a16="http://schemas.microsoft.com/office/drawing/2014/main" val="1624193255"/>
                    </a:ext>
                  </a:extLst>
                </a:gridCol>
              </a:tblGrid>
              <a:tr h="298450">
                <a:tc>
                  <a:txBody>
                    <a:bodyPr/>
                    <a:lstStyle/>
                    <a:p>
                      <a:pPr algn="ctr" fontAlgn="ctr"/>
                      <a:r>
                        <a:rPr lang="en-GB" sz="1100" b="1" i="0" u="none" strike="noStrike">
                          <a:solidFill>
                            <a:srgbClr val="000000"/>
                          </a:solidFill>
                          <a:effectLst/>
                          <a:latin typeface="Aptos Narrow" panose="020B0004020202020204" pitchFamily="34" charset="0"/>
                        </a:rPr>
                        <a:t>App/ Service Name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ctr"/>
                      <a:r>
                        <a:rPr lang="en-GB" sz="1100" b="1" i="0" u="none" strike="noStrike">
                          <a:solidFill>
                            <a:srgbClr val="000000"/>
                          </a:solidFill>
                          <a:effectLst/>
                          <a:latin typeface="Aptos Narrow" panose="020B0004020202020204" pitchFamily="34" charset="0"/>
                        </a:rPr>
                        <a:t>Description of App/ Service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ctr"/>
                      <a:r>
                        <a:rPr lang="en-GB" sz="1100" b="1" i="0" u="none" strike="noStrike">
                          <a:solidFill>
                            <a:srgbClr val="000000"/>
                          </a:solidFill>
                          <a:effectLst/>
                          <a:latin typeface="Aptos Narrow" panose="020B0004020202020204" pitchFamily="34" charset="0"/>
                        </a:rPr>
                        <a:t>2025 Service Volumes</a:t>
                      </a:r>
                    </a:p>
                    <a:p>
                      <a:pPr algn="ctr" fontAlgn="ctr"/>
                      <a:r>
                        <a:rPr lang="en-GB" sz="900" b="0" i="1" u="none" strike="noStrike">
                          <a:solidFill>
                            <a:srgbClr val="000000"/>
                          </a:solidFill>
                          <a:effectLst/>
                          <a:latin typeface="Aptos Narrow" panose="020B0004020202020204" pitchFamily="34" charset="0"/>
                        </a:rPr>
                        <a:t>(Current average number of Sprints/ Story Points/ Tickets per month)</a:t>
                      </a:r>
                      <a:endParaRPr lang="en-GB" sz="1100" b="0" i="1"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ctr"/>
                      <a:r>
                        <a:rPr lang="en-GB" sz="1100" b="1" i="0" u="none" strike="noStrike">
                          <a:solidFill>
                            <a:srgbClr val="000000"/>
                          </a:solidFill>
                          <a:effectLst/>
                          <a:latin typeface="Aptos Narrow" panose="020B0004020202020204" pitchFamily="34" charset="0"/>
                        </a:rPr>
                        <a:t>Expected Year 1 Service volumes</a:t>
                      </a:r>
                    </a:p>
                    <a:p>
                      <a:pPr marL="0" marR="0" lvl="0" indent="0" algn="ctr" defTabSz="1219170" rtl="0" eaLnBrk="1" fontAlgn="ctr" latinLnBrk="0" hangingPunct="1">
                        <a:lnSpc>
                          <a:spcPct val="100000"/>
                        </a:lnSpc>
                        <a:spcBef>
                          <a:spcPts val="0"/>
                        </a:spcBef>
                        <a:spcAft>
                          <a:spcPts val="0"/>
                        </a:spcAft>
                        <a:buClrTx/>
                        <a:buSzTx/>
                        <a:buFontTx/>
                        <a:buNone/>
                        <a:tabLst/>
                        <a:defRPr/>
                      </a:pPr>
                      <a:r>
                        <a:rPr lang="en-GB" sz="900" b="0" i="1" u="none" strike="noStrike">
                          <a:solidFill>
                            <a:srgbClr val="000000"/>
                          </a:solidFill>
                          <a:effectLst/>
                          <a:latin typeface="Aptos Narrow" panose="020B0004020202020204" pitchFamily="34" charset="0"/>
                        </a:rPr>
                        <a:t>(Future number of Sprints/ Story Points/ Tickets per month)</a:t>
                      </a:r>
                      <a:endParaRPr lang="en-GB" sz="1100" b="1"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marL="0" algn="ctr" defTabSz="1219170" rtl="0" eaLnBrk="1" fontAlgn="ctr" latinLnBrk="0" hangingPunct="1"/>
                      <a:r>
                        <a:rPr lang="en-GB" sz="1100" b="1" i="0" u="none" strike="noStrike" kern="1200">
                          <a:solidFill>
                            <a:srgbClr val="000000"/>
                          </a:solidFill>
                          <a:effectLst/>
                          <a:latin typeface="Aptos Narrow" panose="020B0004020202020204" pitchFamily="34" charset="0"/>
                          <a:ea typeface="+mn-ea"/>
                          <a:cs typeface="+mn-cs"/>
                        </a:rPr>
                        <a:t>Expected Year 2 Service volumes</a:t>
                      </a:r>
                    </a:p>
                    <a:p>
                      <a:pPr marL="0" marR="0" lvl="0" indent="0" algn="ctr" defTabSz="1219170" rtl="0" eaLnBrk="1" fontAlgn="ctr" latinLnBrk="0" hangingPunct="1">
                        <a:lnSpc>
                          <a:spcPct val="100000"/>
                        </a:lnSpc>
                        <a:spcBef>
                          <a:spcPts val="0"/>
                        </a:spcBef>
                        <a:spcAft>
                          <a:spcPts val="0"/>
                        </a:spcAft>
                        <a:buClrTx/>
                        <a:buSzTx/>
                        <a:buFontTx/>
                        <a:buNone/>
                        <a:tabLst/>
                        <a:defRPr/>
                      </a:pPr>
                      <a:r>
                        <a:rPr lang="en-GB" sz="900" b="0" i="1" u="none" strike="noStrike" kern="1200">
                          <a:solidFill>
                            <a:srgbClr val="000000"/>
                          </a:solidFill>
                          <a:effectLst/>
                          <a:latin typeface="Aptos Narrow" panose="020B0004020202020204" pitchFamily="34" charset="0"/>
                          <a:ea typeface="+mn-ea"/>
                          <a:cs typeface="+mn-cs"/>
                        </a:rPr>
                        <a:t>(Future number of Sprints/ Story Points/ Tickets per month)</a:t>
                      </a:r>
                      <a:endParaRPr lang="en-GB" sz="11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marL="0" algn="ctr" defTabSz="1219170" rtl="0" eaLnBrk="1" fontAlgn="ctr" latinLnBrk="0" hangingPunct="1"/>
                      <a:r>
                        <a:rPr lang="en-GB" sz="1100" b="1" i="0" u="none" strike="noStrike" kern="1200">
                          <a:solidFill>
                            <a:srgbClr val="000000"/>
                          </a:solidFill>
                          <a:effectLst/>
                          <a:latin typeface="Aptos Narrow" panose="020B0004020202020204" pitchFamily="34" charset="0"/>
                          <a:ea typeface="+mn-ea"/>
                          <a:cs typeface="+mn-cs"/>
                        </a:rPr>
                        <a:t>Expected Year 3 Service volumes</a:t>
                      </a:r>
                    </a:p>
                    <a:p>
                      <a:pPr marL="0" marR="0" lvl="0" indent="0" algn="ctr" defTabSz="1219170" rtl="0" eaLnBrk="1" fontAlgn="ctr" latinLnBrk="0" hangingPunct="1">
                        <a:lnSpc>
                          <a:spcPct val="100000"/>
                        </a:lnSpc>
                        <a:spcBef>
                          <a:spcPts val="0"/>
                        </a:spcBef>
                        <a:spcAft>
                          <a:spcPts val="0"/>
                        </a:spcAft>
                        <a:buClrTx/>
                        <a:buSzTx/>
                        <a:buFontTx/>
                        <a:buNone/>
                        <a:tabLst/>
                        <a:defRPr/>
                      </a:pPr>
                      <a:r>
                        <a:rPr lang="en-GB" sz="900" b="0" i="1" u="none" strike="noStrike" kern="1200">
                          <a:solidFill>
                            <a:srgbClr val="000000"/>
                          </a:solidFill>
                          <a:effectLst/>
                          <a:latin typeface="Aptos Narrow" panose="020B0004020202020204" pitchFamily="34" charset="0"/>
                          <a:ea typeface="+mn-ea"/>
                          <a:cs typeface="+mn-cs"/>
                        </a:rPr>
                        <a:t>(Future number of Sprints/ Story Points/ Tickets per month)</a:t>
                      </a:r>
                      <a:endParaRPr lang="en-GB" sz="11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ctr"/>
                      <a:r>
                        <a:rPr lang="en-GB" sz="1100" b="1" i="0" u="none" strike="noStrike">
                          <a:solidFill>
                            <a:srgbClr val="000000"/>
                          </a:solidFill>
                          <a:effectLst/>
                          <a:latin typeface="Aptos Narrow" panose="020B0004020202020204" pitchFamily="34" charset="0"/>
                        </a:rPr>
                        <a:t>Other variables</a:t>
                      </a:r>
                    </a:p>
                    <a:p>
                      <a:pPr algn="ctr" fontAlgn="ctr"/>
                      <a:r>
                        <a:rPr lang="en-GB" sz="900" b="0" i="0" u="none" strike="noStrike">
                          <a:solidFill>
                            <a:srgbClr val="000000"/>
                          </a:solidFill>
                          <a:effectLst/>
                          <a:latin typeface="Aptos Narrow" panose="020B0004020202020204" pitchFamily="34" charset="0"/>
                        </a:rPr>
                        <a:t>(e.g., Number of Users, Number of instances) </a:t>
                      </a:r>
                      <a:endParaRPr lang="en-GB" sz="11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ctr"/>
                      <a:r>
                        <a:rPr lang="en-GB" sz="1100" b="1" i="0" u="none" strike="noStrike">
                          <a:solidFill>
                            <a:srgbClr val="000000"/>
                          </a:solidFill>
                          <a:effectLst/>
                          <a:latin typeface="Aptos Narrow" panose="020B0004020202020204" pitchFamily="34" charset="0"/>
                        </a:rPr>
                        <a:t>Language + Location Requirements</a:t>
                      </a:r>
                    </a:p>
                    <a:p>
                      <a:pPr algn="ctr" fontAlgn="ctr"/>
                      <a:r>
                        <a:rPr lang="nn-NO" sz="900" b="0" i="1" u="none" strike="noStrike">
                          <a:solidFill>
                            <a:srgbClr val="000000"/>
                          </a:solidFill>
                          <a:effectLst/>
                          <a:latin typeface="Aptos Narrow" panose="020B0004020202020204" pitchFamily="34" charset="0"/>
                        </a:rPr>
                        <a:t>(leave blank if not applicable)</a:t>
                      </a:r>
                      <a:endParaRPr lang="en-GB" sz="1100" b="1"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ctr"/>
                      <a:r>
                        <a:rPr lang="en-GB" sz="1100" b="1" i="0" u="none" strike="noStrike">
                          <a:solidFill>
                            <a:srgbClr val="000000"/>
                          </a:solidFill>
                          <a:effectLst/>
                          <a:latin typeface="Aptos Narrow" panose="020B0004020202020204" pitchFamily="34" charset="0"/>
                        </a:rPr>
                        <a:t>Availability </a:t>
                      </a:r>
                    </a:p>
                    <a:p>
                      <a:pPr algn="ctr" fontAlgn="ctr"/>
                      <a:r>
                        <a:rPr lang="en-GB" sz="900" b="0" i="1" u="none" strike="noStrike">
                          <a:solidFill>
                            <a:srgbClr val="000000"/>
                          </a:solidFill>
                          <a:effectLst/>
                          <a:latin typeface="Aptos Narrow" panose="020B0004020202020204" pitchFamily="34" charset="0"/>
                        </a:rPr>
                        <a:t>(e.g., 24 x 7)</a:t>
                      </a:r>
                      <a:endParaRPr lang="en-GB" sz="1100" b="0" i="1"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2896408235"/>
                  </a:ext>
                </a:extLst>
              </a:tr>
              <a:tr h="184150">
                <a:tc>
                  <a:txBody>
                    <a:bodyPr/>
                    <a:lstStyle/>
                    <a:p>
                      <a:pPr algn="l" fontAlgn="b"/>
                      <a:r>
                        <a:rPr lang="en-GB" sz="900" b="0" i="0" u="none" strike="noStrike">
                          <a:solidFill>
                            <a:srgbClr val="000000"/>
                          </a:solidFill>
                          <a:effectLst/>
                          <a:latin typeface="Aptos Narrow" panose="020B0004020202020204" pitchFamily="34" charset="0"/>
                        </a:rPr>
                        <a:t> </a:t>
                      </a:r>
                      <a:r>
                        <a:rPr lang="en-GB" sz="900" b="0" i="0" u="none" strike="noStrike" err="1">
                          <a:solidFill>
                            <a:srgbClr val="000000"/>
                          </a:solidFill>
                          <a:effectLst/>
                          <a:latin typeface="Aptos Narrow" panose="020B0004020202020204" pitchFamily="34" charset="0"/>
                        </a:rPr>
                        <a:t>Netscaler</a:t>
                      </a:r>
                      <a:endParaRPr lang="en-GB" sz="900" b="0" i="0" u="none" strike="noStrike">
                        <a:solidFill>
                          <a:srgbClr val="000000"/>
                        </a:solidFill>
                        <a:effectLst/>
                        <a:latin typeface="Aptos Narrow" panose="020B000402020202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900" b="0" i="0" u="none" strike="noStrike">
                          <a:solidFill>
                            <a:srgbClr val="000000"/>
                          </a:solidFill>
                          <a:effectLst/>
                          <a:latin typeface="Aptos Narrow" panose="020B0004020202020204" pitchFamily="34" charset="0"/>
                        </a:rPr>
                        <a:t>VDI gateway service</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900" b="0" i="0" u="none" strike="noStrike">
                          <a:solidFill>
                            <a:srgbClr val="000000"/>
                          </a:solidFill>
                          <a:effectLst/>
                          <a:latin typeface="Aptos Narrow" panose="020B0004020202020204" pitchFamily="34" charset="0"/>
                        </a:rPr>
                        <a:t>16 PIs, 20 incidents annually</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1219170" rtl="0" eaLnBrk="1" fontAlgn="b" latinLnBrk="0" hangingPunct="1">
                        <a:lnSpc>
                          <a:spcPct val="100000"/>
                        </a:lnSpc>
                        <a:spcBef>
                          <a:spcPts val="0"/>
                        </a:spcBef>
                        <a:spcAft>
                          <a:spcPts val="0"/>
                        </a:spcAft>
                        <a:buClrTx/>
                        <a:buSzTx/>
                        <a:buFontTx/>
                        <a:buNone/>
                        <a:tabLst/>
                        <a:defRPr/>
                      </a:pPr>
                      <a:r>
                        <a:rPr lang="en-GB" sz="900" b="0" i="0" u="none" strike="noStrike">
                          <a:solidFill>
                            <a:srgbClr val="000000"/>
                          </a:solidFill>
                          <a:effectLst/>
                          <a:latin typeface="Aptos Narrow" panose="020B0004020202020204" pitchFamily="34" charset="0"/>
                        </a:rPr>
                        <a:t>16 PIs, 20 incidents annually</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1219170" rtl="0" eaLnBrk="1" fontAlgn="b" latinLnBrk="0" hangingPunct="1">
                        <a:lnSpc>
                          <a:spcPct val="100000"/>
                        </a:lnSpc>
                        <a:spcBef>
                          <a:spcPts val="0"/>
                        </a:spcBef>
                        <a:spcAft>
                          <a:spcPts val="0"/>
                        </a:spcAft>
                        <a:buClrTx/>
                        <a:buSzTx/>
                        <a:buFontTx/>
                        <a:buNone/>
                        <a:tabLst/>
                        <a:defRPr/>
                      </a:pPr>
                      <a:r>
                        <a:rPr lang="en-GB" sz="900" b="0" i="0" u="none" strike="noStrike">
                          <a:solidFill>
                            <a:srgbClr val="000000"/>
                          </a:solidFill>
                          <a:effectLst/>
                          <a:latin typeface="Aptos Narrow" panose="020B0004020202020204" pitchFamily="34" charset="0"/>
                        </a:rPr>
                        <a:t>16 PIs, 20 incidents annually</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1219170" rtl="0" eaLnBrk="1" fontAlgn="b" latinLnBrk="0" hangingPunct="1">
                        <a:lnSpc>
                          <a:spcPct val="100000"/>
                        </a:lnSpc>
                        <a:spcBef>
                          <a:spcPts val="0"/>
                        </a:spcBef>
                        <a:spcAft>
                          <a:spcPts val="0"/>
                        </a:spcAft>
                        <a:buClrTx/>
                        <a:buSzTx/>
                        <a:buFontTx/>
                        <a:buNone/>
                        <a:tabLst/>
                        <a:defRPr/>
                      </a:pPr>
                      <a:r>
                        <a:rPr lang="en-GB" sz="900" b="0" i="0" u="none" strike="noStrike">
                          <a:solidFill>
                            <a:srgbClr val="000000"/>
                          </a:solidFill>
                          <a:effectLst/>
                          <a:latin typeface="Aptos Narrow" panose="020B0004020202020204" pitchFamily="34" charset="0"/>
                        </a:rPr>
                        <a:t>16 PIs, 20 incidents annually</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900" b="1" i="0" u="sng" strike="noStrike">
                          <a:solidFill>
                            <a:srgbClr val="000000"/>
                          </a:solidFill>
                          <a:effectLst/>
                          <a:latin typeface="Aptos Narrow" panose="020B0004020202020204" pitchFamily="34" charset="0"/>
                        </a:rPr>
                        <a:t>Prod/Test Gateways:   </a:t>
                      </a:r>
                    </a:p>
                    <a:p>
                      <a:pPr algn="l" fontAlgn="b"/>
                      <a:r>
                        <a:rPr lang="en-GB" sz="900" b="0" i="0" u="none" strike="noStrike">
                          <a:solidFill>
                            <a:srgbClr val="000000"/>
                          </a:solidFill>
                          <a:effectLst/>
                          <a:latin typeface="Aptos Narrow" panose="020B0004020202020204" pitchFamily="34" charset="0"/>
                        </a:rPr>
                        <a:t>4 UK/US MPX 15000</a:t>
                      </a:r>
                    </a:p>
                    <a:p>
                      <a:pPr algn="l" fontAlgn="b"/>
                      <a:r>
                        <a:rPr lang="en-GB" sz="900" b="0" i="0" u="none" strike="noStrike">
                          <a:solidFill>
                            <a:srgbClr val="000000"/>
                          </a:solidFill>
                          <a:effectLst/>
                          <a:latin typeface="Aptos Narrow" panose="020B0004020202020204" pitchFamily="34" charset="0"/>
                        </a:rPr>
                        <a:t>1 US VPX 1000</a:t>
                      </a:r>
                    </a:p>
                    <a:p>
                      <a:pPr algn="l" fontAlgn="b"/>
                      <a:r>
                        <a:rPr lang="en-GB" sz="900" b="0" i="0" u="none" strike="noStrike">
                          <a:solidFill>
                            <a:srgbClr val="000000"/>
                          </a:solidFill>
                          <a:effectLst/>
                          <a:latin typeface="Aptos Narrow" panose="020B0004020202020204" pitchFamily="34" charset="0"/>
                        </a:rPr>
                        <a:t>3 UK VPX 10</a:t>
                      </a:r>
                    </a:p>
                    <a:p>
                      <a:pPr algn="l" fontAlgn="b"/>
                      <a:r>
                        <a:rPr lang="en-GB" sz="900" b="0" i="0" u="none" strike="noStrike">
                          <a:solidFill>
                            <a:srgbClr val="000000"/>
                          </a:solidFill>
                          <a:effectLst/>
                          <a:latin typeface="Aptos Narrow" panose="020B0004020202020204" pitchFamily="34" charset="0"/>
                        </a:rPr>
                        <a:t>3 Virtual NMAS/ADM servers</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900" b="0" i="0" u="none" strike="noStrike">
                          <a:solidFill>
                            <a:srgbClr val="000000"/>
                          </a:solidFill>
                          <a:effectLst/>
                          <a:latin typeface="Aptos Narrow" panose="020B0004020202020204" pitchFamily="34" charset="0"/>
                        </a:rPr>
                        <a:t> HA Pair within country; Geographic region failover</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900" b="0" i="0" u="none" strike="noStrike">
                          <a:solidFill>
                            <a:srgbClr val="000000"/>
                          </a:solidFill>
                          <a:effectLst/>
                          <a:latin typeface="Aptos Narrow" panose="020B0004020202020204" pitchFamily="34" charset="0"/>
                        </a:rPr>
                        <a:t>24/7/365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88985250"/>
                  </a:ext>
                </a:extLst>
              </a:tr>
            </a:tbl>
          </a:graphicData>
        </a:graphic>
      </p:graphicFrame>
    </p:spTree>
    <p:extLst>
      <p:ext uri="{BB962C8B-B14F-4D97-AF65-F5344CB8AC3E}">
        <p14:creationId xmlns:p14="http://schemas.microsoft.com/office/powerpoint/2010/main" val="125075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C1D5F-F5B8-8D61-B489-65566DDF9610}"/>
            </a:ext>
          </a:extLst>
        </p:cNvPr>
        <p:cNvGrpSpPr/>
        <p:nvPr/>
      </p:nvGrpSpPr>
      <p:grpSpPr>
        <a:xfrm>
          <a:off x="0" y="0"/>
          <a:ext cx="0" cy="0"/>
          <a:chOff x="0" y="0"/>
          <a:chExt cx="0" cy="0"/>
        </a:xfrm>
      </p:grpSpPr>
      <p:sp>
        <p:nvSpPr>
          <p:cNvPr id="38" name="TextBox 37">
            <a:extLst>
              <a:ext uri="{FF2B5EF4-FFF2-40B4-BE49-F238E27FC236}">
                <a16:creationId xmlns:a16="http://schemas.microsoft.com/office/drawing/2014/main" id="{241D4A17-987C-5A89-3F57-EF68ADB31CF8}"/>
              </a:ext>
            </a:extLst>
          </p:cNvPr>
          <p:cNvSpPr txBox="1"/>
          <p:nvPr/>
        </p:nvSpPr>
        <p:spPr>
          <a:xfrm>
            <a:off x="478870" y="1065910"/>
            <a:ext cx="11327377" cy="5123736"/>
          </a:xfrm>
          <a:prstGeom prst="rect">
            <a:avLst/>
          </a:prstGeom>
          <a:noFill/>
          <a:ln>
            <a:solidFill>
              <a:schemeClr val="bg1">
                <a:lumMod val="75000"/>
              </a:schemeClr>
            </a:solidFill>
          </a:ln>
        </p:spPr>
        <p:txBody>
          <a:bodyPr wrap="square" lIns="180000" tIns="180000" rIns="180000" bIns="180000" rtlCol="0">
            <a:normAutofit/>
          </a:bodyPr>
          <a:lstStyle/>
          <a:p>
            <a:pPr marL="285750" indent="-285750" algn="l">
              <a:spcBef>
                <a:spcPts val="300"/>
              </a:spcBef>
              <a:spcAft>
                <a:spcPts val="300"/>
              </a:spcAft>
              <a:buClr>
                <a:schemeClr val="tx2"/>
              </a:buClr>
              <a:buSzPct val="150000"/>
              <a:buFont typeface="Arial" panose="020B0604020202020204" pitchFamily="34" charset="0"/>
              <a:buChar char="•"/>
            </a:pPr>
            <a:endParaRPr lang="en-US" sz="1600" err="1"/>
          </a:p>
        </p:txBody>
      </p:sp>
      <p:sp>
        <p:nvSpPr>
          <p:cNvPr id="27" name="Title 17">
            <a:extLst>
              <a:ext uri="{FF2B5EF4-FFF2-40B4-BE49-F238E27FC236}">
                <a16:creationId xmlns:a16="http://schemas.microsoft.com/office/drawing/2014/main" id="{55A37975-376D-4352-9140-6E907CA22BE5}"/>
              </a:ext>
            </a:extLst>
          </p:cNvPr>
          <p:cNvSpPr>
            <a:spLocks noGrp="1"/>
          </p:cNvSpPr>
          <p:nvPr>
            <p:ph type="title"/>
          </p:nvPr>
        </p:nvSpPr>
        <p:spPr>
          <a:xfrm>
            <a:off x="478870" y="230848"/>
            <a:ext cx="10102852" cy="451405"/>
          </a:xfrm>
        </p:spPr>
        <p:txBody>
          <a:bodyPr>
            <a:normAutofit/>
          </a:bodyPr>
          <a:lstStyle/>
          <a:p>
            <a:r>
              <a:rPr lang="en-US"/>
              <a:t>Scope Detail – EAS: VDI Gateway Services (cont.)</a:t>
            </a:r>
          </a:p>
        </p:txBody>
      </p:sp>
      <p:sp>
        <p:nvSpPr>
          <p:cNvPr id="28" name="Date Placeholder 5">
            <a:extLst>
              <a:ext uri="{FF2B5EF4-FFF2-40B4-BE49-F238E27FC236}">
                <a16:creationId xmlns:a16="http://schemas.microsoft.com/office/drawing/2014/main" id="{0323EE59-98AB-57C1-D9D3-4A9D512E25CF}"/>
              </a:ext>
            </a:extLst>
          </p:cNvPr>
          <p:cNvSpPr txBox="1">
            <a:spLocks/>
          </p:cNvSpPr>
          <p:nvPr/>
        </p:nvSpPr>
        <p:spPr>
          <a:xfrm>
            <a:off x="10968821" y="65881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sp>
        <p:nvSpPr>
          <p:cNvPr id="29" name="Slide Number Placeholder 7">
            <a:extLst>
              <a:ext uri="{FF2B5EF4-FFF2-40B4-BE49-F238E27FC236}">
                <a16:creationId xmlns:a16="http://schemas.microsoft.com/office/drawing/2014/main" id="{B00F2A11-36CC-1EDB-B876-F572525E25DE}"/>
              </a:ext>
            </a:extLst>
          </p:cNvPr>
          <p:cNvSpPr txBox="1">
            <a:spLocks/>
          </p:cNvSpPr>
          <p:nvPr/>
        </p:nvSpPr>
        <p:spPr>
          <a:xfrm>
            <a:off x="11285288" y="6189646"/>
            <a:ext cx="540000" cy="269875"/>
          </a:xfrm>
          <a:prstGeom prst="rect">
            <a:avLst/>
          </a:prstGeom>
        </p:spPr>
        <p:txBody>
          <a:bodyPr vert="horz" lIns="0" tIns="0" rIns="0" bIns="0" rtlCol="0" anchor="b" anchorCtr="0">
            <a:normAutofit/>
          </a:bodyPr>
          <a:lstStyle>
            <a:defPPr>
              <a:defRPr lang="en-US"/>
            </a:defPPr>
            <a:lvl1pPr marL="0" algn="l" defTabSz="1219170" rtl="0" eaLnBrk="1" latinLnBrk="0" hangingPunct="1">
              <a:defRPr sz="12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9F9F533D-B52E-4A2F-BF72-0ADD2D94BD75}" type="slidenum">
              <a:rPr lang="en-GB" smtClean="0"/>
              <a:pPr/>
              <a:t>13</a:t>
            </a:fld>
            <a:endParaRPr lang="en-GB"/>
          </a:p>
        </p:txBody>
      </p:sp>
      <p:sp>
        <p:nvSpPr>
          <p:cNvPr id="30" name="TextBox 29">
            <a:extLst>
              <a:ext uri="{FF2B5EF4-FFF2-40B4-BE49-F238E27FC236}">
                <a16:creationId xmlns:a16="http://schemas.microsoft.com/office/drawing/2014/main" id="{B7B4872F-AA62-2C8C-41E9-C735865C92CE}"/>
              </a:ext>
            </a:extLst>
          </p:cNvPr>
          <p:cNvSpPr txBox="1"/>
          <p:nvPr/>
        </p:nvSpPr>
        <p:spPr>
          <a:xfrm>
            <a:off x="596549" y="913195"/>
            <a:ext cx="1997007" cy="307777"/>
          </a:xfrm>
          <a:prstGeom prst="rect">
            <a:avLst/>
          </a:prstGeom>
          <a:solidFill>
            <a:schemeClr val="bg1"/>
          </a:solidFill>
        </p:spPr>
        <p:txBody>
          <a:bodyPr wrap="square" rtlCol="0">
            <a:spAutoFit/>
          </a:bodyPr>
          <a:lstStyle/>
          <a:p>
            <a:pPr>
              <a:buClr>
                <a:schemeClr val="tx1"/>
              </a:buClr>
            </a:pPr>
            <a:r>
              <a:rPr lang="en-GB" sz="1400" b="1">
                <a:solidFill>
                  <a:schemeClr val="tx2"/>
                </a:solidFill>
              </a:rPr>
              <a:t>Scope Description</a:t>
            </a:r>
          </a:p>
        </p:txBody>
      </p:sp>
      <p:sp>
        <p:nvSpPr>
          <p:cNvPr id="33" name="TextBox 32">
            <a:extLst>
              <a:ext uri="{FF2B5EF4-FFF2-40B4-BE49-F238E27FC236}">
                <a16:creationId xmlns:a16="http://schemas.microsoft.com/office/drawing/2014/main" id="{11F2A698-7946-9FF7-9FC0-59F414044176}"/>
              </a:ext>
            </a:extLst>
          </p:cNvPr>
          <p:cNvSpPr txBox="1"/>
          <p:nvPr/>
        </p:nvSpPr>
        <p:spPr>
          <a:xfrm>
            <a:off x="572275" y="1288605"/>
            <a:ext cx="11233971" cy="4455066"/>
          </a:xfrm>
          <a:prstGeom prst="rect">
            <a:avLst/>
          </a:prstGeom>
          <a:noFill/>
          <a:ln>
            <a:noFill/>
          </a:ln>
        </p:spPr>
        <p:txBody>
          <a:bodyPr wrap="square" lIns="91440" tIns="45720" rIns="91440" bIns="45720" numCol="1" rtlCol="0" anchor="t">
            <a:spAutoFit/>
          </a:bodyPr>
          <a:lstStyle/>
          <a:p>
            <a:pPr>
              <a:buClr>
                <a:schemeClr val="bg2"/>
              </a:buClr>
            </a:pPr>
            <a:r>
              <a:rPr lang="en-GB" sz="1050" b="1" u="sng"/>
              <a:t>Application Dev/ Support Service Detail (cont.)</a:t>
            </a:r>
          </a:p>
          <a:p>
            <a:pPr>
              <a:buClr>
                <a:schemeClr val="bg2"/>
              </a:buClr>
            </a:pPr>
            <a:r>
              <a:rPr lang="en-US" sz="1050"/>
              <a:t>The Supplier must ensure that all personnel delivering services are appropriately trained, certified, and competent to perform their roles effectively. Services must be delivered in a secure, scalable, and cost-</a:t>
            </a:r>
            <a:r>
              <a:rPr lang="en-US" sz="1050" err="1"/>
              <a:t>optimised</a:t>
            </a:r>
            <a:r>
              <a:rPr lang="en-US" sz="1050"/>
              <a:t> manner, in full compliance with GSK’s policies, procedures, standards, and applicable data privacy and information security requirements.  The Supplier is expected to proactively leverage AI, automation, and analytics to reduce incidents, improve customer experience, and drive continuous service </a:t>
            </a:r>
            <a:r>
              <a:rPr lang="en-US" sz="1050" err="1"/>
              <a:t>optimisation</a:t>
            </a:r>
            <a:r>
              <a:rPr lang="en-US" sz="1050"/>
              <a:t>. This includes identifying opportunities for innovation and value </a:t>
            </a:r>
            <a:r>
              <a:rPr lang="en-US" sz="1050" err="1"/>
              <a:t>realisation</a:t>
            </a:r>
            <a:r>
              <a:rPr lang="en-US" sz="1050"/>
              <a:t> throughout the service lifecycle. </a:t>
            </a:r>
            <a:br>
              <a:rPr lang="en-US" sz="1050"/>
            </a:br>
            <a:br>
              <a:rPr lang="en-US" sz="1050"/>
            </a:br>
            <a:r>
              <a:rPr lang="en-US" sz="1050"/>
              <a:t>The following outlines key service areas and expectations, which are intended to be illustrative but not exhaustive.</a:t>
            </a:r>
          </a:p>
          <a:p>
            <a:pPr>
              <a:buClr>
                <a:schemeClr val="bg2"/>
              </a:buClr>
            </a:pPr>
            <a:endParaRPr lang="en-US" sz="1050"/>
          </a:p>
          <a:p>
            <a:pPr>
              <a:buClr>
                <a:schemeClr val="bg2"/>
              </a:buClr>
            </a:pPr>
            <a:r>
              <a:rPr lang="en-US" sz="1050" b="1"/>
              <a:t>Continuous Improvement</a:t>
            </a:r>
          </a:p>
          <a:p>
            <a:pPr>
              <a:buClr>
                <a:schemeClr val="bg2"/>
              </a:buClr>
            </a:pPr>
            <a:r>
              <a:rPr lang="en-US" sz="1050"/>
              <a:t>The Supplier shall implement a structured continuous improvement framework throughout the SOW term. This includes the use of AI and automation to reduce incident volumes, improve service quality, and enhance user satisfaction. Monthly reports must be provided to GSK detailing identified opportunities, actions taken, and progress against prior periods.</a:t>
            </a:r>
          </a:p>
          <a:p>
            <a:pPr>
              <a:buClr>
                <a:schemeClr val="bg2"/>
              </a:buClr>
            </a:pPr>
            <a:endParaRPr lang="en-US" sz="1050" b="1"/>
          </a:p>
          <a:p>
            <a:pPr>
              <a:buClr>
                <a:schemeClr val="bg2"/>
              </a:buClr>
            </a:pPr>
            <a:r>
              <a:rPr lang="en-US" sz="1050" b="1"/>
              <a:t>Audit, Compliance &amp; Security</a:t>
            </a:r>
          </a:p>
          <a:p>
            <a:pPr>
              <a:buClr>
                <a:schemeClr val="bg2"/>
              </a:buClr>
            </a:pPr>
            <a:r>
              <a:rPr lang="en-US" sz="1050"/>
              <a:t>The Supplier is responsible for ensuring full compliance with all applicable GSK policies, procedures, and regulatory requirements. This includes supporting internal and external audits, remediating findings, and responding to penetration testing and vulnerability scans. The Supplier must maintain accurate compliance documentation, manage license usage, and ensure infrastructure qualification is documented and up to date. All services must be delivered in accordance with GSK’s data privacy and information security standards, including secure access controls, event logging, and breach response protocols.</a:t>
            </a:r>
          </a:p>
          <a:p>
            <a:pPr>
              <a:buClr>
                <a:schemeClr val="bg2"/>
              </a:buClr>
            </a:pPr>
            <a:endParaRPr lang="en-US" sz="1050" b="1"/>
          </a:p>
          <a:p>
            <a:pPr>
              <a:buClr>
                <a:schemeClr val="bg2"/>
              </a:buClr>
            </a:pPr>
            <a:r>
              <a:rPr lang="en-US" sz="1050" b="1"/>
              <a:t>Service Request Management</a:t>
            </a:r>
          </a:p>
          <a:p>
            <a:pPr>
              <a:buClr>
                <a:schemeClr val="bg2"/>
              </a:buClr>
            </a:pPr>
            <a:r>
              <a:rPr lang="en-US" sz="1050"/>
              <a:t>The Supplier shall manage and fulfil service requests via GSK’s Service Catalog and provisioning tools. This includes validating, </a:t>
            </a:r>
            <a:r>
              <a:rPr lang="en-US" sz="1050" err="1"/>
              <a:t>categorising</a:t>
            </a:r>
            <a:r>
              <a:rPr lang="en-US" sz="1050"/>
              <a:t>, and escalating requests as needed, maintaining accurate records in GSK’s ITSM systems, and ensuring all user-facing documentation and help content is current and accessible.</a:t>
            </a:r>
          </a:p>
          <a:p>
            <a:pPr>
              <a:buClr>
                <a:schemeClr val="bg2"/>
              </a:buClr>
            </a:pPr>
            <a:endParaRPr lang="en-US" sz="1050" b="1"/>
          </a:p>
          <a:p>
            <a:pPr>
              <a:buClr>
                <a:schemeClr val="bg2"/>
              </a:buClr>
            </a:pPr>
            <a:r>
              <a:rPr lang="en-US" sz="1050" b="1"/>
              <a:t>Incident Management</a:t>
            </a:r>
          </a:p>
          <a:p>
            <a:pPr>
              <a:buClr>
                <a:schemeClr val="bg2"/>
              </a:buClr>
            </a:pPr>
            <a:r>
              <a:rPr lang="en-US" sz="1050"/>
              <a:t>The Supplier shall monitor, manage, and resolve all incidents related to in-scope services in accordance with SLAs and SOPs. This includes conducting root cause analysis for major incidents, leading SWAT calls, and providing timely updates to stakeholders. All incident data must be accurately maintained in GSK’s ITSM tools, with regular reporting on trends and resolution performance.</a:t>
            </a:r>
          </a:p>
          <a:p>
            <a:pPr>
              <a:buClr>
                <a:schemeClr val="bg2"/>
              </a:buClr>
            </a:pPr>
            <a:endParaRPr lang="en-US" sz="1050" b="1"/>
          </a:p>
        </p:txBody>
      </p:sp>
    </p:spTree>
    <p:extLst>
      <p:ext uri="{BB962C8B-B14F-4D97-AF65-F5344CB8AC3E}">
        <p14:creationId xmlns:p14="http://schemas.microsoft.com/office/powerpoint/2010/main" val="892244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FE474-F362-151A-B195-02F66A7A3087}"/>
            </a:ext>
          </a:extLst>
        </p:cNvPr>
        <p:cNvGrpSpPr/>
        <p:nvPr/>
      </p:nvGrpSpPr>
      <p:grpSpPr>
        <a:xfrm>
          <a:off x="0" y="0"/>
          <a:ext cx="0" cy="0"/>
          <a:chOff x="0" y="0"/>
          <a:chExt cx="0" cy="0"/>
        </a:xfrm>
      </p:grpSpPr>
      <p:sp>
        <p:nvSpPr>
          <p:cNvPr id="38" name="TextBox 37">
            <a:extLst>
              <a:ext uri="{FF2B5EF4-FFF2-40B4-BE49-F238E27FC236}">
                <a16:creationId xmlns:a16="http://schemas.microsoft.com/office/drawing/2014/main" id="{86FE5581-A0D8-FBAF-E5C6-029CEAFA861D}"/>
              </a:ext>
            </a:extLst>
          </p:cNvPr>
          <p:cNvSpPr txBox="1"/>
          <p:nvPr/>
        </p:nvSpPr>
        <p:spPr>
          <a:xfrm>
            <a:off x="478870" y="1065910"/>
            <a:ext cx="11327377" cy="5123736"/>
          </a:xfrm>
          <a:prstGeom prst="rect">
            <a:avLst/>
          </a:prstGeom>
          <a:noFill/>
          <a:ln>
            <a:solidFill>
              <a:schemeClr val="bg1">
                <a:lumMod val="75000"/>
              </a:schemeClr>
            </a:solidFill>
          </a:ln>
        </p:spPr>
        <p:txBody>
          <a:bodyPr wrap="square" lIns="180000" tIns="180000" rIns="180000" bIns="180000" rtlCol="0">
            <a:normAutofit/>
          </a:bodyPr>
          <a:lstStyle/>
          <a:p>
            <a:pPr marL="285750" indent="-285750" algn="l">
              <a:spcBef>
                <a:spcPts val="300"/>
              </a:spcBef>
              <a:spcAft>
                <a:spcPts val="300"/>
              </a:spcAft>
              <a:buClr>
                <a:schemeClr val="tx2"/>
              </a:buClr>
              <a:buSzPct val="150000"/>
              <a:buFont typeface="Arial" panose="020B0604020202020204" pitchFamily="34" charset="0"/>
              <a:buChar char="•"/>
            </a:pPr>
            <a:endParaRPr lang="en-US" sz="1600" err="1"/>
          </a:p>
        </p:txBody>
      </p:sp>
      <p:sp>
        <p:nvSpPr>
          <p:cNvPr id="27" name="Title 17">
            <a:extLst>
              <a:ext uri="{FF2B5EF4-FFF2-40B4-BE49-F238E27FC236}">
                <a16:creationId xmlns:a16="http://schemas.microsoft.com/office/drawing/2014/main" id="{967A335B-66D4-CE7C-414D-9C987EA76C70}"/>
              </a:ext>
            </a:extLst>
          </p:cNvPr>
          <p:cNvSpPr>
            <a:spLocks noGrp="1"/>
          </p:cNvSpPr>
          <p:nvPr>
            <p:ph type="title"/>
          </p:nvPr>
        </p:nvSpPr>
        <p:spPr>
          <a:xfrm>
            <a:off x="478870" y="230848"/>
            <a:ext cx="10102852" cy="451405"/>
          </a:xfrm>
        </p:spPr>
        <p:txBody>
          <a:bodyPr>
            <a:normAutofit/>
          </a:bodyPr>
          <a:lstStyle/>
          <a:p>
            <a:r>
              <a:rPr lang="en-US"/>
              <a:t>Scope Detail – EAS: VDI Gateway Services (cont.)</a:t>
            </a:r>
          </a:p>
        </p:txBody>
      </p:sp>
      <p:sp>
        <p:nvSpPr>
          <p:cNvPr id="28" name="Date Placeholder 5">
            <a:extLst>
              <a:ext uri="{FF2B5EF4-FFF2-40B4-BE49-F238E27FC236}">
                <a16:creationId xmlns:a16="http://schemas.microsoft.com/office/drawing/2014/main" id="{2DF222E5-BB88-A6C9-3653-CD8EEF7744FD}"/>
              </a:ext>
            </a:extLst>
          </p:cNvPr>
          <p:cNvSpPr txBox="1">
            <a:spLocks/>
          </p:cNvSpPr>
          <p:nvPr/>
        </p:nvSpPr>
        <p:spPr>
          <a:xfrm>
            <a:off x="10968821" y="65881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sp>
        <p:nvSpPr>
          <p:cNvPr id="29" name="Slide Number Placeholder 7">
            <a:extLst>
              <a:ext uri="{FF2B5EF4-FFF2-40B4-BE49-F238E27FC236}">
                <a16:creationId xmlns:a16="http://schemas.microsoft.com/office/drawing/2014/main" id="{09DFBC0E-276C-26C0-D5E6-62BCE6AE7537}"/>
              </a:ext>
            </a:extLst>
          </p:cNvPr>
          <p:cNvSpPr txBox="1">
            <a:spLocks/>
          </p:cNvSpPr>
          <p:nvPr/>
        </p:nvSpPr>
        <p:spPr>
          <a:xfrm>
            <a:off x="11285288" y="6189646"/>
            <a:ext cx="540000" cy="269875"/>
          </a:xfrm>
          <a:prstGeom prst="rect">
            <a:avLst/>
          </a:prstGeom>
        </p:spPr>
        <p:txBody>
          <a:bodyPr vert="horz" lIns="0" tIns="0" rIns="0" bIns="0" rtlCol="0" anchor="b" anchorCtr="0">
            <a:normAutofit/>
          </a:bodyPr>
          <a:lstStyle>
            <a:defPPr>
              <a:defRPr lang="en-US"/>
            </a:defPPr>
            <a:lvl1pPr marL="0" algn="l" defTabSz="1219170" rtl="0" eaLnBrk="1" latinLnBrk="0" hangingPunct="1">
              <a:defRPr sz="12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9F9F533D-B52E-4A2F-BF72-0ADD2D94BD75}" type="slidenum">
              <a:rPr lang="en-GB" smtClean="0"/>
              <a:pPr/>
              <a:t>14</a:t>
            </a:fld>
            <a:endParaRPr lang="en-GB"/>
          </a:p>
        </p:txBody>
      </p:sp>
      <p:sp>
        <p:nvSpPr>
          <p:cNvPr id="30" name="TextBox 29">
            <a:extLst>
              <a:ext uri="{FF2B5EF4-FFF2-40B4-BE49-F238E27FC236}">
                <a16:creationId xmlns:a16="http://schemas.microsoft.com/office/drawing/2014/main" id="{DEB75E16-B6C0-53DA-0B77-46B7FB5E1454}"/>
              </a:ext>
            </a:extLst>
          </p:cNvPr>
          <p:cNvSpPr txBox="1"/>
          <p:nvPr/>
        </p:nvSpPr>
        <p:spPr>
          <a:xfrm>
            <a:off x="596549" y="913195"/>
            <a:ext cx="1997007" cy="307777"/>
          </a:xfrm>
          <a:prstGeom prst="rect">
            <a:avLst/>
          </a:prstGeom>
          <a:solidFill>
            <a:schemeClr val="bg1"/>
          </a:solidFill>
        </p:spPr>
        <p:txBody>
          <a:bodyPr wrap="square" rtlCol="0">
            <a:spAutoFit/>
          </a:bodyPr>
          <a:lstStyle/>
          <a:p>
            <a:pPr>
              <a:buClr>
                <a:schemeClr val="tx1"/>
              </a:buClr>
            </a:pPr>
            <a:r>
              <a:rPr lang="en-GB" sz="1400" b="1">
                <a:solidFill>
                  <a:schemeClr val="tx2"/>
                </a:solidFill>
              </a:rPr>
              <a:t>Scope Description</a:t>
            </a:r>
          </a:p>
        </p:txBody>
      </p:sp>
      <p:sp>
        <p:nvSpPr>
          <p:cNvPr id="33" name="TextBox 32">
            <a:extLst>
              <a:ext uri="{FF2B5EF4-FFF2-40B4-BE49-F238E27FC236}">
                <a16:creationId xmlns:a16="http://schemas.microsoft.com/office/drawing/2014/main" id="{4AAD474C-C87F-85F5-A744-114EFF025618}"/>
              </a:ext>
            </a:extLst>
          </p:cNvPr>
          <p:cNvSpPr txBox="1"/>
          <p:nvPr/>
        </p:nvSpPr>
        <p:spPr>
          <a:xfrm>
            <a:off x="572275" y="1288605"/>
            <a:ext cx="11233971" cy="4939814"/>
          </a:xfrm>
          <a:prstGeom prst="rect">
            <a:avLst/>
          </a:prstGeom>
          <a:noFill/>
          <a:ln>
            <a:noFill/>
          </a:ln>
        </p:spPr>
        <p:txBody>
          <a:bodyPr wrap="square" lIns="91440" tIns="45720" rIns="91440" bIns="45720" numCol="1" rtlCol="0" anchor="t">
            <a:spAutoFit/>
          </a:bodyPr>
          <a:lstStyle/>
          <a:p>
            <a:pPr>
              <a:buClr>
                <a:schemeClr val="bg2"/>
              </a:buClr>
            </a:pPr>
            <a:r>
              <a:rPr lang="en-GB" sz="1050" b="1" u="sng"/>
              <a:t>Application Dev/ Support Service Detail (cont.)</a:t>
            </a:r>
            <a:r>
              <a:rPr lang="en-US" sz="1050" b="1" u="sng"/>
              <a:t> </a:t>
            </a:r>
          </a:p>
          <a:p>
            <a:pPr>
              <a:buClr>
                <a:schemeClr val="bg2"/>
              </a:buClr>
            </a:pPr>
            <a:r>
              <a:rPr lang="en-US" sz="1050" b="1"/>
              <a:t>Problem Management</a:t>
            </a:r>
          </a:p>
          <a:p>
            <a:pPr>
              <a:buClr>
                <a:schemeClr val="bg2"/>
              </a:buClr>
            </a:pPr>
            <a:r>
              <a:rPr lang="en-US" sz="1050"/>
              <a:t>The Supplier shall identify and resolve underlying problems through proactive trend analysis and root cause investigation. Preventative measures must be proposed and implemented to reduce recurrence, and all problem records must be maintained in accordance with GSK standards.</a:t>
            </a:r>
          </a:p>
          <a:p>
            <a:pPr>
              <a:buClr>
                <a:schemeClr val="bg2"/>
              </a:buClr>
            </a:pPr>
            <a:endParaRPr lang="en-US" sz="1050" b="1"/>
          </a:p>
          <a:p>
            <a:pPr>
              <a:buClr>
                <a:schemeClr val="bg2"/>
              </a:buClr>
            </a:pPr>
            <a:r>
              <a:rPr lang="en-US" sz="1050" b="1"/>
              <a:t>Change Management</a:t>
            </a:r>
          </a:p>
          <a:p>
            <a:pPr>
              <a:buClr>
                <a:schemeClr val="bg2"/>
              </a:buClr>
            </a:pPr>
            <a:r>
              <a:rPr lang="en-US" sz="1050"/>
              <a:t>The Supplier is responsible for planning, executing, and documenting all technical changes. This includes risk assessments, backout plans, stakeholder communications, and participation in Change Advisory Board (CAB) meetings. All changes must follow GSK’s change control processes and be fully documented in the ITSM system.</a:t>
            </a:r>
          </a:p>
          <a:p>
            <a:pPr>
              <a:buClr>
                <a:schemeClr val="bg2"/>
              </a:buClr>
            </a:pPr>
            <a:endParaRPr lang="en-US" sz="1050" b="1"/>
          </a:p>
          <a:p>
            <a:pPr>
              <a:buClr>
                <a:schemeClr val="bg2"/>
              </a:buClr>
            </a:pPr>
            <a:r>
              <a:rPr lang="en-US" sz="1050" b="1"/>
              <a:t>Escalation Management</a:t>
            </a:r>
          </a:p>
          <a:p>
            <a:pPr>
              <a:buClr>
                <a:schemeClr val="bg2"/>
              </a:buClr>
            </a:pPr>
            <a:r>
              <a:rPr lang="en-US" sz="1050"/>
              <a:t>The Supplier shall follow GSK’s defined escalation procedures for incidents, problems, and changes. All escalations must be logged, communicated, and resolved in line with agreed timelines. Root cause analysis and mitigation plans must be provided for major or recurring issues.</a:t>
            </a:r>
          </a:p>
          <a:p>
            <a:pPr>
              <a:buClr>
                <a:schemeClr val="bg2"/>
              </a:buClr>
            </a:pPr>
            <a:endParaRPr lang="en-US" sz="1050" b="1"/>
          </a:p>
          <a:p>
            <a:pPr>
              <a:buClr>
                <a:schemeClr val="bg2"/>
              </a:buClr>
            </a:pPr>
            <a:r>
              <a:rPr lang="en-US" sz="1050" b="1"/>
              <a:t>Asset &amp; Configuration Management</a:t>
            </a:r>
          </a:p>
          <a:p>
            <a:pPr>
              <a:buClr>
                <a:schemeClr val="bg2"/>
              </a:buClr>
            </a:pPr>
            <a:r>
              <a:rPr lang="en-US" sz="1050"/>
              <a:t>The Supplier shall </a:t>
            </a:r>
            <a:r>
              <a:rPr lang="en-US" sz="1000"/>
              <a:t>maintain</a:t>
            </a:r>
            <a:r>
              <a:rPr lang="en-US" sz="1050"/>
              <a:t> accurate and complete asset and configuration data in GSK’s CMDB. This includes hardware, software, and system configurations, with quarterly verification of configuration items. Documentation must be aligned with OEM guidance, industry best practices, and GSK standards.</a:t>
            </a:r>
          </a:p>
          <a:p>
            <a:pPr>
              <a:buClr>
                <a:schemeClr val="bg2"/>
              </a:buClr>
            </a:pPr>
            <a:endParaRPr lang="en-US" sz="1050" b="1"/>
          </a:p>
          <a:p>
            <a:pPr>
              <a:buClr>
                <a:schemeClr val="bg2"/>
              </a:buClr>
            </a:pPr>
            <a:r>
              <a:rPr lang="en-US" sz="1050" b="1"/>
              <a:t>Knowledge Management</a:t>
            </a:r>
          </a:p>
          <a:p>
            <a:pPr>
              <a:buClr>
                <a:schemeClr val="bg2"/>
              </a:buClr>
            </a:pPr>
            <a:r>
              <a:rPr lang="en-US" sz="1050"/>
              <a:t>The Supplier shall be responsible for creating, maintaining, and continuously improving all knowledge assets related to the in-scope services. This includes service desk scripts, knowledge base (KB) articles, user guides, FAQs, and operational runbooks. All content must be accurate, up to date, and stored in GSK’s designated knowledge management systems. The Supplier must ensure that knowledge is accessible, searchable, and aligned with incident, problem, and request management processes to support first-time resolution and reduce repeat issues.</a:t>
            </a:r>
          </a:p>
          <a:p>
            <a:pPr>
              <a:buClr>
                <a:schemeClr val="bg2"/>
              </a:buClr>
            </a:pPr>
            <a:endParaRPr lang="en-US" sz="1050" b="1"/>
          </a:p>
          <a:p>
            <a:pPr>
              <a:buClr>
                <a:schemeClr val="bg2"/>
              </a:buClr>
            </a:pPr>
            <a:r>
              <a:rPr lang="en-US" sz="1050" b="1"/>
              <a:t>Governance &amp; Reporting</a:t>
            </a:r>
          </a:p>
          <a:p>
            <a:pPr>
              <a:buClr>
                <a:schemeClr val="bg2"/>
              </a:buClr>
            </a:pPr>
            <a:r>
              <a:rPr lang="en-US" sz="1050"/>
              <a:t>The Supplier shall participate in regular governance forums and service reviews with GSK. This includes providing transparent reporting on performance, SLAs, risks, and improvement initiatives. Clear escalation paths and stakeholder engagement protocols must be maintained.</a:t>
            </a:r>
          </a:p>
          <a:p>
            <a:pPr>
              <a:buClr>
                <a:schemeClr val="bg2"/>
              </a:buClr>
            </a:pPr>
            <a:endParaRPr lang="en-US" sz="1050" b="1"/>
          </a:p>
          <a:p>
            <a:pPr>
              <a:buClr>
                <a:schemeClr val="bg2"/>
              </a:buClr>
            </a:pPr>
            <a:r>
              <a:rPr lang="en-US" sz="1050" b="1"/>
              <a:t>Innovation &amp; Cost </a:t>
            </a:r>
            <a:r>
              <a:rPr lang="en-US" sz="1050" b="1" err="1"/>
              <a:t>Optimisation</a:t>
            </a:r>
            <a:endParaRPr lang="en-US" sz="1050" b="1"/>
          </a:p>
          <a:p>
            <a:pPr>
              <a:buClr>
                <a:schemeClr val="bg2"/>
              </a:buClr>
            </a:pPr>
            <a:r>
              <a:rPr lang="en-US" sz="1050"/>
              <a:t>The Supplier is expected to continuously identify opportunities to </a:t>
            </a:r>
            <a:r>
              <a:rPr lang="en-US" sz="1050" err="1"/>
              <a:t>optimise</a:t>
            </a:r>
            <a:r>
              <a:rPr lang="en-US" sz="1050"/>
              <a:t> cost, improve efficiency, and introduce innovation. This includes the use of AI, automation, and emerging technologies to deliver measurable business value and align with GSK’s strategic objectives.</a:t>
            </a:r>
            <a:endParaRPr lang="en-GB" sz="1050"/>
          </a:p>
        </p:txBody>
      </p:sp>
    </p:spTree>
    <p:extLst>
      <p:ext uri="{BB962C8B-B14F-4D97-AF65-F5344CB8AC3E}">
        <p14:creationId xmlns:p14="http://schemas.microsoft.com/office/powerpoint/2010/main" val="242112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2594F-8873-2985-C243-100703440B98}"/>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C0AE474-3F03-5976-FF90-00C280D35F61}"/>
              </a:ext>
            </a:extLst>
          </p:cNvPr>
          <p:cNvGraphicFramePr>
            <a:graphicFrameLocks noGrp="1"/>
          </p:cNvGraphicFramePr>
          <p:nvPr>
            <p:extLst>
              <p:ext uri="{D42A27DB-BD31-4B8C-83A1-F6EECF244321}">
                <p14:modId xmlns:p14="http://schemas.microsoft.com/office/powerpoint/2010/main" val="562996268"/>
              </p:ext>
            </p:extLst>
          </p:nvPr>
        </p:nvGraphicFramePr>
        <p:xfrm>
          <a:off x="361191" y="882621"/>
          <a:ext cx="11327376" cy="2548890"/>
        </p:xfrm>
        <a:graphic>
          <a:graphicData uri="http://schemas.openxmlformats.org/drawingml/2006/table">
            <a:tbl>
              <a:tblPr/>
              <a:tblGrid>
                <a:gridCol w="765890">
                  <a:extLst>
                    <a:ext uri="{9D8B030D-6E8A-4147-A177-3AD203B41FA5}">
                      <a16:colId xmlns:a16="http://schemas.microsoft.com/office/drawing/2014/main" val="4100041905"/>
                    </a:ext>
                  </a:extLst>
                </a:gridCol>
                <a:gridCol w="1321946">
                  <a:extLst>
                    <a:ext uri="{9D8B030D-6E8A-4147-A177-3AD203B41FA5}">
                      <a16:colId xmlns:a16="http://schemas.microsoft.com/office/drawing/2014/main" val="4189356408"/>
                    </a:ext>
                  </a:extLst>
                </a:gridCol>
                <a:gridCol w="1443335">
                  <a:extLst>
                    <a:ext uri="{9D8B030D-6E8A-4147-A177-3AD203B41FA5}">
                      <a16:colId xmlns:a16="http://schemas.microsoft.com/office/drawing/2014/main" val="2528964953"/>
                    </a:ext>
                  </a:extLst>
                </a:gridCol>
                <a:gridCol w="1321176">
                  <a:extLst>
                    <a:ext uri="{9D8B030D-6E8A-4147-A177-3AD203B41FA5}">
                      <a16:colId xmlns:a16="http://schemas.microsoft.com/office/drawing/2014/main" val="1911952412"/>
                    </a:ext>
                  </a:extLst>
                </a:gridCol>
                <a:gridCol w="1259234">
                  <a:extLst>
                    <a:ext uri="{9D8B030D-6E8A-4147-A177-3AD203B41FA5}">
                      <a16:colId xmlns:a16="http://schemas.microsoft.com/office/drawing/2014/main" val="577542454"/>
                    </a:ext>
                  </a:extLst>
                </a:gridCol>
                <a:gridCol w="1259234">
                  <a:extLst>
                    <a:ext uri="{9D8B030D-6E8A-4147-A177-3AD203B41FA5}">
                      <a16:colId xmlns:a16="http://schemas.microsoft.com/office/drawing/2014/main" val="1933246734"/>
                    </a:ext>
                  </a:extLst>
                </a:gridCol>
                <a:gridCol w="1259234">
                  <a:extLst>
                    <a:ext uri="{9D8B030D-6E8A-4147-A177-3AD203B41FA5}">
                      <a16:colId xmlns:a16="http://schemas.microsoft.com/office/drawing/2014/main" val="3162761371"/>
                    </a:ext>
                  </a:extLst>
                </a:gridCol>
                <a:gridCol w="1378790">
                  <a:extLst>
                    <a:ext uri="{9D8B030D-6E8A-4147-A177-3AD203B41FA5}">
                      <a16:colId xmlns:a16="http://schemas.microsoft.com/office/drawing/2014/main" val="3470399098"/>
                    </a:ext>
                  </a:extLst>
                </a:gridCol>
                <a:gridCol w="1318537">
                  <a:extLst>
                    <a:ext uri="{9D8B030D-6E8A-4147-A177-3AD203B41FA5}">
                      <a16:colId xmlns:a16="http://schemas.microsoft.com/office/drawing/2014/main" val="1624193255"/>
                    </a:ext>
                  </a:extLst>
                </a:gridCol>
              </a:tblGrid>
              <a:tr h="396269">
                <a:tc>
                  <a:txBody>
                    <a:bodyPr/>
                    <a:lstStyle/>
                    <a:p>
                      <a:pPr algn="ctr" fontAlgn="ctr"/>
                      <a:r>
                        <a:rPr lang="en-GB" sz="1100" b="1" i="0" u="none" strike="noStrike">
                          <a:solidFill>
                            <a:srgbClr val="000000"/>
                          </a:solidFill>
                          <a:effectLst/>
                          <a:latin typeface="Aptos Narrow"/>
                        </a:rPr>
                        <a:t>App/ Service Name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ctr"/>
                      <a:r>
                        <a:rPr lang="en-GB" sz="1100" b="1" i="0" u="none" strike="noStrike">
                          <a:solidFill>
                            <a:srgbClr val="000000"/>
                          </a:solidFill>
                          <a:effectLst/>
                          <a:latin typeface="Aptos Narrow"/>
                        </a:rPr>
                        <a:t>Description of App/ Service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ctr"/>
                      <a:r>
                        <a:rPr lang="en-GB" sz="1100" b="1" i="0" u="none" strike="noStrike">
                          <a:solidFill>
                            <a:srgbClr val="000000"/>
                          </a:solidFill>
                          <a:effectLst/>
                          <a:latin typeface="Aptos Narrow"/>
                        </a:rPr>
                        <a:t>2025 Service Volumes</a:t>
                      </a:r>
                    </a:p>
                    <a:p>
                      <a:pPr algn="ctr" fontAlgn="ctr"/>
                      <a:r>
                        <a:rPr lang="en-GB" sz="900" b="0" i="1" u="none" strike="noStrike">
                          <a:solidFill>
                            <a:srgbClr val="000000"/>
                          </a:solidFill>
                          <a:effectLst/>
                          <a:latin typeface="Aptos Narrow"/>
                        </a:rPr>
                        <a:t>(Current average number of Sprints/ Story Points/ Tickets per month)</a:t>
                      </a:r>
                      <a:endParaRPr lang="en-GB" sz="1100" b="0" i="1" u="none" strike="noStrike">
                        <a:solidFill>
                          <a:srgbClr val="000000"/>
                        </a:solidFill>
                        <a:effectLst/>
                        <a:latin typeface="Aptos Narrow"/>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ctr"/>
                      <a:r>
                        <a:rPr lang="en-GB" sz="1100" b="1" i="0" u="none" strike="noStrike">
                          <a:solidFill>
                            <a:srgbClr val="000000"/>
                          </a:solidFill>
                          <a:effectLst/>
                          <a:latin typeface="Aptos Narrow"/>
                        </a:rPr>
                        <a:t>Expected Year 1 Service volumes</a:t>
                      </a:r>
                    </a:p>
                    <a:p>
                      <a:pPr marL="0" marR="0" lvl="0" indent="0" algn="ctr" defTabSz="1219170" rtl="0" eaLnBrk="1" fontAlgn="ctr" latinLnBrk="0" hangingPunct="1">
                        <a:lnSpc>
                          <a:spcPct val="100000"/>
                        </a:lnSpc>
                        <a:spcBef>
                          <a:spcPts val="0"/>
                        </a:spcBef>
                        <a:spcAft>
                          <a:spcPts val="0"/>
                        </a:spcAft>
                        <a:buClrTx/>
                        <a:buSzTx/>
                        <a:buFontTx/>
                        <a:buNone/>
                        <a:tabLst/>
                        <a:defRPr/>
                      </a:pPr>
                      <a:r>
                        <a:rPr lang="en-GB" sz="900" b="0" i="1" u="none" strike="noStrike">
                          <a:solidFill>
                            <a:srgbClr val="000000"/>
                          </a:solidFill>
                          <a:effectLst/>
                          <a:latin typeface="Aptos Narrow"/>
                        </a:rPr>
                        <a:t>(Future number of Sprints/ Story Points/ Tickets per month)</a:t>
                      </a:r>
                      <a:endParaRPr lang="en-GB" sz="1100" b="1" i="0" u="none" strike="noStrike">
                        <a:solidFill>
                          <a:srgbClr val="000000"/>
                        </a:solidFill>
                        <a:effectLst/>
                        <a:latin typeface="Aptos Narrow"/>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marL="0" algn="ctr" defTabSz="1219170" rtl="0" eaLnBrk="1" fontAlgn="ctr" latinLnBrk="0" hangingPunct="1"/>
                      <a:r>
                        <a:rPr lang="en-GB" sz="1100" b="1" i="0" u="none" strike="noStrike" kern="1200">
                          <a:solidFill>
                            <a:srgbClr val="000000"/>
                          </a:solidFill>
                          <a:effectLst/>
                          <a:latin typeface="Aptos Narrow"/>
                          <a:ea typeface="+mn-ea"/>
                          <a:cs typeface="+mn-cs"/>
                        </a:rPr>
                        <a:t>Expected Year 2 Service volumes</a:t>
                      </a:r>
                    </a:p>
                    <a:p>
                      <a:pPr marL="0" marR="0" lvl="0" indent="0" algn="ctr" defTabSz="1219170" rtl="0" eaLnBrk="1" fontAlgn="ctr" latinLnBrk="0" hangingPunct="1">
                        <a:lnSpc>
                          <a:spcPct val="100000"/>
                        </a:lnSpc>
                        <a:spcBef>
                          <a:spcPts val="0"/>
                        </a:spcBef>
                        <a:spcAft>
                          <a:spcPts val="0"/>
                        </a:spcAft>
                        <a:buClrTx/>
                        <a:buSzTx/>
                        <a:buFontTx/>
                        <a:buNone/>
                        <a:tabLst/>
                        <a:defRPr/>
                      </a:pPr>
                      <a:r>
                        <a:rPr lang="en-GB" sz="900" b="0" i="1" u="none" strike="noStrike" kern="1200">
                          <a:solidFill>
                            <a:srgbClr val="000000"/>
                          </a:solidFill>
                          <a:effectLst/>
                          <a:latin typeface="Aptos Narrow"/>
                          <a:ea typeface="+mn-ea"/>
                          <a:cs typeface="+mn-cs"/>
                        </a:rPr>
                        <a:t>(Future number of Sprints/ Story Points/ Tickets per month)</a:t>
                      </a:r>
                      <a:endParaRPr lang="en-GB" sz="1100" b="0" i="0" u="none" strike="noStrike">
                        <a:solidFill>
                          <a:srgbClr val="000000"/>
                        </a:solidFill>
                        <a:effectLst/>
                        <a:latin typeface="Aptos Narrow"/>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marL="0" algn="ctr" defTabSz="1219170" rtl="0" eaLnBrk="1" fontAlgn="ctr" latinLnBrk="0" hangingPunct="1"/>
                      <a:r>
                        <a:rPr lang="en-GB" sz="1100" b="1" i="0" u="none" strike="noStrike" kern="1200">
                          <a:solidFill>
                            <a:srgbClr val="000000"/>
                          </a:solidFill>
                          <a:effectLst/>
                          <a:latin typeface="Aptos Narrow"/>
                          <a:ea typeface="+mn-ea"/>
                          <a:cs typeface="+mn-cs"/>
                        </a:rPr>
                        <a:t>Expected Year 3 Service volumes</a:t>
                      </a:r>
                    </a:p>
                    <a:p>
                      <a:pPr marL="0" marR="0" lvl="0" indent="0" algn="ctr" defTabSz="1219170" rtl="0" eaLnBrk="1" fontAlgn="ctr" latinLnBrk="0" hangingPunct="1">
                        <a:lnSpc>
                          <a:spcPct val="100000"/>
                        </a:lnSpc>
                        <a:spcBef>
                          <a:spcPts val="0"/>
                        </a:spcBef>
                        <a:spcAft>
                          <a:spcPts val="0"/>
                        </a:spcAft>
                        <a:buClrTx/>
                        <a:buSzTx/>
                        <a:buFontTx/>
                        <a:buNone/>
                        <a:tabLst/>
                        <a:defRPr/>
                      </a:pPr>
                      <a:r>
                        <a:rPr lang="en-GB" sz="900" b="0" i="1" u="none" strike="noStrike" kern="1200">
                          <a:solidFill>
                            <a:srgbClr val="000000"/>
                          </a:solidFill>
                          <a:effectLst/>
                          <a:latin typeface="Aptos Narrow"/>
                          <a:ea typeface="+mn-ea"/>
                          <a:cs typeface="+mn-cs"/>
                        </a:rPr>
                        <a:t>(Future number of Sprints/ Story Points/ Tickets per month)</a:t>
                      </a:r>
                      <a:endParaRPr lang="en-GB" sz="1100" b="0" i="0" u="none" strike="noStrike">
                        <a:solidFill>
                          <a:srgbClr val="000000"/>
                        </a:solidFill>
                        <a:effectLst/>
                        <a:latin typeface="Aptos Narrow"/>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ctr"/>
                      <a:r>
                        <a:rPr lang="en-GB" sz="1100" b="1" i="0" u="none" strike="noStrike">
                          <a:solidFill>
                            <a:srgbClr val="000000"/>
                          </a:solidFill>
                          <a:effectLst/>
                          <a:latin typeface="Aptos Narrow"/>
                        </a:rPr>
                        <a:t>Other variables</a:t>
                      </a:r>
                    </a:p>
                    <a:p>
                      <a:pPr algn="ctr" fontAlgn="ctr"/>
                      <a:r>
                        <a:rPr lang="en-GB" sz="900" b="0" i="0" u="none" strike="noStrike">
                          <a:solidFill>
                            <a:srgbClr val="000000"/>
                          </a:solidFill>
                          <a:effectLst/>
                          <a:latin typeface="Aptos Narrow"/>
                        </a:rPr>
                        <a:t>(e.g., Number of Users, Number of instances) </a:t>
                      </a:r>
                      <a:endParaRPr lang="en-GB" sz="1100" b="0" i="0" u="none" strike="noStrike">
                        <a:solidFill>
                          <a:srgbClr val="000000"/>
                        </a:solidFill>
                        <a:effectLst/>
                        <a:latin typeface="Aptos Narrow"/>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ctr"/>
                      <a:r>
                        <a:rPr lang="en-GB" sz="1100" b="1" i="0" u="none" strike="noStrike">
                          <a:solidFill>
                            <a:srgbClr val="000000"/>
                          </a:solidFill>
                          <a:effectLst/>
                          <a:latin typeface="Aptos Narrow"/>
                        </a:rPr>
                        <a:t>Language + Location Requirements</a:t>
                      </a:r>
                    </a:p>
                    <a:p>
                      <a:pPr algn="ctr" fontAlgn="ctr"/>
                      <a:r>
                        <a:rPr lang="nn-NO" sz="900" b="0" i="1" u="none" strike="noStrike">
                          <a:solidFill>
                            <a:srgbClr val="000000"/>
                          </a:solidFill>
                          <a:effectLst/>
                          <a:latin typeface="Aptos Narrow"/>
                        </a:rPr>
                        <a:t>(leave blank if not applicable)</a:t>
                      </a:r>
                      <a:endParaRPr lang="en-GB" sz="1100" b="1" i="0" u="none" strike="noStrike">
                        <a:solidFill>
                          <a:srgbClr val="000000"/>
                        </a:solidFill>
                        <a:effectLst/>
                        <a:latin typeface="Aptos Narrow"/>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ctr"/>
                      <a:r>
                        <a:rPr lang="en-GB" sz="1100" b="1" i="0" u="none" strike="noStrike">
                          <a:solidFill>
                            <a:srgbClr val="000000"/>
                          </a:solidFill>
                          <a:effectLst/>
                          <a:latin typeface="Aptos Narrow"/>
                        </a:rPr>
                        <a:t>Availability </a:t>
                      </a:r>
                    </a:p>
                    <a:p>
                      <a:pPr algn="ctr" fontAlgn="ctr"/>
                      <a:r>
                        <a:rPr lang="en-GB" sz="900" b="0" i="1" u="none" strike="noStrike">
                          <a:solidFill>
                            <a:srgbClr val="000000"/>
                          </a:solidFill>
                          <a:effectLst/>
                          <a:latin typeface="Aptos Narrow"/>
                        </a:rPr>
                        <a:t>(e.g., 24 x 7)</a:t>
                      </a:r>
                      <a:endParaRPr lang="en-GB" sz="1100" b="0" i="1" u="none" strike="noStrike">
                        <a:solidFill>
                          <a:srgbClr val="000000"/>
                        </a:solidFill>
                        <a:effectLst/>
                        <a:latin typeface="Aptos Narrow"/>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2896408235"/>
                  </a:ext>
                </a:extLst>
              </a:tr>
              <a:tr h="184150">
                <a:tc>
                  <a:txBody>
                    <a:bodyPr/>
                    <a:lstStyle/>
                    <a:p>
                      <a:pPr algn="l" fontAlgn="b"/>
                      <a:r>
                        <a:rPr lang="en-GB" sz="900" b="0" i="0" u="none" strike="noStrike" kern="1200">
                          <a:solidFill>
                            <a:srgbClr val="000000"/>
                          </a:solidFill>
                          <a:effectLst/>
                          <a:latin typeface="Aptos Narrow"/>
                          <a:ea typeface="+mn-ea"/>
                          <a:cs typeface="+mn-cs"/>
                        </a:rPr>
                        <a:t> GoAnywhere- MFT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l">
                        <a:buNone/>
                      </a:pPr>
                      <a:r>
                        <a:rPr lang="en-GB" sz="900" b="0" i="0" u="none" strike="noStrike" kern="1200" noProof="0">
                          <a:solidFill>
                            <a:srgbClr val="000000"/>
                          </a:solidFill>
                          <a:effectLst/>
                          <a:latin typeface="Arial Narrow" panose="020B0606020202030204" pitchFamily="34" charset="0"/>
                          <a:ea typeface="+mn-ea"/>
                          <a:cs typeface="+mn-cs"/>
                        </a:rPr>
                        <a:t>GSK Secure File Transfer Gateway Service (SFT) provides access, in terms of data and file exchange between GSK and its business partners outside GSK network</a:t>
                      </a:r>
                      <a:endParaRPr lang="en-US" sz="900" b="0" i="0" u="none" strike="noStrike" kern="1200">
                        <a:solidFill>
                          <a:srgbClr val="000000"/>
                        </a:solidFill>
                        <a:effectLst/>
                        <a:latin typeface="Arial Narrow" panose="020B0606020202030204" pitchFamily="34" charset="0"/>
                        <a:ea typeface="+mn-ea"/>
                        <a:cs typeface="+mn-cs"/>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l">
                        <a:buNone/>
                      </a:pPr>
                      <a:r>
                        <a:rPr lang="en-GB" sz="900" b="0">
                          <a:latin typeface="Arial Narrow" panose="020B0606020202030204" pitchFamily="34" charset="0"/>
                        </a:rPr>
                        <a:t>No of files moved / total size – 30k transactions per day for SFT (UK/US)</a:t>
                      </a:r>
                    </a:p>
                    <a:p>
                      <a:pPr lvl="0" algn="l">
                        <a:buNone/>
                      </a:pPr>
                      <a:endParaRPr lang="en-GB" sz="900" b="0" i="0" u="none" strike="noStrike" kern="1200" noProof="0">
                        <a:solidFill>
                          <a:srgbClr val="000000"/>
                        </a:solidFill>
                        <a:effectLst/>
                        <a:latin typeface="Arial Narrow" panose="020B0606020202030204" pitchFamily="34" charset="0"/>
                        <a:ea typeface="+mn-ea"/>
                        <a:cs typeface="+mn-cs"/>
                      </a:endParaRPr>
                    </a:p>
                    <a:p>
                      <a:pPr lvl="0" algn="l">
                        <a:buNone/>
                      </a:pPr>
                      <a:r>
                        <a:rPr lang="en-GB" sz="900" b="0">
                          <a:latin typeface="Arial Narrow" panose="020B0606020202030204" pitchFamily="34" charset="0"/>
                        </a:rPr>
                        <a:t># users in SFT US &amp; UK – 3437, China – 76</a:t>
                      </a:r>
                    </a:p>
                    <a:p>
                      <a:pPr lvl="0" algn="l">
                        <a:buNone/>
                      </a:pPr>
                      <a:endParaRPr lang="en-GB" sz="900" b="0" i="0" u="none" strike="noStrike" kern="1200">
                        <a:solidFill>
                          <a:srgbClr val="000000"/>
                        </a:solidFill>
                        <a:effectLst/>
                        <a:latin typeface="Arial Narrow" panose="020B0606020202030204" pitchFamily="34" charset="0"/>
                        <a:ea typeface="+mn-ea"/>
                        <a:cs typeface="+mn-cs"/>
                      </a:endParaRPr>
                    </a:p>
                    <a:p>
                      <a:pPr lvl="0" algn="l">
                        <a:buNone/>
                      </a:pPr>
                      <a:r>
                        <a:rPr lang="en-GB" sz="900">
                          <a:latin typeface="Arial Narrow" panose="020B0606020202030204" pitchFamily="34" charset="0"/>
                        </a:rPr>
                        <a:t>Both Internal &amp; External Users</a:t>
                      </a:r>
                      <a:endParaRPr lang="en-US" sz="900" b="0" i="0" u="none" strike="noStrike" kern="1200">
                        <a:solidFill>
                          <a:srgbClr val="000000"/>
                        </a:solidFill>
                        <a:effectLst/>
                        <a:latin typeface="Arial Narrow" panose="020B0606020202030204" pitchFamily="34" charset="0"/>
                        <a:ea typeface="+mn-ea"/>
                        <a:cs typeface="+mn-cs"/>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l">
                        <a:buNone/>
                      </a:pPr>
                      <a:r>
                        <a:rPr lang="en-GB" sz="900" b="0">
                          <a:latin typeface="Arial Narrow" panose="020B0606020202030204" pitchFamily="34" charset="0"/>
                        </a:rPr>
                        <a:t>~10% increase from 2025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GB" sz="900" b="0">
                          <a:latin typeface="Arial Narrow" panose="020B0606020202030204" pitchFamily="34" charset="0"/>
                        </a:rPr>
                        <a:t>~10% increase from 2026</a:t>
                      </a:r>
                      <a:endParaRPr lang="en-GB" sz="900" b="0" i="0" u="none" strike="noStrike" kern="1200" noProof="0">
                        <a:solidFill>
                          <a:srgbClr val="000000"/>
                        </a:solidFill>
                        <a:effectLst/>
                        <a:latin typeface="Aptos Narrow"/>
                        <a:ea typeface="+mn-ea"/>
                        <a:cs typeface="+mn-cs"/>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GB" sz="900" b="0">
                          <a:latin typeface="Arial Narrow" panose="020B0606020202030204" pitchFamily="34" charset="0"/>
                        </a:rPr>
                        <a:t>~10% increase from 2027</a:t>
                      </a:r>
                      <a:endParaRPr lang="en-GB" sz="900" b="0" i="0" u="none" strike="noStrike" kern="1200" noProof="0">
                        <a:solidFill>
                          <a:srgbClr val="000000"/>
                        </a:solidFill>
                        <a:effectLst/>
                        <a:latin typeface="Aptos Narrow"/>
                        <a:ea typeface="+mn-ea"/>
                        <a:cs typeface="+mn-cs"/>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1219170" rtl="0" eaLnBrk="1" fontAlgn="b" latinLnBrk="0" hangingPunct="1">
                        <a:lnSpc>
                          <a:spcPct val="100000"/>
                        </a:lnSpc>
                        <a:spcBef>
                          <a:spcPts val="0"/>
                        </a:spcBef>
                        <a:spcAft>
                          <a:spcPts val="0"/>
                        </a:spcAft>
                        <a:buClrTx/>
                        <a:buSzTx/>
                        <a:buFontTx/>
                        <a:buNone/>
                        <a:tabLst/>
                        <a:defRPr/>
                      </a:pPr>
                      <a:r>
                        <a:rPr lang="en-US" sz="900" b="1">
                          <a:latin typeface="Arial Narrow" panose="020B0606020202030204" pitchFamily="34" charset="0"/>
                        </a:rPr>
                        <a:t>SFT Servers:</a:t>
                      </a:r>
                      <a:r>
                        <a:rPr lang="en-US" sz="900">
                          <a:latin typeface="Arial Narrow" panose="020B0606020202030204" pitchFamily="34" charset="0"/>
                        </a:rPr>
                        <a:t>: 11 in IT &amp; 4 in OT &amp; Antivirus Servers in OT- 1</a:t>
                      </a:r>
                    </a:p>
                    <a:p>
                      <a:pPr marL="0" marR="0" lvl="0" indent="0" algn="l" defTabSz="1219170" rtl="0" eaLnBrk="1" fontAlgn="b" latinLnBrk="0" hangingPunct="1">
                        <a:lnSpc>
                          <a:spcPct val="100000"/>
                        </a:lnSpc>
                        <a:spcBef>
                          <a:spcPts val="0"/>
                        </a:spcBef>
                        <a:spcAft>
                          <a:spcPts val="0"/>
                        </a:spcAft>
                        <a:buClrTx/>
                        <a:buSzTx/>
                        <a:buFontTx/>
                        <a:buNone/>
                        <a:tabLst/>
                        <a:defRPr/>
                      </a:pPr>
                      <a:r>
                        <a:rPr lang="en-US" sz="900" b="1">
                          <a:latin typeface="Arial Narrow" panose="020B0606020202030204" pitchFamily="34" charset="0"/>
                        </a:rPr>
                        <a:t>Protocols supported</a:t>
                      </a:r>
                      <a:r>
                        <a:rPr lang="en-US" sz="900">
                          <a:latin typeface="Arial Narrow" panose="020B0606020202030204" pitchFamily="34" charset="0"/>
                        </a:rPr>
                        <a:t> SFTP ( SSH), HTTPS, AS2, </a:t>
                      </a:r>
                    </a:p>
                    <a:p>
                      <a:pPr marL="0" marR="0" lvl="0" indent="0" algn="l" defTabSz="1219170" rtl="0" eaLnBrk="1" fontAlgn="b" latinLnBrk="0" hangingPunct="1">
                        <a:lnSpc>
                          <a:spcPct val="100000"/>
                        </a:lnSpc>
                        <a:spcBef>
                          <a:spcPts val="0"/>
                        </a:spcBef>
                        <a:spcAft>
                          <a:spcPts val="0"/>
                        </a:spcAft>
                        <a:buClrTx/>
                        <a:buSzTx/>
                        <a:buFontTx/>
                        <a:buNone/>
                        <a:tabLst/>
                        <a:defRPr/>
                      </a:pPr>
                      <a:r>
                        <a:rPr lang="en-US" sz="900" b="1">
                          <a:latin typeface="Arial Narrow" panose="020B0606020202030204" pitchFamily="34" charset="0"/>
                        </a:rPr>
                        <a:t>SFT Components:</a:t>
                      </a:r>
                      <a:r>
                        <a:rPr lang="en-US" sz="900">
                          <a:latin typeface="Arial Narrow" panose="020B0606020202030204" pitchFamily="34" charset="0"/>
                        </a:rPr>
                        <a:t> Application + Gateway Servers, Database servers, Storage (– CVO going to ANF), Load Balancers kept in Azure Cloud</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900" b="1" i="0" u="none" strike="noStrike" kern="1200">
                          <a:solidFill>
                            <a:srgbClr val="000000"/>
                          </a:solidFill>
                          <a:effectLst/>
                          <a:latin typeface="Arial Narrow" panose="020B0606020202030204" pitchFamily="34" charset="0"/>
                          <a:ea typeface="+mn-ea"/>
                          <a:cs typeface="+mn-cs"/>
                        </a:rPr>
                        <a:t>Device Locations: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latin typeface="Arial Narrow" panose="020B0606020202030204" pitchFamily="34" charset="0"/>
                        </a:rPr>
                        <a:t>IT SFT (Europe, US, China)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latin typeface="Arial Narrow" panose="020B0606020202030204" pitchFamily="34" charset="0"/>
                        </a:rPr>
                        <a:t>OT SFT environments – Europe</a:t>
                      </a:r>
                    </a:p>
                    <a:p>
                      <a:pPr algn="l" fontAlgn="b"/>
                      <a:endParaRPr lang="en-GB" sz="900" b="0" i="0" u="none" strike="noStrike" kern="1200">
                        <a:solidFill>
                          <a:srgbClr val="000000"/>
                        </a:solidFill>
                        <a:effectLst/>
                        <a:latin typeface="Aptos Narrow"/>
                        <a:ea typeface="+mn-ea"/>
                        <a:cs typeface="+mn-cs"/>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900" b="0" i="0" u="none" strike="noStrike" kern="1200">
                          <a:solidFill>
                            <a:srgbClr val="000000"/>
                          </a:solidFill>
                          <a:effectLst/>
                          <a:latin typeface="Aptos Narrow"/>
                          <a:ea typeface="+mn-ea"/>
                          <a:cs typeface="+mn-cs"/>
                        </a:rPr>
                        <a:t> 24 x 7 x 365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3074086"/>
                  </a:ext>
                </a:extLst>
              </a:tr>
              <a:tr h="184150">
                <a:tc>
                  <a:txBody>
                    <a:bodyPr/>
                    <a:lstStyle/>
                    <a:p>
                      <a:pPr algn="l" fontAlgn="b"/>
                      <a:r>
                        <a:rPr lang="en-GB" sz="900" b="0" i="0" u="none" strike="noStrike" kern="1200">
                          <a:solidFill>
                            <a:srgbClr val="000000"/>
                          </a:solidFill>
                          <a:effectLst/>
                          <a:latin typeface="Aptos Narrow"/>
                          <a:ea typeface="+mn-ea"/>
                          <a:cs typeface="+mn-cs"/>
                        </a:rPr>
                        <a:t>OASIS application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900" b="0" i="0" u="none" strike="noStrike" kern="1200">
                          <a:solidFill>
                            <a:srgbClr val="000000"/>
                          </a:solidFill>
                          <a:effectLst/>
                          <a:latin typeface="Aptos Narrow"/>
                          <a:ea typeface="+mn-ea"/>
                          <a:cs typeface="+mn-cs"/>
                        </a:rPr>
                        <a:t>New configuration built on Go Anywhere.</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900" b="0" i="0" u="none" strike="noStrike" kern="1200">
                          <a:solidFill>
                            <a:srgbClr val="000000"/>
                          </a:solidFill>
                          <a:effectLst/>
                          <a:latin typeface="Aptos Narrow"/>
                          <a:ea typeface="+mn-ea"/>
                          <a:cs typeface="+mn-cs"/>
                        </a:rPr>
                        <a:t>Limited % per month compared to Go Anywhere.</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1219170" rtl="0" eaLnBrk="1" fontAlgn="b" latinLnBrk="0" hangingPunct="1">
                        <a:lnSpc>
                          <a:spcPct val="100000"/>
                        </a:lnSpc>
                        <a:spcBef>
                          <a:spcPts val="0"/>
                        </a:spcBef>
                        <a:spcAft>
                          <a:spcPts val="0"/>
                        </a:spcAft>
                        <a:buClrTx/>
                        <a:buSzTx/>
                        <a:buFontTx/>
                        <a:buNone/>
                        <a:tabLst/>
                        <a:defRPr/>
                      </a:pPr>
                      <a:r>
                        <a:rPr lang="en-GB" sz="900" b="0" i="0" u="none" strike="noStrike" kern="1200">
                          <a:solidFill>
                            <a:srgbClr val="000000"/>
                          </a:solidFill>
                          <a:effectLst/>
                          <a:latin typeface="Aptos Narrow"/>
                          <a:ea typeface="+mn-ea"/>
                          <a:cs typeface="+mn-cs"/>
                        </a:rPr>
                        <a:t>No Major % growth expected</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1219170" rtl="0" eaLnBrk="1" fontAlgn="b" latinLnBrk="0" hangingPunct="1">
                        <a:lnSpc>
                          <a:spcPct val="100000"/>
                        </a:lnSpc>
                        <a:spcBef>
                          <a:spcPts val="0"/>
                        </a:spcBef>
                        <a:spcAft>
                          <a:spcPts val="0"/>
                        </a:spcAft>
                        <a:buClrTx/>
                        <a:buSzTx/>
                        <a:buFontTx/>
                        <a:buNone/>
                        <a:tabLst/>
                        <a:defRPr/>
                      </a:pPr>
                      <a:r>
                        <a:rPr lang="en-GB" sz="900" b="0" i="0" u="none" strike="noStrike" kern="1200">
                          <a:solidFill>
                            <a:srgbClr val="000000"/>
                          </a:solidFill>
                          <a:effectLst/>
                          <a:latin typeface="Aptos Narrow"/>
                          <a:ea typeface="+mn-ea"/>
                          <a:cs typeface="+mn-cs"/>
                        </a:rPr>
                        <a:t>No Major % growth expected</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1219170" rtl="0" eaLnBrk="1" fontAlgn="b" latinLnBrk="0" hangingPunct="1">
                        <a:lnSpc>
                          <a:spcPct val="100000"/>
                        </a:lnSpc>
                        <a:spcBef>
                          <a:spcPts val="0"/>
                        </a:spcBef>
                        <a:spcAft>
                          <a:spcPts val="0"/>
                        </a:spcAft>
                        <a:buClrTx/>
                        <a:buSzTx/>
                        <a:buFontTx/>
                        <a:buNone/>
                        <a:tabLst/>
                        <a:defRPr/>
                      </a:pPr>
                      <a:r>
                        <a:rPr lang="en-GB" sz="900" b="0" i="0" u="none" strike="noStrike" kern="1200">
                          <a:solidFill>
                            <a:srgbClr val="000000"/>
                          </a:solidFill>
                          <a:effectLst/>
                          <a:latin typeface="Aptos Narrow"/>
                          <a:ea typeface="+mn-ea"/>
                          <a:cs typeface="+mn-cs"/>
                        </a:rPr>
                        <a:t>No Major % growth expected</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1219170" rtl="0" eaLnBrk="1" fontAlgn="b" latinLnBrk="0" hangingPunct="1">
                        <a:lnSpc>
                          <a:spcPct val="100000"/>
                        </a:lnSpc>
                        <a:spcBef>
                          <a:spcPts val="0"/>
                        </a:spcBef>
                        <a:spcAft>
                          <a:spcPts val="0"/>
                        </a:spcAft>
                        <a:buClrTx/>
                        <a:buSzTx/>
                        <a:buFontTx/>
                        <a:buNone/>
                        <a:tabLst/>
                        <a:defRPr/>
                      </a:pPr>
                      <a:r>
                        <a:rPr lang="en-GB" sz="900" b="0" i="0" u="none" strike="noStrike" kern="1200">
                          <a:solidFill>
                            <a:srgbClr val="000000"/>
                          </a:solidFill>
                          <a:effectLst/>
                          <a:latin typeface="Aptos Narrow"/>
                          <a:ea typeface="+mn-ea"/>
                          <a:cs typeface="+mn-cs"/>
                        </a:rPr>
                        <a:t>This is patient safety related and so critical</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GB" sz="900" b="0" i="0" u="none" strike="noStrike" kern="1200">
                        <a:solidFill>
                          <a:srgbClr val="000000"/>
                        </a:solidFill>
                        <a:effectLst/>
                        <a:latin typeface="Aptos Narrow"/>
                        <a:ea typeface="+mn-ea"/>
                        <a:cs typeface="+mn-cs"/>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l">
                        <a:buNone/>
                      </a:pPr>
                      <a:r>
                        <a:rPr lang="en-GB" sz="900" b="0" i="0" u="none" strike="noStrike" kern="1200" noProof="0">
                          <a:solidFill>
                            <a:srgbClr val="000000"/>
                          </a:solidFill>
                          <a:effectLst/>
                          <a:latin typeface="Aptos Narrow"/>
                          <a:ea typeface="+mn-ea"/>
                          <a:cs typeface="+mn-cs"/>
                        </a:rPr>
                        <a:t>24 x 7 x 365</a:t>
                      </a:r>
                      <a:endParaRPr lang="en-US" sz="900" b="0" i="0" u="none" strike="noStrike" kern="1200">
                        <a:solidFill>
                          <a:srgbClr val="000000"/>
                        </a:solidFill>
                        <a:effectLst/>
                        <a:latin typeface="Aptos Narrow"/>
                        <a:ea typeface="+mn-ea"/>
                        <a:cs typeface="+mn-cs"/>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88985250"/>
                  </a:ext>
                </a:extLst>
              </a:tr>
            </a:tbl>
          </a:graphicData>
        </a:graphic>
      </p:graphicFrame>
      <p:sp>
        <p:nvSpPr>
          <p:cNvPr id="38" name="TextBox 37">
            <a:extLst>
              <a:ext uri="{FF2B5EF4-FFF2-40B4-BE49-F238E27FC236}">
                <a16:creationId xmlns:a16="http://schemas.microsoft.com/office/drawing/2014/main" id="{2A25BEC2-7EE1-3AEE-7558-3D52E03CE5D0}"/>
              </a:ext>
            </a:extLst>
          </p:cNvPr>
          <p:cNvSpPr txBox="1"/>
          <p:nvPr/>
        </p:nvSpPr>
        <p:spPr>
          <a:xfrm>
            <a:off x="361190" y="3525522"/>
            <a:ext cx="11327377" cy="2737152"/>
          </a:xfrm>
          <a:prstGeom prst="rect">
            <a:avLst/>
          </a:prstGeom>
          <a:noFill/>
          <a:ln>
            <a:solidFill>
              <a:schemeClr val="bg1">
                <a:lumMod val="75000"/>
              </a:schemeClr>
            </a:solidFill>
          </a:ln>
        </p:spPr>
        <p:txBody>
          <a:bodyPr wrap="square" lIns="180000" tIns="180000" rIns="180000" bIns="180000" rtlCol="0">
            <a:normAutofit/>
          </a:bodyPr>
          <a:lstStyle/>
          <a:p>
            <a:pPr marL="285750" indent="-285750" algn="l">
              <a:spcBef>
                <a:spcPts val="300"/>
              </a:spcBef>
              <a:spcAft>
                <a:spcPts val="300"/>
              </a:spcAft>
              <a:buClr>
                <a:schemeClr val="tx2"/>
              </a:buClr>
              <a:buSzPct val="150000"/>
              <a:buFont typeface="Arial" panose="020B0604020202020204" pitchFamily="34" charset="0"/>
              <a:buChar char="•"/>
            </a:pPr>
            <a:endParaRPr lang="en-US" sz="1600"/>
          </a:p>
        </p:txBody>
      </p:sp>
      <p:sp>
        <p:nvSpPr>
          <p:cNvPr id="27" name="Title 17">
            <a:extLst>
              <a:ext uri="{FF2B5EF4-FFF2-40B4-BE49-F238E27FC236}">
                <a16:creationId xmlns:a16="http://schemas.microsoft.com/office/drawing/2014/main" id="{1A1700D7-23B5-04F8-035A-744D56C262C3}"/>
              </a:ext>
            </a:extLst>
          </p:cNvPr>
          <p:cNvSpPr>
            <a:spLocks noGrp="1"/>
          </p:cNvSpPr>
          <p:nvPr>
            <p:ph type="title"/>
          </p:nvPr>
        </p:nvSpPr>
        <p:spPr>
          <a:xfrm>
            <a:off x="478870" y="230848"/>
            <a:ext cx="10102852" cy="451405"/>
          </a:xfrm>
        </p:spPr>
        <p:txBody>
          <a:bodyPr>
            <a:normAutofit/>
          </a:bodyPr>
          <a:lstStyle/>
          <a:p>
            <a:r>
              <a:rPr lang="en-US"/>
              <a:t>Scope Detail – EAS: Managed File Transfer</a:t>
            </a:r>
          </a:p>
        </p:txBody>
      </p:sp>
      <p:sp>
        <p:nvSpPr>
          <p:cNvPr id="28" name="Date Placeholder 5">
            <a:extLst>
              <a:ext uri="{FF2B5EF4-FFF2-40B4-BE49-F238E27FC236}">
                <a16:creationId xmlns:a16="http://schemas.microsoft.com/office/drawing/2014/main" id="{04D64DF6-FCF0-7C6F-7C16-1D2E3FCE930A}"/>
              </a:ext>
            </a:extLst>
          </p:cNvPr>
          <p:cNvSpPr txBox="1">
            <a:spLocks/>
          </p:cNvSpPr>
          <p:nvPr/>
        </p:nvSpPr>
        <p:spPr>
          <a:xfrm>
            <a:off x="10968821" y="65881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sp>
        <p:nvSpPr>
          <p:cNvPr id="29" name="Slide Number Placeholder 7">
            <a:extLst>
              <a:ext uri="{FF2B5EF4-FFF2-40B4-BE49-F238E27FC236}">
                <a16:creationId xmlns:a16="http://schemas.microsoft.com/office/drawing/2014/main" id="{BDA89AEA-BA98-094E-3245-859B3A1AA728}"/>
              </a:ext>
            </a:extLst>
          </p:cNvPr>
          <p:cNvSpPr txBox="1">
            <a:spLocks/>
          </p:cNvSpPr>
          <p:nvPr/>
        </p:nvSpPr>
        <p:spPr>
          <a:xfrm>
            <a:off x="11285288" y="6189646"/>
            <a:ext cx="540000" cy="269875"/>
          </a:xfrm>
          <a:prstGeom prst="rect">
            <a:avLst/>
          </a:prstGeom>
        </p:spPr>
        <p:txBody>
          <a:bodyPr vert="horz" lIns="0" tIns="0" rIns="0" bIns="0" rtlCol="0" anchor="b" anchorCtr="0">
            <a:normAutofit/>
          </a:bodyPr>
          <a:lstStyle>
            <a:defPPr>
              <a:defRPr lang="en-US"/>
            </a:defPPr>
            <a:lvl1pPr marL="0" algn="l" defTabSz="1219170" rtl="0" eaLnBrk="1" latinLnBrk="0" hangingPunct="1">
              <a:defRPr sz="12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9F9F533D-B52E-4A2F-BF72-0ADD2D94BD75}" type="slidenum">
              <a:rPr lang="en-GB" smtClean="0"/>
              <a:pPr/>
              <a:t>15</a:t>
            </a:fld>
            <a:endParaRPr lang="en-GB"/>
          </a:p>
        </p:txBody>
      </p:sp>
      <p:sp>
        <p:nvSpPr>
          <p:cNvPr id="30" name="TextBox 29">
            <a:extLst>
              <a:ext uri="{FF2B5EF4-FFF2-40B4-BE49-F238E27FC236}">
                <a16:creationId xmlns:a16="http://schemas.microsoft.com/office/drawing/2014/main" id="{1648DFCD-2EEA-7497-2628-38A9B0318BC2}"/>
              </a:ext>
            </a:extLst>
          </p:cNvPr>
          <p:cNvSpPr txBox="1"/>
          <p:nvPr/>
        </p:nvSpPr>
        <p:spPr>
          <a:xfrm>
            <a:off x="361190" y="3477990"/>
            <a:ext cx="1997007" cy="307777"/>
          </a:xfrm>
          <a:prstGeom prst="rect">
            <a:avLst/>
          </a:prstGeom>
          <a:solidFill>
            <a:schemeClr val="bg1"/>
          </a:solidFill>
        </p:spPr>
        <p:txBody>
          <a:bodyPr wrap="square" rtlCol="0">
            <a:spAutoFit/>
          </a:bodyPr>
          <a:lstStyle/>
          <a:p>
            <a:pPr>
              <a:buClr>
                <a:schemeClr val="tx1"/>
              </a:buClr>
            </a:pPr>
            <a:r>
              <a:rPr lang="en-GB" sz="1400" b="1">
                <a:solidFill>
                  <a:schemeClr val="tx2"/>
                </a:solidFill>
              </a:rPr>
              <a:t>Scope Description</a:t>
            </a:r>
          </a:p>
        </p:txBody>
      </p:sp>
      <p:sp>
        <p:nvSpPr>
          <p:cNvPr id="33" name="TextBox 32">
            <a:extLst>
              <a:ext uri="{FF2B5EF4-FFF2-40B4-BE49-F238E27FC236}">
                <a16:creationId xmlns:a16="http://schemas.microsoft.com/office/drawing/2014/main" id="{00999B31-0E84-7A5B-EAB7-F2B85A8793DA}"/>
              </a:ext>
            </a:extLst>
          </p:cNvPr>
          <p:cNvSpPr txBox="1"/>
          <p:nvPr/>
        </p:nvSpPr>
        <p:spPr>
          <a:xfrm>
            <a:off x="361190" y="3832246"/>
            <a:ext cx="11233971" cy="3000821"/>
          </a:xfrm>
          <a:prstGeom prst="rect">
            <a:avLst/>
          </a:prstGeom>
          <a:noFill/>
          <a:ln>
            <a:noFill/>
          </a:ln>
        </p:spPr>
        <p:txBody>
          <a:bodyPr wrap="square" lIns="91440" tIns="45720" rIns="91440" bIns="45720" numCol="1" rtlCol="0" anchor="t">
            <a:spAutoFit/>
          </a:bodyPr>
          <a:lstStyle/>
          <a:p>
            <a:pPr>
              <a:buClr>
                <a:schemeClr val="bg2"/>
              </a:buClr>
            </a:pPr>
            <a:r>
              <a:rPr lang="en-GB" sz="1050" b="1" u="sng"/>
              <a:t>Application Roadmap</a:t>
            </a:r>
          </a:p>
          <a:p>
            <a:pPr marL="171450" indent="-171450">
              <a:buClr>
                <a:schemeClr val="bg2"/>
              </a:buClr>
              <a:buFont typeface="Arial"/>
              <a:buChar char="•"/>
            </a:pPr>
            <a:r>
              <a:rPr lang="en-GB" sz="1050"/>
              <a:t>Increase scope to incorporate further secure exchange between IT and OT networks.</a:t>
            </a:r>
            <a:endParaRPr lang="en-GB" sz="1050" b="1"/>
          </a:p>
          <a:p>
            <a:pPr>
              <a:buClr>
                <a:schemeClr val="bg2"/>
              </a:buClr>
            </a:pPr>
            <a:endParaRPr lang="en-GB" sz="1050" b="1">
              <a:highlight>
                <a:srgbClr val="FFFF00"/>
              </a:highlight>
            </a:endParaRPr>
          </a:p>
          <a:p>
            <a:pPr>
              <a:buClr>
                <a:schemeClr val="bg2"/>
              </a:buClr>
            </a:pPr>
            <a:r>
              <a:rPr lang="en-GB" sz="1050" b="1" u="sng"/>
              <a:t>Application Dev/ Support Service Detail</a:t>
            </a:r>
            <a:endParaRPr lang="en-GB" sz="1050" u="sng"/>
          </a:p>
          <a:p>
            <a:pPr marL="171450" indent="-171450">
              <a:buClr>
                <a:schemeClr val="bg2"/>
              </a:buClr>
              <a:buFont typeface="Arial" panose="020B0604020202020204" pitchFamily="34" charset="0"/>
              <a:buChar char="•"/>
            </a:pPr>
            <a:r>
              <a:rPr lang="en-US" sz="1050"/>
              <a:t>The Supplier shall assume full and comprehensive responsibility for the service, including its design, build, implementation, and ongoing operational support. This responsibility spans all levels of the ITIL framework and includes proactive identification and delivery of service improvements throughout the lifecycle.  As GSK’s internal roles are limited to Engineering and Product Ownership, the Supplier is expected to manage and operate the service in its entirety. </a:t>
            </a:r>
          </a:p>
          <a:p>
            <a:pPr marL="171450" indent="-171450">
              <a:buClr>
                <a:schemeClr val="bg2"/>
              </a:buClr>
              <a:buFont typeface="Arial" panose="020B0604020202020204" pitchFamily="34" charset="0"/>
              <a:buChar char="•"/>
            </a:pPr>
            <a:r>
              <a:rPr lang="en-US" sz="1050"/>
              <a:t>The service must be scalable, fit for purpose, and continuously </a:t>
            </a:r>
            <a:r>
              <a:rPr lang="en-US" sz="1050" err="1"/>
              <a:t>optimised</a:t>
            </a:r>
            <a:r>
              <a:rPr lang="en-US" sz="1050"/>
              <a:t> for performance, resilience, and cost-effectiveness. Supplier must ensure all solutions comply with GSK’s security policies, data protection standards, and relevant regulatory requirements (e.g., GDPR, GXP, SOX, HIPAA as applicable).</a:t>
            </a:r>
          </a:p>
          <a:p>
            <a:pPr marL="171450" indent="-171450">
              <a:buClr>
                <a:schemeClr val="bg2"/>
              </a:buClr>
              <a:buFont typeface="Arial" panose="020B0604020202020204" pitchFamily="34" charset="0"/>
              <a:buChar char="•"/>
            </a:pPr>
            <a:r>
              <a:rPr lang="en-US" sz="1050"/>
              <a:t>The Supplier is expected to leverage AI and automation to proactively reduce incidents, improve customer experience, and drive continuous service </a:t>
            </a:r>
            <a:r>
              <a:rPr lang="en-US" sz="1050" err="1"/>
              <a:t>optimisation</a:t>
            </a:r>
            <a:r>
              <a:rPr lang="en-US" sz="1050"/>
              <a:t>. Supplier shall implement AI Ops capabilities including but not limited to automated provisioning workflows, intelligent chatbot integrations for Tier 1 support, predictive analytics for performance degradation, and self-healing mechanisms.  Consequently, Supplier shall commit to material reductions in incident volumes, with commercially backed KPIs</a:t>
            </a:r>
          </a:p>
          <a:p>
            <a:pPr marL="171450" indent="-171450">
              <a:buClr>
                <a:schemeClr val="bg2"/>
              </a:buClr>
              <a:buFont typeface="Arial" panose="020B0604020202020204" pitchFamily="34" charset="0"/>
              <a:buChar char="•"/>
            </a:pPr>
            <a:r>
              <a:rPr lang="en-US" sz="1050"/>
              <a:t>The Supplier shall ensure the service remains aligned with evolving business needs and technological advancements. This includes maintaining appropriate documentation, managing technical debt, and ensuring the service is secure, supportable, and maintainable. Clear governance structures, reporting mechanisms, and escalation paths must be in place to ensure transparency and accountability in service delivery.</a:t>
            </a:r>
            <a:endParaRPr lang="en-US" sz="1050" b="1"/>
          </a:p>
          <a:p>
            <a:pPr>
              <a:buClr>
                <a:schemeClr val="bg2"/>
              </a:buClr>
            </a:pPr>
            <a:endParaRPr lang="en-GB" sz="1050"/>
          </a:p>
          <a:p>
            <a:pPr>
              <a:buClr>
                <a:schemeClr val="bg2"/>
              </a:buClr>
            </a:pPr>
            <a:endParaRPr lang="en-GB" sz="1050"/>
          </a:p>
          <a:p>
            <a:pPr>
              <a:buClr>
                <a:schemeClr val="bg2"/>
              </a:buClr>
            </a:pPr>
            <a:endParaRPr lang="en-US" sz="1050"/>
          </a:p>
        </p:txBody>
      </p:sp>
    </p:spTree>
    <p:extLst>
      <p:ext uri="{BB962C8B-B14F-4D97-AF65-F5344CB8AC3E}">
        <p14:creationId xmlns:p14="http://schemas.microsoft.com/office/powerpoint/2010/main" val="2273043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AC969-B350-2DC3-A645-3CB0A4D95F7E}"/>
            </a:ext>
          </a:extLst>
        </p:cNvPr>
        <p:cNvGrpSpPr/>
        <p:nvPr/>
      </p:nvGrpSpPr>
      <p:grpSpPr>
        <a:xfrm>
          <a:off x="0" y="0"/>
          <a:ext cx="0" cy="0"/>
          <a:chOff x="0" y="0"/>
          <a:chExt cx="0" cy="0"/>
        </a:xfrm>
      </p:grpSpPr>
      <p:sp>
        <p:nvSpPr>
          <p:cNvPr id="38" name="TextBox 37">
            <a:extLst>
              <a:ext uri="{FF2B5EF4-FFF2-40B4-BE49-F238E27FC236}">
                <a16:creationId xmlns:a16="http://schemas.microsoft.com/office/drawing/2014/main" id="{BEB57A47-5E87-81C5-A736-9764D96C6B69}"/>
              </a:ext>
            </a:extLst>
          </p:cNvPr>
          <p:cNvSpPr txBox="1"/>
          <p:nvPr/>
        </p:nvSpPr>
        <p:spPr>
          <a:xfrm>
            <a:off x="478870" y="1065910"/>
            <a:ext cx="11327377" cy="5123736"/>
          </a:xfrm>
          <a:prstGeom prst="rect">
            <a:avLst/>
          </a:prstGeom>
          <a:noFill/>
          <a:ln>
            <a:solidFill>
              <a:schemeClr val="bg1">
                <a:lumMod val="75000"/>
              </a:schemeClr>
            </a:solidFill>
          </a:ln>
        </p:spPr>
        <p:txBody>
          <a:bodyPr wrap="square" lIns="180000" tIns="180000" rIns="180000" bIns="180000" rtlCol="0">
            <a:normAutofit/>
          </a:bodyPr>
          <a:lstStyle/>
          <a:p>
            <a:pPr marL="285750" indent="-285750" algn="l">
              <a:spcBef>
                <a:spcPts val="300"/>
              </a:spcBef>
              <a:spcAft>
                <a:spcPts val="300"/>
              </a:spcAft>
              <a:buClr>
                <a:schemeClr val="tx2"/>
              </a:buClr>
              <a:buSzPct val="150000"/>
              <a:buFont typeface="Arial" panose="020B0604020202020204" pitchFamily="34" charset="0"/>
              <a:buChar char="•"/>
            </a:pPr>
            <a:endParaRPr lang="en-US" sz="1600" err="1"/>
          </a:p>
        </p:txBody>
      </p:sp>
      <p:sp>
        <p:nvSpPr>
          <p:cNvPr id="27" name="Title 17">
            <a:extLst>
              <a:ext uri="{FF2B5EF4-FFF2-40B4-BE49-F238E27FC236}">
                <a16:creationId xmlns:a16="http://schemas.microsoft.com/office/drawing/2014/main" id="{A405C03B-ED63-0B9A-E45D-5A2943C23A03}"/>
              </a:ext>
            </a:extLst>
          </p:cNvPr>
          <p:cNvSpPr>
            <a:spLocks noGrp="1"/>
          </p:cNvSpPr>
          <p:nvPr>
            <p:ph type="title"/>
          </p:nvPr>
        </p:nvSpPr>
        <p:spPr>
          <a:xfrm>
            <a:off x="478870" y="230848"/>
            <a:ext cx="10102852" cy="451405"/>
          </a:xfrm>
        </p:spPr>
        <p:txBody>
          <a:bodyPr>
            <a:normAutofit/>
          </a:bodyPr>
          <a:lstStyle/>
          <a:p>
            <a:r>
              <a:rPr lang="en-US"/>
              <a:t>Scope Detail – EAS: Managed File Transfer</a:t>
            </a:r>
          </a:p>
        </p:txBody>
      </p:sp>
      <p:sp>
        <p:nvSpPr>
          <p:cNvPr id="28" name="Date Placeholder 5">
            <a:extLst>
              <a:ext uri="{FF2B5EF4-FFF2-40B4-BE49-F238E27FC236}">
                <a16:creationId xmlns:a16="http://schemas.microsoft.com/office/drawing/2014/main" id="{16ABC0B2-6C3A-D0AF-0BC6-6A8403E62A1E}"/>
              </a:ext>
            </a:extLst>
          </p:cNvPr>
          <p:cNvSpPr txBox="1">
            <a:spLocks/>
          </p:cNvSpPr>
          <p:nvPr/>
        </p:nvSpPr>
        <p:spPr>
          <a:xfrm>
            <a:off x="10968821" y="65881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sp>
        <p:nvSpPr>
          <p:cNvPr id="29" name="Slide Number Placeholder 7">
            <a:extLst>
              <a:ext uri="{FF2B5EF4-FFF2-40B4-BE49-F238E27FC236}">
                <a16:creationId xmlns:a16="http://schemas.microsoft.com/office/drawing/2014/main" id="{C61C47A8-858A-E5E0-9970-447930E36E7D}"/>
              </a:ext>
            </a:extLst>
          </p:cNvPr>
          <p:cNvSpPr txBox="1">
            <a:spLocks/>
          </p:cNvSpPr>
          <p:nvPr/>
        </p:nvSpPr>
        <p:spPr>
          <a:xfrm>
            <a:off x="11285288" y="6189646"/>
            <a:ext cx="540000" cy="269875"/>
          </a:xfrm>
          <a:prstGeom prst="rect">
            <a:avLst/>
          </a:prstGeom>
        </p:spPr>
        <p:txBody>
          <a:bodyPr vert="horz" lIns="0" tIns="0" rIns="0" bIns="0" rtlCol="0" anchor="b" anchorCtr="0">
            <a:normAutofit/>
          </a:bodyPr>
          <a:lstStyle>
            <a:defPPr>
              <a:defRPr lang="en-US"/>
            </a:defPPr>
            <a:lvl1pPr marL="0" algn="l" defTabSz="1219170" rtl="0" eaLnBrk="1" latinLnBrk="0" hangingPunct="1">
              <a:defRPr sz="12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9F9F533D-B52E-4A2F-BF72-0ADD2D94BD75}" type="slidenum">
              <a:rPr lang="en-GB" smtClean="0"/>
              <a:pPr/>
              <a:t>16</a:t>
            </a:fld>
            <a:endParaRPr lang="en-GB"/>
          </a:p>
        </p:txBody>
      </p:sp>
      <p:sp>
        <p:nvSpPr>
          <p:cNvPr id="30" name="TextBox 29">
            <a:extLst>
              <a:ext uri="{FF2B5EF4-FFF2-40B4-BE49-F238E27FC236}">
                <a16:creationId xmlns:a16="http://schemas.microsoft.com/office/drawing/2014/main" id="{133F2CCC-57E2-D790-E9ED-E1B9F8FB7887}"/>
              </a:ext>
            </a:extLst>
          </p:cNvPr>
          <p:cNvSpPr txBox="1"/>
          <p:nvPr/>
        </p:nvSpPr>
        <p:spPr>
          <a:xfrm>
            <a:off x="596549" y="913195"/>
            <a:ext cx="1997007" cy="307777"/>
          </a:xfrm>
          <a:prstGeom prst="rect">
            <a:avLst/>
          </a:prstGeom>
          <a:solidFill>
            <a:schemeClr val="bg1"/>
          </a:solidFill>
        </p:spPr>
        <p:txBody>
          <a:bodyPr wrap="square" rtlCol="0">
            <a:spAutoFit/>
          </a:bodyPr>
          <a:lstStyle/>
          <a:p>
            <a:pPr>
              <a:buClr>
                <a:schemeClr val="tx1"/>
              </a:buClr>
            </a:pPr>
            <a:r>
              <a:rPr lang="en-GB" sz="1400" b="1">
                <a:solidFill>
                  <a:schemeClr val="tx2"/>
                </a:solidFill>
              </a:rPr>
              <a:t>Scope Description</a:t>
            </a:r>
          </a:p>
        </p:txBody>
      </p:sp>
      <p:sp>
        <p:nvSpPr>
          <p:cNvPr id="33" name="TextBox 32">
            <a:extLst>
              <a:ext uri="{FF2B5EF4-FFF2-40B4-BE49-F238E27FC236}">
                <a16:creationId xmlns:a16="http://schemas.microsoft.com/office/drawing/2014/main" id="{04A987EE-F350-9338-0470-5F1447872DE1}"/>
              </a:ext>
            </a:extLst>
          </p:cNvPr>
          <p:cNvSpPr txBox="1"/>
          <p:nvPr/>
        </p:nvSpPr>
        <p:spPr>
          <a:xfrm>
            <a:off x="572275" y="1288605"/>
            <a:ext cx="11233971" cy="4455066"/>
          </a:xfrm>
          <a:prstGeom prst="rect">
            <a:avLst/>
          </a:prstGeom>
          <a:noFill/>
          <a:ln>
            <a:noFill/>
          </a:ln>
        </p:spPr>
        <p:txBody>
          <a:bodyPr wrap="square" lIns="91440" tIns="45720" rIns="91440" bIns="45720" numCol="1" rtlCol="0" anchor="t">
            <a:spAutoFit/>
          </a:bodyPr>
          <a:lstStyle/>
          <a:p>
            <a:pPr>
              <a:buClr>
                <a:schemeClr val="bg2"/>
              </a:buClr>
            </a:pPr>
            <a:r>
              <a:rPr lang="en-GB" sz="1050" b="1" u="sng"/>
              <a:t>Application Dev/ Support Service Detail (cont.)</a:t>
            </a:r>
          </a:p>
          <a:p>
            <a:pPr>
              <a:buClr>
                <a:schemeClr val="bg2"/>
              </a:buClr>
            </a:pPr>
            <a:r>
              <a:rPr lang="en-US" sz="1050"/>
              <a:t>The Supplier must ensure that all personnel delivering services are appropriately trained, certified, and competent to perform their roles effectively. Services must be delivered in a secure, scalable, and cost-</a:t>
            </a:r>
            <a:r>
              <a:rPr lang="en-US" sz="1050" err="1"/>
              <a:t>optimised</a:t>
            </a:r>
            <a:r>
              <a:rPr lang="en-US" sz="1050"/>
              <a:t> manner, in full compliance with GSK’s policies, procedures, standards, and applicable data privacy and information security requirements.  The Supplier is expected to proactively leverage AI, automation, and analytics to reduce incidents, improve customer experience, and drive continuous service </a:t>
            </a:r>
            <a:r>
              <a:rPr lang="en-US" sz="1050" err="1"/>
              <a:t>optimisation</a:t>
            </a:r>
            <a:r>
              <a:rPr lang="en-US" sz="1050"/>
              <a:t>. This includes identifying opportunities for innovation and value </a:t>
            </a:r>
            <a:r>
              <a:rPr lang="en-US" sz="1050" err="1"/>
              <a:t>realisation</a:t>
            </a:r>
            <a:r>
              <a:rPr lang="en-US" sz="1050"/>
              <a:t> throughout the service lifecycle. </a:t>
            </a:r>
            <a:br>
              <a:rPr lang="en-US" sz="1050"/>
            </a:br>
            <a:br>
              <a:rPr lang="en-US" sz="1050"/>
            </a:br>
            <a:r>
              <a:rPr lang="en-US" sz="1050"/>
              <a:t>The following outlines key service areas and expectations, which are intended to be illustrative but not exhaustive.</a:t>
            </a:r>
          </a:p>
          <a:p>
            <a:pPr>
              <a:buClr>
                <a:schemeClr val="bg2"/>
              </a:buClr>
            </a:pPr>
            <a:endParaRPr lang="en-US" sz="1050"/>
          </a:p>
          <a:p>
            <a:pPr>
              <a:buClr>
                <a:schemeClr val="bg2"/>
              </a:buClr>
            </a:pPr>
            <a:r>
              <a:rPr lang="en-US" sz="1050" b="1"/>
              <a:t>Continuous Improvement</a:t>
            </a:r>
          </a:p>
          <a:p>
            <a:pPr>
              <a:buClr>
                <a:schemeClr val="bg2"/>
              </a:buClr>
            </a:pPr>
            <a:r>
              <a:rPr lang="en-US" sz="1050"/>
              <a:t>The Supplier shall implement a structured continuous improvement framework throughout the SOW term. This includes the use of AI and automation to reduce incident volumes, improve service quality, and enhance user satisfaction. Monthly reports must be provided to GSK detailing identified opportunities, actions taken, and progress against prior periods.</a:t>
            </a:r>
          </a:p>
          <a:p>
            <a:pPr>
              <a:buClr>
                <a:schemeClr val="bg2"/>
              </a:buClr>
            </a:pPr>
            <a:endParaRPr lang="en-US" sz="1050" b="1"/>
          </a:p>
          <a:p>
            <a:pPr>
              <a:buClr>
                <a:schemeClr val="bg2"/>
              </a:buClr>
            </a:pPr>
            <a:r>
              <a:rPr lang="en-US" sz="1050" b="1"/>
              <a:t>Audit, Compliance &amp; Security</a:t>
            </a:r>
          </a:p>
          <a:p>
            <a:pPr>
              <a:buClr>
                <a:schemeClr val="bg2"/>
              </a:buClr>
            </a:pPr>
            <a:r>
              <a:rPr lang="en-US" sz="1050"/>
              <a:t>The Supplier is responsible for ensuring full compliance with all applicable GSK policies, procedures, and regulatory requirements. This includes supporting internal and external audits, remediating findings, and responding to penetration testing and vulnerability scans. The Supplier must maintain accurate compliance documentation, manage license usage, and ensure infrastructure qualification is documented and up to date. All services must be delivered in accordance with GSK’s data privacy and information security standards, including secure access controls, event logging, and breach response protocols.</a:t>
            </a:r>
          </a:p>
          <a:p>
            <a:pPr>
              <a:buClr>
                <a:schemeClr val="bg2"/>
              </a:buClr>
            </a:pPr>
            <a:endParaRPr lang="en-US" sz="1050" b="1"/>
          </a:p>
          <a:p>
            <a:pPr>
              <a:buClr>
                <a:schemeClr val="bg2"/>
              </a:buClr>
            </a:pPr>
            <a:r>
              <a:rPr lang="en-US" sz="1050" b="1"/>
              <a:t>Service Request Management</a:t>
            </a:r>
          </a:p>
          <a:p>
            <a:pPr>
              <a:buClr>
                <a:schemeClr val="bg2"/>
              </a:buClr>
            </a:pPr>
            <a:r>
              <a:rPr lang="en-US" sz="1050"/>
              <a:t>The Supplier shall manage and fulfil service requests via GSK’s Service Catalog and provisioning tools. This includes validating, </a:t>
            </a:r>
            <a:r>
              <a:rPr lang="en-US" sz="1050" err="1"/>
              <a:t>categorising</a:t>
            </a:r>
            <a:r>
              <a:rPr lang="en-US" sz="1050"/>
              <a:t>, and escalating requests as needed, maintaining accurate records in GSK’s ITSM systems, and ensuring all user-facing documentation and help content is current and accessible.</a:t>
            </a:r>
          </a:p>
          <a:p>
            <a:pPr>
              <a:buClr>
                <a:schemeClr val="bg2"/>
              </a:buClr>
            </a:pPr>
            <a:endParaRPr lang="en-US" sz="1050" b="1"/>
          </a:p>
          <a:p>
            <a:pPr>
              <a:buClr>
                <a:schemeClr val="bg2"/>
              </a:buClr>
            </a:pPr>
            <a:r>
              <a:rPr lang="en-US" sz="1050" b="1"/>
              <a:t>Incident Management</a:t>
            </a:r>
          </a:p>
          <a:p>
            <a:pPr>
              <a:buClr>
                <a:schemeClr val="bg2"/>
              </a:buClr>
            </a:pPr>
            <a:r>
              <a:rPr lang="en-US" sz="1050"/>
              <a:t>The Supplier shall monitor, manage, and resolve all incidents related to in-scope services in accordance with SLAs and SOPs. This includes conducting root cause analysis for major incidents, leading SWAT calls, and providing timely updates to stakeholders. All incident data must be accurately maintained in GSK’s ITSM tools, with regular reporting on trends and resolution performance.</a:t>
            </a:r>
          </a:p>
          <a:p>
            <a:pPr>
              <a:buClr>
                <a:schemeClr val="bg2"/>
              </a:buClr>
            </a:pPr>
            <a:endParaRPr lang="en-US" sz="1050" b="1"/>
          </a:p>
        </p:txBody>
      </p:sp>
    </p:spTree>
    <p:extLst>
      <p:ext uri="{BB962C8B-B14F-4D97-AF65-F5344CB8AC3E}">
        <p14:creationId xmlns:p14="http://schemas.microsoft.com/office/powerpoint/2010/main" val="2662998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4C156-CF83-8509-F611-2F853F717BF1}"/>
            </a:ext>
          </a:extLst>
        </p:cNvPr>
        <p:cNvGrpSpPr/>
        <p:nvPr/>
      </p:nvGrpSpPr>
      <p:grpSpPr>
        <a:xfrm>
          <a:off x="0" y="0"/>
          <a:ext cx="0" cy="0"/>
          <a:chOff x="0" y="0"/>
          <a:chExt cx="0" cy="0"/>
        </a:xfrm>
      </p:grpSpPr>
      <p:sp>
        <p:nvSpPr>
          <p:cNvPr id="38" name="TextBox 37">
            <a:extLst>
              <a:ext uri="{FF2B5EF4-FFF2-40B4-BE49-F238E27FC236}">
                <a16:creationId xmlns:a16="http://schemas.microsoft.com/office/drawing/2014/main" id="{F5F2C8D5-3184-CDD9-3D00-92EA1ABF1400}"/>
              </a:ext>
            </a:extLst>
          </p:cNvPr>
          <p:cNvSpPr txBox="1"/>
          <p:nvPr/>
        </p:nvSpPr>
        <p:spPr>
          <a:xfrm>
            <a:off x="478870" y="1065910"/>
            <a:ext cx="11327377" cy="5123736"/>
          </a:xfrm>
          <a:prstGeom prst="rect">
            <a:avLst/>
          </a:prstGeom>
          <a:noFill/>
          <a:ln>
            <a:solidFill>
              <a:schemeClr val="bg1">
                <a:lumMod val="75000"/>
              </a:schemeClr>
            </a:solidFill>
          </a:ln>
        </p:spPr>
        <p:txBody>
          <a:bodyPr wrap="square" lIns="180000" tIns="180000" rIns="180000" bIns="180000" rtlCol="0">
            <a:normAutofit/>
          </a:bodyPr>
          <a:lstStyle/>
          <a:p>
            <a:pPr marL="285750" indent="-285750" algn="l">
              <a:spcBef>
                <a:spcPts val="300"/>
              </a:spcBef>
              <a:spcAft>
                <a:spcPts val="300"/>
              </a:spcAft>
              <a:buClr>
                <a:schemeClr val="tx2"/>
              </a:buClr>
              <a:buSzPct val="150000"/>
              <a:buFont typeface="Arial" panose="020B0604020202020204" pitchFamily="34" charset="0"/>
              <a:buChar char="•"/>
            </a:pPr>
            <a:endParaRPr lang="en-US" sz="1600" err="1"/>
          </a:p>
        </p:txBody>
      </p:sp>
      <p:sp>
        <p:nvSpPr>
          <p:cNvPr id="27" name="Title 17">
            <a:extLst>
              <a:ext uri="{FF2B5EF4-FFF2-40B4-BE49-F238E27FC236}">
                <a16:creationId xmlns:a16="http://schemas.microsoft.com/office/drawing/2014/main" id="{0E426D64-68AC-598E-A82D-08CA30D5E5F7}"/>
              </a:ext>
            </a:extLst>
          </p:cNvPr>
          <p:cNvSpPr>
            <a:spLocks noGrp="1"/>
          </p:cNvSpPr>
          <p:nvPr>
            <p:ph type="title"/>
          </p:nvPr>
        </p:nvSpPr>
        <p:spPr>
          <a:xfrm>
            <a:off x="478870" y="230848"/>
            <a:ext cx="10102852" cy="451405"/>
          </a:xfrm>
        </p:spPr>
        <p:txBody>
          <a:bodyPr>
            <a:normAutofit/>
          </a:bodyPr>
          <a:lstStyle/>
          <a:p>
            <a:r>
              <a:rPr lang="en-US"/>
              <a:t>Scope Detail – EAS: Managed File Transfer</a:t>
            </a:r>
          </a:p>
        </p:txBody>
      </p:sp>
      <p:sp>
        <p:nvSpPr>
          <p:cNvPr id="28" name="Date Placeholder 5">
            <a:extLst>
              <a:ext uri="{FF2B5EF4-FFF2-40B4-BE49-F238E27FC236}">
                <a16:creationId xmlns:a16="http://schemas.microsoft.com/office/drawing/2014/main" id="{46266AFB-C9F8-8C61-6C3F-92801B3AB4D1}"/>
              </a:ext>
            </a:extLst>
          </p:cNvPr>
          <p:cNvSpPr txBox="1">
            <a:spLocks/>
          </p:cNvSpPr>
          <p:nvPr/>
        </p:nvSpPr>
        <p:spPr>
          <a:xfrm>
            <a:off x="10968821" y="65881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sp>
        <p:nvSpPr>
          <p:cNvPr id="29" name="Slide Number Placeholder 7">
            <a:extLst>
              <a:ext uri="{FF2B5EF4-FFF2-40B4-BE49-F238E27FC236}">
                <a16:creationId xmlns:a16="http://schemas.microsoft.com/office/drawing/2014/main" id="{E724E6F4-9B05-2823-1F1D-6EC8FD37A452}"/>
              </a:ext>
            </a:extLst>
          </p:cNvPr>
          <p:cNvSpPr txBox="1">
            <a:spLocks/>
          </p:cNvSpPr>
          <p:nvPr/>
        </p:nvSpPr>
        <p:spPr>
          <a:xfrm>
            <a:off x="11285288" y="6189646"/>
            <a:ext cx="540000" cy="269875"/>
          </a:xfrm>
          <a:prstGeom prst="rect">
            <a:avLst/>
          </a:prstGeom>
        </p:spPr>
        <p:txBody>
          <a:bodyPr vert="horz" lIns="0" tIns="0" rIns="0" bIns="0" rtlCol="0" anchor="b" anchorCtr="0">
            <a:normAutofit/>
          </a:bodyPr>
          <a:lstStyle>
            <a:defPPr>
              <a:defRPr lang="en-US"/>
            </a:defPPr>
            <a:lvl1pPr marL="0" algn="l" defTabSz="1219170" rtl="0" eaLnBrk="1" latinLnBrk="0" hangingPunct="1">
              <a:defRPr sz="12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9F9F533D-B52E-4A2F-BF72-0ADD2D94BD75}" type="slidenum">
              <a:rPr lang="en-GB" smtClean="0"/>
              <a:pPr/>
              <a:t>17</a:t>
            </a:fld>
            <a:endParaRPr lang="en-GB"/>
          </a:p>
        </p:txBody>
      </p:sp>
      <p:sp>
        <p:nvSpPr>
          <p:cNvPr id="30" name="TextBox 29">
            <a:extLst>
              <a:ext uri="{FF2B5EF4-FFF2-40B4-BE49-F238E27FC236}">
                <a16:creationId xmlns:a16="http://schemas.microsoft.com/office/drawing/2014/main" id="{4EEFD5E7-4110-A6F3-7583-CAFFF48C52FB}"/>
              </a:ext>
            </a:extLst>
          </p:cNvPr>
          <p:cNvSpPr txBox="1"/>
          <p:nvPr/>
        </p:nvSpPr>
        <p:spPr>
          <a:xfrm>
            <a:off x="596549" y="913195"/>
            <a:ext cx="1997007" cy="307777"/>
          </a:xfrm>
          <a:prstGeom prst="rect">
            <a:avLst/>
          </a:prstGeom>
          <a:solidFill>
            <a:schemeClr val="bg1"/>
          </a:solidFill>
        </p:spPr>
        <p:txBody>
          <a:bodyPr wrap="square" rtlCol="0">
            <a:spAutoFit/>
          </a:bodyPr>
          <a:lstStyle/>
          <a:p>
            <a:pPr>
              <a:buClr>
                <a:schemeClr val="tx1"/>
              </a:buClr>
            </a:pPr>
            <a:r>
              <a:rPr lang="en-GB" sz="1400" b="1">
                <a:solidFill>
                  <a:schemeClr val="tx2"/>
                </a:solidFill>
              </a:rPr>
              <a:t>Scope Description</a:t>
            </a:r>
          </a:p>
        </p:txBody>
      </p:sp>
      <p:sp>
        <p:nvSpPr>
          <p:cNvPr id="33" name="TextBox 32">
            <a:extLst>
              <a:ext uri="{FF2B5EF4-FFF2-40B4-BE49-F238E27FC236}">
                <a16:creationId xmlns:a16="http://schemas.microsoft.com/office/drawing/2014/main" id="{4392CB0E-E91C-001F-2AA8-ACE2A4A1CDA7}"/>
              </a:ext>
            </a:extLst>
          </p:cNvPr>
          <p:cNvSpPr txBox="1"/>
          <p:nvPr/>
        </p:nvSpPr>
        <p:spPr>
          <a:xfrm>
            <a:off x="572275" y="1288605"/>
            <a:ext cx="11233971" cy="5262979"/>
          </a:xfrm>
          <a:prstGeom prst="rect">
            <a:avLst/>
          </a:prstGeom>
          <a:noFill/>
          <a:ln>
            <a:noFill/>
          </a:ln>
        </p:spPr>
        <p:txBody>
          <a:bodyPr wrap="square" lIns="91440" tIns="45720" rIns="91440" bIns="45720" numCol="1" rtlCol="0" anchor="t">
            <a:spAutoFit/>
          </a:bodyPr>
          <a:lstStyle/>
          <a:p>
            <a:pPr>
              <a:buClr>
                <a:schemeClr val="bg2"/>
              </a:buClr>
            </a:pPr>
            <a:r>
              <a:rPr lang="en-GB" sz="1050" b="1" u="sng"/>
              <a:t>Application Dev/ Support Service Detail (cont.)</a:t>
            </a:r>
            <a:r>
              <a:rPr lang="en-US" sz="1050" b="1" u="sng"/>
              <a:t> </a:t>
            </a:r>
          </a:p>
          <a:p>
            <a:pPr>
              <a:buClr>
                <a:schemeClr val="bg2"/>
              </a:buClr>
            </a:pPr>
            <a:r>
              <a:rPr lang="en-US" sz="1050" b="1"/>
              <a:t>Problem Management</a:t>
            </a:r>
          </a:p>
          <a:p>
            <a:pPr>
              <a:buClr>
                <a:schemeClr val="bg2"/>
              </a:buClr>
            </a:pPr>
            <a:r>
              <a:rPr lang="en-US" sz="1050"/>
              <a:t>The Supplier shall identify and resolve underlying problems through proactive trend analysis and root cause investigation. Preventative measures must be proposed and implemented to reduce recurrence, and all problem records must be maintained in accordance with GSK standards.</a:t>
            </a:r>
          </a:p>
          <a:p>
            <a:pPr>
              <a:buClr>
                <a:schemeClr val="bg2"/>
              </a:buClr>
            </a:pPr>
            <a:endParaRPr lang="en-US" sz="1050" b="1"/>
          </a:p>
          <a:p>
            <a:pPr>
              <a:buClr>
                <a:schemeClr val="bg2"/>
              </a:buClr>
            </a:pPr>
            <a:r>
              <a:rPr lang="en-US" sz="1050" b="1"/>
              <a:t>Change Management</a:t>
            </a:r>
          </a:p>
          <a:p>
            <a:pPr>
              <a:buClr>
                <a:schemeClr val="bg2"/>
              </a:buClr>
            </a:pPr>
            <a:r>
              <a:rPr lang="en-US" sz="1050"/>
              <a:t>The Supplier is responsible for planning, executing, and documenting all technical changes. This includes risk assessments, backout plans, stakeholder communications, and participation in Change Advisory Board (CAB) meetings. All changes must follow GSK’s change control processes and be fully documented in the ITSM system.</a:t>
            </a:r>
          </a:p>
          <a:p>
            <a:pPr>
              <a:buClr>
                <a:schemeClr val="bg2"/>
              </a:buClr>
            </a:pPr>
            <a:endParaRPr lang="en-US" sz="1050" b="1"/>
          </a:p>
          <a:p>
            <a:pPr>
              <a:buClr>
                <a:schemeClr val="bg2"/>
              </a:buClr>
            </a:pPr>
            <a:r>
              <a:rPr lang="en-US" sz="1050" b="1"/>
              <a:t>Escalation Management</a:t>
            </a:r>
          </a:p>
          <a:p>
            <a:pPr>
              <a:buClr>
                <a:schemeClr val="bg2"/>
              </a:buClr>
            </a:pPr>
            <a:r>
              <a:rPr lang="en-US" sz="1050"/>
              <a:t>The Supplier shall follow GSK’s defined escalation procedures for incidents, problems, and changes. All escalations must be logged, communicated, and resolved in line with agreed timelines. Root cause analysis and mitigation plans must be provided for major or recurring issues.</a:t>
            </a:r>
          </a:p>
          <a:p>
            <a:pPr>
              <a:buClr>
                <a:schemeClr val="bg2"/>
              </a:buClr>
            </a:pPr>
            <a:endParaRPr lang="en-US" sz="1050" b="1"/>
          </a:p>
          <a:p>
            <a:pPr>
              <a:buClr>
                <a:schemeClr val="bg2"/>
              </a:buClr>
            </a:pPr>
            <a:r>
              <a:rPr lang="en-US" sz="1050" b="1"/>
              <a:t>Asset &amp; Configuration Management</a:t>
            </a:r>
          </a:p>
          <a:p>
            <a:pPr>
              <a:buClr>
                <a:schemeClr val="bg2"/>
              </a:buClr>
            </a:pPr>
            <a:r>
              <a:rPr lang="en-US" sz="1050"/>
              <a:t>The Supplier shall </a:t>
            </a:r>
            <a:r>
              <a:rPr lang="en-US" sz="1000"/>
              <a:t>maintain</a:t>
            </a:r>
            <a:r>
              <a:rPr lang="en-US" sz="1050"/>
              <a:t> accurate and complete asset and configuration data in GSK’s CMDB. This includes hardware, software, and system configurations, with quarterly verification of configuration items. Documentation must be aligned with OEM guidance, industry best practices, and GSK standards.</a:t>
            </a:r>
          </a:p>
          <a:p>
            <a:pPr>
              <a:buClr>
                <a:schemeClr val="bg2"/>
              </a:buClr>
            </a:pPr>
            <a:endParaRPr lang="en-US" sz="1050" b="1"/>
          </a:p>
          <a:p>
            <a:pPr>
              <a:buClr>
                <a:schemeClr val="bg2"/>
              </a:buClr>
            </a:pPr>
            <a:r>
              <a:rPr lang="en-US" sz="1050" b="1"/>
              <a:t>Knowledge Management</a:t>
            </a:r>
          </a:p>
          <a:p>
            <a:pPr>
              <a:buClr>
                <a:schemeClr val="bg2"/>
              </a:buClr>
            </a:pPr>
            <a:r>
              <a:rPr lang="en-US" sz="1050"/>
              <a:t>The Supplier shall be responsible for creating, maintaining, and continuously improving all knowledge assets related to the in-scope services. This includes service desk scripts, knowledge base (KB) articles, user guides, FAQs, and operational runbooks. All content must be accurate, up to date, and stored in GSK’s designated knowledge management systems. The Supplier must ensure that knowledge is accessible, searchable, and aligned with incident, problem, and request management processes to support first-time resolution and reduce repeat issues.</a:t>
            </a:r>
          </a:p>
          <a:p>
            <a:pPr>
              <a:buClr>
                <a:schemeClr val="bg2"/>
              </a:buClr>
            </a:pPr>
            <a:endParaRPr lang="en-US" sz="1050" b="1"/>
          </a:p>
          <a:p>
            <a:pPr>
              <a:buClr>
                <a:schemeClr val="bg2"/>
              </a:buClr>
            </a:pPr>
            <a:r>
              <a:rPr lang="en-US" sz="1050" b="1"/>
              <a:t>Governance &amp; Reporting</a:t>
            </a:r>
          </a:p>
          <a:p>
            <a:pPr>
              <a:buClr>
                <a:schemeClr val="bg2"/>
              </a:buClr>
            </a:pPr>
            <a:r>
              <a:rPr lang="en-US" sz="1050"/>
              <a:t>The Supplier shall participate in regular governance forums and service reviews with GSK. This includes providing transparent reporting on performance, SLAs, risks, and improvement initiatives. Clear escalation paths and stakeholder engagement protocols must be maintained.</a:t>
            </a:r>
          </a:p>
          <a:p>
            <a:pPr>
              <a:buClr>
                <a:schemeClr val="bg2"/>
              </a:buClr>
            </a:pPr>
            <a:endParaRPr lang="en-US" sz="1050" b="1"/>
          </a:p>
          <a:p>
            <a:pPr>
              <a:buClr>
                <a:schemeClr val="bg2"/>
              </a:buClr>
            </a:pPr>
            <a:r>
              <a:rPr lang="en-US" sz="1050" b="1"/>
              <a:t>Innovation &amp; Cost </a:t>
            </a:r>
            <a:r>
              <a:rPr lang="en-US" sz="1050" b="1" err="1"/>
              <a:t>Optimisation</a:t>
            </a:r>
            <a:endParaRPr lang="en-US" sz="1050" b="1"/>
          </a:p>
          <a:p>
            <a:pPr>
              <a:buClr>
                <a:schemeClr val="bg2"/>
              </a:buClr>
            </a:pPr>
            <a:r>
              <a:rPr lang="en-US" sz="1050"/>
              <a:t>The Supplier is expected to continuously identify opportunities to </a:t>
            </a:r>
            <a:r>
              <a:rPr lang="en-US" sz="1050" err="1"/>
              <a:t>optimise</a:t>
            </a:r>
            <a:r>
              <a:rPr lang="en-US" sz="1050"/>
              <a:t> cost, improve efficiency, and introduce innovation. This includes the use of AI, automation, and emerging technologies to deliver measurable business value and align with GSK’s strategic objectives.</a:t>
            </a:r>
          </a:p>
          <a:p>
            <a:pPr>
              <a:buClr>
                <a:schemeClr val="bg2"/>
              </a:buClr>
            </a:pPr>
            <a:endParaRPr lang="en-GB" sz="1050"/>
          </a:p>
        </p:txBody>
      </p:sp>
    </p:spTree>
    <p:extLst>
      <p:ext uri="{BB962C8B-B14F-4D97-AF65-F5344CB8AC3E}">
        <p14:creationId xmlns:p14="http://schemas.microsoft.com/office/powerpoint/2010/main" val="1244158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0EA5D-1E8B-0E18-40C4-C3B97D4B256B}"/>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3B7086D-23F5-E813-591A-078FB819B70A}"/>
              </a:ext>
            </a:extLst>
          </p:cNvPr>
          <p:cNvGraphicFramePr>
            <a:graphicFrameLocks noGrp="1"/>
          </p:cNvGraphicFramePr>
          <p:nvPr>
            <p:extLst>
              <p:ext uri="{D42A27DB-BD31-4B8C-83A1-F6EECF244321}">
                <p14:modId xmlns:p14="http://schemas.microsoft.com/office/powerpoint/2010/main" val="2695275650"/>
              </p:ext>
            </p:extLst>
          </p:nvPr>
        </p:nvGraphicFramePr>
        <p:xfrm>
          <a:off x="361191" y="1060842"/>
          <a:ext cx="11327376" cy="1856740"/>
        </p:xfrm>
        <a:graphic>
          <a:graphicData uri="http://schemas.openxmlformats.org/drawingml/2006/table">
            <a:tbl>
              <a:tblPr/>
              <a:tblGrid>
                <a:gridCol w="765890">
                  <a:extLst>
                    <a:ext uri="{9D8B030D-6E8A-4147-A177-3AD203B41FA5}">
                      <a16:colId xmlns:a16="http://schemas.microsoft.com/office/drawing/2014/main" val="4100041905"/>
                    </a:ext>
                  </a:extLst>
                </a:gridCol>
                <a:gridCol w="1321946">
                  <a:extLst>
                    <a:ext uri="{9D8B030D-6E8A-4147-A177-3AD203B41FA5}">
                      <a16:colId xmlns:a16="http://schemas.microsoft.com/office/drawing/2014/main" val="4189356408"/>
                    </a:ext>
                  </a:extLst>
                </a:gridCol>
                <a:gridCol w="1443335">
                  <a:extLst>
                    <a:ext uri="{9D8B030D-6E8A-4147-A177-3AD203B41FA5}">
                      <a16:colId xmlns:a16="http://schemas.microsoft.com/office/drawing/2014/main" val="2528964953"/>
                    </a:ext>
                  </a:extLst>
                </a:gridCol>
                <a:gridCol w="1321176">
                  <a:extLst>
                    <a:ext uri="{9D8B030D-6E8A-4147-A177-3AD203B41FA5}">
                      <a16:colId xmlns:a16="http://schemas.microsoft.com/office/drawing/2014/main" val="1911952412"/>
                    </a:ext>
                  </a:extLst>
                </a:gridCol>
                <a:gridCol w="1259234">
                  <a:extLst>
                    <a:ext uri="{9D8B030D-6E8A-4147-A177-3AD203B41FA5}">
                      <a16:colId xmlns:a16="http://schemas.microsoft.com/office/drawing/2014/main" val="577542454"/>
                    </a:ext>
                  </a:extLst>
                </a:gridCol>
                <a:gridCol w="1259234">
                  <a:extLst>
                    <a:ext uri="{9D8B030D-6E8A-4147-A177-3AD203B41FA5}">
                      <a16:colId xmlns:a16="http://schemas.microsoft.com/office/drawing/2014/main" val="1933246734"/>
                    </a:ext>
                  </a:extLst>
                </a:gridCol>
                <a:gridCol w="1259234">
                  <a:extLst>
                    <a:ext uri="{9D8B030D-6E8A-4147-A177-3AD203B41FA5}">
                      <a16:colId xmlns:a16="http://schemas.microsoft.com/office/drawing/2014/main" val="3162761371"/>
                    </a:ext>
                  </a:extLst>
                </a:gridCol>
                <a:gridCol w="1378790">
                  <a:extLst>
                    <a:ext uri="{9D8B030D-6E8A-4147-A177-3AD203B41FA5}">
                      <a16:colId xmlns:a16="http://schemas.microsoft.com/office/drawing/2014/main" val="3470399098"/>
                    </a:ext>
                  </a:extLst>
                </a:gridCol>
                <a:gridCol w="1318537">
                  <a:extLst>
                    <a:ext uri="{9D8B030D-6E8A-4147-A177-3AD203B41FA5}">
                      <a16:colId xmlns:a16="http://schemas.microsoft.com/office/drawing/2014/main" val="1624193255"/>
                    </a:ext>
                  </a:extLst>
                </a:gridCol>
              </a:tblGrid>
              <a:tr h="480546">
                <a:tc>
                  <a:txBody>
                    <a:bodyPr/>
                    <a:lstStyle/>
                    <a:p>
                      <a:pPr algn="ctr" fontAlgn="ctr"/>
                      <a:r>
                        <a:rPr lang="en-GB" sz="1100" b="1" i="0" u="none" strike="noStrike">
                          <a:solidFill>
                            <a:srgbClr val="000000"/>
                          </a:solidFill>
                          <a:effectLst/>
                          <a:latin typeface="Aptos Narrow"/>
                        </a:rPr>
                        <a:t>App/ Service Name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ctr"/>
                      <a:r>
                        <a:rPr lang="en-GB" sz="1100" b="1" i="0" u="none" strike="noStrike">
                          <a:solidFill>
                            <a:srgbClr val="000000"/>
                          </a:solidFill>
                          <a:effectLst/>
                          <a:latin typeface="Aptos Narrow"/>
                        </a:rPr>
                        <a:t>Description of App/ Service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ctr"/>
                      <a:r>
                        <a:rPr lang="en-GB" sz="1100" b="1" i="0" u="none" strike="noStrike">
                          <a:solidFill>
                            <a:srgbClr val="000000"/>
                          </a:solidFill>
                          <a:effectLst/>
                          <a:latin typeface="Aptos Narrow"/>
                        </a:rPr>
                        <a:t>2025 Service Volumes</a:t>
                      </a:r>
                    </a:p>
                    <a:p>
                      <a:pPr algn="ctr" fontAlgn="ctr"/>
                      <a:r>
                        <a:rPr lang="en-GB" sz="900" b="0" i="1" u="none" strike="noStrike">
                          <a:solidFill>
                            <a:srgbClr val="000000"/>
                          </a:solidFill>
                          <a:effectLst/>
                          <a:latin typeface="Aptos Narrow"/>
                        </a:rPr>
                        <a:t>(Current average number of Sprints/ Story Points/ Tickets per month)</a:t>
                      </a:r>
                      <a:endParaRPr lang="en-GB" sz="1100" b="0" i="1" u="none" strike="noStrike">
                        <a:solidFill>
                          <a:srgbClr val="000000"/>
                        </a:solidFill>
                        <a:effectLst/>
                        <a:latin typeface="Aptos Narrow"/>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ctr"/>
                      <a:r>
                        <a:rPr lang="en-GB" sz="1100" b="1" i="0" u="none" strike="noStrike">
                          <a:solidFill>
                            <a:srgbClr val="000000"/>
                          </a:solidFill>
                          <a:effectLst/>
                          <a:latin typeface="Aptos Narrow"/>
                        </a:rPr>
                        <a:t>Expected Year 1 Service volumes</a:t>
                      </a:r>
                    </a:p>
                    <a:p>
                      <a:pPr marL="0" marR="0" lvl="0" indent="0" algn="ctr" defTabSz="1219170" rtl="0" eaLnBrk="1" fontAlgn="ctr" latinLnBrk="0" hangingPunct="1">
                        <a:lnSpc>
                          <a:spcPct val="100000"/>
                        </a:lnSpc>
                        <a:spcBef>
                          <a:spcPts val="0"/>
                        </a:spcBef>
                        <a:spcAft>
                          <a:spcPts val="0"/>
                        </a:spcAft>
                        <a:buClrTx/>
                        <a:buSzTx/>
                        <a:buFontTx/>
                        <a:buNone/>
                        <a:tabLst/>
                        <a:defRPr/>
                      </a:pPr>
                      <a:r>
                        <a:rPr lang="en-GB" sz="900" b="0" i="1" u="none" strike="noStrike">
                          <a:solidFill>
                            <a:srgbClr val="000000"/>
                          </a:solidFill>
                          <a:effectLst/>
                          <a:latin typeface="Aptos Narrow"/>
                        </a:rPr>
                        <a:t>(Future number of Sprints/ Story Points/ Tickets per month)</a:t>
                      </a:r>
                      <a:endParaRPr lang="en-GB" sz="1100" b="1" i="0" u="none" strike="noStrike">
                        <a:solidFill>
                          <a:srgbClr val="000000"/>
                        </a:solidFill>
                        <a:effectLst/>
                        <a:latin typeface="Aptos Narrow"/>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marL="0" algn="ctr" defTabSz="1219170" rtl="0" eaLnBrk="1" fontAlgn="ctr" latinLnBrk="0" hangingPunct="1"/>
                      <a:r>
                        <a:rPr lang="en-GB" sz="1100" b="1" i="0" u="none" strike="noStrike" kern="1200">
                          <a:solidFill>
                            <a:srgbClr val="000000"/>
                          </a:solidFill>
                          <a:effectLst/>
                          <a:latin typeface="Aptos Narrow"/>
                          <a:ea typeface="+mn-ea"/>
                          <a:cs typeface="+mn-cs"/>
                        </a:rPr>
                        <a:t>Expected Year 2 Service volumes</a:t>
                      </a:r>
                    </a:p>
                    <a:p>
                      <a:pPr marL="0" marR="0" lvl="0" indent="0" algn="ctr" defTabSz="1219170" rtl="0" eaLnBrk="1" fontAlgn="ctr" latinLnBrk="0" hangingPunct="1">
                        <a:lnSpc>
                          <a:spcPct val="100000"/>
                        </a:lnSpc>
                        <a:spcBef>
                          <a:spcPts val="0"/>
                        </a:spcBef>
                        <a:spcAft>
                          <a:spcPts val="0"/>
                        </a:spcAft>
                        <a:buClrTx/>
                        <a:buSzTx/>
                        <a:buFontTx/>
                        <a:buNone/>
                        <a:tabLst/>
                        <a:defRPr/>
                      </a:pPr>
                      <a:r>
                        <a:rPr lang="en-GB" sz="900" b="0" i="1" u="none" strike="noStrike" kern="1200">
                          <a:solidFill>
                            <a:srgbClr val="000000"/>
                          </a:solidFill>
                          <a:effectLst/>
                          <a:latin typeface="Aptos Narrow"/>
                          <a:ea typeface="+mn-ea"/>
                          <a:cs typeface="+mn-cs"/>
                        </a:rPr>
                        <a:t>(Future number of Sprints/ Story Points/ Tickets per month)</a:t>
                      </a:r>
                      <a:endParaRPr lang="en-GB" sz="1100" b="0" i="0" u="none" strike="noStrike">
                        <a:solidFill>
                          <a:srgbClr val="000000"/>
                        </a:solidFill>
                        <a:effectLst/>
                        <a:latin typeface="Aptos Narrow"/>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marL="0" algn="ctr" defTabSz="1219170" rtl="0" eaLnBrk="1" fontAlgn="ctr" latinLnBrk="0" hangingPunct="1"/>
                      <a:r>
                        <a:rPr lang="en-GB" sz="1100" b="1" i="0" u="none" strike="noStrike" kern="1200">
                          <a:solidFill>
                            <a:srgbClr val="000000"/>
                          </a:solidFill>
                          <a:effectLst/>
                          <a:latin typeface="Aptos Narrow"/>
                          <a:ea typeface="+mn-ea"/>
                          <a:cs typeface="+mn-cs"/>
                        </a:rPr>
                        <a:t>Expected Year 3 Service volumes</a:t>
                      </a:r>
                    </a:p>
                    <a:p>
                      <a:pPr marL="0" marR="0" lvl="0" indent="0" algn="ctr" defTabSz="1219170" rtl="0" eaLnBrk="1" fontAlgn="ctr" latinLnBrk="0" hangingPunct="1">
                        <a:lnSpc>
                          <a:spcPct val="100000"/>
                        </a:lnSpc>
                        <a:spcBef>
                          <a:spcPts val="0"/>
                        </a:spcBef>
                        <a:spcAft>
                          <a:spcPts val="0"/>
                        </a:spcAft>
                        <a:buClrTx/>
                        <a:buSzTx/>
                        <a:buFontTx/>
                        <a:buNone/>
                        <a:tabLst/>
                        <a:defRPr/>
                      </a:pPr>
                      <a:r>
                        <a:rPr lang="en-GB" sz="900" b="0" i="1" u="none" strike="noStrike" kern="1200">
                          <a:solidFill>
                            <a:srgbClr val="000000"/>
                          </a:solidFill>
                          <a:effectLst/>
                          <a:latin typeface="Aptos Narrow"/>
                          <a:ea typeface="+mn-ea"/>
                          <a:cs typeface="+mn-cs"/>
                        </a:rPr>
                        <a:t>(Future number of Sprints/ Story Points/ Tickets per month)</a:t>
                      </a:r>
                      <a:endParaRPr lang="en-GB" sz="1100" b="0" i="0" u="none" strike="noStrike">
                        <a:solidFill>
                          <a:srgbClr val="000000"/>
                        </a:solidFill>
                        <a:effectLst/>
                        <a:latin typeface="Aptos Narrow"/>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ctr"/>
                      <a:r>
                        <a:rPr lang="en-GB" sz="1100" b="1" i="0" u="none" strike="noStrike">
                          <a:solidFill>
                            <a:srgbClr val="000000"/>
                          </a:solidFill>
                          <a:effectLst/>
                          <a:latin typeface="Aptos Narrow"/>
                        </a:rPr>
                        <a:t>Other variables</a:t>
                      </a:r>
                    </a:p>
                    <a:p>
                      <a:pPr algn="ctr" fontAlgn="ctr"/>
                      <a:r>
                        <a:rPr lang="en-GB" sz="900" b="0" i="0" u="none" strike="noStrike">
                          <a:solidFill>
                            <a:srgbClr val="000000"/>
                          </a:solidFill>
                          <a:effectLst/>
                          <a:latin typeface="Aptos Narrow"/>
                        </a:rPr>
                        <a:t>(e.g., Number of Users, Number of instances) </a:t>
                      </a:r>
                      <a:endParaRPr lang="en-GB" sz="1100" b="0" i="0" u="none" strike="noStrike">
                        <a:solidFill>
                          <a:srgbClr val="000000"/>
                        </a:solidFill>
                        <a:effectLst/>
                        <a:latin typeface="Aptos Narrow"/>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ctr"/>
                      <a:r>
                        <a:rPr lang="en-GB" sz="1100" b="1" i="0" u="none" strike="noStrike">
                          <a:solidFill>
                            <a:srgbClr val="000000"/>
                          </a:solidFill>
                          <a:effectLst/>
                          <a:latin typeface="Aptos Narrow"/>
                        </a:rPr>
                        <a:t>Language + Location Requirements</a:t>
                      </a:r>
                    </a:p>
                    <a:p>
                      <a:pPr algn="ctr" fontAlgn="ctr"/>
                      <a:r>
                        <a:rPr lang="nn-NO" sz="900" b="0" i="1" u="none" strike="noStrike">
                          <a:solidFill>
                            <a:srgbClr val="000000"/>
                          </a:solidFill>
                          <a:effectLst/>
                          <a:latin typeface="Aptos Narrow"/>
                        </a:rPr>
                        <a:t>(leave blank if not applicable)</a:t>
                      </a:r>
                      <a:endParaRPr lang="en-GB" sz="1100" b="1" i="0" u="none" strike="noStrike">
                        <a:solidFill>
                          <a:srgbClr val="000000"/>
                        </a:solidFill>
                        <a:effectLst/>
                        <a:latin typeface="Aptos Narrow"/>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ctr"/>
                      <a:r>
                        <a:rPr lang="en-GB" sz="1100" b="1" i="0" u="none" strike="noStrike">
                          <a:solidFill>
                            <a:srgbClr val="000000"/>
                          </a:solidFill>
                          <a:effectLst/>
                          <a:latin typeface="Aptos Narrow"/>
                        </a:rPr>
                        <a:t>Availability </a:t>
                      </a:r>
                    </a:p>
                    <a:p>
                      <a:pPr algn="ctr" fontAlgn="ctr"/>
                      <a:r>
                        <a:rPr lang="en-GB" sz="900" b="0" i="1" u="none" strike="noStrike">
                          <a:solidFill>
                            <a:srgbClr val="000000"/>
                          </a:solidFill>
                          <a:effectLst/>
                          <a:latin typeface="Aptos Narrow"/>
                        </a:rPr>
                        <a:t>(e.g., 24 x 7)</a:t>
                      </a:r>
                      <a:endParaRPr lang="en-GB" sz="1100" b="0" i="1" u="none" strike="noStrike">
                        <a:solidFill>
                          <a:srgbClr val="000000"/>
                        </a:solidFill>
                        <a:effectLst/>
                        <a:latin typeface="Aptos Narrow"/>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2896408235"/>
                  </a:ext>
                </a:extLst>
              </a:tr>
              <a:tr h="184150">
                <a:tc>
                  <a:txBody>
                    <a:bodyPr/>
                    <a:lstStyle/>
                    <a:p>
                      <a:pPr algn="l" fontAlgn="b"/>
                      <a:r>
                        <a:rPr lang="en-GB" sz="900" b="0" i="0" u="none" strike="noStrike">
                          <a:solidFill>
                            <a:srgbClr val="000000"/>
                          </a:solidFill>
                          <a:effectLst/>
                          <a:latin typeface="Aptos Narrow"/>
                        </a:rPr>
                        <a:t> WSSG</a:t>
                      </a:r>
                      <a:endParaRPr lang="en-GB" sz="900" b="0" i="0" u="none" strike="noStrike">
                        <a:solidFill>
                          <a:srgbClr val="000000"/>
                        </a:solidFill>
                        <a:effectLst/>
                        <a:latin typeface="Aptos Narrow" panose="020B000402020202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900" b="0" i="0" u="none" strike="noStrike">
                          <a:solidFill>
                            <a:srgbClr val="000000"/>
                          </a:solidFill>
                          <a:effectLst/>
                          <a:latin typeface="Aptos Narrow"/>
                        </a:rPr>
                        <a:t> Web Service Gateway Running on IBM </a:t>
                      </a:r>
                      <a:r>
                        <a:rPr lang="en-GB" sz="900" b="0" i="0" u="none" strike="noStrike" err="1">
                          <a:solidFill>
                            <a:srgbClr val="000000"/>
                          </a:solidFill>
                          <a:effectLst/>
                          <a:latin typeface="Aptos Narrow"/>
                        </a:rPr>
                        <a:t>Datapower</a:t>
                      </a:r>
                      <a:endParaRPr lang="en-GB" sz="900" b="0" i="0" u="none" strike="noStrike">
                        <a:solidFill>
                          <a:srgbClr val="000000"/>
                        </a:solidFill>
                        <a:effectLst/>
                        <a:latin typeface="Aptos Narrow" panose="020B000402020202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r>
                        <a:rPr lang="en-GB" sz="900" b="0">
                          <a:latin typeface="Arial Narrow" panose="020B0606020202030204" pitchFamily="34" charset="0"/>
                        </a:rPr>
                        <a:t>WSSG - Volume of Messages is not applicable</a:t>
                      </a:r>
                    </a:p>
                    <a:p>
                      <a:endParaRPr lang="en-GB" sz="900" b="0">
                        <a:latin typeface="Arial Narrow" panose="020B0606020202030204" pitchFamily="34" charset="0"/>
                      </a:endParaRPr>
                    </a:p>
                    <a:p>
                      <a:r>
                        <a:rPr lang="en-GB" sz="900" b="0">
                          <a:latin typeface="Arial Narrow" panose="020B0606020202030204" pitchFamily="34" charset="0"/>
                        </a:rPr>
                        <a:t>Message Size – 1k with max of 20MB for a message</a:t>
                      </a:r>
                    </a:p>
                    <a:p>
                      <a:pPr algn="l" fontAlgn="b"/>
                      <a:endParaRPr lang="en-GB" sz="900" b="0" i="0" u="none" strike="noStrike">
                        <a:solidFill>
                          <a:srgbClr val="000000"/>
                        </a:solidFill>
                        <a:effectLst/>
                        <a:latin typeface="Arial Narrow" panose="020B0606020202030204" pitchFamily="34" charset="0"/>
                      </a:endParaRPr>
                    </a:p>
                    <a:p>
                      <a:pPr marL="0" marR="0" lvl="0" indent="0" algn="l" defTabSz="1219170" rtl="0" eaLnBrk="1" fontAlgn="b" latinLnBrk="0" hangingPunct="1">
                        <a:lnSpc>
                          <a:spcPct val="100000"/>
                        </a:lnSpc>
                        <a:spcBef>
                          <a:spcPts val="0"/>
                        </a:spcBef>
                        <a:spcAft>
                          <a:spcPts val="0"/>
                        </a:spcAft>
                        <a:buClrTx/>
                        <a:buSzTx/>
                        <a:buFontTx/>
                        <a:buNone/>
                        <a:tabLst/>
                        <a:defRPr/>
                      </a:pPr>
                      <a:r>
                        <a:rPr lang="en-GB" sz="900" b="0">
                          <a:latin typeface="Arial Narrow" panose="020B0606020202030204" pitchFamily="34" charset="0"/>
                        </a:rPr>
                        <a:t># of apps supported– 30 Frontend Apps + 8 Backend Apps.</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900" b="0" i="0" u="none" strike="noStrike">
                          <a:solidFill>
                            <a:srgbClr val="000000"/>
                          </a:solidFill>
                          <a:effectLst/>
                          <a:latin typeface="Aptos Narrow"/>
                        </a:rPr>
                        <a:t>Anticipated to see steady or lower transaction volumes</a:t>
                      </a:r>
                      <a:endParaRPr lang="en-GB" sz="900" b="0" i="0" u="none" strike="noStrike">
                        <a:solidFill>
                          <a:srgbClr val="000000"/>
                        </a:solidFill>
                        <a:effectLst/>
                        <a:latin typeface="Aptos Narrow" panose="020B000402020202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900" b="0" i="0" u="none" strike="noStrike">
                          <a:solidFill>
                            <a:srgbClr val="000000"/>
                          </a:solidFill>
                          <a:effectLst/>
                          <a:latin typeface="Aptos Narrow"/>
                        </a:rPr>
                        <a:t>Anticipated to see steady or lower transaction volumes</a:t>
                      </a:r>
                      <a:endParaRPr lang="en-GB" sz="900" b="0" i="0" u="none" strike="noStrike">
                        <a:solidFill>
                          <a:srgbClr val="000000"/>
                        </a:solidFill>
                        <a:effectLst/>
                        <a:latin typeface="Aptos Narrow" panose="020B000402020202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900" b="0" i="0" u="none" strike="noStrike">
                          <a:solidFill>
                            <a:srgbClr val="000000"/>
                          </a:solidFill>
                          <a:effectLst/>
                          <a:latin typeface="Aptos Narrow"/>
                        </a:rPr>
                        <a:t>Anticipated to see steady or lower transaction volumes</a:t>
                      </a:r>
                      <a:endParaRPr lang="en-GB" sz="900" b="0" i="0" u="none" strike="noStrike">
                        <a:solidFill>
                          <a:srgbClr val="000000"/>
                        </a:solidFill>
                        <a:effectLst/>
                        <a:latin typeface="Aptos Narrow" panose="020B000402020202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1219170" rtl="0" eaLnBrk="1" fontAlgn="b" latinLnBrk="0" hangingPunct="1">
                        <a:lnSpc>
                          <a:spcPct val="100000"/>
                        </a:lnSpc>
                        <a:spcBef>
                          <a:spcPts val="0"/>
                        </a:spcBef>
                        <a:spcAft>
                          <a:spcPts val="0"/>
                        </a:spcAft>
                        <a:buClrTx/>
                        <a:buSzTx/>
                        <a:buFontTx/>
                        <a:buNone/>
                        <a:tabLst/>
                        <a:defRPr/>
                      </a:pPr>
                      <a:r>
                        <a:rPr lang="en-GB" sz="900" b="1" i="0" u="none" strike="noStrike" kern="1200">
                          <a:solidFill>
                            <a:srgbClr val="000000"/>
                          </a:solidFill>
                          <a:effectLst/>
                          <a:latin typeface="Arial Narrow" panose="020B0606020202030204" pitchFamily="34" charset="0"/>
                          <a:ea typeface="+mn-ea"/>
                          <a:cs typeface="+mn-cs"/>
                        </a:rPr>
                        <a:t>Device Locations: </a:t>
                      </a:r>
                      <a:r>
                        <a:rPr lang="en-US" sz="900">
                          <a:latin typeface="Arial Narrow" panose="020B0606020202030204" pitchFamily="34" charset="0"/>
                        </a:rPr>
                        <a:t>8 secure gateways in US Azure (GSK instance)</a:t>
                      </a:r>
                      <a:endParaRPr lang="en-GB" sz="900" b="0" i="0" u="none" strike="noStrike">
                        <a:solidFill>
                          <a:srgbClr val="000000"/>
                        </a:solidFill>
                        <a:effectLst/>
                        <a:latin typeface="Aptos Narrow"/>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1219170" rtl="0" eaLnBrk="1" fontAlgn="b" latinLnBrk="0" hangingPunct="1">
                        <a:lnSpc>
                          <a:spcPct val="100000"/>
                        </a:lnSpc>
                        <a:spcBef>
                          <a:spcPts val="0"/>
                        </a:spcBef>
                        <a:spcAft>
                          <a:spcPts val="0"/>
                        </a:spcAft>
                        <a:buClrTx/>
                        <a:buSzTx/>
                        <a:buFontTx/>
                        <a:buNone/>
                        <a:tabLst/>
                        <a:defRPr/>
                      </a:pPr>
                      <a:endParaRPr lang="en-GB" sz="900" b="0" i="0" u="none" strike="noStrike">
                        <a:solidFill>
                          <a:srgbClr val="000000"/>
                        </a:solidFill>
                        <a:effectLst/>
                        <a:latin typeface="Aptos Narrow"/>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900" b="0" i="0" u="none" strike="noStrike">
                          <a:solidFill>
                            <a:srgbClr val="000000"/>
                          </a:solidFill>
                          <a:effectLst/>
                          <a:latin typeface="Aptos Narrow"/>
                        </a:rPr>
                        <a:t>24 x 7 x 365</a:t>
                      </a:r>
                      <a:endParaRPr lang="en-GB" sz="900" b="0" i="0" u="none" strike="noStrike">
                        <a:solidFill>
                          <a:srgbClr val="000000"/>
                        </a:solidFill>
                        <a:effectLst/>
                        <a:latin typeface="Aptos Narrow" panose="020B000402020202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3074086"/>
                  </a:ext>
                </a:extLst>
              </a:tr>
            </a:tbl>
          </a:graphicData>
        </a:graphic>
      </p:graphicFrame>
      <p:sp>
        <p:nvSpPr>
          <p:cNvPr id="38" name="TextBox 37">
            <a:extLst>
              <a:ext uri="{FF2B5EF4-FFF2-40B4-BE49-F238E27FC236}">
                <a16:creationId xmlns:a16="http://schemas.microsoft.com/office/drawing/2014/main" id="{89610B86-FB4C-5216-358E-202B431FBD40}"/>
              </a:ext>
            </a:extLst>
          </p:cNvPr>
          <p:cNvSpPr txBox="1"/>
          <p:nvPr/>
        </p:nvSpPr>
        <p:spPr>
          <a:xfrm>
            <a:off x="361190" y="3234878"/>
            <a:ext cx="11327377" cy="3047050"/>
          </a:xfrm>
          <a:prstGeom prst="rect">
            <a:avLst/>
          </a:prstGeom>
          <a:noFill/>
          <a:ln>
            <a:solidFill>
              <a:schemeClr val="bg1">
                <a:lumMod val="75000"/>
              </a:schemeClr>
            </a:solidFill>
          </a:ln>
        </p:spPr>
        <p:txBody>
          <a:bodyPr wrap="square" lIns="180000" tIns="180000" rIns="180000" bIns="180000" rtlCol="0">
            <a:normAutofit/>
          </a:bodyPr>
          <a:lstStyle/>
          <a:p>
            <a:pPr marL="285750" indent="-285750" algn="l">
              <a:spcBef>
                <a:spcPts val="300"/>
              </a:spcBef>
              <a:spcAft>
                <a:spcPts val="300"/>
              </a:spcAft>
              <a:buClr>
                <a:schemeClr val="tx2"/>
              </a:buClr>
              <a:buSzPct val="150000"/>
              <a:buFont typeface="Arial" panose="020B0604020202020204" pitchFamily="34" charset="0"/>
              <a:buChar char="•"/>
            </a:pPr>
            <a:endParaRPr lang="en-US" sz="1600"/>
          </a:p>
        </p:txBody>
      </p:sp>
      <p:sp>
        <p:nvSpPr>
          <p:cNvPr id="27" name="Title 17">
            <a:extLst>
              <a:ext uri="{FF2B5EF4-FFF2-40B4-BE49-F238E27FC236}">
                <a16:creationId xmlns:a16="http://schemas.microsoft.com/office/drawing/2014/main" id="{D4CFFF78-A4F9-20A6-25E4-8588D23A1BC4}"/>
              </a:ext>
            </a:extLst>
          </p:cNvPr>
          <p:cNvSpPr>
            <a:spLocks noGrp="1"/>
          </p:cNvSpPr>
          <p:nvPr>
            <p:ph type="title"/>
          </p:nvPr>
        </p:nvSpPr>
        <p:spPr>
          <a:xfrm>
            <a:off x="478870" y="230848"/>
            <a:ext cx="10102852" cy="451405"/>
          </a:xfrm>
        </p:spPr>
        <p:txBody>
          <a:bodyPr>
            <a:normAutofit/>
          </a:bodyPr>
          <a:lstStyle/>
          <a:p>
            <a:r>
              <a:rPr lang="en-US"/>
              <a:t>Scope Detail – EAS: Web Service Security Gateway (WSSG)</a:t>
            </a:r>
          </a:p>
        </p:txBody>
      </p:sp>
      <p:sp>
        <p:nvSpPr>
          <p:cNvPr id="28" name="Date Placeholder 5">
            <a:extLst>
              <a:ext uri="{FF2B5EF4-FFF2-40B4-BE49-F238E27FC236}">
                <a16:creationId xmlns:a16="http://schemas.microsoft.com/office/drawing/2014/main" id="{5AAD910D-7D0D-D5E4-C682-F896F86FE40B}"/>
              </a:ext>
            </a:extLst>
          </p:cNvPr>
          <p:cNvSpPr txBox="1">
            <a:spLocks/>
          </p:cNvSpPr>
          <p:nvPr/>
        </p:nvSpPr>
        <p:spPr>
          <a:xfrm>
            <a:off x="10968821" y="65881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sp>
        <p:nvSpPr>
          <p:cNvPr id="29" name="Slide Number Placeholder 7">
            <a:extLst>
              <a:ext uri="{FF2B5EF4-FFF2-40B4-BE49-F238E27FC236}">
                <a16:creationId xmlns:a16="http://schemas.microsoft.com/office/drawing/2014/main" id="{AAA61870-EABB-43FC-E4BF-43B8B802812F}"/>
              </a:ext>
            </a:extLst>
          </p:cNvPr>
          <p:cNvSpPr txBox="1">
            <a:spLocks/>
          </p:cNvSpPr>
          <p:nvPr/>
        </p:nvSpPr>
        <p:spPr>
          <a:xfrm>
            <a:off x="11285288" y="6189646"/>
            <a:ext cx="540000" cy="269875"/>
          </a:xfrm>
          <a:prstGeom prst="rect">
            <a:avLst/>
          </a:prstGeom>
        </p:spPr>
        <p:txBody>
          <a:bodyPr vert="horz" lIns="0" tIns="0" rIns="0" bIns="0" rtlCol="0" anchor="b" anchorCtr="0">
            <a:normAutofit/>
          </a:bodyPr>
          <a:lstStyle>
            <a:defPPr>
              <a:defRPr lang="en-US"/>
            </a:defPPr>
            <a:lvl1pPr marL="0" algn="l" defTabSz="1219170" rtl="0" eaLnBrk="1" latinLnBrk="0" hangingPunct="1">
              <a:defRPr sz="12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9F9F533D-B52E-4A2F-BF72-0ADD2D94BD75}" type="slidenum">
              <a:rPr lang="en-GB" smtClean="0"/>
              <a:pPr/>
              <a:t>18</a:t>
            </a:fld>
            <a:endParaRPr lang="en-GB"/>
          </a:p>
        </p:txBody>
      </p:sp>
      <p:sp>
        <p:nvSpPr>
          <p:cNvPr id="30" name="TextBox 29">
            <a:extLst>
              <a:ext uri="{FF2B5EF4-FFF2-40B4-BE49-F238E27FC236}">
                <a16:creationId xmlns:a16="http://schemas.microsoft.com/office/drawing/2014/main" id="{6E884689-2957-0D8F-34B4-CF20768152C5}"/>
              </a:ext>
            </a:extLst>
          </p:cNvPr>
          <p:cNvSpPr txBox="1"/>
          <p:nvPr/>
        </p:nvSpPr>
        <p:spPr>
          <a:xfrm>
            <a:off x="361190" y="3262157"/>
            <a:ext cx="1997007" cy="307777"/>
          </a:xfrm>
          <a:prstGeom prst="rect">
            <a:avLst/>
          </a:prstGeom>
          <a:solidFill>
            <a:schemeClr val="bg1"/>
          </a:solidFill>
        </p:spPr>
        <p:txBody>
          <a:bodyPr wrap="square" rtlCol="0">
            <a:spAutoFit/>
          </a:bodyPr>
          <a:lstStyle/>
          <a:p>
            <a:pPr>
              <a:buClr>
                <a:schemeClr val="tx1"/>
              </a:buClr>
            </a:pPr>
            <a:r>
              <a:rPr lang="en-GB" sz="1400" b="1">
                <a:solidFill>
                  <a:schemeClr val="tx2"/>
                </a:solidFill>
              </a:rPr>
              <a:t>Scope Description</a:t>
            </a:r>
          </a:p>
        </p:txBody>
      </p:sp>
      <p:sp>
        <p:nvSpPr>
          <p:cNvPr id="33" name="TextBox 32">
            <a:extLst>
              <a:ext uri="{FF2B5EF4-FFF2-40B4-BE49-F238E27FC236}">
                <a16:creationId xmlns:a16="http://schemas.microsoft.com/office/drawing/2014/main" id="{2AC80701-6CB5-8133-3426-09E257F13BFF}"/>
              </a:ext>
            </a:extLst>
          </p:cNvPr>
          <p:cNvSpPr txBox="1"/>
          <p:nvPr/>
        </p:nvSpPr>
        <p:spPr>
          <a:xfrm>
            <a:off x="361190" y="3569934"/>
            <a:ext cx="11233971" cy="3308598"/>
          </a:xfrm>
          <a:prstGeom prst="rect">
            <a:avLst/>
          </a:prstGeom>
          <a:noFill/>
          <a:ln>
            <a:noFill/>
          </a:ln>
        </p:spPr>
        <p:txBody>
          <a:bodyPr wrap="square" lIns="91440" tIns="45720" rIns="91440" bIns="45720" numCol="1" rtlCol="0" anchor="t">
            <a:spAutoFit/>
          </a:bodyPr>
          <a:lstStyle/>
          <a:p>
            <a:pPr>
              <a:buClr>
                <a:schemeClr val="bg2"/>
              </a:buClr>
            </a:pPr>
            <a:r>
              <a:rPr lang="en-GB" sz="1100" b="1"/>
              <a:t>Application Roadmap</a:t>
            </a:r>
          </a:p>
          <a:p>
            <a:pPr>
              <a:buClr>
                <a:schemeClr val="bg2"/>
              </a:buClr>
            </a:pPr>
            <a:r>
              <a:rPr lang="en-GB" sz="1100"/>
              <a:t>No major strategy changes expected, use may decrease in favour of API Gateways as their capabilities increase.</a:t>
            </a:r>
            <a:endParaRPr lang="en-GB" sz="1100" b="1">
              <a:highlight>
                <a:srgbClr val="FFFF00"/>
              </a:highlight>
            </a:endParaRPr>
          </a:p>
          <a:p>
            <a:pPr>
              <a:buClr>
                <a:schemeClr val="bg2"/>
              </a:buClr>
            </a:pPr>
            <a:endParaRPr lang="en-GB" sz="1100" b="1">
              <a:highlight>
                <a:srgbClr val="FFFF00"/>
              </a:highlight>
            </a:endParaRPr>
          </a:p>
          <a:p>
            <a:pPr>
              <a:buClr>
                <a:schemeClr val="bg2"/>
              </a:buClr>
            </a:pPr>
            <a:r>
              <a:rPr lang="en-GB" sz="1100" b="1"/>
              <a:t>Application Dev/ Support Service Detail</a:t>
            </a:r>
            <a:endParaRPr lang="en-GB" sz="1100"/>
          </a:p>
          <a:p>
            <a:pPr marL="171450" indent="-171450">
              <a:buClr>
                <a:schemeClr val="bg2"/>
              </a:buClr>
              <a:buFont typeface="Arial" panose="020B0604020202020204" pitchFamily="34" charset="0"/>
              <a:buChar char="•"/>
            </a:pPr>
            <a:r>
              <a:rPr lang="en-US" sz="1100"/>
              <a:t>The Supplier shall assume full and comprehensive responsibility for the service, including its design, build, implementation, and ongoing operational support. This responsibility spans all levels of the ITIL framework and includes proactive identification and delivery of service improvements throughout the lifecycle.  As GSK’s internal roles are limited to Engineering and Product Ownership, the Supplier is expected to manage and operate the service in its entirety. </a:t>
            </a:r>
          </a:p>
          <a:p>
            <a:pPr marL="171450" indent="-171450">
              <a:buClr>
                <a:schemeClr val="bg2"/>
              </a:buClr>
              <a:buFont typeface="Arial" panose="020B0604020202020204" pitchFamily="34" charset="0"/>
              <a:buChar char="•"/>
            </a:pPr>
            <a:r>
              <a:rPr lang="en-US" sz="1100"/>
              <a:t>The service must be scalable, fit for purpose, and continuously </a:t>
            </a:r>
            <a:r>
              <a:rPr lang="en-US" sz="1100" err="1"/>
              <a:t>optimised</a:t>
            </a:r>
            <a:r>
              <a:rPr lang="en-US" sz="1100"/>
              <a:t> for performance, resilience, and cost-effectiveness. Supplier must ensure all solutions comply with GSK’s security policies, data protection standards, and relevant regulatory requirements (e.g., GDPR, GXP, SOX, HIPAA as applicable).</a:t>
            </a:r>
          </a:p>
          <a:p>
            <a:pPr marL="171450" indent="-171450">
              <a:buClr>
                <a:schemeClr val="bg2"/>
              </a:buClr>
              <a:buFont typeface="Arial" panose="020B0604020202020204" pitchFamily="34" charset="0"/>
              <a:buChar char="•"/>
            </a:pPr>
            <a:r>
              <a:rPr lang="en-US" sz="1100"/>
              <a:t>The Supplier is expected to leverage AI and automation to proactively reduce incidents, improve customer experience, and drive continuous service </a:t>
            </a:r>
            <a:r>
              <a:rPr lang="en-US" sz="1100" err="1"/>
              <a:t>optimisation</a:t>
            </a:r>
            <a:r>
              <a:rPr lang="en-US" sz="1100"/>
              <a:t>. Supplier shall implement AI Ops capabilities including but not limited to automated provisioning workflows, intelligent chatbot integrations for Tier 1 support, predictive analytics for performance degradation, and self-healing mechanisms.  Consequently, Supplier shall commit to material reductions in incident volumes, with commercially backed KPIs</a:t>
            </a:r>
          </a:p>
          <a:p>
            <a:pPr marL="171450" indent="-171450">
              <a:buClr>
                <a:schemeClr val="bg2"/>
              </a:buClr>
              <a:buFont typeface="Arial" panose="020B0604020202020204" pitchFamily="34" charset="0"/>
              <a:buChar char="•"/>
            </a:pPr>
            <a:r>
              <a:rPr lang="en-US" sz="1100"/>
              <a:t>The Supplier shall ensure the service remains aligned with evolving business needs and technological advancements. This includes maintaining appropriate documentation, managing technical debt, and ensuring the service is secure, supportable, and maintainable. Clear governance structures, reporting mechanisms, and escalation paths must be in place to ensure transparency and accountability in service delivery.</a:t>
            </a:r>
            <a:endParaRPr lang="en-US" sz="1100" b="1"/>
          </a:p>
          <a:p>
            <a:pPr>
              <a:buClr>
                <a:schemeClr val="bg2"/>
              </a:buClr>
            </a:pPr>
            <a:endParaRPr lang="en-GB" sz="1100" b="1"/>
          </a:p>
          <a:p>
            <a:pPr marL="171450" indent="-171450">
              <a:buClr>
                <a:schemeClr val="bg2"/>
              </a:buClr>
              <a:buFont typeface="Arial" panose="020B0604020202020204" pitchFamily="34" charset="0"/>
              <a:buChar char="•"/>
            </a:pPr>
            <a:endParaRPr lang="en-US" sz="1100" b="1"/>
          </a:p>
          <a:p>
            <a:pPr>
              <a:buClr>
                <a:schemeClr val="bg2"/>
              </a:buClr>
            </a:pPr>
            <a:endParaRPr lang="en-GB" sz="1100"/>
          </a:p>
          <a:p>
            <a:pPr>
              <a:buClr>
                <a:schemeClr val="bg2"/>
              </a:buClr>
            </a:pPr>
            <a:endParaRPr lang="en-US" sz="1100"/>
          </a:p>
        </p:txBody>
      </p:sp>
    </p:spTree>
    <p:extLst>
      <p:ext uri="{BB962C8B-B14F-4D97-AF65-F5344CB8AC3E}">
        <p14:creationId xmlns:p14="http://schemas.microsoft.com/office/powerpoint/2010/main" val="2248889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973CB-6B4D-0BF9-EE47-283319C12400}"/>
            </a:ext>
          </a:extLst>
        </p:cNvPr>
        <p:cNvGrpSpPr/>
        <p:nvPr/>
      </p:nvGrpSpPr>
      <p:grpSpPr>
        <a:xfrm>
          <a:off x="0" y="0"/>
          <a:ext cx="0" cy="0"/>
          <a:chOff x="0" y="0"/>
          <a:chExt cx="0" cy="0"/>
        </a:xfrm>
      </p:grpSpPr>
      <p:sp>
        <p:nvSpPr>
          <p:cNvPr id="38" name="TextBox 37">
            <a:extLst>
              <a:ext uri="{FF2B5EF4-FFF2-40B4-BE49-F238E27FC236}">
                <a16:creationId xmlns:a16="http://schemas.microsoft.com/office/drawing/2014/main" id="{4E63921C-00BF-2FCE-4E12-6257C31264F9}"/>
              </a:ext>
            </a:extLst>
          </p:cNvPr>
          <p:cNvSpPr txBox="1"/>
          <p:nvPr/>
        </p:nvSpPr>
        <p:spPr>
          <a:xfrm>
            <a:off x="478870" y="1065910"/>
            <a:ext cx="11327377" cy="4677761"/>
          </a:xfrm>
          <a:prstGeom prst="rect">
            <a:avLst/>
          </a:prstGeom>
          <a:noFill/>
          <a:ln>
            <a:solidFill>
              <a:schemeClr val="bg1">
                <a:lumMod val="75000"/>
              </a:schemeClr>
            </a:solidFill>
          </a:ln>
        </p:spPr>
        <p:txBody>
          <a:bodyPr wrap="square" lIns="180000" tIns="180000" rIns="180000" bIns="180000" rtlCol="0">
            <a:normAutofit/>
          </a:bodyPr>
          <a:lstStyle/>
          <a:p>
            <a:pPr marL="285750" indent="-285750" algn="l">
              <a:spcBef>
                <a:spcPts val="300"/>
              </a:spcBef>
              <a:spcAft>
                <a:spcPts val="300"/>
              </a:spcAft>
              <a:buClr>
                <a:schemeClr val="tx2"/>
              </a:buClr>
              <a:buSzPct val="150000"/>
              <a:buFont typeface="Arial" panose="020B0604020202020204" pitchFamily="34" charset="0"/>
              <a:buChar char="•"/>
            </a:pPr>
            <a:endParaRPr lang="en-US" sz="1600" err="1"/>
          </a:p>
        </p:txBody>
      </p:sp>
      <p:sp>
        <p:nvSpPr>
          <p:cNvPr id="27" name="Title 17">
            <a:extLst>
              <a:ext uri="{FF2B5EF4-FFF2-40B4-BE49-F238E27FC236}">
                <a16:creationId xmlns:a16="http://schemas.microsoft.com/office/drawing/2014/main" id="{15343642-E27B-6791-8FE7-382E51DC102D}"/>
              </a:ext>
            </a:extLst>
          </p:cNvPr>
          <p:cNvSpPr>
            <a:spLocks noGrp="1"/>
          </p:cNvSpPr>
          <p:nvPr>
            <p:ph type="title"/>
          </p:nvPr>
        </p:nvSpPr>
        <p:spPr>
          <a:xfrm>
            <a:off x="478870" y="230848"/>
            <a:ext cx="10102852" cy="451405"/>
          </a:xfrm>
        </p:spPr>
        <p:txBody>
          <a:bodyPr>
            <a:normAutofit/>
          </a:bodyPr>
          <a:lstStyle/>
          <a:p>
            <a:r>
              <a:rPr lang="en-US"/>
              <a:t>Scope Detail – EAS: Web Service Security Gateway (WSSG)</a:t>
            </a:r>
          </a:p>
        </p:txBody>
      </p:sp>
      <p:sp>
        <p:nvSpPr>
          <p:cNvPr id="28" name="Date Placeholder 5">
            <a:extLst>
              <a:ext uri="{FF2B5EF4-FFF2-40B4-BE49-F238E27FC236}">
                <a16:creationId xmlns:a16="http://schemas.microsoft.com/office/drawing/2014/main" id="{87C3983F-7BCB-15DE-31A5-24B3D89CBF52}"/>
              </a:ext>
            </a:extLst>
          </p:cNvPr>
          <p:cNvSpPr txBox="1">
            <a:spLocks/>
          </p:cNvSpPr>
          <p:nvPr/>
        </p:nvSpPr>
        <p:spPr>
          <a:xfrm>
            <a:off x="10968821" y="65881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sp>
        <p:nvSpPr>
          <p:cNvPr id="29" name="Slide Number Placeholder 7">
            <a:extLst>
              <a:ext uri="{FF2B5EF4-FFF2-40B4-BE49-F238E27FC236}">
                <a16:creationId xmlns:a16="http://schemas.microsoft.com/office/drawing/2014/main" id="{49838BE0-EE6D-411E-B30E-768A0B5823B3}"/>
              </a:ext>
            </a:extLst>
          </p:cNvPr>
          <p:cNvSpPr txBox="1">
            <a:spLocks/>
          </p:cNvSpPr>
          <p:nvPr/>
        </p:nvSpPr>
        <p:spPr>
          <a:xfrm>
            <a:off x="11285288" y="6189646"/>
            <a:ext cx="540000" cy="269875"/>
          </a:xfrm>
          <a:prstGeom prst="rect">
            <a:avLst/>
          </a:prstGeom>
        </p:spPr>
        <p:txBody>
          <a:bodyPr vert="horz" lIns="0" tIns="0" rIns="0" bIns="0" rtlCol="0" anchor="b" anchorCtr="0">
            <a:normAutofit/>
          </a:bodyPr>
          <a:lstStyle>
            <a:defPPr>
              <a:defRPr lang="en-US"/>
            </a:defPPr>
            <a:lvl1pPr marL="0" algn="l" defTabSz="1219170" rtl="0" eaLnBrk="1" latinLnBrk="0" hangingPunct="1">
              <a:defRPr sz="12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9F9F533D-B52E-4A2F-BF72-0ADD2D94BD75}" type="slidenum">
              <a:rPr lang="en-GB" smtClean="0"/>
              <a:pPr/>
              <a:t>19</a:t>
            </a:fld>
            <a:endParaRPr lang="en-GB"/>
          </a:p>
        </p:txBody>
      </p:sp>
      <p:sp>
        <p:nvSpPr>
          <p:cNvPr id="30" name="TextBox 29">
            <a:extLst>
              <a:ext uri="{FF2B5EF4-FFF2-40B4-BE49-F238E27FC236}">
                <a16:creationId xmlns:a16="http://schemas.microsoft.com/office/drawing/2014/main" id="{3B665E7C-B047-D941-AE9B-6277959B0B19}"/>
              </a:ext>
            </a:extLst>
          </p:cNvPr>
          <p:cNvSpPr txBox="1"/>
          <p:nvPr/>
        </p:nvSpPr>
        <p:spPr>
          <a:xfrm>
            <a:off x="596549" y="913195"/>
            <a:ext cx="1997007" cy="307777"/>
          </a:xfrm>
          <a:prstGeom prst="rect">
            <a:avLst/>
          </a:prstGeom>
          <a:solidFill>
            <a:schemeClr val="bg1"/>
          </a:solidFill>
        </p:spPr>
        <p:txBody>
          <a:bodyPr wrap="square" rtlCol="0">
            <a:spAutoFit/>
          </a:bodyPr>
          <a:lstStyle/>
          <a:p>
            <a:pPr>
              <a:buClr>
                <a:schemeClr val="tx1"/>
              </a:buClr>
            </a:pPr>
            <a:r>
              <a:rPr lang="en-GB" sz="1400" b="1">
                <a:solidFill>
                  <a:schemeClr val="tx2"/>
                </a:solidFill>
              </a:rPr>
              <a:t>Scope Description</a:t>
            </a:r>
          </a:p>
        </p:txBody>
      </p:sp>
      <p:sp>
        <p:nvSpPr>
          <p:cNvPr id="33" name="TextBox 32">
            <a:extLst>
              <a:ext uri="{FF2B5EF4-FFF2-40B4-BE49-F238E27FC236}">
                <a16:creationId xmlns:a16="http://schemas.microsoft.com/office/drawing/2014/main" id="{C498DFC8-D350-9092-82E2-6235BD31DE48}"/>
              </a:ext>
            </a:extLst>
          </p:cNvPr>
          <p:cNvSpPr txBox="1"/>
          <p:nvPr/>
        </p:nvSpPr>
        <p:spPr>
          <a:xfrm>
            <a:off x="572275" y="1288605"/>
            <a:ext cx="11233971" cy="4455066"/>
          </a:xfrm>
          <a:prstGeom prst="rect">
            <a:avLst/>
          </a:prstGeom>
          <a:noFill/>
          <a:ln>
            <a:noFill/>
          </a:ln>
        </p:spPr>
        <p:txBody>
          <a:bodyPr wrap="square" lIns="91440" tIns="45720" rIns="91440" bIns="45720" numCol="1" rtlCol="0" anchor="t">
            <a:spAutoFit/>
          </a:bodyPr>
          <a:lstStyle/>
          <a:p>
            <a:pPr>
              <a:buClr>
                <a:schemeClr val="bg2"/>
              </a:buClr>
            </a:pPr>
            <a:r>
              <a:rPr lang="en-GB" sz="1050" b="1" u="sng"/>
              <a:t>Application Dev/ Support Service Detail (cont.)</a:t>
            </a:r>
          </a:p>
          <a:p>
            <a:pPr>
              <a:buClr>
                <a:schemeClr val="bg2"/>
              </a:buClr>
            </a:pPr>
            <a:r>
              <a:rPr lang="en-US" sz="1050"/>
              <a:t>The Supplier must ensure that all personnel delivering services are appropriately trained, certified, and competent to perform their roles effectively. Services must be delivered in a secure, scalable, and cost-</a:t>
            </a:r>
            <a:r>
              <a:rPr lang="en-US" sz="1050" err="1"/>
              <a:t>optimised</a:t>
            </a:r>
            <a:r>
              <a:rPr lang="en-US" sz="1050"/>
              <a:t> manner, in full compliance with GSK’s policies, procedures, standards, and applicable data privacy and information security requirements.  The Supplier is expected to proactively leverage AI, automation, and analytics to reduce incidents, improve customer experience, and drive continuous service </a:t>
            </a:r>
            <a:r>
              <a:rPr lang="en-US" sz="1050" err="1"/>
              <a:t>optimisation</a:t>
            </a:r>
            <a:r>
              <a:rPr lang="en-US" sz="1050"/>
              <a:t>. This includes identifying opportunities for innovation and value </a:t>
            </a:r>
            <a:r>
              <a:rPr lang="en-US" sz="1050" err="1"/>
              <a:t>realisation</a:t>
            </a:r>
            <a:r>
              <a:rPr lang="en-US" sz="1050"/>
              <a:t> throughout the service lifecycle. </a:t>
            </a:r>
            <a:br>
              <a:rPr lang="en-US" sz="1050"/>
            </a:br>
            <a:br>
              <a:rPr lang="en-US" sz="1050"/>
            </a:br>
            <a:r>
              <a:rPr lang="en-US" sz="1050"/>
              <a:t>The following outlines key service areas and expectations, which are intended to be illustrative but not exhaustive.</a:t>
            </a:r>
          </a:p>
          <a:p>
            <a:pPr>
              <a:buClr>
                <a:schemeClr val="bg2"/>
              </a:buClr>
            </a:pPr>
            <a:endParaRPr lang="en-US" sz="1050"/>
          </a:p>
          <a:p>
            <a:pPr>
              <a:buClr>
                <a:schemeClr val="bg2"/>
              </a:buClr>
            </a:pPr>
            <a:r>
              <a:rPr lang="en-US" sz="1050" b="1"/>
              <a:t>Continuous Improvement</a:t>
            </a:r>
          </a:p>
          <a:p>
            <a:pPr>
              <a:buClr>
                <a:schemeClr val="bg2"/>
              </a:buClr>
            </a:pPr>
            <a:r>
              <a:rPr lang="en-US" sz="1050"/>
              <a:t>The Supplier shall implement a structured continuous improvement framework throughout the SOW term. This includes the use of AI and automation to reduce incident volumes, improve service quality, and enhance user satisfaction. Monthly reports must be provided to GSK detailing identified opportunities, actions taken, and progress against prior periods.</a:t>
            </a:r>
          </a:p>
          <a:p>
            <a:pPr>
              <a:buClr>
                <a:schemeClr val="bg2"/>
              </a:buClr>
            </a:pPr>
            <a:endParaRPr lang="en-US" sz="1050" b="1"/>
          </a:p>
          <a:p>
            <a:pPr>
              <a:buClr>
                <a:schemeClr val="bg2"/>
              </a:buClr>
            </a:pPr>
            <a:r>
              <a:rPr lang="en-US" sz="1050" b="1"/>
              <a:t>Audit, Compliance &amp; Security</a:t>
            </a:r>
          </a:p>
          <a:p>
            <a:pPr>
              <a:buClr>
                <a:schemeClr val="bg2"/>
              </a:buClr>
            </a:pPr>
            <a:r>
              <a:rPr lang="en-US" sz="1050"/>
              <a:t>The Supplier is responsible for ensuring full compliance with all applicable GSK policies, procedures, and regulatory requirements. This includes supporting internal and external audits, remediating findings, and responding to penetration testing and vulnerability scans. The Supplier must maintain accurate compliance documentation, manage license usage, and ensure infrastructure qualification is documented and up to date. All services must be delivered in accordance with GSK’s data privacy and information security standards, including secure access controls, event logging, and breach response protocols.</a:t>
            </a:r>
          </a:p>
          <a:p>
            <a:pPr>
              <a:buClr>
                <a:schemeClr val="bg2"/>
              </a:buClr>
            </a:pPr>
            <a:endParaRPr lang="en-US" sz="1050" b="1"/>
          </a:p>
          <a:p>
            <a:pPr>
              <a:buClr>
                <a:schemeClr val="bg2"/>
              </a:buClr>
            </a:pPr>
            <a:r>
              <a:rPr lang="en-US" sz="1050" b="1"/>
              <a:t>Service Request Management</a:t>
            </a:r>
          </a:p>
          <a:p>
            <a:pPr>
              <a:buClr>
                <a:schemeClr val="bg2"/>
              </a:buClr>
            </a:pPr>
            <a:r>
              <a:rPr lang="en-US" sz="1050"/>
              <a:t>The Supplier shall manage and fulfil service requests via GSK’s Service Catalog and provisioning tools. This includes validating, </a:t>
            </a:r>
            <a:r>
              <a:rPr lang="en-US" sz="1050" err="1"/>
              <a:t>categorising</a:t>
            </a:r>
            <a:r>
              <a:rPr lang="en-US" sz="1050"/>
              <a:t>, and escalating requests as needed, maintaining accurate records in GSK’s ITSM systems, and ensuring all user-facing documentation and help content is current and accessible.</a:t>
            </a:r>
          </a:p>
          <a:p>
            <a:pPr>
              <a:buClr>
                <a:schemeClr val="bg2"/>
              </a:buClr>
            </a:pPr>
            <a:endParaRPr lang="en-US" sz="1050" b="1"/>
          </a:p>
          <a:p>
            <a:pPr>
              <a:buClr>
                <a:schemeClr val="bg2"/>
              </a:buClr>
            </a:pPr>
            <a:r>
              <a:rPr lang="en-US" sz="1050" b="1"/>
              <a:t>Incident Management</a:t>
            </a:r>
          </a:p>
          <a:p>
            <a:pPr>
              <a:buClr>
                <a:schemeClr val="bg2"/>
              </a:buClr>
            </a:pPr>
            <a:r>
              <a:rPr lang="en-US" sz="1050"/>
              <a:t>The Supplier shall monitor, manage, and resolve all incidents related to in-scope services in accordance with SLAs and SOPs. This includes conducting root cause analysis for major incidents, leading SWAT calls, and providing timely updates to stakeholders. All incident data must be accurately maintained in GSK’s ITSM tools, with regular reporting on trends and resolution performance.</a:t>
            </a:r>
          </a:p>
          <a:p>
            <a:pPr>
              <a:buClr>
                <a:schemeClr val="bg2"/>
              </a:buClr>
            </a:pPr>
            <a:endParaRPr lang="en-US" sz="1050" b="1"/>
          </a:p>
        </p:txBody>
      </p:sp>
    </p:spTree>
    <p:extLst>
      <p:ext uri="{BB962C8B-B14F-4D97-AF65-F5344CB8AC3E}">
        <p14:creationId xmlns:p14="http://schemas.microsoft.com/office/powerpoint/2010/main" val="694417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C19F0-0DB2-5D1F-2B9D-B00293F0C94A}"/>
            </a:ext>
          </a:extLst>
        </p:cNvPr>
        <p:cNvGrpSpPr/>
        <p:nvPr/>
      </p:nvGrpSpPr>
      <p:grpSpPr>
        <a:xfrm>
          <a:off x="0" y="0"/>
          <a:ext cx="0" cy="0"/>
          <a:chOff x="0" y="0"/>
          <a:chExt cx="0" cy="0"/>
        </a:xfrm>
      </p:grpSpPr>
      <p:sp>
        <p:nvSpPr>
          <p:cNvPr id="38" name="TextBox 37">
            <a:extLst>
              <a:ext uri="{FF2B5EF4-FFF2-40B4-BE49-F238E27FC236}">
                <a16:creationId xmlns:a16="http://schemas.microsoft.com/office/drawing/2014/main" id="{27805F99-B511-C4A2-9BAC-4B9DFE7C3B49}"/>
              </a:ext>
            </a:extLst>
          </p:cNvPr>
          <p:cNvSpPr txBox="1"/>
          <p:nvPr/>
        </p:nvSpPr>
        <p:spPr>
          <a:xfrm>
            <a:off x="478870" y="1065910"/>
            <a:ext cx="11327377" cy="5123736"/>
          </a:xfrm>
          <a:prstGeom prst="rect">
            <a:avLst/>
          </a:prstGeom>
          <a:noFill/>
          <a:ln>
            <a:solidFill>
              <a:schemeClr val="bg1">
                <a:lumMod val="75000"/>
              </a:schemeClr>
            </a:solidFill>
          </a:ln>
        </p:spPr>
        <p:txBody>
          <a:bodyPr wrap="square" lIns="180000" tIns="180000" rIns="180000" bIns="180000" rtlCol="0">
            <a:normAutofit/>
          </a:bodyPr>
          <a:lstStyle/>
          <a:p>
            <a:pPr marL="285750" indent="-285750" algn="l">
              <a:spcBef>
                <a:spcPts val="300"/>
              </a:spcBef>
              <a:spcAft>
                <a:spcPts val="300"/>
              </a:spcAft>
              <a:buClr>
                <a:schemeClr val="tx2"/>
              </a:buClr>
              <a:buSzPct val="150000"/>
              <a:buFont typeface="Arial" panose="020B0604020202020204" pitchFamily="34" charset="0"/>
              <a:buChar char="•"/>
            </a:pPr>
            <a:endParaRPr lang="en-US" sz="1600" err="1"/>
          </a:p>
        </p:txBody>
      </p:sp>
      <p:sp>
        <p:nvSpPr>
          <p:cNvPr id="27" name="Title 17">
            <a:extLst>
              <a:ext uri="{FF2B5EF4-FFF2-40B4-BE49-F238E27FC236}">
                <a16:creationId xmlns:a16="http://schemas.microsoft.com/office/drawing/2014/main" id="{CC9C7308-F719-2F57-A834-355197F28E62}"/>
              </a:ext>
            </a:extLst>
          </p:cNvPr>
          <p:cNvSpPr>
            <a:spLocks noGrp="1"/>
          </p:cNvSpPr>
          <p:nvPr>
            <p:ph type="title"/>
          </p:nvPr>
        </p:nvSpPr>
        <p:spPr>
          <a:xfrm>
            <a:off x="478870" y="230848"/>
            <a:ext cx="10102852" cy="451405"/>
          </a:xfrm>
        </p:spPr>
        <p:txBody>
          <a:bodyPr>
            <a:normAutofit/>
          </a:bodyPr>
          <a:lstStyle/>
          <a:p>
            <a:r>
              <a:rPr lang="en-US"/>
              <a:t>Scope Detail – EAS: Web Service Security Gateway (WSSG)</a:t>
            </a:r>
          </a:p>
        </p:txBody>
      </p:sp>
      <p:sp>
        <p:nvSpPr>
          <p:cNvPr id="28" name="Date Placeholder 5">
            <a:extLst>
              <a:ext uri="{FF2B5EF4-FFF2-40B4-BE49-F238E27FC236}">
                <a16:creationId xmlns:a16="http://schemas.microsoft.com/office/drawing/2014/main" id="{93ACFEC5-A021-1449-99EE-7EC780552FF7}"/>
              </a:ext>
            </a:extLst>
          </p:cNvPr>
          <p:cNvSpPr txBox="1">
            <a:spLocks/>
          </p:cNvSpPr>
          <p:nvPr/>
        </p:nvSpPr>
        <p:spPr>
          <a:xfrm>
            <a:off x="10968821" y="65881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sp>
        <p:nvSpPr>
          <p:cNvPr id="29" name="Slide Number Placeholder 7">
            <a:extLst>
              <a:ext uri="{FF2B5EF4-FFF2-40B4-BE49-F238E27FC236}">
                <a16:creationId xmlns:a16="http://schemas.microsoft.com/office/drawing/2014/main" id="{5DA17432-BD3C-D8F1-AA84-7D58DA6DEAA7}"/>
              </a:ext>
            </a:extLst>
          </p:cNvPr>
          <p:cNvSpPr txBox="1">
            <a:spLocks/>
          </p:cNvSpPr>
          <p:nvPr/>
        </p:nvSpPr>
        <p:spPr>
          <a:xfrm>
            <a:off x="11285288" y="6189646"/>
            <a:ext cx="540000" cy="269875"/>
          </a:xfrm>
          <a:prstGeom prst="rect">
            <a:avLst/>
          </a:prstGeom>
        </p:spPr>
        <p:txBody>
          <a:bodyPr vert="horz" lIns="0" tIns="0" rIns="0" bIns="0" rtlCol="0" anchor="b" anchorCtr="0">
            <a:normAutofit/>
          </a:bodyPr>
          <a:lstStyle>
            <a:defPPr>
              <a:defRPr lang="en-US"/>
            </a:defPPr>
            <a:lvl1pPr marL="0" algn="l" defTabSz="1219170" rtl="0" eaLnBrk="1" latinLnBrk="0" hangingPunct="1">
              <a:defRPr sz="12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9F9F533D-B52E-4A2F-BF72-0ADD2D94BD75}" type="slidenum">
              <a:rPr lang="en-GB" smtClean="0"/>
              <a:pPr/>
              <a:t>20</a:t>
            </a:fld>
            <a:endParaRPr lang="en-GB"/>
          </a:p>
        </p:txBody>
      </p:sp>
      <p:sp>
        <p:nvSpPr>
          <p:cNvPr id="30" name="TextBox 29">
            <a:extLst>
              <a:ext uri="{FF2B5EF4-FFF2-40B4-BE49-F238E27FC236}">
                <a16:creationId xmlns:a16="http://schemas.microsoft.com/office/drawing/2014/main" id="{102E7E64-EE4A-E3AC-2696-F52DAC3D2809}"/>
              </a:ext>
            </a:extLst>
          </p:cNvPr>
          <p:cNvSpPr txBox="1"/>
          <p:nvPr/>
        </p:nvSpPr>
        <p:spPr>
          <a:xfrm>
            <a:off x="596549" y="913195"/>
            <a:ext cx="1997007" cy="307777"/>
          </a:xfrm>
          <a:prstGeom prst="rect">
            <a:avLst/>
          </a:prstGeom>
          <a:solidFill>
            <a:schemeClr val="bg1"/>
          </a:solidFill>
        </p:spPr>
        <p:txBody>
          <a:bodyPr wrap="square" rtlCol="0">
            <a:spAutoFit/>
          </a:bodyPr>
          <a:lstStyle/>
          <a:p>
            <a:pPr>
              <a:buClr>
                <a:schemeClr val="tx1"/>
              </a:buClr>
            </a:pPr>
            <a:r>
              <a:rPr lang="en-GB" sz="1400" b="1">
                <a:solidFill>
                  <a:schemeClr val="tx2"/>
                </a:solidFill>
              </a:rPr>
              <a:t>Scope Description</a:t>
            </a:r>
          </a:p>
        </p:txBody>
      </p:sp>
      <p:sp>
        <p:nvSpPr>
          <p:cNvPr id="33" name="TextBox 32">
            <a:extLst>
              <a:ext uri="{FF2B5EF4-FFF2-40B4-BE49-F238E27FC236}">
                <a16:creationId xmlns:a16="http://schemas.microsoft.com/office/drawing/2014/main" id="{1431105C-2973-F8A9-881B-CAF66F21E9B7}"/>
              </a:ext>
            </a:extLst>
          </p:cNvPr>
          <p:cNvSpPr txBox="1"/>
          <p:nvPr/>
        </p:nvSpPr>
        <p:spPr>
          <a:xfrm>
            <a:off x="572275" y="1288605"/>
            <a:ext cx="11233971" cy="5101397"/>
          </a:xfrm>
          <a:prstGeom prst="rect">
            <a:avLst/>
          </a:prstGeom>
          <a:noFill/>
          <a:ln>
            <a:noFill/>
          </a:ln>
        </p:spPr>
        <p:txBody>
          <a:bodyPr wrap="square" lIns="91440" tIns="45720" rIns="91440" bIns="45720" numCol="1" rtlCol="0" anchor="t">
            <a:spAutoFit/>
          </a:bodyPr>
          <a:lstStyle/>
          <a:p>
            <a:pPr>
              <a:buClr>
                <a:schemeClr val="bg2"/>
              </a:buClr>
            </a:pPr>
            <a:r>
              <a:rPr lang="en-GB" sz="1050" b="1" u="sng"/>
              <a:t>Application Dev/ Support Service Detail (cont.)</a:t>
            </a:r>
            <a:r>
              <a:rPr lang="en-US" sz="1050" b="1" u="sng"/>
              <a:t> </a:t>
            </a:r>
          </a:p>
          <a:p>
            <a:pPr>
              <a:buClr>
                <a:schemeClr val="bg2"/>
              </a:buClr>
            </a:pPr>
            <a:r>
              <a:rPr lang="en-US" sz="1050" b="1"/>
              <a:t>Problem Management</a:t>
            </a:r>
          </a:p>
          <a:p>
            <a:pPr>
              <a:buClr>
                <a:schemeClr val="bg2"/>
              </a:buClr>
            </a:pPr>
            <a:r>
              <a:rPr lang="en-US" sz="1050"/>
              <a:t>The Supplier shall identify and resolve underlying problems through proactive trend analysis and root cause investigation. Preventative measures must be proposed and implemented to reduce recurrence, and all problem records must be maintained in accordance with GSK standards.</a:t>
            </a:r>
          </a:p>
          <a:p>
            <a:pPr>
              <a:buClr>
                <a:schemeClr val="bg2"/>
              </a:buClr>
            </a:pPr>
            <a:endParaRPr lang="en-US" sz="1050" b="1"/>
          </a:p>
          <a:p>
            <a:pPr>
              <a:buClr>
                <a:schemeClr val="bg2"/>
              </a:buClr>
            </a:pPr>
            <a:r>
              <a:rPr lang="en-US" sz="1050" b="1"/>
              <a:t>Change Management</a:t>
            </a:r>
          </a:p>
          <a:p>
            <a:pPr>
              <a:buClr>
                <a:schemeClr val="bg2"/>
              </a:buClr>
            </a:pPr>
            <a:r>
              <a:rPr lang="en-US" sz="1050"/>
              <a:t>The Supplier is responsible for planning, executing, and documenting all technical changes. This includes risk assessments, backout plans, stakeholder communications, and participation in Change Advisory Board (CAB) meetings. All changes must follow GSK’s change control processes and be fully documented in the ITSM system.</a:t>
            </a:r>
          </a:p>
          <a:p>
            <a:pPr>
              <a:buClr>
                <a:schemeClr val="bg2"/>
              </a:buClr>
            </a:pPr>
            <a:endParaRPr lang="en-US" sz="1050" b="1"/>
          </a:p>
          <a:p>
            <a:pPr>
              <a:buClr>
                <a:schemeClr val="bg2"/>
              </a:buClr>
            </a:pPr>
            <a:r>
              <a:rPr lang="en-US" sz="1050" b="1"/>
              <a:t>Escalation Management</a:t>
            </a:r>
          </a:p>
          <a:p>
            <a:pPr>
              <a:buClr>
                <a:schemeClr val="bg2"/>
              </a:buClr>
            </a:pPr>
            <a:r>
              <a:rPr lang="en-US" sz="1050"/>
              <a:t>The Supplier shall follow GSK’s defined escalation procedures for incidents, problems, and changes. All escalations must be logged, communicated, and resolved in line with agreed timelines. Root cause analysis and mitigation plans must be provided for major or recurring issues.</a:t>
            </a:r>
          </a:p>
          <a:p>
            <a:pPr>
              <a:buClr>
                <a:schemeClr val="bg2"/>
              </a:buClr>
            </a:pPr>
            <a:endParaRPr lang="en-US" sz="1050" b="1"/>
          </a:p>
          <a:p>
            <a:pPr>
              <a:buClr>
                <a:schemeClr val="bg2"/>
              </a:buClr>
            </a:pPr>
            <a:r>
              <a:rPr lang="en-US" sz="1050" b="1"/>
              <a:t>Asset &amp; Configuration Management</a:t>
            </a:r>
          </a:p>
          <a:p>
            <a:pPr>
              <a:buClr>
                <a:schemeClr val="bg2"/>
              </a:buClr>
            </a:pPr>
            <a:r>
              <a:rPr lang="en-US" sz="1050"/>
              <a:t>The Supplier shall </a:t>
            </a:r>
            <a:r>
              <a:rPr lang="en-US" sz="1000"/>
              <a:t>maintain</a:t>
            </a:r>
            <a:r>
              <a:rPr lang="en-US" sz="1050"/>
              <a:t> accurate and complete asset and configuration data in GSK’s CMDB. This includes hardware, software, and system configurations, with quarterly verification of configuration items. Documentation must be aligned with OEM guidance, industry best practices, and GSK standards.</a:t>
            </a:r>
          </a:p>
          <a:p>
            <a:pPr>
              <a:buClr>
                <a:schemeClr val="bg2"/>
              </a:buClr>
            </a:pPr>
            <a:endParaRPr lang="en-US" sz="1050" b="1"/>
          </a:p>
          <a:p>
            <a:pPr>
              <a:buClr>
                <a:schemeClr val="bg2"/>
              </a:buClr>
            </a:pPr>
            <a:r>
              <a:rPr lang="en-US" sz="1050" b="1"/>
              <a:t>Knowledge Management</a:t>
            </a:r>
          </a:p>
          <a:p>
            <a:pPr>
              <a:buClr>
                <a:schemeClr val="bg2"/>
              </a:buClr>
            </a:pPr>
            <a:r>
              <a:rPr lang="en-US" sz="1050"/>
              <a:t>The Supplier shall be responsible for creating, maintaining, and continuously improving all knowledge assets related to the in-scope services. This includes service desk scripts, knowledge base (KB) articles, user guides, FAQs, and operational runbooks. All content must be accurate, up to date, and stored in GSK’s designated knowledge management systems. The Supplier must ensure that knowledge is accessible, searchable, and aligned with incident, problem, and request management processes to support first-time resolution and reduce repeat issues.</a:t>
            </a:r>
          </a:p>
          <a:p>
            <a:pPr>
              <a:buClr>
                <a:schemeClr val="bg2"/>
              </a:buClr>
            </a:pPr>
            <a:endParaRPr lang="en-US" sz="1050" b="1"/>
          </a:p>
          <a:p>
            <a:pPr>
              <a:buClr>
                <a:schemeClr val="bg2"/>
              </a:buClr>
            </a:pPr>
            <a:r>
              <a:rPr lang="en-US" sz="1050" b="1"/>
              <a:t>Governance &amp; Reporting</a:t>
            </a:r>
          </a:p>
          <a:p>
            <a:pPr>
              <a:buClr>
                <a:schemeClr val="bg2"/>
              </a:buClr>
            </a:pPr>
            <a:r>
              <a:rPr lang="en-US" sz="1050"/>
              <a:t>The Supplier shall participate in regular governance forums and service reviews with GSK. This includes providing transparent reporting on performance, SLAs, risks, and improvement initiatives. Clear escalation paths and stakeholder engagement protocols must be maintained.</a:t>
            </a:r>
          </a:p>
          <a:p>
            <a:pPr>
              <a:buClr>
                <a:schemeClr val="bg2"/>
              </a:buClr>
            </a:pPr>
            <a:endParaRPr lang="en-US" sz="1050" b="1"/>
          </a:p>
          <a:p>
            <a:pPr>
              <a:buClr>
                <a:schemeClr val="bg2"/>
              </a:buClr>
            </a:pPr>
            <a:r>
              <a:rPr lang="en-US" sz="1050" b="1"/>
              <a:t>Innovation &amp; Cost </a:t>
            </a:r>
            <a:r>
              <a:rPr lang="en-US" sz="1050" b="1" err="1"/>
              <a:t>Optimisation</a:t>
            </a:r>
            <a:endParaRPr lang="en-US" sz="1050" b="1"/>
          </a:p>
          <a:p>
            <a:pPr>
              <a:buClr>
                <a:schemeClr val="bg2"/>
              </a:buClr>
            </a:pPr>
            <a:r>
              <a:rPr lang="en-US" sz="1050"/>
              <a:t>The Supplier is expected to continuously identify opportunities to </a:t>
            </a:r>
            <a:r>
              <a:rPr lang="en-US" sz="1050" err="1"/>
              <a:t>optimise</a:t>
            </a:r>
            <a:r>
              <a:rPr lang="en-US" sz="1050"/>
              <a:t> cost, improve efficiency, and introduce innovation. This includes the use of AI, automation, and emerging technologies to deliver measurable business value and align with GSK’s strategic objectives.</a:t>
            </a:r>
          </a:p>
          <a:p>
            <a:pPr>
              <a:buClr>
                <a:schemeClr val="bg2"/>
              </a:buClr>
            </a:pPr>
            <a:endParaRPr lang="en-GB" sz="1050"/>
          </a:p>
        </p:txBody>
      </p:sp>
    </p:spTree>
    <p:extLst>
      <p:ext uri="{BB962C8B-B14F-4D97-AF65-F5344CB8AC3E}">
        <p14:creationId xmlns:p14="http://schemas.microsoft.com/office/powerpoint/2010/main" val="4185380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E8381-0923-B1AE-D40F-DCAAA3DE372E}"/>
            </a:ext>
          </a:extLst>
        </p:cNvPr>
        <p:cNvGrpSpPr/>
        <p:nvPr/>
      </p:nvGrpSpPr>
      <p:grpSpPr>
        <a:xfrm>
          <a:off x="0" y="0"/>
          <a:ext cx="0" cy="0"/>
          <a:chOff x="0" y="0"/>
          <a:chExt cx="0" cy="0"/>
        </a:xfrm>
      </p:grpSpPr>
      <p:sp>
        <p:nvSpPr>
          <p:cNvPr id="19" name="Title 15">
            <a:extLst>
              <a:ext uri="{FF2B5EF4-FFF2-40B4-BE49-F238E27FC236}">
                <a16:creationId xmlns:a16="http://schemas.microsoft.com/office/drawing/2014/main" id="{F249B481-5156-AA20-DBD1-097EBB77ABBE}"/>
              </a:ext>
            </a:extLst>
          </p:cNvPr>
          <p:cNvSpPr txBox="1">
            <a:spLocks/>
          </p:cNvSpPr>
          <p:nvPr/>
        </p:nvSpPr>
        <p:spPr>
          <a:xfrm>
            <a:off x="478871" y="35563"/>
            <a:ext cx="10102852" cy="677108"/>
          </a:xfrm>
          <a:prstGeom prst="rect">
            <a:avLst/>
          </a:prstGeom>
        </p:spPr>
        <p:txBody>
          <a:bodyPr vert="horz" lIns="0" tIns="0" rIns="0" bIns="0" rtlCol="0" anchor="b" anchorCtr="0">
            <a:normAutofit/>
          </a:bodyPr>
          <a:lstStyle>
            <a:lvl1pPr algn="l" defTabSz="1219170" rtl="0" eaLnBrk="1" latinLnBrk="0" hangingPunct="1">
              <a:lnSpc>
                <a:spcPct val="100000"/>
              </a:lnSpc>
              <a:spcBef>
                <a:spcPct val="0"/>
              </a:spcBef>
              <a:buNone/>
              <a:defRPr sz="2800" b="1" kern="1200">
                <a:solidFill>
                  <a:schemeClr val="tx2"/>
                </a:solidFill>
                <a:latin typeface="+mj-lt"/>
                <a:ea typeface="+mj-ea"/>
                <a:cs typeface="+mj-cs"/>
              </a:defRPr>
            </a:lvl1pPr>
          </a:lstStyle>
          <a:p>
            <a:r>
              <a:rPr lang="en-US"/>
              <a:t>AI and Product Strategy</a:t>
            </a:r>
            <a:endParaRPr lang="en-US" sz="1800"/>
          </a:p>
        </p:txBody>
      </p:sp>
      <p:sp>
        <p:nvSpPr>
          <p:cNvPr id="16" name="Date Placeholder 5">
            <a:extLst>
              <a:ext uri="{FF2B5EF4-FFF2-40B4-BE49-F238E27FC236}">
                <a16:creationId xmlns:a16="http://schemas.microsoft.com/office/drawing/2014/main" id="{80A18814-C305-7088-4046-9FCA42A9724C}"/>
              </a:ext>
            </a:extLst>
          </p:cNvPr>
          <p:cNvSpPr txBox="1">
            <a:spLocks/>
          </p:cNvSpPr>
          <p:nvPr/>
        </p:nvSpPr>
        <p:spPr>
          <a:xfrm>
            <a:off x="10907861" y="65881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sp>
        <p:nvSpPr>
          <p:cNvPr id="5" name="TextBox 4">
            <a:extLst>
              <a:ext uri="{FF2B5EF4-FFF2-40B4-BE49-F238E27FC236}">
                <a16:creationId xmlns:a16="http://schemas.microsoft.com/office/drawing/2014/main" id="{61E5DFDF-6E14-CAA4-727B-1045C5A9A809}"/>
              </a:ext>
            </a:extLst>
          </p:cNvPr>
          <p:cNvSpPr txBox="1"/>
          <p:nvPr/>
        </p:nvSpPr>
        <p:spPr>
          <a:xfrm>
            <a:off x="478869" y="1274993"/>
            <a:ext cx="11327377" cy="2188629"/>
          </a:xfrm>
          <a:prstGeom prst="rect">
            <a:avLst/>
          </a:prstGeom>
          <a:noFill/>
          <a:ln>
            <a:solidFill>
              <a:schemeClr val="bg1">
                <a:lumMod val="75000"/>
              </a:schemeClr>
            </a:solidFill>
          </a:ln>
        </p:spPr>
        <p:txBody>
          <a:bodyPr wrap="square" lIns="180000" tIns="180000" rIns="180000" bIns="180000" rtlCol="0" anchor="t">
            <a:normAutofit/>
          </a:bodyPr>
          <a:lstStyle/>
          <a:p>
            <a:pPr marL="171450" indent="-171450">
              <a:buClr>
                <a:schemeClr val="bg2"/>
              </a:buClr>
              <a:buFont typeface="Arial" panose="020B0604020202020204" pitchFamily="34" charset="0"/>
              <a:buChar char="•"/>
            </a:pPr>
            <a:endParaRPr lang="en-US" sz="1100">
              <a:cs typeface="Noto Sans"/>
            </a:endParaRPr>
          </a:p>
          <a:p>
            <a:r>
              <a:rPr lang="en-GB" sz="1100">
                <a:cs typeface="Arial"/>
              </a:rPr>
              <a:t>Enterprise Hosting Services (EHS) retains ownership of the overarching AI Operations (AI Ops) strategy. End User Services (EUS) will utilize the foundational tools, platforms, and capabilities developed and maintained by EHS to drive incident reduction and achieve operational cost efficiencies. EUS will operate in alignment with the strategic direction set forth by EHS, ensuring consistency, scalability, and optimal value realization across the organization.</a:t>
            </a:r>
            <a:endParaRPr lang="en-US" sz="1100">
              <a:cs typeface="Arial"/>
            </a:endParaRPr>
          </a:p>
          <a:p>
            <a:endParaRPr lang="en-GB">
              <a:cs typeface="Arial"/>
            </a:endParaRPr>
          </a:p>
          <a:p>
            <a:endParaRPr lang="en-US" sz="2800">
              <a:cs typeface="Arial"/>
            </a:endParaRPr>
          </a:p>
        </p:txBody>
      </p:sp>
      <p:sp>
        <p:nvSpPr>
          <p:cNvPr id="6" name="TextBox 5">
            <a:extLst>
              <a:ext uri="{FF2B5EF4-FFF2-40B4-BE49-F238E27FC236}">
                <a16:creationId xmlns:a16="http://schemas.microsoft.com/office/drawing/2014/main" id="{0D07C09F-0602-BC54-C3FF-E34953A3F361}"/>
              </a:ext>
            </a:extLst>
          </p:cNvPr>
          <p:cNvSpPr txBox="1"/>
          <p:nvPr/>
        </p:nvSpPr>
        <p:spPr>
          <a:xfrm>
            <a:off x="650318" y="1121104"/>
            <a:ext cx="1721407" cy="307777"/>
          </a:xfrm>
          <a:prstGeom prst="rect">
            <a:avLst/>
          </a:prstGeom>
          <a:solidFill>
            <a:schemeClr val="bg1"/>
          </a:solidFill>
        </p:spPr>
        <p:txBody>
          <a:bodyPr wrap="square" rtlCol="0">
            <a:spAutoFit/>
          </a:bodyPr>
          <a:lstStyle/>
          <a:p>
            <a:pPr>
              <a:buClr>
                <a:schemeClr val="tx1"/>
              </a:buClr>
            </a:pPr>
            <a:r>
              <a:rPr lang="en-GB" sz="1400" b="1">
                <a:solidFill>
                  <a:schemeClr val="tx2"/>
                </a:solidFill>
              </a:rPr>
              <a:t>AI First Strategy</a:t>
            </a:r>
          </a:p>
        </p:txBody>
      </p:sp>
    </p:spTree>
    <p:extLst>
      <p:ext uri="{BB962C8B-B14F-4D97-AF65-F5344CB8AC3E}">
        <p14:creationId xmlns:p14="http://schemas.microsoft.com/office/powerpoint/2010/main" val="3615102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9B4A2-BE89-C377-29D9-B285883E9EDC}"/>
            </a:ext>
          </a:extLst>
        </p:cNvPr>
        <p:cNvGrpSpPr/>
        <p:nvPr/>
      </p:nvGrpSpPr>
      <p:grpSpPr>
        <a:xfrm>
          <a:off x="0" y="0"/>
          <a:ext cx="0" cy="0"/>
          <a:chOff x="0" y="0"/>
          <a:chExt cx="0" cy="0"/>
        </a:xfrm>
      </p:grpSpPr>
      <p:sp>
        <p:nvSpPr>
          <p:cNvPr id="19" name="Title 15">
            <a:extLst>
              <a:ext uri="{FF2B5EF4-FFF2-40B4-BE49-F238E27FC236}">
                <a16:creationId xmlns:a16="http://schemas.microsoft.com/office/drawing/2014/main" id="{9AB05BC9-D14F-4BE6-E791-68B58562B05C}"/>
              </a:ext>
            </a:extLst>
          </p:cNvPr>
          <p:cNvSpPr txBox="1">
            <a:spLocks/>
          </p:cNvSpPr>
          <p:nvPr/>
        </p:nvSpPr>
        <p:spPr>
          <a:xfrm>
            <a:off x="478870" y="35563"/>
            <a:ext cx="10589345" cy="677108"/>
          </a:xfrm>
          <a:prstGeom prst="rect">
            <a:avLst/>
          </a:prstGeom>
        </p:spPr>
        <p:txBody>
          <a:bodyPr vert="horz" lIns="0" tIns="0" rIns="0" bIns="0" rtlCol="0" anchor="b" anchorCtr="0">
            <a:normAutofit fontScale="92500"/>
          </a:bodyPr>
          <a:lstStyle>
            <a:lvl1pPr algn="l" defTabSz="1219170" rtl="0" eaLnBrk="1" latinLnBrk="0" hangingPunct="1">
              <a:lnSpc>
                <a:spcPct val="100000"/>
              </a:lnSpc>
              <a:spcBef>
                <a:spcPct val="0"/>
              </a:spcBef>
              <a:buNone/>
              <a:defRPr sz="2800" b="1" kern="1200">
                <a:solidFill>
                  <a:schemeClr val="tx2"/>
                </a:solidFill>
                <a:latin typeface="+mj-lt"/>
                <a:ea typeface="+mj-ea"/>
                <a:cs typeface="+mj-cs"/>
              </a:defRPr>
            </a:lvl1pPr>
          </a:lstStyle>
          <a:p>
            <a:r>
              <a:rPr lang="en-US"/>
              <a:t>Tech Stack &amp; Architecture Diagram - EAS: Virtual Apps &amp; Desktops</a:t>
            </a:r>
          </a:p>
        </p:txBody>
      </p:sp>
      <p:sp>
        <p:nvSpPr>
          <p:cNvPr id="16" name="Date Placeholder 5">
            <a:extLst>
              <a:ext uri="{FF2B5EF4-FFF2-40B4-BE49-F238E27FC236}">
                <a16:creationId xmlns:a16="http://schemas.microsoft.com/office/drawing/2014/main" id="{202FF8E7-6EBA-214E-5736-70E212817035}"/>
              </a:ext>
            </a:extLst>
          </p:cNvPr>
          <p:cNvSpPr txBox="1">
            <a:spLocks/>
          </p:cNvSpPr>
          <p:nvPr/>
        </p:nvSpPr>
        <p:spPr>
          <a:xfrm>
            <a:off x="10907861" y="65881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sp>
        <p:nvSpPr>
          <p:cNvPr id="2" name="Rounded Rectangle">
            <a:extLst>
              <a:ext uri="{FF2B5EF4-FFF2-40B4-BE49-F238E27FC236}">
                <a16:creationId xmlns:a16="http://schemas.microsoft.com/office/drawing/2014/main" id="{FD05BED1-8B8E-0263-FB2C-80355B5698CA}"/>
              </a:ext>
            </a:extLst>
          </p:cNvPr>
          <p:cNvSpPr/>
          <p:nvPr/>
        </p:nvSpPr>
        <p:spPr>
          <a:xfrm>
            <a:off x="3415114" y="2382177"/>
            <a:ext cx="2903914" cy="1098968"/>
          </a:xfrm>
          <a:prstGeom prst="roundRect">
            <a:avLst>
              <a:gd name="adj" fmla="val 7216"/>
            </a:avLst>
          </a:prstGeom>
          <a:solidFill>
            <a:schemeClr val="bg1"/>
          </a:solidFill>
          <a:ln w="12700" cap="flat">
            <a:noFill/>
            <a:miter lim="400000"/>
          </a:ln>
          <a:effectLst>
            <a:outerShdw blurRad="254000" dir="5400000" rotWithShape="0">
              <a:schemeClr val="tx2">
                <a:lumMod val="60000"/>
                <a:lumOff val="40000"/>
                <a:alpha val="30000"/>
              </a:schemeClr>
            </a:outerShdw>
          </a:effectLst>
        </p:spPr>
        <p:txBody>
          <a:bodyPr wrap="square" lIns="91440" tIns="365760" rIns="91440" bIns="180000" numCol="1" anchor="ctr" anchorCtr="0">
            <a:noAutofit/>
          </a:bodyPr>
          <a:lstStyle/>
          <a:p>
            <a:pPr marL="0" marR="0" lvl="0" indent="0" algn="ctr" defTabSz="1219170" rtl="0" eaLnBrk="1" fontAlgn="auto" latinLnBrk="0" hangingPunct="1">
              <a:lnSpc>
                <a:spcPts val="1700"/>
              </a:lnSpc>
              <a:spcBef>
                <a:spcPts val="0"/>
              </a:spcBef>
              <a:spcAft>
                <a:spcPts val="0"/>
              </a:spcAft>
              <a:buClrTx/>
              <a:buSzTx/>
              <a:buFontTx/>
              <a:buNone/>
              <a:tabLst/>
              <a:defRPr/>
            </a:pPr>
            <a:endParaRPr kumimoji="0" lang="en-GB" sz="900" b="1" i="0" u="none" strike="noStrike" kern="1200" cap="none" spc="0" normalizeH="0" baseline="0" noProof="0">
              <a:ln>
                <a:noFill/>
              </a:ln>
              <a:solidFill>
                <a:srgbClr val="959595">
                  <a:lumMod val="75000"/>
                </a:srgbClr>
              </a:solidFill>
              <a:effectLst/>
              <a:uLnTx/>
              <a:uFillTx/>
              <a:latin typeface="Century Gothic" panose="020B0502020202020204" pitchFamily="34" charset="0"/>
              <a:ea typeface="+mn-ea"/>
              <a:cs typeface="Noto Sans"/>
            </a:endParaRPr>
          </a:p>
        </p:txBody>
      </p:sp>
      <p:sp>
        <p:nvSpPr>
          <p:cNvPr id="3" name="Rounded Rectangle">
            <a:extLst>
              <a:ext uri="{FF2B5EF4-FFF2-40B4-BE49-F238E27FC236}">
                <a16:creationId xmlns:a16="http://schemas.microsoft.com/office/drawing/2014/main" id="{D61902E4-ABD6-6612-101F-8B8C6C7B3EA8}"/>
              </a:ext>
            </a:extLst>
          </p:cNvPr>
          <p:cNvSpPr/>
          <p:nvPr/>
        </p:nvSpPr>
        <p:spPr>
          <a:xfrm>
            <a:off x="9257496" y="2403652"/>
            <a:ext cx="2160000" cy="2885183"/>
          </a:xfrm>
          <a:prstGeom prst="roundRect">
            <a:avLst>
              <a:gd name="adj" fmla="val 4842"/>
            </a:avLst>
          </a:prstGeom>
          <a:solidFill>
            <a:schemeClr val="bg1"/>
          </a:solidFill>
          <a:ln w="12700" cap="flat">
            <a:noFill/>
            <a:miter lim="400000"/>
          </a:ln>
          <a:effectLst>
            <a:outerShdw blurRad="254000" dir="5400000" rotWithShape="0">
              <a:schemeClr val="tx2">
                <a:lumMod val="60000"/>
                <a:lumOff val="40000"/>
                <a:alpha val="30000"/>
              </a:schemeClr>
            </a:outerShdw>
          </a:effectLst>
        </p:spPr>
        <p:txBody>
          <a:bodyPr wrap="square" lIns="91440" tIns="365760" rIns="91440" bIns="180000" numCol="1" anchor="ctr" anchorCtr="0">
            <a:noAutofit/>
          </a:bodyPr>
          <a:lstStyle/>
          <a:p>
            <a:pPr marL="0" marR="0" lvl="0" indent="0" algn="ctr" defTabSz="1219170" rtl="0" eaLnBrk="1" fontAlgn="auto" latinLnBrk="0" hangingPunct="1">
              <a:lnSpc>
                <a:spcPts val="1700"/>
              </a:lnSpc>
              <a:spcBef>
                <a:spcPts val="0"/>
              </a:spcBef>
              <a:spcAft>
                <a:spcPts val="0"/>
              </a:spcAft>
              <a:buClrTx/>
              <a:buSzTx/>
              <a:buFontTx/>
              <a:buNone/>
              <a:tabLst/>
              <a:defRPr/>
            </a:pPr>
            <a:endParaRPr kumimoji="0" lang="en-GB" sz="900" b="1" i="0" u="none" strike="noStrike" kern="1200" cap="none" spc="0" normalizeH="0" baseline="0" noProof="0">
              <a:ln>
                <a:noFill/>
              </a:ln>
              <a:solidFill>
                <a:srgbClr val="959595">
                  <a:lumMod val="75000"/>
                </a:srgbClr>
              </a:solidFill>
              <a:effectLst/>
              <a:uLnTx/>
              <a:uFillTx/>
              <a:latin typeface="Century Gothic" panose="020B0502020202020204" pitchFamily="34" charset="0"/>
              <a:ea typeface="+mn-ea"/>
              <a:cs typeface="Noto Sans"/>
            </a:endParaRPr>
          </a:p>
        </p:txBody>
      </p:sp>
      <p:sp>
        <p:nvSpPr>
          <p:cNvPr id="4" name="Rounded Rectangle">
            <a:extLst>
              <a:ext uri="{FF2B5EF4-FFF2-40B4-BE49-F238E27FC236}">
                <a16:creationId xmlns:a16="http://schemas.microsoft.com/office/drawing/2014/main" id="{A8E9E1C5-B0C6-9031-CBE8-04A67E9B81D8}"/>
              </a:ext>
            </a:extLst>
          </p:cNvPr>
          <p:cNvSpPr/>
          <p:nvPr/>
        </p:nvSpPr>
        <p:spPr>
          <a:xfrm>
            <a:off x="6705522" y="2403652"/>
            <a:ext cx="2160000" cy="2885185"/>
          </a:xfrm>
          <a:prstGeom prst="roundRect">
            <a:avLst>
              <a:gd name="adj" fmla="val 7216"/>
            </a:avLst>
          </a:prstGeom>
          <a:solidFill>
            <a:schemeClr val="bg1"/>
          </a:solidFill>
          <a:ln w="12700" cap="flat">
            <a:noFill/>
            <a:miter lim="400000"/>
          </a:ln>
          <a:effectLst>
            <a:outerShdw blurRad="254000" dir="5400000" rotWithShape="0">
              <a:schemeClr val="tx2">
                <a:lumMod val="60000"/>
                <a:lumOff val="40000"/>
                <a:alpha val="30000"/>
              </a:schemeClr>
            </a:outerShdw>
          </a:effectLst>
        </p:spPr>
        <p:txBody>
          <a:bodyPr wrap="square" lIns="91440" tIns="365760" rIns="91440" bIns="180000" numCol="1" anchor="ctr" anchorCtr="0">
            <a:noAutofit/>
          </a:bodyPr>
          <a:lstStyle/>
          <a:p>
            <a:pPr marL="0" marR="0" lvl="0" indent="0" algn="ctr" defTabSz="1219170" rtl="0" eaLnBrk="1" fontAlgn="auto" latinLnBrk="0" hangingPunct="1">
              <a:lnSpc>
                <a:spcPts val="1700"/>
              </a:lnSpc>
              <a:spcBef>
                <a:spcPts val="0"/>
              </a:spcBef>
              <a:spcAft>
                <a:spcPts val="0"/>
              </a:spcAft>
              <a:buClrTx/>
              <a:buSzTx/>
              <a:buFontTx/>
              <a:buNone/>
              <a:tabLst/>
              <a:defRPr/>
            </a:pPr>
            <a:endParaRPr kumimoji="0" lang="en-GB" sz="900" b="1" i="0" u="none" strike="noStrike" kern="1200" cap="none" spc="0" normalizeH="0" baseline="0" noProof="0">
              <a:ln>
                <a:noFill/>
              </a:ln>
              <a:solidFill>
                <a:srgbClr val="959595">
                  <a:lumMod val="75000"/>
                </a:srgbClr>
              </a:solidFill>
              <a:effectLst/>
              <a:uLnTx/>
              <a:uFillTx/>
              <a:latin typeface="Century Gothic" panose="020B0502020202020204" pitchFamily="34" charset="0"/>
              <a:ea typeface="+mn-ea"/>
              <a:cs typeface="Noto Sans"/>
            </a:endParaRPr>
          </a:p>
        </p:txBody>
      </p:sp>
      <p:cxnSp>
        <p:nvCxnSpPr>
          <p:cNvPr id="5" name="Connector: Elbow 4">
            <a:extLst>
              <a:ext uri="{FF2B5EF4-FFF2-40B4-BE49-F238E27FC236}">
                <a16:creationId xmlns:a16="http://schemas.microsoft.com/office/drawing/2014/main" id="{CED25C0C-EDCA-6FAD-3E98-1605E2C13239}"/>
              </a:ext>
            </a:extLst>
          </p:cNvPr>
          <p:cNvCxnSpPr>
            <a:cxnSpLocks/>
            <a:stCxn id="131" idx="0"/>
            <a:endCxn id="129" idx="2"/>
          </p:cNvCxnSpPr>
          <p:nvPr/>
        </p:nvCxnSpPr>
        <p:spPr>
          <a:xfrm rot="16200000" flipV="1">
            <a:off x="6168965" y="2918744"/>
            <a:ext cx="703686" cy="1476417"/>
          </a:xfrm>
          <a:prstGeom prst="bentConnector3">
            <a:avLst>
              <a:gd name="adj1" fmla="val 34326"/>
            </a:avLst>
          </a:prstGeom>
          <a:ln w="12700" cap="rnd">
            <a:solidFill>
              <a:schemeClr val="bg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9A4B7D7E-0036-D897-3481-0FC28DC11A0F}"/>
              </a:ext>
            </a:extLst>
          </p:cNvPr>
          <p:cNvCxnSpPr>
            <a:cxnSpLocks/>
            <a:stCxn id="132" idx="0"/>
            <a:endCxn id="129" idx="2"/>
          </p:cNvCxnSpPr>
          <p:nvPr/>
        </p:nvCxnSpPr>
        <p:spPr>
          <a:xfrm rot="16200000" flipV="1">
            <a:off x="7409621" y="1678088"/>
            <a:ext cx="703686" cy="3957729"/>
          </a:xfrm>
          <a:prstGeom prst="bentConnector3">
            <a:avLst>
              <a:gd name="adj1" fmla="val 34326"/>
            </a:avLst>
          </a:prstGeom>
          <a:ln w="12700" cap="rnd">
            <a:solidFill>
              <a:schemeClr val="bg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Rounded Rectangle">
            <a:extLst>
              <a:ext uri="{FF2B5EF4-FFF2-40B4-BE49-F238E27FC236}">
                <a16:creationId xmlns:a16="http://schemas.microsoft.com/office/drawing/2014/main" id="{D49FEA5A-F74B-747D-DD0D-03E11067D7CE}"/>
              </a:ext>
            </a:extLst>
          </p:cNvPr>
          <p:cNvSpPr/>
          <p:nvPr/>
        </p:nvSpPr>
        <p:spPr>
          <a:xfrm>
            <a:off x="1091222" y="3860947"/>
            <a:ext cx="5227367" cy="1427890"/>
          </a:xfrm>
          <a:prstGeom prst="roundRect">
            <a:avLst>
              <a:gd name="adj" fmla="val 7216"/>
            </a:avLst>
          </a:prstGeom>
          <a:solidFill>
            <a:schemeClr val="bg1"/>
          </a:solidFill>
          <a:ln w="12700" cap="flat">
            <a:noFill/>
            <a:miter lim="400000"/>
          </a:ln>
          <a:effectLst>
            <a:outerShdw blurRad="254000" dir="5400000" rotWithShape="0">
              <a:schemeClr val="tx2">
                <a:lumMod val="60000"/>
                <a:lumOff val="40000"/>
                <a:alpha val="30000"/>
              </a:schemeClr>
            </a:outerShdw>
          </a:effectLst>
        </p:spPr>
        <p:txBody>
          <a:bodyPr wrap="square" lIns="91440" tIns="365760" rIns="91440" bIns="180000" numCol="1" anchor="ctr" anchorCtr="0">
            <a:noAutofit/>
          </a:bodyPr>
          <a:lstStyle/>
          <a:p>
            <a:pPr marL="0" marR="0" lvl="0" indent="0" algn="ctr" defTabSz="1219170" rtl="0" eaLnBrk="1" fontAlgn="auto" latinLnBrk="0" hangingPunct="1">
              <a:lnSpc>
                <a:spcPts val="1700"/>
              </a:lnSpc>
              <a:spcBef>
                <a:spcPts val="0"/>
              </a:spcBef>
              <a:spcAft>
                <a:spcPts val="0"/>
              </a:spcAft>
              <a:buClrTx/>
              <a:buSzTx/>
              <a:buFontTx/>
              <a:buNone/>
              <a:tabLst/>
              <a:defRPr/>
            </a:pPr>
            <a:endParaRPr kumimoji="0" lang="en-GB" sz="900" b="1" i="0" u="none" strike="noStrike" kern="1200" cap="none" spc="0" normalizeH="0" baseline="0" noProof="0">
              <a:ln>
                <a:noFill/>
              </a:ln>
              <a:solidFill>
                <a:srgbClr val="959595">
                  <a:lumMod val="75000"/>
                </a:srgbClr>
              </a:solidFill>
              <a:effectLst/>
              <a:uLnTx/>
              <a:uFillTx/>
              <a:latin typeface="Century Gothic" panose="020B0502020202020204" pitchFamily="34" charset="0"/>
              <a:ea typeface="+mn-ea"/>
              <a:cs typeface="Noto Sans"/>
            </a:endParaRPr>
          </a:p>
        </p:txBody>
      </p:sp>
      <p:cxnSp>
        <p:nvCxnSpPr>
          <p:cNvPr id="26" name="Connector: Elbow 25">
            <a:extLst>
              <a:ext uri="{FF2B5EF4-FFF2-40B4-BE49-F238E27FC236}">
                <a16:creationId xmlns:a16="http://schemas.microsoft.com/office/drawing/2014/main" id="{3DB86E32-86D3-C76A-6BE2-F9226ADD85DD}"/>
              </a:ext>
            </a:extLst>
          </p:cNvPr>
          <p:cNvCxnSpPr>
            <a:cxnSpLocks/>
            <a:stCxn id="129" idx="2"/>
            <a:endCxn id="130" idx="0"/>
          </p:cNvCxnSpPr>
          <p:nvPr/>
        </p:nvCxnSpPr>
        <p:spPr>
          <a:xfrm rot="5400000">
            <a:off x="5429473" y="3657584"/>
            <a:ext cx="705600" cy="652"/>
          </a:xfrm>
          <a:prstGeom prst="bentConnector3">
            <a:avLst>
              <a:gd name="adj1" fmla="val 50000"/>
            </a:avLst>
          </a:prstGeom>
          <a:ln w="12700" cap="rnd">
            <a:solidFill>
              <a:schemeClr val="bg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Date Placeholder 2">
            <a:extLst>
              <a:ext uri="{FF2B5EF4-FFF2-40B4-BE49-F238E27FC236}">
                <a16:creationId xmlns:a16="http://schemas.microsoft.com/office/drawing/2014/main" id="{3F4537F2-1524-85BB-B216-7C2D3401148A}"/>
              </a:ext>
            </a:extLst>
          </p:cNvPr>
          <p:cNvSpPr txBox="1">
            <a:spLocks/>
          </p:cNvSpPr>
          <p:nvPr/>
        </p:nvSpPr>
        <p:spPr>
          <a:xfrm>
            <a:off x="8172450" y="6343650"/>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r">
              <a:defRPr/>
            </a:pPr>
            <a:fld id="{397F4CD0-83C1-4C99-A2BD-6DA4A1CC9D00}" type="datetime4">
              <a:rPr lang="en-GB" sz="1000" smtClean="0">
                <a:solidFill>
                  <a:srgbClr val="000000"/>
                </a:solidFill>
                <a:latin typeface="Arial"/>
                <a:cs typeface="Noto Sans"/>
              </a:rPr>
              <a:pPr algn="r">
                <a:defRPr/>
              </a:pPr>
              <a:t>20 July 2026</a:t>
            </a:fld>
            <a:endParaRPr lang="en-GB" sz="1000">
              <a:solidFill>
                <a:srgbClr val="000000"/>
              </a:solidFill>
              <a:latin typeface="Arial"/>
              <a:cs typeface="Noto Sans"/>
            </a:endParaRPr>
          </a:p>
        </p:txBody>
      </p:sp>
      <p:pic>
        <p:nvPicPr>
          <p:cNvPr id="28" name="Graphic 27" descr="User with solid fill">
            <a:extLst>
              <a:ext uri="{FF2B5EF4-FFF2-40B4-BE49-F238E27FC236}">
                <a16:creationId xmlns:a16="http://schemas.microsoft.com/office/drawing/2014/main" id="{2C7D9E7A-F251-B590-B989-787E09B3A1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379700" y="1417657"/>
            <a:ext cx="504000" cy="504000"/>
          </a:xfrm>
          <a:prstGeom prst="rect">
            <a:avLst/>
          </a:prstGeom>
        </p:spPr>
      </p:pic>
      <p:sp>
        <p:nvSpPr>
          <p:cNvPr id="29" name="TextBox 28">
            <a:extLst>
              <a:ext uri="{FF2B5EF4-FFF2-40B4-BE49-F238E27FC236}">
                <a16:creationId xmlns:a16="http://schemas.microsoft.com/office/drawing/2014/main" id="{C6D5434D-0203-A3CE-1431-2FEB6F75D964}"/>
              </a:ext>
            </a:extLst>
          </p:cNvPr>
          <p:cNvSpPr txBox="1"/>
          <p:nvPr/>
        </p:nvSpPr>
        <p:spPr>
          <a:xfrm>
            <a:off x="4935171" y="1525051"/>
            <a:ext cx="1144766" cy="324000"/>
          </a:xfrm>
          <a:prstGeom prst="rect">
            <a:avLst/>
          </a:prstGeom>
          <a:noFill/>
        </p:spPr>
        <p:txBody>
          <a:bodyPr wrap="square" lIns="0" tIns="0" rIns="0" bIns="0" rtlCol="0" anchor="t">
            <a:noAutofit/>
          </a:bodyPr>
          <a:lstStyle/>
          <a:p>
            <a:pPr marL="0" marR="0" lvl="0" indent="0" algn="l"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0" i="0" u="none" strike="noStrike" kern="1200" cap="none" spc="0" normalizeH="0" baseline="0" noProof="0">
                <a:ln>
                  <a:noFill/>
                </a:ln>
                <a:solidFill>
                  <a:srgbClr val="959595">
                    <a:lumMod val="50000"/>
                  </a:srgbClr>
                </a:solidFill>
                <a:effectLst/>
                <a:uLnTx/>
                <a:uFillTx/>
                <a:latin typeface="Arial"/>
                <a:ea typeface="+mn-ea"/>
                <a:cs typeface="Noto Sans"/>
              </a:rPr>
              <a:t>Standard VDI User (Internal &amp; External)</a:t>
            </a:r>
          </a:p>
        </p:txBody>
      </p:sp>
      <p:pic>
        <p:nvPicPr>
          <p:cNvPr id="30" name="Graphic 29" descr="User with solid fill">
            <a:extLst>
              <a:ext uri="{FF2B5EF4-FFF2-40B4-BE49-F238E27FC236}">
                <a16:creationId xmlns:a16="http://schemas.microsoft.com/office/drawing/2014/main" id="{9AABCA53-9421-A54E-441B-F656F72090D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446115" y="1417051"/>
            <a:ext cx="504000" cy="504000"/>
          </a:xfrm>
          <a:prstGeom prst="rect">
            <a:avLst/>
          </a:prstGeom>
        </p:spPr>
      </p:pic>
      <p:pic>
        <p:nvPicPr>
          <p:cNvPr id="31" name="Graphic 30" descr="User with solid fill">
            <a:extLst>
              <a:ext uri="{FF2B5EF4-FFF2-40B4-BE49-F238E27FC236}">
                <a16:creationId xmlns:a16="http://schemas.microsoft.com/office/drawing/2014/main" id="{5C48E771-369C-C4A4-8558-CAF65A2F3D0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553187" y="1417657"/>
            <a:ext cx="504000" cy="504000"/>
          </a:xfrm>
          <a:prstGeom prst="rect">
            <a:avLst/>
          </a:prstGeom>
        </p:spPr>
      </p:pic>
      <p:sp>
        <p:nvSpPr>
          <p:cNvPr id="32" name="TextBox 31">
            <a:extLst>
              <a:ext uri="{FF2B5EF4-FFF2-40B4-BE49-F238E27FC236}">
                <a16:creationId xmlns:a16="http://schemas.microsoft.com/office/drawing/2014/main" id="{BBE5AF33-60F3-FE27-379F-15C326A04898}"/>
              </a:ext>
            </a:extLst>
          </p:cNvPr>
          <p:cNvSpPr txBox="1"/>
          <p:nvPr/>
        </p:nvSpPr>
        <p:spPr>
          <a:xfrm>
            <a:off x="9388350" y="1524022"/>
            <a:ext cx="1200197" cy="324000"/>
          </a:xfrm>
          <a:prstGeom prst="rect">
            <a:avLst/>
          </a:prstGeom>
          <a:noFill/>
        </p:spPr>
        <p:txBody>
          <a:bodyPr wrap="square" lIns="0" tIns="0" rIns="0" bIns="0" rtlCol="0" anchor="t">
            <a:noAutofit/>
          </a:bodyPr>
          <a:lstStyle>
            <a:defPPr>
              <a:defRPr lang="en-US"/>
            </a:defPPr>
            <a:lvl1pPr>
              <a:buClr>
                <a:schemeClr val="tx2"/>
              </a:buClr>
              <a:buSzPct val="110000"/>
              <a:defRPr sz="1000">
                <a:solidFill>
                  <a:schemeClr val="bg2">
                    <a:lumMod val="50000"/>
                  </a:schemeClr>
                </a:solidFill>
              </a:defRPr>
            </a:lvl1pPr>
          </a:lstStyle>
          <a:p>
            <a:pPr marL="0" marR="0" lvl="0" indent="0" algn="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0" i="0" u="none" strike="noStrike" kern="1200" cap="none" spc="0" normalizeH="0" baseline="0" noProof="0">
                <a:ln>
                  <a:noFill/>
                </a:ln>
                <a:solidFill>
                  <a:srgbClr val="959595">
                    <a:lumMod val="50000"/>
                  </a:srgbClr>
                </a:solidFill>
                <a:effectLst/>
                <a:uLnTx/>
                <a:uFillTx/>
                <a:latin typeface="Arial"/>
                <a:ea typeface="+mn-ea"/>
                <a:cs typeface="Noto Sans"/>
              </a:rPr>
              <a:t>OTN VDI User (Internal &amp; External)</a:t>
            </a:r>
          </a:p>
        </p:txBody>
      </p:sp>
      <p:sp>
        <p:nvSpPr>
          <p:cNvPr id="33" name="TextBox 32">
            <a:extLst>
              <a:ext uri="{FF2B5EF4-FFF2-40B4-BE49-F238E27FC236}">
                <a16:creationId xmlns:a16="http://schemas.microsoft.com/office/drawing/2014/main" id="{B1CB5E1C-0EB2-79BF-81C8-31D945F330F3}"/>
              </a:ext>
            </a:extLst>
          </p:cNvPr>
          <p:cNvSpPr txBox="1"/>
          <p:nvPr/>
        </p:nvSpPr>
        <p:spPr>
          <a:xfrm>
            <a:off x="6878777" y="1525051"/>
            <a:ext cx="1655526" cy="324000"/>
          </a:xfrm>
          <a:prstGeom prst="rect">
            <a:avLst/>
          </a:prstGeom>
          <a:noFill/>
        </p:spPr>
        <p:txBody>
          <a:bodyPr wrap="square" lIns="0" tIns="0" rIns="0" bIns="0" rtlCol="0" anchor="t">
            <a:noAutofit/>
          </a:bodyPr>
          <a:lstStyle>
            <a:defPPr>
              <a:defRPr lang="en-US"/>
            </a:defPPr>
            <a:lvl1pPr>
              <a:buClr>
                <a:schemeClr val="tx2"/>
              </a:buClr>
              <a:buSzPct val="110000"/>
              <a:defRPr sz="1000">
                <a:solidFill>
                  <a:schemeClr val="bg2">
                    <a:lumMod val="50000"/>
                  </a:schemeClr>
                </a:solidFill>
              </a:defRPr>
            </a:lvl1pPr>
          </a:lstStyle>
          <a:p>
            <a:pPr marL="0" marR="0" lvl="0" indent="0" algn="l"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0" i="0" u="none" strike="noStrike" kern="1200" cap="none" spc="0" normalizeH="0" baseline="0" noProof="0">
                <a:ln>
                  <a:noFill/>
                </a:ln>
                <a:solidFill>
                  <a:srgbClr val="959595">
                    <a:lumMod val="50000"/>
                  </a:srgbClr>
                </a:solidFill>
                <a:effectLst/>
                <a:uLnTx/>
                <a:uFillTx/>
                <a:latin typeface="Arial"/>
                <a:ea typeface="+mn-ea"/>
                <a:cs typeface="Noto Sans"/>
              </a:rPr>
              <a:t>Labware &amp; Empower VDI User (Internal)</a:t>
            </a:r>
          </a:p>
        </p:txBody>
      </p:sp>
      <p:pic>
        <p:nvPicPr>
          <p:cNvPr id="34" name="Graphic 33" descr="Fence with solid fill">
            <a:extLst>
              <a:ext uri="{FF2B5EF4-FFF2-40B4-BE49-F238E27FC236}">
                <a16:creationId xmlns:a16="http://schemas.microsoft.com/office/drawing/2014/main" id="{D53D403B-D002-97AB-B325-61C43A5C960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4272" y="2515761"/>
            <a:ext cx="504000" cy="504000"/>
          </a:xfrm>
          <a:prstGeom prst="rect">
            <a:avLst/>
          </a:prstGeom>
        </p:spPr>
      </p:pic>
      <p:sp>
        <p:nvSpPr>
          <p:cNvPr id="35" name="TextBox 34">
            <a:extLst>
              <a:ext uri="{FF2B5EF4-FFF2-40B4-BE49-F238E27FC236}">
                <a16:creationId xmlns:a16="http://schemas.microsoft.com/office/drawing/2014/main" id="{C11EFC64-C566-9A29-52CF-51FBBA395DD7}"/>
              </a:ext>
            </a:extLst>
          </p:cNvPr>
          <p:cNvSpPr txBox="1"/>
          <p:nvPr/>
        </p:nvSpPr>
        <p:spPr>
          <a:xfrm>
            <a:off x="4397799" y="2971069"/>
            <a:ext cx="842400" cy="324000"/>
          </a:xfrm>
          <a:prstGeom prst="rect">
            <a:avLst/>
          </a:prstGeom>
          <a:noFill/>
          <a:ln>
            <a:noFill/>
          </a:ln>
        </p:spPr>
        <p:txBody>
          <a:bodyPr wrap="square" lIns="0" tIns="0" rIns="0" bIns="0" rtlCol="0" anchor="t">
            <a:noAutofit/>
          </a:bodyPr>
          <a:lstStyle/>
          <a:p>
            <a:pPr marL="0" marR="0" lvl="0" indent="0" algn="ct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0" i="0" u="none" strike="noStrike" kern="1200" cap="none" spc="0" normalizeH="0" baseline="0" noProof="0">
                <a:ln>
                  <a:noFill/>
                </a:ln>
                <a:solidFill>
                  <a:srgbClr val="959595">
                    <a:lumMod val="50000"/>
                  </a:srgbClr>
                </a:solidFill>
                <a:effectLst/>
                <a:uLnTx/>
                <a:uFillTx/>
                <a:latin typeface="Arial"/>
                <a:ea typeface="+mn-ea"/>
                <a:cs typeface="Noto Sans"/>
              </a:rPr>
              <a:t>Citrix Cloud Gateway</a:t>
            </a:r>
          </a:p>
        </p:txBody>
      </p:sp>
      <p:sp>
        <p:nvSpPr>
          <p:cNvPr id="36" name="TextBox 35">
            <a:extLst>
              <a:ext uri="{FF2B5EF4-FFF2-40B4-BE49-F238E27FC236}">
                <a16:creationId xmlns:a16="http://schemas.microsoft.com/office/drawing/2014/main" id="{F2674BE1-0B4F-AA0A-E62B-0F6098E1DC7F}"/>
              </a:ext>
            </a:extLst>
          </p:cNvPr>
          <p:cNvSpPr txBox="1"/>
          <p:nvPr/>
        </p:nvSpPr>
        <p:spPr>
          <a:xfrm>
            <a:off x="10374104" y="2973327"/>
            <a:ext cx="842400" cy="324000"/>
          </a:xfrm>
          <a:prstGeom prst="rect">
            <a:avLst/>
          </a:prstGeom>
          <a:noFill/>
          <a:ln>
            <a:noFill/>
          </a:ln>
        </p:spPr>
        <p:txBody>
          <a:bodyPr wrap="square" lIns="0" tIns="0" rIns="0" bIns="0" rtlCol="0" anchor="t">
            <a:noAutofit/>
          </a:bodyPr>
          <a:lstStyle/>
          <a:p>
            <a:pPr marL="0" marR="0" lvl="0" indent="0" algn="ct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0" i="0" u="none" strike="noStrike" kern="1200" cap="none" spc="0" normalizeH="0" baseline="0" noProof="0">
                <a:ln>
                  <a:noFill/>
                </a:ln>
                <a:solidFill>
                  <a:srgbClr val="959595">
                    <a:lumMod val="50000"/>
                  </a:srgbClr>
                </a:solidFill>
                <a:effectLst/>
                <a:uLnTx/>
                <a:uFillTx/>
                <a:latin typeface="Arial"/>
                <a:ea typeface="+mn-ea"/>
                <a:cs typeface="Noto Sans"/>
              </a:rPr>
              <a:t>Virtual Citrix </a:t>
            </a:r>
            <a:r>
              <a:rPr kumimoji="0" lang="en-GB" sz="1000" b="0" i="0" u="none" strike="noStrike" kern="1200" cap="none" spc="0" normalizeH="0" baseline="0" noProof="0" err="1">
                <a:ln>
                  <a:noFill/>
                </a:ln>
                <a:solidFill>
                  <a:srgbClr val="959595">
                    <a:lumMod val="50000"/>
                  </a:srgbClr>
                </a:solidFill>
                <a:effectLst/>
                <a:uLnTx/>
                <a:uFillTx/>
                <a:latin typeface="Arial"/>
                <a:ea typeface="+mn-ea"/>
                <a:cs typeface="Noto Sans"/>
              </a:rPr>
              <a:t>NetScalers</a:t>
            </a:r>
            <a:r>
              <a:rPr kumimoji="0" lang="en-GB" sz="1000" b="0" i="0" u="none" strike="noStrike" kern="1200" cap="none" spc="0" normalizeH="0" baseline="30000" noProof="0">
                <a:ln>
                  <a:noFill/>
                </a:ln>
                <a:solidFill>
                  <a:srgbClr val="959595">
                    <a:lumMod val="50000"/>
                  </a:srgbClr>
                </a:solidFill>
                <a:effectLst/>
                <a:uLnTx/>
                <a:uFillTx/>
                <a:latin typeface="Arial"/>
                <a:ea typeface="+mn-ea"/>
                <a:cs typeface="Noto Sans"/>
              </a:rPr>
              <a:t>2</a:t>
            </a:r>
            <a:endParaRPr kumimoji="0" lang="en-GB" sz="1000" b="0" i="0" u="none" strike="noStrike" kern="1200" cap="none" spc="0" normalizeH="0" baseline="0" noProof="0">
              <a:ln>
                <a:noFill/>
              </a:ln>
              <a:solidFill>
                <a:srgbClr val="959595">
                  <a:lumMod val="50000"/>
                </a:srgbClr>
              </a:solidFill>
              <a:effectLst/>
              <a:uLnTx/>
              <a:uFillTx/>
              <a:latin typeface="Arial"/>
              <a:ea typeface="+mn-ea"/>
              <a:cs typeface="Noto Sans"/>
            </a:endParaRPr>
          </a:p>
        </p:txBody>
      </p:sp>
      <p:grpSp>
        <p:nvGrpSpPr>
          <p:cNvPr id="37" name="Group 36">
            <a:extLst>
              <a:ext uri="{FF2B5EF4-FFF2-40B4-BE49-F238E27FC236}">
                <a16:creationId xmlns:a16="http://schemas.microsoft.com/office/drawing/2014/main" id="{D7C757A6-2EA1-31B2-2528-7F23CA1EDA3C}"/>
              </a:ext>
            </a:extLst>
          </p:cNvPr>
          <p:cNvGrpSpPr>
            <a:grpSpLocks noChangeAspect="1"/>
          </p:cNvGrpSpPr>
          <p:nvPr/>
        </p:nvGrpSpPr>
        <p:grpSpPr>
          <a:xfrm>
            <a:off x="3355503" y="4064066"/>
            <a:ext cx="766939" cy="540000"/>
            <a:chOff x="999683" y="4792733"/>
            <a:chExt cx="741720" cy="522243"/>
          </a:xfrm>
        </p:grpSpPr>
        <p:sp>
          <p:nvSpPr>
            <p:cNvPr id="38" name="Rectangle: Rounded Corners 37">
              <a:extLst>
                <a:ext uri="{FF2B5EF4-FFF2-40B4-BE49-F238E27FC236}">
                  <a16:creationId xmlns:a16="http://schemas.microsoft.com/office/drawing/2014/main" id="{27EC3E99-C060-4671-DC32-45CDC75D38DB}"/>
                </a:ext>
              </a:extLst>
            </p:cNvPr>
            <p:cNvSpPr/>
            <p:nvPr/>
          </p:nvSpPr>
          <p:spPr bwMode="auto">
            <a:xfrm>
              <a:off x="999683" y="4792733"/>
              <a:ext cx="576000" cy="360000"/>
            </a:xfrm>
            <a:prstGeom prst="roundRect">
              <a:avLst/>
            </a:prstGeom>
            <a:solidFill>
              <a:schemeClr val="tx2">
                <a:lumMod val="40000"/>
                <a:lumOff val="60000"/>
              </a:schemeClr>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cs typeface="Noto Sans"/>
              </a:endParaRPr>
            </a:p>
          </p:txBody>
        </p:sp>
        <p:sp>
          <p:nvSpPr>
            <p:cNvPr id="39" name="Rectangle: Rounded Corners 38">
              <a:extLst>
                <a:ext uri="{FF2B5EF4-FFF2-40B4-BE49-F238E27FC236}">
                  <a16:creationId xmlns:a16="http://schemas.microsoft.com/office/drawing/2014/main" id="{BD659558-0B77-ABB2-8F6C-A0B5524BE082}"/>
                </a:ext>
              </a:extLst>
            </p:cNvPr>
            <p:cNvSpPr/>
            <p:nvPr/>
          </p:nvSpPr>
          <p:spPr bwMode="auto">
            <a:xfrm>
              <a:off x="1086020" y="4872116"/>
              <a:ext cx="576000" cy="360000"/>
            </a:xfrm>
            <a:prstGeom prst="roundRect">
              <a:avLst/>
            </a:prstGeom>
            <a:solidFill>
              <a:schemeClr val="tx2">
                <a:lumMod val="60000"/>
                <a:lumOff val="40000"/>
              </a:schemeClr>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cs typeface="Noto Sans"/>
              </a:endParaRPr>
            </a:p>
          </p:txBody>
        </p:sp>
        <p:sp>
          <p:nvSpPr>
            <p:cNvPr id="40" name="Rectangle: Rounded Corners 39">
              <a:extLst>
                <a:ext uri="{FF2B5EF4-FFF2-40B4-BE49-F238E27FC236}">
                  <a16:creationId xmlns:a16="http://schemas.microsoft.com/office/drawing/2014/main" id="{010A8642-228F-8858-2608-214D4DBE0CF2}"/>
                </a:ext>
              </a:extLst>
            </p:cNvPr>
            <p:cNvSpPr/>
            <p:nvPr/>
          </p:nvSpPr>
          <p:spPr bwMode="auto">
            <a:xfrm>
              <a:off x="1165403" y="4954976"/>
              <a:ext cx="576000" cy="360000"/>
            </a:xfrm>
            <a:prstGeom prst="roundRect">
              <a:avLst/>
            </a:prstGeom>
            <a:solidFill>
              <a:schemeClr val="tx2"/>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cs typeface="Noto Sans"/>
              </a:endParaRPr>
            </a:p>
          </p:txBody>
        </p:sp>
        <p:pic>
          <p:nvPicPr>
            <p:cNvPr id="41" name="Picture 2">
              <a:extLst>
                <a:ext uri="{FF2B5EF4-FFF2-40B4-BE49-F238E27FC236}">
                  <a16:creationId xmlns:a16="http://schemas.microsoft.com/office/drawing/2014/main" id="{9EE66F62-366E-FC71-AEC7-D6516B0A8158}"/>
                </a:ext>
              </a:extLst>
            </p:cNvPr>
            <p:cNvPicPr>
              <a:picLocks noChangeAspect="1" noChangeArrowheads="1"/>
            </p:cNvPicPr>
            <p:nvPr/>
          </p:nvPicPr>
          <p:blipFill>
            <a:blip r:embed="rId4" cstate="print">
              <a:biLevel thresh="25000"/>
              <a:extLst>
                <a:ext uri="{28A0092B-C50C-407E-A947-70E740481C1C}">
                  <a14:useLocalDpi xmlns:a14="http://schemas.microsoft.com/office/drawing/2010/main" val="0"/>
                </a:ext>
              </a:extLst>
            </a:blip>
            <a:srcRect/>
            <a:stretch>
              <a:fillRect/>
            </a:stretch>
          </p:blipFill>
          <p:spPr bwMode="auto">
            <a:xfrm>
              <a:off x="1412218" y="5073137"/>
              <a:ext cx="90000" cy="90000"/>
            </a:xfrm>
            <a:prstGeom prst="rect">
              <a:avLst/>
            </a:prstGeom>
            <a:noFill/>
            <a:extLst>
              <a:ext uri="{909E8E84-426E-40DD-AFC4-6F175D3DCCD1}">
                <a14:hiddenFill xmlns:a14="http://schemas.microsoft.com/office/drawing/2010/main">
                  <a:solidFill>
                    <a:srgbClr val="FFFFFF"/>
                  </a:solidFill>
                </a14:hiddenFill>
              </a:ext>
            </a:extLst>
          </p:spPr>
        </p:pic>
        <p:pic>
          <p:nvPicPr>
            <p:cNvPr id="42" name="Graphic 41" descr="Monitor with solid fill">
              <a:extLst>
                <a:ext uri="{FF2B5EF4-FFF2-40B4-BE49-F238E27FC236}">
                  <a16:creationId xmlns:a16="http://schemas.microsoft.com/office/drawing/2014/main" id="{E733F2F2-03DF-6D64-4A58-46036ED50F9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3515" y="4991300"/>
              <a:ext cx="288000" cy="288000"/>
            </a:xfrm>
            <a:prstGeom prst="rect">
              <a:avLst/>
            </a:prstGeom>
          </p:spPr>
        </p:pic>
      </p:grpSp>
      <p:sp>
        <p:nvSpPr>
          <p:cNvPr id="43" name="TextBox 42">
            <a:extLst>
              <a:ext uri="{FF2B5EF4-FFF2-40B4-BE49-F238E27FC236}">
                <a16:creationId xmlns:a16="http://schemas.microsoft.com/office/drawing/2014/main" id="{8F5C9E7F-CF25-F8D3-B179-282D4FAE9A90}"/>
              </a:ext>
            </a:extLst>
          </p:cNvPr>
          <p:cNvSpPr txBox="1"/>
          <p:nvPr/>
        </p:nvSpPr>
        <p:spPr>
          <a:xfrm>
            <a:off x="3345757" y="4651498"/>
            <a:ext cx="842400" cy="504000"/>
          </a:xfrm>
          <a:prstGeom prst="rect">
            <a:avLst/>
          </a:prstGeom>
          <a:noFill/>
        </p:spPr>
        <p:txBody>
          <a:bodyPr wrap="square" lIns="0" tIns="0" rIns="0" bIns="0" rtlCol="0" anchor="t">
            <a:noAutofit/>
          </a:bodyPr>
          <a:lstStyle/>
          <a:p>
            <a:pPr marL="0" marR="0" lvl="0" indent="0" algn="ct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0" i="0" u="none" strike="noStrike" kern="1200" cap="none" spc="0" normalizeH="0" baseline="0" noProof="0">
                <a:ln>
                  <a:noFill/>
                </a:ln>
                <a:solidFill>
                  <a:srgbClr val="959595">
                    <a:lumMod val="50000"/>
                  </a:srgbClr>
                </a:solidFill>
                <a:effectLst/>
                <a:uLnTx/>
                <a:uFillTx/>
                <a:latin typeface="Arial"/>
                <a:ea typeface="+mn-ea"/>
                <a:cs typeface="Noto Sans"/>
              </a:rPr>
              <a:t>Multi-Session Server OS</a:t>
            </a:r>
            <a:r>
              <a:rPr kumimoji="0" lang="en-GB" sz="1000" b="0" i="0" u="none" strike="noStrike" kern="1200" cap="none" spc="0" normalizeH="0" baseline="30000" noProof="0">
                <a:ln>
                  <a:noFill/>
                </a:ln>
                <a:solidFill>
                  <a:srgbClr val="959595">
                    <a:lumMod val="50000"/>
                  </a:srgbClr>
                </a:solidFill>
                <a:effectLst/>
                <a:uLnTx/>
                <a:uFillTx/>
                <a:latin typeface="Arial"/>
                <a:ea typeface="+mn-ea"/>
                <a:cs typeface="Noto Sans"/>
              </a:rPr>
              <a:t>1</a:t>
            </a:r>
            <a:r>
              <a:rPr kumimoji="0" lang="en-GB" sz="1000" b="0" i="0" u="none" strike="noStrike" kern="1200" cap="none" spc="0" normalizeH="0" baseline="0" noProof="0">
                <a:ln>
                  <a:noFill/>
                </a:ln>
                <a:solidFill>
                  <a:srgbClr val="959595">
                    <a:lumMod val="50000"/>
                  </a:srgbClr>
                </a:solidFill>
                <a:effectLst/>
                <a:uLnTx/>
                <a:uFillTx/>
                <a:latin typeface="Arial"/>
                <a:ea typeface="+mn-ea"/>
                <a:cs typeface="Noto Sans"/>
              </a:rPr>
              <a:t> </a:t>
            </a:r>
          </a:p>
          <a:p>
            <a:pPr marL="0" marR="0" lvl="0" indent="0" algn="ct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1" i="0" u="none" strike="noStrike" kern="1200" cap="none" spc="0" normalizeH="0" baseline="0" noProof="0">
                <a:ln>
                  <a:noFill/>
                </a:ln>
                <a:solidFill>
                  <a:srgbClr val="F36633"/>
                </a:solidFill>
                <a:effectLst/>
                <a:uLnTx/>
                <a:uFillTx/>
                <a:latin typeface="Arial"/>
                <a:ea typeface="+mn-ea"/>
                <a:cs typeface="Noto Sans"/>
              </a:rPr>
              <a:t>~2k</a:t>
            </a:r>
            <a:r>
              <a:rPr kumimoji="0" lang="en-GB" sz="1000" b="0" i="0" u="none" strike="noStrike" kern="1200" cap="none" spc="0" normalizeH="0" baseline="0" noProof="0">
                <a:ln>
                  <a:noFill/>
                </a:ln>
                <a:solidFill>
                  <a:srgbClr val="959595">
                    <a:lumMod val="50000"/>
                  </a:srgbClr>
                </a:solidFill>
                <a:effectLst/>
                <a:uLnTx/>
                <a:uFillTx/>
                <a:latin typeface="Arial"/>
                <a:ea typeface="+mn-ea"/>
                <a:cs typeface="Noto Sans"/>
              </a:rPr>
              <a:t> Users</a:t>
            </a:r>
          </a:p>
        </p:txBody>
      </p:sp>
      <p:grpSp>
        <p:nvGrpSpPr>
          <p:cNvPr id="44" name="Group 43">
            <a:extLst>
              <a:ext uri="{FF2B5EF4-FFF2-40B4-BE49-F238E27FC236}">
                <a16:creationId xmlns:a16="http://schemas.microsoft.com/office/drawing/2014/main" id="{F6D88C7C-829F-24F3-141A-8FD5D70B2A1E}"/>
              </a:ext>
            </a:extLst>
          </p:cNvPr>
          <p:cNvGrpSpPr>
            <a:grpSpLocks noChangeAspect="1"/>
          </p:cNvGrpSpPr>
          <p:nvPr/>
        </p:nvGrpSpPr>
        <p:grpSpPr>
          <a:xfrm>
            <a:off x="4379705" y="4062401"/>
            <a:ext cx="766940" cy="540000"/>
            <a:chOff x="968131" y="4202255"/>
            <a:chExt cx="741720" cy="522243"/>
          </a:xfrm>
        </p:grpSpPr>
        <p:sp>
          <p:nvSpPr>
            <p:cNvPr id="45" name="Rectangle: Rounded Corners 44">
              <a:extLst>
                <a:ext uri="{FF2B5EF4-FFF2-40B4-BE49-F238E27FC236}">
                  <a16:creationId xmlns:a16="http://schemas.microsoft.com/office/drawing/2014/main" id="{B39584BA-5C71-742E-1F0F-434983407B5F}"/>
                </a:ext>
              </a:extLst>
            </p:cNvPr>
            <p:cNvSpPr/>
            <p:nvPr/>
          </p:nvSpPr>
          <p:spPr bwMode="auto">
            <a:xfrm>
              <a:off x="968131" y="4202255"/>
              <a:ext cx="576000" cy="360000"/>
            </a:xfrm>
            <a:prstGeom prst="roundRect">
              <a:avLst/>
            </a:prstGeom>
            <a:solidFill>
              <a:schemeClr val="tx2">
                <a:lumMod val="40000"/>
                <a:lumOff val="60000"/>
              </a:schemeClr>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cs typeface="Noto Sans"/>
              </a:endParaRPr>
            </a:p>
          </p:txBody>
        </p:sp>
        <p:sp>
          <p:nvSpPr>
            <p:cNvPr id="46" name="Rectangle: Rounded Corners 45">
              <a:extLst>
                <a:ext uri="{FF2B5EF4-FFF2-40B4-BE49-F238E27FC236}">
                  <a16:creationId xmlns:a16="http://schemas.microsoft.com/office/drawing/2014/main" id="{BD5D3D73-761A-3FAA-64E9-DB8D766FA7C1}"/>
                </a:ext>
              </a:extLst>
            </p:cNvPr>
            <p:cNvSpPr/>
            <p:nvPr/>
          </p:nvSpPr>
          <p:spPr bwMode="auto">
            <a:xfrm>
              <a:off x="1054468" y="4281638"/>
              <a:ext cx="576000" cy="360000"/>
            </a:xfrm>
            <a:prstGeom prst="roundRect">
              <a:avLst/>
            </a:prstGeom>
            <a:solidFill>
              <a:schemeClr val="tx2">
                <a:lumMod val="60000"/>
                <a:lumOff val="40000"/>
              </a:schemeClr>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cs typeface="Noto Sans"/>
              </a:endParaRPr>
            </a:p>
          </p:txBody>
        </p:sp>
        <p:sp>
          <p:nvSpPr>
            <p:cNvPr id="47" name="Rectangle: Rounded Corners 46">
              <a:extLst>
                <a:ext uri="{FF2B5EF4-FFF2-40B4-BE49-F238E27FC236}">
                  <a16:creationId xmlns:a16="http://schemas.microsoft.com/office/drawing/2014/main" id="{F43241AE-B62A-03B5-E024-3E0D3E1A3091}"/>
                </a:ext>
              </a:extLst>
            </p:cNvPr>
            <p:cNvSpPr/>
            <p:nvPr/>
          </p:nvSpPr>
          <p:spPr bwMode="auto">
            <a:xfrm>
              <a:off x="1133851" y="4364498"/>
              <a:ext cx="576000" cy="360000"/>
            </a:xfrm>
            <a:prstGeom prst="roundRect">
              <a:avLst/>
            </a:prstGeom>
            <a:solidFill>
              <a:schemeClr val="tx2"/>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cs typeface="Noto Sans"/>
              </a:endParaRPr>
            </a:p>
          </p:txBody>
        </p:sp>
        <p:pic>
          <p:nvPicPr>
            <p:cNvPr id="48" name="Picture 2">
              <a:extLst>
                <a:ext uri="{FF2B5EF4-FFF2-40B4-BE49-F238E27FC236}">
                  <a16:creationId xmlns:a16="http://schemas.microsoft.com/office/drawing/2014/main" id="{4948E09F-43D1-5533-F87F-2C4B89CD3D51}"/>
                </a:ext>
              </a:extLst>
            </p:cNvPr>
            <p:cNvPicPr>
              <a:picLocks noChangeAspect="1" noChangeArrowheads="1"/>
            </p:cNvPicPr>
            <p:nvPr/>
          </p:nvPicPr>
          <p:blipFill>
            <a:blip r:embed="rId4" cstate="print">
              <a:biLevel thresh="25000"/>
              <a:extLst>
                <a:ext uri="{28A0092B-C50C-407E-A947-70E740481C1C}">
                  <a14:useLocalDpi xmlns:a14="http://schemas.microsoft.com/office/drawing/2010/main" val="0"/>
                </a:ext>
              </a:extLst>
            </a:blip>
            <a:srcRect/>
            <a:stretch>
              <a:fillRect/>
            </a:stretch>
          </p:blipFill>
          <p:spPr bwMode="auto">
            <a:xfrm>
              <a:off x="1315896" y="4478849"/>
              <a:ext cx="86400" cy="86400"/>
            </a:xfrm>
            <a:prstGeom prst="rect">
              <a:avLst/>
            </a:prstGeom>
            <a:noFill/>
            <a:extLst>
              <a:ext uri="{909E8E84-426E-40DD-AFC4-6F175D3DCCD1}">
                <a14:hiddenFill xmlns:a14="http://schemas.microsoft.com/office/drawing/2010/main">
                  <a:solidFill>
                    <a:srgbClr val="FFFFFF"/>
                  </a:solidFill>
                </a14:hiddenFill>
              </a:ext>
            </a:extLst>
          </p:spPr>
        </p:pic>
        <p:pic>
          <p:nvPicPr>
            <p:cNvPr id="49" name="Graphic 48" descr="Computer with solid fill">
              <a:extLst>
                <a:ext uri="{FF2B5EF4-FFF2-40B4-BE49-F238E27FC236}">
                  <a16:creationId xmlns:a16="http://schemas.microsoft.com/office/drawing/2014/main" id="{31622181-57F6-4EA5-40E5-FEAD0D8C2622}"/>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39235" y="4364498"/>
              <a:ext cx="360000" cy="360000"/>
            </a:xfrm>
            <a:prstGeom prst="rect">
              <a:avLst/>
            </a:prstGeom>
          </p:spPr>
        </p:pic>
      </p:grpSp>
      <p:grpSp>
        <p:nvGrpSpPr>
          <p:cNvPr id="50" name="Group 49">
            <a:extLst>
              <a:ext uri="{FF2B5EF4-FFF2-40B4-BE49-F238E27FC236}">
                <a16:creationId xmlns:a16="http://schemas.microsoft.com/office/drawing/2014/main" id="{18A9012D-E018-66A2-FBF7-0C77F78EF768}"/>
              </a:ext>
            </a:extLst>
          </p:cNvPr>
          <p:cNvGrpSpPr/>
          <p:nvPr/>
        </p:nvGrpSpPr>
        <p:grpSpPr>
          <a:xfrm>
            <a:off x="2353487" y="4076463"/>
            <a:ext cx="720000" cy="504000"/>
            <a:chOff x="2232000" y="3960000"/>
            <a:chExt cx="720000" cy="504000"/>
          </a:xfrm>
        </p:grpSpPr>
        <p:grpSp>
          <p:nvGrpSpPr>
            <p:cNvPr id="51" name="Group 50">
              <a:extLst>
                <a:ext uri="{FF2B5EF4-FFF2-40B4-BE49-F238E27FC236}">
                  <a16:creationId xmlns:a16="http://schemas.microsoft.com/office/drawing/2014/main" id="{A82BCD07-3EFA-2B16-E522-1B1BB06223AB}"/>
                </a:ext>
              </a:extLst>
            </p:cNvPr>
            <p:cNvGrpSpPr/>
            <p:nvPr/>
          </p:nvGrpSpPr>
          <p:grpSpPr>
            <a:xfrm>
              <a:off x="2232000" y="3960000"/>
              <a:ext cx="360000" cy="252000"/>
              <a:chOff x="2256879" y="3984909"/>
              <a:chExt cx="360000" cy="252000"/>
            </a:xfrm>
          </p:grpSpPr>
          <p:sp>
            <p:nvSpPr>
              <p:cNvPr id="61" name="Rectangle: Rounded Corners 60">
                <a:extLst>
                  <a:ext uri="{FF2B5EF4-FFF2-40B4-BE49-F238E27FC236}">
                    <a16:creationId xmlns:a16="http://schemas.microsoft.com/office/drawing/2014/main" id="{01D64EFB-35ED-086B-E10C-B0EB11BC46D3}"/>
                  </a:ext>
                </a:extLst>
              </p:cNvPr>
              <p:cNvSpPr/>
              <p:nvPr/>
            </p:nvSpPr>
            <p:spPr bwMode="auto">
              <a:xfrm>
                <a:off x="2256879" y="3984909"/>
                <a:ext cx="360000" cy="252000"/>
              </a:xfrm>
              <a:prstGeom prst="roundRect">
                <a:avLst/>
              </a:prstGeom>
              <a:solidFill>
                <a:schemeClr val="tx2"/>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cs typeface="Noto Sans"/>
                </a:endParaRPr>
              </a:p>
            </p:txBody>
          </p:sp>
          <p:pic>
            <p:nvPicPr>
              <p:cNvPr id="62" name="Graphic 61" descr="Computer with solid fill">
                <a:extLst>
                  <a:ext uri="{FF2B5EF4-FFF2-40B4-BE49-F238E27FC236}">
                    <a16:creationId xmlns:a16="http://schemas.microsoft.com/office/drawing/2014/main" id="{D9114C64-2020-FA7C-75AF-9C453B8004F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30210" y="4003288"/>
                <a:ext cx="216000" cy="216000"/>
              </a:xfrm>
              <a:prstGeom prst="rect">
                <a:avLst/>
              </a:prstGeom>
            </p:spPr>
          </p:pic>
        </p:grpSp>
        <p:grpSp>
          <p:nvGrpSpPr>
            <p:cNvPr id="52" name="Group 51">
              <a:extLst>
                <a:ext uri="{FF2B5EF4-FFF2-40B4-BE49-F238E27FC236}">
                  <a16:creationId xmlns:a16="http://schemas.microsoft.com/office/drawing/2014/main" id="{CBE761E1-1243-DA37-C474-E15912C58A64}"/>
                </a:ext>
              </a:extLst>
            </p:cNvPr>
            <p:cNvGrpSpPr/>
            <p:nvPr/>
          </p:nvGrpSpPr>
          <p:grpSpPr>
            <a:xfrm>
              <a:off x="2232000" y="4212000"/>
              <a:ext cx="360000" cy="252000"/>
              <a:chOff x="2256879" y="3984909"/>
              <a:chExt cx="360000" cy="252000"/>
            </a:xfrm>
          </p:grpSpPr>
          <p:sp>
            <p:nvSpPr>
              <p:cNvPr id="59" name="Rectangle: Rounded Corners 58">
                <a:extLst>
                  <a:ext uri="{FF2B5EF4-FFF2-40B4-BE49-F238E27FC236}">
                    <a16:creationId xmlns:a16="http://schemas.microsoft.com/office/drawing/2014/main" id="{B38FEAE8-7911-8730-A4A4-57A567C51548}"/>
                  </a:ext>
                </a:extLst>
              </p:cNvPr>
              <p:cNvSpPr/>
              <p:nvPr/>
            </p:nvSpPr>
            <p:spPr bwMode="auto">
              <a:xfrm>
                <a:off x="2256879" y="3984909"/>
                <a:ext cx="360000" cy="252000"/>
              </a:xfrm>
              <a:prstGeom prst="roundRect">
                <a:avLst/>
              </a:prstGeom>
              <a:solidFill>
                <a:schemeClr val="tx2"/>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cs typeface="Noto Sans"/>
                </a:endParaRPr>
              </a:p>
            </p:txBody>
          </p:sp>
          <p:pic>
            <p:nvPicPr>
              <p:cNvPr id="60" name="Graphic 59" descr="Computer with solid fill">
                <a:extLst>
                  <a:ext uri="{FF2B5EF4-FFF2-40B4-BE49-F238E27FC236}">
                    <a16:creationId xmlns:a16="http://schemas.microsoft.com/office/drawing/2014/main" id="{6488E3CF-7EB7-A0F4-4840-CFD866840D2C}"/>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30210" y="4003288"/>
                <a:ext cx="216000" cy="216000"/>
              </a:xfrm>
              <a:prstGeom prst="rect">
                <a:avLst/>
              </a:prstGeom>
            </p:spPr>
          </p:pic>
        </p:grpSp>
        <p:grpSp>
          <p:nvGrpSpPr>
            <p:cNvPr id="53" name="Group 52">
              <a:extLst>
                <a:ext uri="{FF2B5EF4-FFF2-40B4-BE49-F238E27FC236}">
                  <a16:creationId xmlns:a16="http://schemas.microsoft.com/office/drawing/2014/main" id="{A4EB2F3C-4B41-4F10-857B-F1D56A055904}"/>
                </a:ext>
              </a:extLst>
            </p:cNvPr>
            <p:cNvGrpSpPr/>
            <p:nvPr/>
          </p:nvGrpSpPr>
          <p:grpSpPr>
            <a:xfrm>
              <a:off x="2592000" y="3960000"/>
              <a:ext cx="360000" cy="252000"/>
              <a:chOff x="2256879" y="3984909"/>
              <a:chExt cx="360000" cy="252000"/>
            </a:xfrm>
          </p:grpSpPr>
          <p:sp>
            <p:nvSpPr>
              <p:cNvPr id="57" name="Rectangle: Rounded Corners 56">
                <a:extLst>
                  <a:ext uri="{FF2B5EF4-FFF2-40B4-BE49-F238E27FC236}">
                    <a16:creationId xmlns:a16="http://schemas.microsoft.com/office/drawing/2014/main" id="{B5AEA312-4E35-D386-F1AB-FF697B89B787}"/>
                  </a:ext>
                </a:extLst>
              </p:cNvPr>
              <p:cNvSpPr/>
              <p:nvPr/>
            </p:nvSpPr>
            <p:spPr bwMode="auto">
              <a:xfrm>
                <a:off x="2256879" y="3984909"/>
                <a:ext cx="360000" cy="252000"/>
              </a:xfrm>
              <a:prstGeom prst="roundRect">
                <a:avLst/>
              </a:prstGeom>
              <a:solidFill>
                <a:schemeClr val="tx2"/>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cs typeface="Noto Sans"/>
                </a:endParaRPr>
              </a:p>
            </p:txBody>
          </p:sp>
          <p:pic>
            <p:nvPicPr>
              <p:cNvPr id="58" name="Graphic 57" descr="Computer with solid fill">
                <a:extLst>
                  <a:ext uri="{FF2B5EF4-FFF2-40B4-BE49-F238E27FC236}">
                    <a16:creationId xmlns:a16="http://schemas.microsoft.com/office/drawing/2014/main" id="{732E7E85-51BE-B611-7681-F1F2FB68D9D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30210" y="4003288"/>
                <a:ext cx="216000" cy="216000"/>
              </a:xfrm>
              <a:prstGeom prst="rect">
                <a:avLst/>
              </a:prstGeom>
            </p:spPr>
          </p:pic>
        </p:grpSp>
        <p:grpSp>
          <p:nvGrpSpPr>
            <p:cNvPr id="54" name="Group 53">
              <a:extLst>
                <a:ext uri="{FF2B5EF4-FFF2-40B4-BE49-F238E27FC236}">
                  <a16:creationId xmlns:a16="http://schemas.microsoft.com/office/drawing/2014/main" id="{9979CC29-DAA8-0291-6EC6-33086E26FE28}"/>
                </a:ext>
              </a:extLst>
            </p:cNvPr>
            <p:cNvGrpSpPr/>
            <p:nvPr/>
          </p:nvGrpSpPr>
          <p:grpSpPr>
            <a:xfrm>
              <a:off x="2592000" y="4212000"/>
              <a:ext cx="360000" cy="252000"/>
              <a:chOff x="2256879" y="3984909"/>
              <a:chExt cx="360000" cy="252000"/>
            </a:xfrm>
          </p:grpSpPr>
          <p:sp>
            <p:nvSpPr>
              <p:cNvPr id="55" name="Rectangle: Rounded Corners 54">
                <a:extLst>
                  <a:ext uri="{FF2B5EF4-FFF2-40B4-BE49-F238E27FC236}">
                    <a16:creationId xmlns:a16="http://schemas.microsoft.com/office/drawing/2014/main" id="{B9AA0B53-4890-2826-19FF-957EDC81879E}"/>
                  </a:ext>
                </a:extLst>
              </p:cNvPr>
              <p:cNvSpPr/>
              <p:nvPr/>
            </p:nvSpPr>
            <p:spPr bwMode="auto">
              <a:xfrm>
                <a:off x="2256879" y="3984909"/>
                <a:ext cx="360000" cy="252000"/>
              </a:xfrm>
              <a:prstGeom prst="roundRect">
                <a:avLst/>
              </a:prstGeom>
              <a:solidFill>
                <a:schemeClr val="tx2"/>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cs typeface="Noto Sans"/>
                </a:endParaRPr>
              </a:p>
            </p:txBody>
          </p:sp>
          <p:pic>
            <p:nvPicPr>
              <p:cNvPr id="56" name="Graphic 55" descr="Computer with solid fill">
                <a:extLst>
                  <a:ext uri="{FF2B5EF4-FFF2-40B4-BE49-F238E27FC236}">
                    <a16:creationId xmlns:a16="http://schemas.microsoft.com/office/drawing/2014/main" id="{673D9EAB-8B69-EED9-B1B7-1902F4C65764}"/>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30210" y="4003288"/>
                <a:ext cx="216000" cy="216000"/>
              </a:xfrm>
              <a:prstGeom prst="rect">
                <a:avLst/>
              </a:prstGeom>
            </p:spPr>
          </p:pic>
        </p:grpSp>
      </p:grpSp>
      <p:sp>
        <p:nvSpPr>
          <p:cNvPr id="63" name="TextBox 62">
            <a:extLst>
              <a:ext uri="{FF2B5EF4-FFF2-40B4-BE49-F238E27FC236}">
                <a16:creationId xmlns:a16="http://schemas.microsoft.com/office/drawing/2014/main" id="{7FC90C94-D3BE-C6B7-08BF-F00349C6581B}"/>
              </a:ext>
            </a:extLst>
          </p:cNvPr>
          <p:cNvSpPr txBox="1"/>
          <p:nvPr/>
        </p:nvSpPr>
        <p:spPr>
          <a:xfrm>
            <a:off x="2294391" y="4651498"/>
            <a:ext cx="842400" cy="504000"/>
          </a:xfrm>
          <a:prstGeom prst="rect">
            <a:avLst/>
          </a:prstGeom>
          <a:noFill/>
        </p:spPr>
        <p:txBody>
          <a:bodyPr wrap="square" lIns="0" tIns="0" rIns="0" bIns="0" rtlCol="0" anchor="t">
            <a:noAutofit/>
          </a:bodyPr>
          <a:lstStyle/>
          <a:p>
            <a:pPr marL="0" marR="0" lvl="0" indent="0" algn="ct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0" i="0" u="none" strike="noStrike" kern="1200" cap="none" spc="0" normalizeH="0" baseline="0" noProof="0">
                <a:ln>
                  <a:noFill/>
                </a:ln>
                <a:solidFill>
                  <a:srgbClr val="959595">
                    <a:lumMod val="50000"/>
                  </a:srgbClr>
                </a:solidFill>
                <a:effectLst/>
                <a:uLnTx/>
                <a:uFillTx/>
                <a:latin typeface="Arial"/>
                <a:ea typeface="+mn-ea"/>
                <a:cs typeface="Noto Sans"/>
              </a:rPr>
              <a:t>1:1 VDI </a:t>
            </a:r>
          </a:p>
          <a:p>
            <a:pPr marL="0" marR="0" lvl="0" indent="0" algn="ct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0" i="0" u="none" strike="noStrike" kern="1200" cap="none" spc="0" normalizeH="0" baseline="0" noProof="0">
                <a:ln>
                  <a:noFill/>
                </a:ln>
                <a:solidFill>
                  <a:srgbClr val="959595">
                    <a:lumMod val="50000"/>
                  </a:srgbClr>
                </a:solidFill>
                <a:effectLst/>
                <a:uLnTx/>
                <a:uFillTx/>
                <a:latin typeface="Arial"/>
                <a:ea typeface="+mn-ea"/>
                <a:cs typeface="Noto Sans"/>
              </a:rPr>
              <a:t>Desktop OS </a:t>
            </a:r>
            <a:r>
              <a:rPr kumimoji="0" lang="en-GB" sz="1000" b="1" i="0" u="none" strike="noStrike" kern="1200" cap="none" spc="0" normalizeH="0" baseline="0" noProof="0">
                <a:ln>
                  <a:noFill/>
                </a:ln>
                <a:solidFill>
                  <a:srgbClr val="F36633"/>
                </a:solidFill>
                <a:effectLst/>
                <a:uLnTx/>
                <a:uFillTx/>
                <a:latin typeface="Arial"/>
                <a:ea typeface="+mn-ea"/>
                <a:cs typeface="Noto Sans"/>
              </a:rPr>
              <a:t>~7k</a:t>
            </a:r>
            <a:r>
              <a:rPr kumimoji="0" lang="en-GB" sz="1000" b="0" i="0" u="none" strike="noStrike" kern="1200" cap="none" spc="0" normalizeH="0" baseline="0" noProof="0">
                <a:ln>
                  <a:noFill/>
                </a:ln>
                <a:solidFill>
                  <a:srgbClr val="959595">
                    <a:lumMod val="50000"/>
                  </a:srgbClr>
                </a:solidFill>
                <a:effectLst/>
                <a:uLnTx/>
                <a:uFillTx/>
                <a:latin typeface="Arial"/>
                <a:ea typeface="+mn-ea"/>
                <a:cs typeface="Noto Sans"/>
              </a:rPr>
              <a:t> Users </a:t>
            </a:r>
          </a:p>
        </p:txBody>
      </p:sp>
      <p:sp>
        <p:nvSpPr>
          <p:cNvPr id="64" name="TextBox 63">
            <a:extLst>
              <a:ext uri="{FF2B5EF4-FFF2-40B4-BE49-F238E27FC236}">
                <a16:creationId xmlns:a16="http://schemas.microsoft.com/office/drawing/2014/main" id="{EB4B6227-AB84-D242-4255-574D9141CE08}"/>
              </a:ext>
            </a:extLst>
          </p:cNvPr>
          <p:cNvSpPr txBox="1"/>
          <p:nvPr/>
        </p:nvSpPr>
        <p:spPr>
          <a:xfrm>
            <a:off x="4398433" y="4651498"/>
            <a:ext cx="842400" cy="504000"/>
          </a:xfrm>
          <a:prstGeom prst="rect">
            <a:avLst/>
          </a:prstGeom>
          <a:noFill/>
        </p:spPr>
        <p:txBody>
          <a:bodyPr wrap="square" lIns="0" tIns="0" rIns="0" bIns="0" rtlCol="0" anchor="t">
            <a:noAutofit/>
          </a:bodyPr>
          <a:lstStyle/>
          <a:p>
            <a:pPr marL="0" marR="0" lvl="0" indent="0" algn="ct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0" i="0" u="none" strike="noStrike" kern="1200" cap="none" spc="0" normalizeH="0" baseline="0" noProof="0">
                <a:ln>
                  <a:noFill/>
                </a:ln>
                <a:solidFill>
                  <a:srgbClr val="959595">
                    <a:lumMod val="50000"/>
                  </a:srgbClr>
                </a:solidFill>
                <a:effectLst/>
                <a:uLnTx/>
                <a:uFillTx/>
                <a:latin typeface="Arial"/>
                <a:ea typeface="+mn-ea"/>
                <a:cs typeface="Noto Sans"/>
              </a:rPr>
              <a:t>Multi-Session Desktop OS </a:t>
            </a:r>
            <a:r>
              <a:rPr kumimoji="0" lang="en-GB" sz="1000" b="1" i="0" u="none" strike="noStrike" kern="1200" cap="none" spc="0" normalizeH="0" baseline="0" noProof="0">
                <a:ln>
                  <a:noFill/>
                </a:ln>
                <a:solidFill>
                  <a:srgbClr val="F36633"/>
                </a:solidFill>
                <a:effectLst/>
                <a:uLnTx/>
                <a:uFillTx/>
                <a:latin typeface="Arial"/>
                <a:ea typeface="+mn-ea"/>
                <a:cs typeface="Noto Sans"/>
              </a:rPr>
              <a:t>~9.5k</a:t>
            </a:r>
            <a:r>
              <a:rPr kumimoji="0" lang="en-GB" sz="1000" b="0" i="0" u="none" strike="noStrike" kern="1200" cap="none" spc="0" normalizeH="0" baseline="0" noProof="0">
                <a:ln>
                  <a:noFill/>
                </a:ln>
                <a:solidFill>
                  <a:srgbClr val="F36633"/>
                </a:solidFill>
                <a:effectLst/>
                <a:uLnTx/>
                <a:uFillTx/>
                <a:latin typeface="Arial"/>
                <a:ea typeface="+mn-ea"/>
                <a:cs typeface="Noto Sans"/>
              </a:rPr>
              <a:t> </a:t>
            </a:r>
            <a:r>
              <a:rPr kumimoji="0" lang="en-GB" sz="1000" b="0" i="0" u="none" strike="noStrike" kern="1200" cap="none" spc="0" normalizeH="0" baseline="0" noProof="0">
                <a:ln>
                  <a:noFill/>
                </a:ln>
                <a:solidFill>
                  <a:srgbClr val="959595">
                    <a:lumMod val="50000"/>
                  </a:srgbClr>
                </a:solidFill>
                <a:effectLst/>
                <a:uLnTx/>
                <a:uFillTx/>
                <a:latin typeface="Arial"/>
                <a:ea typeface="+mn-ea"/>
                <a:cs typeface="Noto Sans"/>
              </a:rPr>
              <a:t>Users</a:t>
            </a:r>
          </a:p>
        </p:txBody>
      </p:sp>
      <p:grpSp>
        <p:nvGrpSpPr>
          <p:cNvPr id="65" name="Group 64">
            <a:extLst>
              <a:ext uri="{FF2B5EF4-FFF2-40B4-BE49-F238E27FC236}">
                <a16:creationId xmlns:a16="http://schemas.microsoft.com/office/drawing/2014/main" id="{E3CD4A33-3409-E424-06E8-A56054FCE0D7}"/>
              </a:ext>
            </a:extLst>
          </p:cNvPr>
          <p:cNvGrpSpPr>
            <a:grpSpLocks noChangeAspect="1"/>
          </p:cNvGrpSpPr>
          <p:nvPr/>
        </p:nvGrpSpPr>
        <p:grpSpPr>
          <a:xfrm>
            <a:off x="7833196" y="4059963"/>
            <a:ext cx="766940" cy="540000"/>
            <a:chOff x="999683" y="4792733"/>
            <a:chExt cx="741720" cy="522243"/>
          </a:xfrm>
        </p:grpSpPr>
        <p:sp>
          <p:nvSpPr>
            <p:cNvPr id="66" name="Rectangle: Rounded Corners 65">
              <a:extLst>
                <a:ext uri="{FF2B5EF4-FFF2-40B4-BE49-F238E27FC236}">
                  <a16:creationId xmlns:a16="http://schemas.microsoft.com/office/drawing/2014/main" id="{F83290B2-7EBC-0A81-3DD0-33604AC23834}"/>
                </a:ext>
              </a:extLst>
            </p:cNvPr>
            <p:cNvSpPr/>
            <p:nvPr/>
          </p:nvSpPr>
          <p:spPr bwMode="auto">
            <a:xfrm>
              <a:off x="999683" y="4792733"/>
              <a:ext cx="576000" cy="360000"/>
            </a:xfrm>
            <a:prstGeom prst="roundRect">
              <a:avLst/>
            </a:prstGeom>
            <a:solidFill>
              <a:schemeClr val="tx2">
                <a:lumMod val="40000"/>
                <a:lumOff val="60000"/>
              </a:schemeClr>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cs typeface="Noto Sans"/>
              </a:endParaRPr>
            </a:p>
          </p:txBody>
        </p:sp>
        <p:sp>
          <p:nvSpPr>
            <p:cNvPr id="67" name="Rectangle: Rounded Corners 66">
              <a:extLst>
                <a:ext uri="{FF2B5EF4-FFF2-40B4-BE49-F238E27FC236}">
                  <a16:creationId xmlns:a16="http://schemas.microsoft.com/office/drawing/2014/main" id="{E9FB129D-5A07-5B54-E9E8-3B7966A7AB5D}"/>
                </a:ext>
              </a:extLst>
            </p:cNvPr>
            <p:cNvSpPr/>
            <p:nvPr/>
          </p:nvSpPr>
          <p:spPr bwMode="auto">
            <a:xfrm>
              <a:off x="1086020" y="4872116"/>
              <a:ext cx="576000" cy="360000"/>
            </a:xfrm>
            <a:prstGeom prst="roundRect">
              <a:avLst/>
            </a:prstGeom>
            <a:solidFill>
              <a:schemeClr val="tx2">
                <a:lumMod val="60000"/>
                <a:lumOff val="40000"/>
              </a:schemeClr>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cs typeface="Noto Sans"/>
              </a:endParaRPr>
            </a:p>
          </p:txBody>
        </p:sp>
        <p:sp>
          <p:nvSpPr>
            <p:cNvPr id="68" name="Rectangle: Rounded Corners 67">
              <a:extLst>
                <a:ext uri="{FF2B5EF4-FFF2-40B4-BE49-F238E27FC236}">
                  <a16:creationId xmlns:a16="http://schemas.microsoft.com/office/drawing/2014/main" id="{8F81F291-A7CA-1184-46EF-E5970339C19D}"/>
                </a:ext>
              </a:extLst>
            </p:cNvPr>
            <p:cNvSpPr/>
            <p:nvPr/>
          </p:nvSpPr>
          <p:spPr bwMode="auto">
            <a:xfrm>
              <a:off x="1165403" y="4954976"/>
              <a:ext cx="576000" cy="360000"/>
            </a:xfrm>
            <a:prstGeom prst="roundRect">
              <a:avLst/>
            </a:prstGeom>
            <a:solidFill>
              <a:schemeClr val="tx2"/>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cs typeface="Noto Sans"/>
              </a:endParaRPr>
            </a:p>
          </p:txBody>
        </p:sp>
        <p:pic>
          <p:nvPicPr>
            <p:cNvPr id="69" name="Picture 2">
              <a:extLst>
                <a:ext uri="{FF2B5EF4-FFF2-40B4-BE49-F238E27FC236}">
                  <a16:creationId xmlns:a16="http://schemas.microsoft.com/office/drawing/2014/main" id="{8901C804-EB0D-83B9-3EEC-48AE5B619FFB}"/>
                </a:ext>
              </a:extLst>
            </p:cNvPr>
            <p:cNvPicPr>
              <a:picLocks noChangeAspect="1" noChangeArrowheads="1"/>
            </p:cNvPicPr>
            <p:nvPr/>
          </p:nvPicPr>
          <p:blipFill>
            <a:blip r:embed="rId4" cstate="print">
              <a:biLevel thresh="25000"/>
              <a:extLst>
                <a:ext uri="{28A0092B-C50C-407E-A947-70E740481C1C}">
                  <a14:useLocalDpi xmlns:a14="http://schemas.microsoft.com/office/drawing/2010/main" val="0"/>
                </a:ext>
              </a:extLst>
            </a:blip>
            <a:srcRect/>
            <a:stretch>
              <a:fillRect/>
            </a:stretch>
          </p:blipFill>
          <p:spPr bwMode="auto">
            <a:xfrm>
              <a:off x="1412218" y="5073137"/>
              <a:ext cx="90000" cy="90000"/>
            </a:xfrm>
            <a:prstGeom prst="rect">
              <a:avLst/>
            </a:prstGeom>
            <a:noFill/>
            <a:extLst>
              <a:ext uri="{909E8E84-426E-40DD-AFC4-6F175D3DCCD1}">
                <a14:hiddenFill xmlns:a14="http://schemas.microsoft.com/office/drawing/2010/main">
                  <a:solidFill>
                    <a:srgbClr val="FFFFFF"/>
                  </a:solidFill>
                </a14:hiddenFill>
              </a:ext>
            </a:extLst>
          </p:spPr>
        </p:pic>
        <p:pic>
          <p:nvPicPr>
            <p:cNvPr id="70" name="Graphic 69" descr="Monitor with solid fill">
              <a:extLst>
                <a:ext uri="{FF2B5EF4-FFF2-40B4-BE49-F238E27FC236}">
                  <a16:creationId xmlns:a16="http://schemas.microsoft.com/office/drawing/2014/main" id="{82F9FF5C-A845-6860-D372-78C19AFA98EC}"/>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3515" y="4991300"/>
              <a:ext cx="288000" cy="288000"/>
            </a:xfrm>
            <a:prstGeom prst="rect">
              <a:avLst/>
            </a:prstGeom>
          </p:spPr>
        </p:pic>
      </p:grpSp>
      <p:sp>
        <p:nvSpPr>
          <p:cNvPr id="71" name="TextBox 70">
            <a:extLst>
              <a:ext uri="{FF2B5EF4-FFF2-40B4-BE49-F238E27FC236}">
                <a16:creationId xmlns:a16="http://schemas.microsoft.com/office/drawing/2014/main" id="{358609C4-9151-C7B3-9637-531D304A7C48}"/>
              </a:ext>
            </a:extLst>
          </p:cNvPr>
          <p:cNvSpPr txBox="1"/>
          <p:nvPr/>
        </p:nvSpPr>
        <p:spPr>
          <a:xfrm>
            <a:off x="7862637" y="4651498"/>
            <a:ext cx="842400" cy="504000"/>
          </a:xfrm>
          <a:prstGeom prst="rect">
            <a:avLst/>
          </a:prstGeom>
          <a:noFill/>
        </p:spPr>
        <p:txBody>
          <a:bodyPr wrap="square" lIns="0" tIns="0" rIns="0" bIns="0" rtlCol="0" anchor="t">
            <a:noAutofit/>
          </a:bodyPr>
          <a:lstStyle/>
          <a:p>
            <a:pPr marL="0" marR="0" lvl="0" indent="0" algn="ct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0" i="0" u="none" strike="noStrike" kern="1200" cap="none" spc="0" normalizeH="0" baseline="0" noProof="0">
                <a:ln>
                  <a:noFill/>
                </a:ln>
                <a:solidFill>
                  <a:srgbClr val="959595">
                    <a:lumMod val="50000"/>
                  </a:srgbClr>
                </a:solidFill>
                <a:effectLst/>
                <a:uLnTx/>
                <a:uFillTx/>
                <a:latin typeface="Arial"/>
                <a:ea typeface="+mn-ea"/>
                <a:cs typeface="Noto Sans"/>
              </a:rPr>
              <a:t>Multi-Session </a:t>
            </a:r>
          </a:p>
          <a:p>
            <a:pPr marL="0" marR="0" lvl="0" indent="0" algn="ct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0" i="0" u="none" strike="noStrike" kern="1200" cap="none" spc="0" normalizeH="0" baseline="0" noProof="0">
                <a:ln>
                  <a:noFill/>
                </a:ln>
                <a:solidFill>
                  <a:srgbClr val="959595">
                    <a:lumMod val="50000"/>
                  </a:srgbClr>
                </a:solidFill>
                <a:effectLst/>
                <a:uLnTx/>
                <a:uFillTx/>
                <a:latin typeface="Arial"/>
                <a:ea typeface="+mn-ea"/>
                <a:cs typeface="Noto Sans"/>
              </a:rPr>
              <a:t>Server OS </a:t>
            </a:r>
          </a:p>
          <a:p>
            <a:pPr marL="0" marR="0" lvl="0" indent="0" algn="ct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1" i="0" u="none" strike="noStrike" kern="1200" cap="none" spc="0" normalizeH="0" baseline="0" noProof="0">
                <a:ln>
                  <a:noFill/>
                </a:ln>
                <a:solidFill>
                  <a:srgbClr val="F36633"/>
                </a:solidFill>
                <a:effectLst/>
                <a:uLnTx/>
                <a:uFillTx/>
                <a:latin typeface="Arial"/>
                <a:ea typeface="+mn-ea"/>
                <a:cs typeface="Noto Sans"/>
              </a:rPr>
              <a:t>~</a:t>
            </a:r>
            <a:r>
              <a:rPr lang="en-GB" sz="1000" b="1" noProof="0">
                <a:solidFill>
                  <a:srgbClr val="F36633"/>
                </a:solidFill>
                <a:latin typeface="Arial"/>
                <a:cs typeface="Noto Sans"/>
              </a:rPr>
              <a:t>1</a:t>
            </a:r>
            <a:r>
              <a:rPr kumimoji="0" lang="en-GB" sz="1000" b="1" i="0" u="none" strike="noStrike" kern="1200" cap="none" spc="0" normalizeH="0" baseline="0" noProof="0">
                <a:ln>
                  <a:noFill/>
                </a:ln>
                <a:solidFill>
                  <a:srgbClr val="F36633"/>
                </a:solidFill>
                <a:effectLst/>
                <a:uLnTx/>
                <a:uFillTx/>
                <a:latin typeface="Arial"/>
                <a:ea typeface="+mn-ea"/>
                <a:cs typeface="Noto Sans"/>
              </a:rPr>
              <a:t>k</a:t>
            </a:r>
            <a:r>
              <a:rPr kumimoji="0" lang="en-GB" sz="1000" b="0" i="0" u="none" strike="noStrike" kern="1200" cap="none" spc="0" normalizeH="0" baseline="0" noProof="0">
                <a:ln>
                  <a:noFill/>
                </a:ln>
                <a:solidFill>
                  <a:srgbClr val="959595">
                    <a:lumMod val="50000"/>
                  </a:srgbClr>
                </a:solidFill>
                <a:effectLst/>
                <a:uLnTx/>
                <a:uFillTx/>
                <a:latin typeface="Arial"/>
                <a:ea typeface="+mn-ea"/>
                <a:cs typeface="Noto Sans"/>
              </a:rPr>
              <a:t> Users</a:t>
            </a:r>
          </a:p>
        </p:txBody>
      </p:sp>
      <p:grpSp>
        <p:nvGrpSpPr>
          <p:cNvPr id="72" name="Group 71">
            <a:extLst>
              <a:ext uri="{FF2B5EF4-FFF2-40B4-BE49-F238E27FC236}">
                <a16:creationId xmlns:a16="http://schemas.microsoft.com/office/drawing/2014/main" id="{F5EAC129-FABA-6693-33E5-A87F79204775}"/>
              </a:ext>
            </a:extLst>
          </p:cNvPr>
          <p:cNvGrpSpPr/>
          <p:nvPr/>
        </p:nvGrpSpPr>
        <p:grpSpPr>
          <a:xfrm>
            <a:off x="10407261" y="4061437"/>
            <a:ext cx="741720" cy="540000"/>
            <a:chOff x="999683" y="4792733"/>
            <a:chExt cx="741720" cy="522243"/>
          </a:xfrm>
        </p:grpSpPr>
        <p:sp>
          <p:nvSpPr>
            <p:cNvPr id="73" name="Rectangle: Rounded Corners 72">
              <a:extLst>
                <a:ext uri="{FF2B5EF4-FFF2-40B4-BE49-F238E27FC236}">
                  <a16:creationId xmlns:a16="http://schemas.microsoft.com/office/drawing/2014/main" id="{DB6692D9-FCFC-DD45-35E8-FC9C012F5B77}"/>
                </a:ext>
              </a:extLst>
            </p:cNvPr>
            <p:cNvSpPr/>
            <p:nvPr/>
          </p:nvSpPr>
          <p:spPr bwMode="auto">
            <a:xfrm>
              <a:off x="999683" y="4792733"/>
              <a:ext cx="576000" cy="360000"/>
            </a:xfrm>
            <a:prstGeom prst="roundRect">
              <a:avLst/>
            </a:prstGeom>
            <a:solidFill>
              <a:schemeClr val="tx2">
                <a:lumMod val="40000"/>
                <a:lumOff val="60000"/>
              </a:schemeClr>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cs typeface="Noto Sans"/>
              </a:endParaRPr>
            </a:p>
          </p:txBody>
        </p:sp>
        <p:sp>
          <p:nvSpPr>
            <p:cNvPr id="74" name="Rectangle: Rounded Corners 73">
              <a:extLst>
                <a:ext uri="{FF2B5EF4-FFF2-40B4-BE49-F238E27FC236}">
                  <a16:creationId xmlns:a16="http://schemas.microsoft.com/office/drawing/2014/main" id="{62EC5182-219C-44C9-4696-208E9733663E}"/>
                </a:ext>
              </a:extLst>
            </p:cNvPr>
            <p:cNvSpPr/>
            <p:nvPr/>
          </p:nvSpPr>
          <p:spPr bwMode="auto">
            <a:xfrm>
              <a:off x="1086020" y="4872116"/>
              <a:ext cx="576000" cy="360000"/>
            </a:xfrm>
            <a:prstGeom prst="roundRect">
              <a:avLst/>
            </a:prstGeom>
            <a:solidFill>
              <a:schemeClr val="tx2">
                <a:lumMod val="60000"/>
                <a:lumOff val="40000"/>
              </a:schemeClr>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cs typeface="Noto Sans"/>
              </a:endParaRPr>
            </a:p>
          </p:txBody>
        </p:sp>
        <p:sp>
          <p:nvSpPr>
            <p:cNvPr id="75" name="Rectangle: Rounded Corners 74">
              <a:extLst>
                <a:ext uri="{FF2B5EF4-FFF2-40B4-BE49-F238E27FC236}">
                  <a16:creationId xmlns:a16="http://schemas.microsoft.com/office/drawing/2014/main" id="{3225757C-8ECD-22F4-0EA8-4AEEBEF73DC1}"/>
                </a:ext>
              </a:extLst>
            </p:cNvPr>
            <p:cNvSpPr/>
            <p:nvPr/>
          </p:nvSpPr>
          <p:spPr bwMode="auto">
            <a:xfrm>
              <a:off x="1165403" y="4954976"/>
              <a:ext cx="576000" cy="360000"/>
            </a:xfrm>
            <a:prstGeom prst="roundRect">
              <a:avLst/>
            </a:prstGeom>
            <a:solidFill>
              <a:schemeClr val="tx2"/>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cs typeface="Noto Sans"/>
              </a:endParaRPr>
            </a:p>
          </p:txBody>
        </p:sp>
        <p:pic>
          <p:nvPicPr>
            <p:cNvPr id="76" name="Picture 2">
              <a:extLst>
                <a:ext uri="{FF2B5EF4-FFF2-40B4-BE49-F238E27FC236}">
                  <a16:creationId xmlns:a16="http://schemas.microsoft.com/office/drawing/2014/main" id="{58E02481-0680-0832-B88D-577DA4F8305B}"/>
                </a:ext>
              </a:extLst>
            </p:cNvPr>
            <p:cNvPicPr>
              <a:picLocks noChangeAspect="1" noChangeArrowheads="1"/>
            </p:cNvPicPr>
            <p:nvPr/>
          </p:nvPicPr>
          <p:blipFill>
            <a:blip r:embed="rId4" cstate="print">
              <a:biLevel thresh="25000"/>
              <a:extLst>
                <a:ext uri="{28A0092B-C50C-407E-A947-70E740481C1C}">
                  <a14:useLocalDpi xmlns:a14="http://schemas.microsoft.com/office/drawing/2010/main" val="0"/>
                </a:ext>
              </a:extLst>
            </a:blip>
            <a:srcRect/>
            <a:stretch>
              <a:fillRect/>
            </a:stretch>
          </p:blipFill>
          <p:spPr bwMode="auto">
            <a:xfrm>
              <a:off x="1412218" y="5073137"/>
              <a:ext cx="90000" cy="90000"/>
            </a:xfrm>
            <a:prstGeom prst="rect">
              <a:avLst/>
            </a:prstGeom>
            <a:noFill/>
            <a:extLst>
              <a:ext uri="{909E8E84-426E-40DD-AFC4-6F175D3DCCD1}">
                <a14:hiddenFill xmlns:a14="http://schemas.microsoft.com/office/drawing/2010/main">
                  <a:solidFill>
                    <a:srgbClr val="FFFFFF"/>
                  </a:solidFill>
                </a14:hiddenFill>
              </a:ext>
            </a:extLst>
          </p:spPr>
        </p:pic>
        <p:pic>
          <p:nvPicPr>
            <p:cNvPr id="77" name="Graphic 76" descr="Monitor with solid fill">
              <a:extLst>
                <a:ext uri="{FF2B5EF4-FFF2-40B4-BE49-F238E27FC236}">
                  <a16:creationId xmlns:a16="http://schemas.microsoft.com/office/drawing/2014/main" id="{CA3550C8-9C75-9D92-1ACD-3BBD92D6400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3515" y="4991300"/>
              <a:ext cx="288000" cy="288000"/>
            </a:xfrm>
            <a:prstGeom prst="rect">
              <a:avLst/>
            </a:prstGeom>
          </p:spPr>
        </p:pic>
      </p:grpSp>
      <p:sp>
        <p:nvSpPr>
          <p:cNvPr id="78" name="TextBox 77">
            <a:extLst>
              <a:ext uri="{FF2B5EF4-FFF2-40B4-BE49-F238E27FC236}">
                <a16:creationId xmlns:a16="http://schemas.microsoft.com/office/drawing/2014/main" id="{A71DC624-567B-A717-119B-3371F0EA8AB0}"/>
              </a:ext>
            </a:extLst>
          </p:cNvPr>
          <p:cNvSpPr txBox="1"/>
          <p:nvPr/>
        </p:nvSpPr>
        <p:spPr>
          <a:xfrm>
            <a:off x="10387761" y="4651498"/>
            <a:ext cx="842400" cy="504000"/>
          </a:xfrm>
          <a:prstGeom prst="rect">
            <a:avLst/>
          </a:prstGeom>
          <a:noFill/>
        </p:spPr>
        <p:txBody>
          <a:bodyPr wrap="square" lIns="0" tIns="0" rIns="0" bIns="0" rtlCol="0" anchor="t">
            <a:noAutofit/>
          </a:bodyPr>
          <a:lstStyle/>
          <a:p>
            <a:pPr marL="0" marR="0" lvl="0" indent="0" algn="ct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0" i="0" u="none" strike="noStrike" kern="1200" cap="none" spc="0" normalizeH="0" baseline="0" noProof="0">
                <a:ln>
                  <a:noFill/>
                </a:ln>
                <a:solidFill>
                  <a:srgbClr val="959595">
                    <a:lumMod val="50000"/>
                  </a:srgbClr>
                </a:solidFill>
                <a:effectLst/>
                <a:uLnTx/>
                <a:uFillTx/>
                <a:latin typeface="Arial"/>
                <a:ea typeface="+mn-ea"/>
                <a:cs typeface="Noto Sans"/>
              </a:rPr>
              <a:t>Multi-Session </a:t>
            </a:r>
          </a:p>
          <a:p>
            <a:pPr marL="0" marR="0" lvl="0" indent="0" algn="ct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0" i="0" u="none" strike="noStrike" kern="1200" cap="none" spc="0" normalizeH="0" baseline="0" noProof="0">
                <a:ln>
                  <a:noFill/>
                </a:ln>
                <a:solidFill>
                  <a:srgbClr val="959595">
                    <a:lumMod val="50000"/>
                  </a:srgbClr>
                </a:solidFill>
                <a:effectLst/>
                <a:uLnTx/>
                <a:uFillTx/>
                <a:latin typeface="Arial"/>
                <a:ea typeface="+mn-ea"/>
                <a:cs typeface="Noto Sans"/>
              </a:rPr>
              <a:t>Server OS </a:t>
            </a:r>
          </a:p>
          <a:p>
            <a:pPr marL="0" marR="0" lvl="0" indent="0" algn="ct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1" i="0" u="none" strike="noStrike" kern="1200" cap="none" spc="0" normalizeH="0" baseline="0" noProof="0">
                <a:ln>
                  <a:noFill/>
                </a:ln>
                <a:solidFill>
                  <a:srgbClr val="F36633"/>
                </a:solidFill>
                <a:effectLst/>
                <a:uLnTx/>
                <a:uFillTx/>
                <a:latin typeface="Arial"/>
                <a:ea typeface="+mn-ea"/>
                <a:cs typeface="Noto Sans"/>
              </a:rPr>
              <a:t>~</a:t>
            </a:r>
            <a:r>
              <a:rPr lang="en-GB" sz="1000" b="1">
                <a:solidFill>
                  <a:srgbClr val="F36633"/>
                </a:solidFill>
                <a:latin typeface="Arial"/>
                <a:cs typeface="Noto Sans"/>
              </a:rPr>
              <a:t>10</a:t>
            </a:r>
            <a:r>
              <a:rPr kumimoji="0" lang="en-GB" sz="1000" b="1" i="0" u="none" strike="noStrike" kern="1200" cap="none" spc="0" normalizeH="0" baseline="0" noProof="0">
                <a:ln>
                  <a:noFill/>
                </a:ln>
                <a:solidFill>
                  <a:srgbClr val="F36633"/>
                </a:solidFill>
                <a:effectLst/>
                <a:uLnTx/>
                <a:uFillTx/>
                <a:latin typeface="Arial"/>
                <a:ea typeface="+mn-ea"/>
                <a:cs typeface="Noto Sans"/>
              </a:rPr>
              <a:t>0</a:t>
            </a:r>
            <a:r>
              <a:rPr kumimoji="0" lang="en-GB" sz="1000" b="0" i="0" u="none" strike="noStrike" kern="1200" cap="none" spc="0" normalizeH="0" baseline="0" noProof="0">
                <a:ln>
                  <a:noFill/>
                </a:ln>
                <a:solidFill>
                  <a:srgbClr val="959595">
                    <a:lumMod val="50000"/>
                  </a:srgbClr>
                </a:solidFill>
                <a:effectLst/>
                <a:uLnTx/>
                <a:uFillTx/>
                <a:latin typeface="Arial"/>
                <a:ea typeface="+mn-ea"/>
                <a:cs typeface="Noto Sans"/>
              </a:rPr>
              <a:t> Users</a:t>
            </a:r>
          </a:p>
        </p:txBody>
      </p:sp>
      <p:sp>
        <p:nvSpPr>
          <p:cNvPr id="79" name="TextBox 78">
            <a:extLst>
              <a:ext uri="{FF2B5EF4-FFF2-40B4-BE49-F238E27FC236}">
                <a16:creationId xmlns:a16="http://schemas.microsoft.com/office/drawing/2014/main" id="{67A84362-1B5A-8AEE-4BBF-D07C68C1BC03}"/>
              </a:ext>
            </a:extLst>
          </p:cNvPr>
          <p:cNvSpPr txBox="1"/>
          <p:nvPr/>
        </p:nvSpPr>
        <p:spPr>
          <a:xfrm>
            <a:off x="5017435" y="5843110"/>
            <a:ext cx="1150450" cy="324000"/>
          </a:xfrm>
          <a:prstGeom prst="rect">
            <a:avLst/>
          </a:prstGeom>
          <a:noFill/>
        </p:spPr>
        <p:txBody>
          <a:bodyPr wrap="square" lIns="0" tIns="0" rIns="0" bIns="0" rtlCol="0" anchor="t">
            <a:noAutofit/>
          </a:bodyPr>
          <a:lstStyle/>
          <a:p>
            <a:pPr marL="0" marR="0" lvl="0" indent="0" algn="l"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0" i="0" u="none" strike="noStrike" kern="1200" cap="none" spc="0" normalizeH="0" baseline="0" noProof="0">
                <a:ln>
                  <a:noFill/>
                </a:ln>
                <a:solidFill>
                  <a:srgbClr val="959595">
                    <a:lumMod val="50000"/>
                  </a:srgbClr>
                </a:solidFill>
                <a:effectLst/>
                <a:uLnTx/>
                <a:uFillTx/>
                <a:latin typeface="Arial"/>
                <a:ea typeface="+mn-ea"/>
                <a:cs typeface="Noto Sans"/>
              </a:rPr>
              <a:t>GSK SaaS, Web and Windows Apps</a:t>
            </a:r>
          </a:p>
        </p:txBody>
      </p:sp>
      <p:pic>
        <p:nvPicPr>
          <p:cNvPr id="80" name="Graphic 79" descr="Ui Ux with solid fill">
            <a:extLst>
              <a:ext uri="{FF2B5EF4-FFF2-40B4-BE49-F238E27FC236}">
                <a16:creationId xmlns:a16="http://schemas.microsoft.com/office/drawing/2014/main" id="{EE694B36-BC00-E647-A54C-B0C4B505531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44490" y="5769477"/>
            <a:ext cx="504000" cy="504000"/>
          </a:xfrm>
          <a:prstGeom prst="rect">
            <a:avLst/>
          </a:prstGeom>
        </p:spPr>
      </p:pic>
      <p:sp>
        <p:nvSpPr>
          <p:cNvPr id="81" name="TextBox 80">
            <a:extLst>
              <a:ext uri="{FF2B5EF4-FFF2-40B4-BE49-F238E27FC236}">
                <a16:creationId xmlns:a16="http://schemas.microsoft.com/office/drawing/2014/main" id="{CACA94C9-D1CD-01D6-2A22-579A02731FE8}"/>
              </a:ext>
            </a:extLst>
          </p:cNvPr>
          <p:cNvSpPr txBox="1"/>
          <p:nvPr/>
        </p:nvSpPr>
        <p:spPr>
          <a:xfrm>
            <a:off x="9518830" y="5844623"/>
            <a:ext cx="998330" cy="324000"/>
          </a:xfrm>
          <a:prstGeom prst="rect">
            <a:avLst/>
          </a:prstGeom>
          <a:noFill/>
        </p:spPr>
        <p:txBody>
          <a:bodyPr wrap="square" lIns="0" tIns="0" rIns="0" bIns="0" rtlCol="0" anchor="t">
            <a:noAutofit/>
          </a:bodyPr>
          <a:lstStyle/>
          <a:p>
            <a:pPr marL="0" marR="0" lvl="0" indent="0" algn="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0" i="0" u="none" strike="noStrike" kern="1200" cap="none" spc="0" normalizeH="0" baseline="0" noProof="0">
                <a:ln>
                  <a:noFill/>
                </a:ln>
                <a:solidFill>
                  <a:srgbClr val="959595">
                    <a:lumMod val="50000"/>
                  </a:srgbClr>
                </a:solidFill>
                <a:effectLst/>
                <a:uLnTx/>
                <a:uFillTx/>
                <a:latin typeface="Arial"/>
                <a:ea typeface="+mn-ea"/>
                <a:cs typeface="Noto Sans"/>
              </a:rPr>
              <a:t>On-Premises OT Apps &amp; Systems</a:t>
            </a:r>
          </a:p>
        </p:txBody>
      </p:sp>
      <p:grpSp>
        <p:nvGrpSpPr>
          <p:cNvPr id="82" name="Group 81">
            <a:extLst>
              <a:ext uri="{FF2B5EF4-FFF2-40B4-BE49-F238E27FC236}">
                <a16:creationId xmlns:a16="http://schemas.microsoft.com/office/drawing/2014/main" id="{B50F0568-F71C-1F45-3871-63EEBAC5E2E8}"/>
              </a:ext>
            </a:extLst>
          </p:cNvPr>
          <p:cNvGrpSpPr>
            <a:grpSpLocks noChangeAspect="1"/>
          </p:cNvGrpSpPr>
          <p:nvPr/>
        </p:nvGrpSpPr>
        <p:grpSpPr>
          <a:xfrm>
            <a:off x="10578276" y="5819476"/>
            <a:ext cx="464516" cy="360000"/>
            <a:chOff x="5018506" y="2289703"/>
            <a:chExt cx="557419" cy="432000"/>
          </a:xfrm>
        </p:grpSpPr>
        <p:sp>
          <p:nvSpPr>
            <p:cNvPr id="83" name="Freeform: Shape 82">
              <a:extLst>
                <a:ext uri="{FF2B5EF4-FFF2-40B4-BE49-F238E27FC236}">
                  <a16:creationId xmlns:a16="http://schemas.microsoft.com/office/drawing/2014/main" id="{EA9AD071-8D37-A673-6A67-E31CB7F0D3D6}"/>
                </a:ext>
              </a:extLst>
            </p:cNvPr>
            <p:cNvSpPr>
              <a:spLocks noChangeAspect="1"/>
            </p:cNvSpPr>
            <p:nvPr/>
          </p:nvSpPr>
          <p:spPr>
            <a:xfrm>
              <a:off x="5018506" y="2289703"/>
              <a:ext cx="557419" cy="432000"/>
            </a:xfrm>
            <a:custGeom>
              <a:avLst/>
              <a:gdLst>
                <a:gd name="connsiteX0" fmla="*/ 0 w 1484586"/>
                <a:gd name="connsiteY0" fmla="*/ 0 h 1150554"/>
                <a:gd name="connsiteX1" fmla="*/ 0 w 1484586"/>
                <a:gd name="connsiteY1" fmla="*/ 1150555 h 1150554"/>
                <a:gd name="connsiteX2" fmla="*/ 1484587 w 1484586"/>
                <a:gd name="connsiteY2" fmla="*/ 1150555 h 1150554"/>
                <a:gd name="connsiteX3" fmla="*/ 1484587 w 1484586"/>
                <a:gd name="connsiteY3" fmla="*/ 0 h 1150554"/>
                <a:gd name="connsiteX4" fmla="*/ 0 w 1484586"/>
                <a:gd name="connsiteY4" fmla="*/ 0 h 1150554"/>
                <a:gd name="connsiteX5" fmla="*/ 1280456 w 1484586"/>
                <a:gd name="connsiteY5" fmla="*/ 111344 h 1150554"/>
                <a:gd name="connsiteX6" fmla="*/ 1317571 w 1484586"/>
                <a:gd name="connsiteY6" fmla="*/ 148459 h 1150554"/>
                <a:gd name="connsiteX7" fmla="*/ 1280456 w 1484586"/>
                <a:gd name="connsiteY7" fmla="*/ 185573 h 1150554"/>
                <a:gd name="connsiteX8" fmla="*/ 1243341 w 1484586"/>
                <a:gd name="connsiteY8" fmla="*/ 148459 h 1150554"/>
                <a:gd name="connsiteX9" fmla="*/ 1280456 w 1484586"/>
                <a:gd name="connsiteY9" fmla="*/ 111344 h 1150554"/>
                <a:gd name="connsiteX10" fmla="*/ 1150555 w 1484586"/>
                <a:gd name="connsiteY10" fmla="*/ 111344 h 1150554"/>
                <a:gd name="connsiteX11" fmla="*/ 1187669 w 1484586"/>
                <a:gd name="connsiteY11" fmla="*/ 148459 h 1150554"/>
                <a:gd name="connsiteX12" fmla="*/ 1150555 w 1484586"/>
                <a:gd name="connsiteY12" fmla="*/ 185573 h 1150554"/>
                <a:gd name="connsiteX13" fmla="*/ 1113440 w 1484586"/>
                <a:gd name="connsiteY13" fmla="*/ 148459 h 1150554"/>
                <a:gd name="connsiteX14" fmla="*/ 1150555 w 1484586"/>
                <a:gd name="connsiteY14" fmla="*/ 111344 h 1150554"/>
                <a:gd name="connsiteX15" fmla="*/ 1020653 w 1484586"/>
                <a:gd name="connsiteY15" fmla="*/ 111344 h 1150554"/>
                <a:gd name="connsiteX16" fmla="*/ 1057768 w 1484586"/>
                <a:gd name="connsiteY16" fmla="*/ 148459 h 1150554"/>
                <a:gd name="connsiteX17" fmla="*/ 1020653 w 1484586"/>
                <a:gd name="connsiteY17" fmla="*/ 185573 h 1150554"/>
                <a:gd name="connsiteX18" fmla="*/ 983539 w 1484586"/>
                <a:gd name="connsiteY18" fmla="*/ 148459 h 1150554"/>
                <a:gd name="connsiteX19" fmla="*/ 1020653 w 1484586"/>
                <a:gd name="connsiteY19" fmla="*/ 111344 h 1150554"/>
                <a:gd name="connsiteX20" fmla="*/ 1373243 w 1484586"/>
                <a:gd name="connsiteY20" fmla="*/ 1039211 h 1150554"/>
                <a:gd name="connsiteX21" fmla="*/ 111344 w 1484586"/>
                <a:gd name="connsiteY21" fmla="*/ 1039211 h 1150554"/>
                <a:gd name="connsiteX22" fmla="*/ 111344 w 1484586"/>
                <a:gd name="connsiteY22" fmla="*/ 296917 h 1150554"/>
                <a:gd name="connsiteX23" fmla="*/ 1373243 w 1484586"/>
                <a:gd name="connsiteY23" fmla="*/ 296917 h 1150554"/>
                <a:gd name="connsiteX24" fmla="*/ 1373243 w 1484586"/>
                <a:gd name="connsiteY24" fmla="*/ 1039211 h 1150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84586" h="1150554">
                  <a:moveTo>
                    <a:pt x="0" y="0"/>
                  </a:moveTo>
                  <a:lnTo>
                    <a:pt x="0" y="1150555"/>
                  </a:lnTo>
                  <a:lnTo>
                    <a:pt x="1484587" y="1150555"/>
                  </a:lnTo>
                  <a:lnTo>
                    <a:pt x="1484587" y="0"/>
                  </a:lnTo>
                  <a:lnTo>
                    <a:pt x="0" y="0"/>
                  </a:lnTo>
                  <a:close/>
                  <a:moveTo>
                    <a:pt x="1280456" y="111344"/>
                  </a:moveTo>
                  <a:cubicBezTo>
                    <a:pt x="1300869" y="111344"/>
                    <a:pt x="1317571" y="128046"/>
                    <a:pt x="1317571" y="148459"/>
                  </a:cubicBezTo>
                  <a:cubicBezTo>
                    <a:pt x="1317571" y="168872"/>
                    <a:pt x="1300869" y="185573"/>
                    <a:pt x="1280456" y="185573"/>
                  </a:cubicBezTo>
                  <a:cubicBezTo>
                    <a:pt x="1260043" y="185573"/>
                    <a:pt x="1243341" y="168872"/>
                    <a:pt x="1243341" y="148459"/>
                  </a:cubicBezTo>
                  <a:cubicBezTo>
                    <a:pt x="1243341" y="128046"/>
                    <a:pt x="1260043" y="111344"/>
                    <a:pt x="1280456" y="111344"/>
                  </a:cubicBezTo>
                  <a:close/>
                  <a:moveTo>
                    <a:pt x="1150555" y="111344"/>
                  </a:moveTo>
                  <a:cubicBezTo>
                    <a:pt x="1170968" y="111344"/>
                    <a:pt x="1187669" y="128046"/>
                    <a:pt x="1187669" y="148459"/>
                  </a:cubicBezTo>
                  <a:cubicBezTo>
                    <a:pt x="1187669" y="168872"/>
                    <a:pt x="1170968" y="185573"/>
                    <a:pt x="1150555" y="185573"/>
                  </a:cubicBezTo>
                  <a:cubicBezTo>
                    <a:pt x="1130142" y="185573"/>
                    <a:pt x="1113440" y="168872"/>
                    <a:pt x="1113440" y="148459"/>
                  </a:cubicBezTo>
                  <a:cubicBezTo>
                    <a:pt x="1113440" y="128046"/>
                    <a:pt x="1130142" y="111344"/>
                    <a:pt x="1150555" y="111344"/>
                  </a:cubicBezTo>
                  <a:close/>
                  <a:moveTo>
                    <a:pt x="1020653" y="111344"/>
                  </a:moveTo>
                  <a:cubicBezTo>
                    <a:pt x="1041066" y="111344"/>
                    <a:pt x="1057768" y="128046"/>
                    <a:pt x="1057768" y="148459"/>
                  </a:cubicBezTo>
                  <a:cubicBezTo>
                    <a:pt x="1057768" y="168872"/>
                    <a:pt x="1041066" y="185573"/>
                    <a:pt x="1020653" y="185573"/>
                  </a:cubicBezTo>
                  <a:cubicBezTo>
                    <a:pt x="1000240" y="185573"/>
                    <a:pt x="983539" y="168872"/>
                    <a:pt x="983539" y="148459"/>
                  </a:cubicBezTo>
                  <a:cubicBezTo>
                    <a:pt x="983539" y="128046"/>
                    <a:pt x="1000240" y="111344"/>
                    <a:pt x="1020653" y="111344"/>
                  </a:cubicBezTo>
                  <a:close/>
                  <a:moveTo>
                    <a:pt x="1373243" y="1039211"/>
                  </a:moveTo>
                  <a:lnTo>
                    <a:pt x="111344" y="1039211"/>
                  </a:lnTo>
                  <a:lnTo>
                    <a:pt x="111344" y="296917"/>
                  </a:lnTo>
                  <a:lnTo>
                    <a:pt x="1373243" y="296917"/>
                  </a:lnTo>
                  <a:lnTo>
                    <a:pt x="1373243" y="1039211"/>
                  </a:lnTo>
                  <a:close/>
                </a:path>
              </a:pathLst>
            </a:custGeom>
            <a:solidFill>
              <a:schemeClr val="tx2"/>
            </a:solidFill>
            <a:ln w="18554"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pic>
          <p:nvPicPr>
            <p:cNvPr id="84" name="Graphic 83" descr="Factory with solid fill">
              <a:extLst>
                <a:ext uri="{FF2B5EF4-FFF2-40B4-BE49-F238E27FC236}">
                  <a16:creationId xmlns:a16="http://schemas.microsoft.com/office/drawing/2014/main" id="{69F2C19F-F92A-DFA6-B46F-C239B1DD9AC4}"/>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174552" y="2413614"/>
              <a:ext cx="252000" cy="252000"/>
            </a:xfrm>
            <a:prstGeom prst="rect">
              <a:avLst/>
            </a:prstGeom>
          </p:spPr>
        </p:pic>
      </p:grpSp>
      <p:sp>
        <p:nvSpPr>
          <p:cNvPr id="85" name="TextBox 84">
            <a:extLst>
              <a:ext uri="{FF2B5EF4-FFF2-40B4-BE49-F238E27FC236}">
                <a16:creationId xmlns:a16="http://schemas.microsoft.com/office/drawing/2014/main" id="{9B587C5E-11A1-8037-DD5A-70EA6B48083F}"/>
              </a:ext>
            </a:extLst>
          </p:cNvPr>
          <p:cNvSpPr txBox="1"/>
          <p:nvPr/>
        </p:nvSpPr>
        <p:spPr>
          <a:xfrm>
            <a:off x="6655911" y="5843110"/>
            <a:ext cx="1272829" cy="324000"/>
          </a:xfrm>
          <a:prstGeom prst="rect">
            <a:avLst/>
          </a:prstGeom>
          <a:noFill/>
        </p:spPr>
        <p:txBody>
          <a:bodyPr wrap="square" lIns="0" tIns="0" rIns="0" bIns="0" rtlCol="0" anchor="t">
            <a:noAutofit/>
          </a:bodyPr>
          <a:lstStyle/>
          <a:p>
            <a:pPr marL="0" marR="0" lvl="0" indent="0" algn="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0" i="0" u="none" strike="noStrike" kern="1200" cap="none" spc="0" normalizeH="0" baseline="0" noProof="0">
                <a:ln>
                  <a:noFill/>
                </a:ln>
                <a:solidFill>
                  <a:srgbClr val="959595">
                    <a:lumMod val="50000"/>
                  </a:srgbClr>
                </a:solidFill>
                <a:effectLst/>
                <a:uLnTx/>
                <a:uFillTx/>
                <a:latin typeface="Arial"/>
                <a:ea typeface="+mn-ea"/>
                <a:cs typeface="Noto Sans"/>
              </a:rPr>
              <a:t>Labware &amp; Empower App Backend</a:t>
            </a:r>
          </a:p>
        </p:txBody>
      </p:sp>
      <p:grpSp>
        <p:nvGrpSpPr>
          <p:cNvPr id="86" name="Group 85">
            <a:extLst>
              <a:ext uri="{FF2B5EF4-FFF2-40B4-BE49-F238E27FC236}">
                <a16:creationId xmlns:a16="http://schemas.microsoft.com/office/drawing/2014/main" id="{0E29EF67-DBE4-1B05-6A4C-C6C1B9D2A358}"/>
              </a:ext>
            </a:extLst>
          </p:cNvPr>
          <p:cNvGrpSpPr>
            <a:grpSpLocks noChangeAspect="1"/>
          </p:cNvGrpSpPr>
          <p:nvPr/>
        </p:nvGrpSpPr>
        <p:grpSpPr>
          <a:xfrm>
            <a:off x="8023903" y="5819799"/>
            <a:ext cx="464516" cy="360000"/>
            <a:chOff x="7465128" y="2289703"/>
            <a:chExt cx="557419" cy="432000"/>
          </a:xfrm>
        </p:grpSpPr>
        <p:sp>
          <p:nvSpPr>
            <p:cNvPr id="87" name="Freeform: Shape 86">
              <a:extLst>
                <a:ext uri="{FF2B5EF4-FFF2-40B4-BE49-F238E27FC236}">
                  <a16:creationId xmlns:a16="http://schemas.microsoft.com/office/drawing/2014/main" id="{5889E99F-720C-89E7-A1F4-6C488A779FBE}"/>
                </a:ext>
              </a:extLst>
            </p:cNvPr>
            <p:cNvSpPr>
              <a:spLocks noChangeAspect="1"/>
            </p:cNvSpPr>
            <p:nvPr/>
          </p:nvSpPr>
          <p:spPr>
            <a:xfrm>
              <a:off x="7465128" y="2289703"/>
              <a:ext cx="557419" cy="432000"/>
            </a:xfrm>
            <a:custGeom>
              <a:avLst/>
              <a:gdLst>
                <a:gd name="connsiteX0" fmla="*/ 0 w 1484586"/>
                <a:gd name="connsiteY0" fmla="*/ 0 h 1150554"/>
                <a:gd name="connsiteX1" fmla="*/ 0 w 1484586"/>
                <a:gd name="connsiteY1" fmla="*/ 1150555 h 1150554"/>
                <a:gd name="connsiteX2" fmla="*/ 1484587 w 1484586"/>
                <a:gd name="connsiteY2" fmla="*/ 1150555 h 1150554"/>
                <a:gd name="connsiteX3" fmla="*/ 1484587 w 1484586"/>
                <a:gd name="connsiteY3" fmla="*/ 0 h 1150554"/>
                <a:gd name="connsiteX4" fmla="*/ 0 w 1484586"/>
                <a:gd name="connsiteY4" fmla="*/ 0 h 1150554"/>
                <a:gd name="connsiteX5" fmla="*/ 1280456 w 1484586"/>
                <a:gd name="connsiteY5" fmla="*/ 111344 h 1150554"/>
                <a:gd name="connsiteX6" fmla="*/ 1317571 w 1484586"/>
                <a:gd name="connsiteY6" fmla="*/ 148459 h 1150554"/>
                <a:gd name="connsiteX7" fmla="*/ 1280456 w 1484586"/>
                <a:gd name="connsiteY7" fmla="*/ 185573 h 1150554"/>
                <a:gd name="connsiteX8" fmla="*/ 1243341 w 1484586"/>
                <a:gd name="connsiteY8" fmla="*/ 148459 h 1150554"/>
                <a:gd name="connsiteX9" fmla="*/ 1280456 w 1484586"/>
                <a:gd name="connsiteY9" fmla="*/ 111344 h 1150554"/>
                <a:gd name="connsiteX10" fmla="*/ 1150555 w 1484586"/>
                <a:gd name="connsiteY10" fmla="*/ 111344 h 1150554"/>
                <a:gd name="connsiteX11" fmla="*/ 1187669 w 1484586"/>
                <a:gd name="connsiteY11" fmla="*/ 148459 h 1150554"/>
                <a:gd name="connsiteX12" fmla="*/ 1150555 w 1484586"/>
                <a:gd name="connsiteY12" fmla="*/ 185573 h 1150554"/>
                <a:gd name="connsiteX13" fmla="*/ 1113440 w 1484586"/>
                <a:gd name="connsiteY13" fmla="*/ 148459 h 1150554"/>
                <a:gd name="connsiteX14" fmla="*/ 1150555 w 1484586"/>
                <a:gd name="connsiteY14" fmla="*/ 111344 h 1150554"/>
                <a:gd name="connsiteX15" fmla="*/ 1020653 w 1484586"/>
                <a:gd name="connsiteY15" fmla="*/ 111344 h 1150554"/>
                <a:gd name="connsiteX16" fmla="*/ 1057768 w 1484586"/>
                <a:gd name="connsiteY16" fmla="*/ 148459 h 1150554"/>
                <a:gd name="connsiteX17" fmla="*/ 1020653 w 1484586"/>
                <a:gd name="connsiteY17" fmla="*/ 185573 h 1150554"/>
                <a:gd name="connsiteX18" fmla="*/ 983539 w 1484586"/>
                <a:gd name="connsiteY18" fmla="*/ 148459 h 1150554"/>
                <a:gd name="connsiteX19" fmla="*/ 1020653 w 1484586"/>
                <a:gd name="connsiteY19" fmla="*/ 111344 h 1150554"/>
                <a:gd name="connsiteX20" fmla="*/ 1373243 w 1484586"/>
                <a:gd name="connsiteY20" fmla="*/ 1039211 h 1150554"/>
                <a:gd name="connsiteX21" fmla="*/ 111344 w 1484586"/>
                <a:gd name="connsiteY21" fmla="*/ 1039211 h 1150554"/>
                <a:gd name="connsiteX22" fmla="*/ 111344 w 1484586"/>
                <a:gd name="connsiteY22" fmla="*/ 296917 h 1150554"/>
                <a:gd name="connsiteX23" fmla="*/ 1373243 w 1484586"/>
                <a:gd name="connsiteY23" fmla="*/ 296917 h 1150554"/>
                <a:gd name="connsiteX24" fmla="*/ 1373243 w 1484586"/>
                <a:gd name="connsiteY24" fmla="*/ 1039211 h 1150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84586" h="1150554">
                  <a:moveTo>
                    <a:pt x="0" y="0"/>
                  </a:moveTo>
                  <a:lnTo>
                    <a:pt x="0" y="1150555"/>
                  </a:lnTo>
                  <a:lnTo>
                    <a:pt x="1484587" y="1150555"/>
                  </a:lnTo>
                  <a:lnTo>
                    <a:pt x="1484587" y="0"/>
                  </a:lnTo>
                  <a:lnTo>
                    <a:pt x="0" y="0"/>
                  </a:lnTo>
                  <a:close/>
                  <a:moveTo>
                    <a:pt x="1280456" y="111344"/>
                  </a:moveTo>
                  <a:cubicBezTo>
                    <a:pt x="1300869" y="111344"/>
                    <a:pt x="1317571" y="128046"/>
                    <a:pt x="1317571" y="148459"/>
                  </a:cubicBezTo>
                  <a:cubicBezTo>
                    <a:pt x="1317571" y="168872"/>
                    <a:pt x="1300869" y="185573"/>
                    <a:pt x="1280456" y="185573"/>
                  </a:cubicBezTo>
                  <a:cubicBezTo>
                    <a:pt x="1260043" y="185573"/>
                    <a:pt x="1243341" y="168872"/>
                    <a:pt x="1243341" y="148459"/>
                  </a:cubicBezTo>
                  <a:cubicBezTo>
                    <a:pt x="1243341" y="128046"/>
                    <a:pt x="1260043" y="111344"/>
                    <a:pt x="1280456" y="111344"/>
                  </a:cubicBezTo>
                  <a:close/>
                  <a:moveTo>
                    <a:pt x="1150555" y="111344"/>
                  </a:moveTo>
                  <a:cubicBezTo>
                    <a:pt x="1170968" y="111344"/>
                    <a:pt x="1187669" y="128046"/>
                    <a:pt x="1187669" y="148459"/>
                  </a:cubicBezTo>
                  <a:cubicBezTo>
                    <a:pt x="1187669" y="168872"/>
                    <a:pt x="1170968" y="185573"/>
                    <a:pt x="1150555" y="185573"/>
                  </a:cubicBezTo>
                  <a:cubicBezTo>
                    <a:pt x="1130142" y="185573"/>
                    <a:pt x="1113440" y="168872"/>
                    <a:pt x="1113440" y="148459"/>
                  </a:cubicBezTo>
                  <a:cubicBezTo>
                    <a:pt x="1113440" y="128046"/>
                    <a:pt x="1130142" y="111344"/>
                    <a:pt x="1150555" y="111344"/>
                  </a:cubicBezTo>
                  <a:close/>
                  <a:moveTo>
                    <a:pt x="1020653" y="111344"/>
                  </a:moveTo>
                  <a:cubicBezTo>
                    <a:pt x="1041066" y="111344"/>
                    <a:pt x="1057768" y="128046"/>
                    <a:pt x="1057768" y="148459"/>
                  </a:cubicBezTo>
                  <a:cubicBezTo>
                    <a:pt x="1057768" y="168872"/>
                    <a:pt x="1041066" y="185573"/>
                    <a:pt x="1020653" y="185573"/>
                  </a:cubicBezTo>
                  <a:cubicBezTo>
                    <a:pt x="1000240" y="185573"/>
                    <a:pt x="983539" y="168872"/>
                    <a:pt x="983539" y="148459"/>
                  </a:cubicBezTo>
                  <a:cubicBezTo>
                    <a:pt x="983539" y="128046"/>
                    <a:pt x="1000240" y="111344"/>
                    <a:pt x="1020653" y="111344"/>
                  </a:cubicBezTo>
                  <a:close/>
                  <a:moveTo>
                    <a:pt x="1373243" y="1039211"/>
                  </a:moveTo>
                  <a:lnTo>
                    <a:pt x="111344" y="1039211"/>
                  </a:lnTo>
                  <a:lnTo>
                    <a:pt x="111344" y="296917"/>
                  </a:lnTo>
                  <a:lnTo>
                    <a:pt x="1373243" y="296917"/>
                  </a:lnTo>
                  <a:lnTo>
                    <a:pt x="1373243" y="1039211"/>
                  </a:lnTo>
                  <a:close/>
                </a:path>
              </a:pathLst>
            </a:custGeom>
            <a:solidFill>
              <a:schemeClr val="tx2"/>
            </a:solidFill>
            <a:ln w="18554"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pic>
          <p:nvPicPr>
            <p:cNvPr id="88" name="Graphic 87" descr="Beaker with solid fill">
              <a:extLst>
                <a:ext uri="{FF2B5EF4-FFF2-40B4-BE49-F238E27FC236}">
                  <a16:creationId xmlns:a16="http://schemas.microsoft.com/office/drawing/2014/main" id="{2E20CAF5-4CE3-377D-A575-3727E0B7D24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624511" y="2412890"/>
              <a:ext cx="252000" cy="252000"/>
            </a:xfrm>
            <a:prstGeom prst="rect">
              <a:avLst/>
            </a:prstGeom>
          </p:spPr>
        </p:pic>
      </p:grpSp>
      <p:sp>
        <p:nvSpPr>
          <p:cNvPr id="89" name="TextBox 88">
            <a:extLst>
              <a:ext uri="{FF2B5EF4-FFF2-40B4-BE49-F238E27FC236}">
                <a16:creationId xmlns:a16="http://schemas.microsoft.com/office/drawing/2014/main" id="{0EFBEB1E-717C-BA30-7C18-9D621EA00520}"/>
              </a:ext>
            </a:extLst>
          </p:cNvPr>
          <p:cNvSpPr txBox="1"/>
          <p:nvPr/>
        </p:nvSpPr>
        <p:spPr>
          <a:xfrm>
            <a:off x="5357496" y="2970379"/>
            <a:ext cx="842400" cy="324000"/>
          </a:xfrm>
          <a:prstGeom prst="rect">
            <a:avLst/>
          </a:prstGeom>
          <a:noFill/>
          <a:ln>
            <a:noFill/>
          </a:ln>
        </p:spPr>
        <p:txBody>
          <a:bodyPr wrap="square" lIns="0" tIns="0" rIns="0" bIns="0" rtlCol="0" anchor="t">
            <a:noAutofit/>
          </a:bodyPr>
          <a:lstStyle/>
          <a:p>
            <a:pPr marL="0" marR="0" lvl="0" indent="0" algn="ct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0" i="0" u="none" strike="noStrike" kern="1200" cap="none" spc="0" normalizeH="0" baseline="0" noProof="0">
                <a:ln>
                  <a:noFill/>
                </a:ln>
                <a:solidFill>
                  <a:srgbClr val="959595">
                    <a:lumMod val="50000"/>
                  </a:srgbClr>
                </a:solidFill>
                <a:effectLst/>
                <a:uLnTx/>
                <a:uFillTx/>
                <a:latin typeface="Arial"/>
                <a:ea typeface="+mn-ea"/>
                <a:cs typeface="Noto Sans"/>
              </a:rPr>
              <a:t>Citrix Cloud Management</a:t>
            </a:r>
          </a:p>
        </p:txBody>
      </p:sp>
      <p:pic>
        <p:nvPicPr>
          <p:cNvPr id="90" name="Graphic 89" descr="Plugged Unplugged with solid fill">
            <a:extLst>
              <a:ext uri="{FF2B5EF4-FFF2-40B4-BE49-F238E27FC236}">
                <a16:creationId xmlns:a16="http://schemas.microsoft.com/office/drawing/2014/main" id="{97A560C1-9B49-3643-12E4-C87B96F758A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524812" y="4096207"/>
            <a:ext cx="504000" cy="504000"/>
          </a:xfrm>
          <a:prstGeom prst="rect">
            <a:avLst/>
          </a:prstGeom>
        </p:spPr>
      </p:pic>
      <p:sp>
        <p:nvSpPr>
          <p:cNvPr id="91" name="TextBox 90">
            <a:extLst>
              <a:ext uri="{FF2B5EF4-FFF2-40B4-BE49-F238E27FC236}">
                <a16:creationId xmlns:a16="http://schemas.microsoft.com/office/drawing/2014/main" id="{E46F923C-2C8D-DAC4-FCE2-5CD9C7D0DFF6}"/>
              </a:ext>
            </a:extLst>
          </p:cNvPr>
          <p:cNvSpPr txBox="1"/>
          <p:nvPr/>
        </p:nvSpPr>
        <p:spPr>
          <a:xfrm>
            <a:off x="5357226" y="4651498"/>
            <a:ext cx="842400" cy="504000"/>
          </a:xfrm>
          <a:prstGeom prst="rect">
            <a:avLst/>
          </a:prstGeom>
          <a:noFill/>
        </p:spPr>
        <p:txBody>
          <a:bodyPr wrap="square" lIns="0" tIns="0" rIns="0" bIns="0" rtlCol="0" anchor="t">
            <a:noAutofit/>
          </a:bodyPr>
          <a:lstStyle/>
          <a:p>
            <a:pPr marL="0" marR="0" lvl="0" indent="0" algn="ct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0" i="0" u="none" strike="noStrike" kern="1200" cap="none" spc="0" normalizeH="0" baseline="0" noProof="0">
                <a:ln>
                  <a:noFill/>
                </a:ln>
                <a:solidFill>
                  <a:srgbClr val="959595">
                    <a:lumMod val="50000"/>
                  </a:srgbClr>
                </a:solidFill>
                <a:effectLst/>
                <a:uLnTx/>
                <a:uFillTx/>
                <a:latin typeface="Arial"/>
                <a:ea typeface="+mn-ea"/>
                <a:cs typeface="Noto Sans"/>
              </a:rPr>
              <a:t>Citrix Cloud Connectors</a:t>
            </a:r>
          </a:p>
        </p:txBody>
      </p:sp>
      <p:pic>
        <p:nvPicPr>
          <p:cNvPr id="92" name="Graphic 91" descr="Plugged Unplugged with solid fill">
            <a:extLst>
              <a:ext uri="{FF2B5EF4-FFF2-40B4-BE49-F238E27FC236}">
                <a16:creationId xmlns:a16="http://schemas.microsoft.com/office/drawing/2014/main" id="{6BE0B29E-B67C-E5EF-3D79-19DC2E8F303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976702" y="4097110"/>
            <a:ext cx="504000" cy="504000"/>
          </a:xfrm>
          <a:prstGeom prst="rect">
            <a:avLst/>
          </a:prstGeom>
        </p:spPr>
      </p:pic>
      <p:sp>
        <p:nvSpPr>
          <p:cNvPr id="93" name="TextBox 92">
            <a:extLst>
              <a:ext uri="{FF2B5EF4-FFF2-40B4-BE49-F238E27FC236}">
                <a16:creationId xmlns:a16="http://schemas.microsoft.com/office/drawing/2014/main" id="{3C8CEAED-81B1-16D7-4E31-3E86BC6688C2}"/>
              </a:ext>
            </a:extLst>
          </p:cNvPr>
          <p:cNvSpPr txBox="1"/>
          <p:nvPr/>
        </p:nvSpPr>
        <p:spPr>
          <a:xfrm>
            <a:off x="6801625" y="4643115"/>
            <a:ext cx="842400" cy="324000"/>
          </a:xfrm>
          <a:prstGeom prst="rect">
            <a:avLst/>
          </a:prstGeom>
          <a:noFill/>
        </p:spPr>
        <p:txBody>
          <a:bodyPr wrap="square" lIns="0" tIns="0" rIns="0" bIns="0" rtlCol="0" anchor="t">
            <a:noAutofit/>
          </a:bodyPr>
          <a:lstStyle/>
          <a:p>
            <a:pPr marL="0" marR="0" lvl="0" indent="0" algn="ct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0" i="0" u="none" strike="noStrike" kern="1200" cap="none" spc="0" normalizeH="0" baseline="0" noProof="0">
                <a:ln>
                  <a:noFill/>
                </a:ln>
                <a:solidFill>
                  <a:srgbClr val="959595">
                    <a:lumMod val="50000"/>
                  </a:srgbClr>
                </a:solidFill>
                <a:effectLst/>
                <a:uLnTx/>
                <a:uFillTx/>
                <a:latin typeface="Arial"/>
                <a:ea typeface="+mn-ea"/>
                <a:cs typeface="Noto Sans"/>
              </a:rPr>
              <a:t>Citrix Cloud Connectors</a:t>
            </a:r>
          </a:p>
        </p:txBody>
      </p:sp>
      <p:pic>
        <p:nvPicPr>
          <p:cNvPr id="94" name="Graphic 93" descr="Fence with solid fill">
            <a:extLst>
              <a:ext uri="{FF2B5EF4-FFF2-40B4-BE49-F238E27FC236}">
                <a16:creationId xmlns:a16="http://schemas.microsoft.com/office/drawing/2014/main" id="{604160FE-4C12-FC10-0FF7-2793B974666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560240" y="2518325"/>
            <a:ext cx="504000" cy="504000"/>
          </a:xfrm>
          <a:prstGeom prst="rect">
            <a:avLst/>
          </a:prstGeom>
        </p:spPr>
      </p:pic>
      <p:cxnSp>
        <p:nvCxnSpPr>
          <p:cNvPr id="95" name="Connector: Elbow 94">
            <a:extLst>
              <a:ext uri="{FF2B5EF4-FFF2-40B4-BE49-F238E27FC236}">
                <a16:creationId xmlns:a16="http://schemas.microsoft.com/office/drawing/2014/main" id="{0B936E68-C07C-2EF1-5AD0-F324F542EAC9}"/>
              </a:ext>
            </a:extLst>
          </p:cNvPr>
          <p:cNvCxnSpPr>
            <a:cxnSpLocks/>
            <a:stCxn id="120" idx="0"/>
            <a:endCxn id="115" idx="2"/>
          </p:cNvCxnSpPr>
          <p:nvPr/>
        </p:nvCxnSpPr>
        <p:spPr>
          <a:xfrm rot="5400000" flipH="1" flipV="1">
            <a:off x="3350554" y="2661864"/>
            <a:ext cx="703201" cy="1990888"/>
          </a:xfrm>
          <a:prstGeom prst="bentConnector3">
            <a:avLst>
              <a:gd name="adj1" fmla="val 50000"/>
            </a:avLst>
          </a:prstGeom>
          <a:ln w="12700" cap="rnd">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6" name="Connector: Elbow 95">
            <a:extLst>
              <a:ext uri="{FF2B5EF4-FFF2-40B4-BE49-F238E27FC236}">
                <a16:creationId xmlns:a16="http://schemas.microsoft.com/office/drawing/2014/main" id="{BAE090E2-5096-B52E-A5A3-4220AC166880}"/>
              </a:ext>
            </a:extLst>
          </p:cNvPr>
          <p:cNvCxnSpPr>
            <a:cxnSpLocks/>
            <a:stCxn id="121" idx="0"/>
            <a:endCxn id="115" idx="2"/>
          </p:cNvCxnSpPr>
          <p:nvPr/>
        </p:nvCxnSpPr>
        <p:spPr>
          <a:xfrm rot="5400000" flipH="1" flipV="1">
            <a:off x="3861740" y="3172939"/>
            <a:ext cx="703089" cy="968627"/>
          </a:xfrm>
          <a:prstGeom prst="bentConnector3">
            <a:avLst>
              <a:gd name="adj1" fmla="val 50000"/>
            </a:avLst>
          </a:prstGeom>
          <a:ln w="12700" cap="rnd">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A528C105-2B7B-8CA7-F823-61787E970C99}"/>
              </a:ext>
            </a:extLst>
          </p:cNvPr>
          <p:cNvCxnSpPr>
            <a:cxnSpLocks/>
            <a:stCxn id="123" idx="2"/>
            <a:endCxn id="118" idx="0"/>
          </p:cNvCxnSpPr>
          <p:nvPr/>
        </p:nvCxnSpPr>
        <p:spPr>
          <a:xfrm rot="16200000" flipH="1">
            <a:off x="3393873" y="4448507"/>
            <a:ext cx="613839" cy="1988165"/>
          </a:xfrm>
          <a:prstGeom prst="bentConnector3">
            <a:avLst>
              <a:gd name="adj1" fmla="val 50000"/>
            </a:avLst>
          </a:prstGeom>
          <a:ln w="12700" cap="rnd">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8" name="Connector: Elbow 97">
            <a:extLst>
              <a:ext uri="{FF2B5EF4-FFF2-40B4-BE49-F238E27FC236}">
                <a16:creationId xmlns:a16="http://schemas.microsoft.com/office/drawing/2014/main" id="{7CB601A4-AA9A-AF32-8F75-5343474AC5BE}"/>
              </a:ext>
            </a:extLst>
          </p:cNvPr>
          <p:cNvCxnSpPr>
            <a:cxnSpLocks/>
            <a:stCxn id="124" idx="2"/>
            <a:endCxn id="118" idx="0"/>
          </p:cNvCxnSpPr>
          <p:nvPr/>
        </p:nvCxnSpPr>
        <p:spPr>
          <a:xfrm rot="16200000" flipH="1">
            <a:off x="3904948" y="4959582"/>
            <a:ext cx="613951" cy="965904"/>
          </a:xfrm>
          <a:prstGeom prst="bentConnector3">
            <a:avLst>
              <a:gd name="adj1" fmla="val 50000"/>
            </a:avLst>
          </a:prstGeom>
          <a:ln w="12700" cap="rnd">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9" name="Connector: Elbow 98">
            <a:extLst>
              <a:ext uri="{FF2B5EF4-FFF2-40B4-BE49-F238E27FC236}">
                <a16:creationId xmlns:a16="http://schemas.microsoft.com/office/drawing/2014/main" id="{B32F6A85-932F-003B-E818-D3EA768B467B}"/>
              </a:ext>
            </a:extLst>
          </p:cNvPr>
          <p:cNvCxnSpPr>
            <a:cxnSpLocks/>
            <a:stCxn id="122" idx="2"/>
            <a:endCxn id="118" idx="0"/>
          </p:cNvCxnSpPr>
          <p:nvPr/>
        </p:nvCxnSpPr>
        <p:spPr>
          <a:xfrm rot="5400000">
            <a:off x="4389170" y="5441264"/>
            <a:ext cx="613951" cy="2540"/>
          </a:xfrm>
          <a:prstGeom prst="bentConnector3">
            <a:avLst>
              <a:gd name="adj1" fmla="val 50000"/>
            </a:avLst>
          </a:prstGeom>
          <a:ln w="12700" cap="rnd">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A5918C9A-A812-106E-9F41-4697814AABF5}"/>
              </a:ext>
            </a:extLst>
          </p:cNvPr>
          <p:cNvCxnSpPr>
            <a:cxnSpLocks/>
            <a:endCxn id="31" idx="2"/>
          </p:cNvCxnSpPr>
          <p:nvPr/>
        </p:nvCxnSpPr>
        <p:spPr>
          <a:xfrm flipV="1">
            <a:off x="10805187" y="1921657"/>
            <a:ext cx="0" cy="582203"/>
          </a:xfrm>
          <a:prstGeom prst="straightConnector1">
            <a:avLst/>
          </a:prstGeom>
          <a:ln w="12700" cap="rnd">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2B1C2208-3151-BAE2-5C99-9FC35DACAF75}"/>
              </a:ext>
            </a:extLst>
          </p:cNvPr>
          <p:cNvCxnSpPr>
            <a:cxnSpLocks/>
            <a:stCxn id="133" idx="0"/>
            <a:endCxn id="134" idx="2"/>
          </p:cNvCxnSpPr>
          <p:nvPr/>
        </p:nvCxnSpPr>
        <p:spPr>
          <a:xfrm flipV="1">
            <a:off x="10816296" y="3308277"/>
            <a:ext cx="0" cy="700519"/>
          </a:xfrm>
          <a:prstGeom prst="straightConnector1">
            <a:avLst/>
          </a:prstGeom>
          <a:ln w="12700" cap="rnd">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31EFF408-98C0-E7EE-C450-59F03E0BD597}"/>
              </a:ext>
            </a:extLst>
          </p:cNvPr>
          <p:cNvCxnSpPr>
            <a:cxnSpLocks/>
            <a:stCxn id="126" idx="0"/>
            <a:endCxn id="128" idx="2"/>
          </p:cNvCxnSpPr>
          <p:nvPr/>
        </p:nvCxnSpPr>
        <p:spPr>
          <a:xfrm flipV="1">
            <a:off x="8255196" y="5135596"/>
            <a:ext cx="253" cy="614989"/>
          </a:xfrm>
          <a:prstGeom prst="straightConnector1">
            <a:avLst/>
          </a:prstGeom>
          <a:ln w="12700" cap="rnd">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DE5042ED-5B76-9868-74D5-6484BC298C85}"/>
              </a:ext>
            </a:extLst>
          </p:cNvPr>
          <p:cNvCxnSpPr>
            <a:cxnSpLocks/>
            <a:stCxn id="125" idx="0"/>
            <a:endCxn id="127" idx="2"/>
          </p:cNvCxnSpPr>
          <p:nvPr/>
        </p:nvCxnSpPr>
        <p:spPr>
          <a:xfrm flipV="1">
            <a:off x="10816296" y="5135596"/>
            <a:ext cx="0" cy="614989"/>
          </a:xfrm>
          <a:prstGeom prst="straightConnector1">
            <a:avLst/>
          </a:prstGeom>
          <a:ln w="12700" cap="rnd">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04" name="Graphic 103" descr="Hierarchy with solid fill">
            <a:extLst>
              <a:ext uri="{FF2B5EF4-FFF2-40B4-BE49-F238E27FC236}">
                <a16:creationId xmlns:a16="http://schemas.microsoft.com/office/drawing/2014/main" id="{0FF9B177-735B-CEAA-E335-E1B538B3C6C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528504" y="2515377"/>
            <a:ext cx="504000" cy="504000"/>
          </a:xfrm>
          <a:prstGeom prst="rect">
            <a:avLst/>
          </a:prstGeom>
        </p:spPr>
      </p:pic>
      <p:cxnSp>
        <p:nvCxnSpPr>
          <p:cNvPr id="105" name="Connector: Elbow 104">
            <a:extLst>
              <a:ext uri="{FF2B5EF4-FFF2-40B4-BE49-F238E27FC236}">
                <a16:creationId xmlns:a16="http://schemas.microsoft.com/office/drawing/2014/main" id="{F5D049E2-8806-1427-5E2D-E507834AFB49}"/>
              </a:ext>
            </a:extLst>
          </p:cNvPr>
          <p:cNvCxnSpPr>
            <a:cxnSpLocks/>
            <a:stCxn id="117" idx="0"/>
            <a:endCxn id="115" idx="2"/>
          </p:cNvCxnSpPr>
          <p:nvPr/>
        </p:nvCxnSpPr>
        <p:spPr>
          <a:xfrm rot="16200000" flipV="1">
            <a:off x="4346495" y="3656811"/>
            <a:ext cx="703089" cy="882"/>
          </a:xfrm>
          <a:prstGeom prst="bentConnector3">
            <a:avLst>
              <a:gd name="adj1" fmla="val 50000"/>
            </a:avLst>
          </a:prstGeom>
          <a:ln w="12700" cap="rnd">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 name="Rectangle 105">
            <a:extLst>
              <a:ext uri="{FF2B5EF4-FFF2-40B4-BE49-F238E27FC236}">
                <a16:creationId xmlns:a16="http://schemas.microsoft.com/office/drawing/2014/main" id="{06A4C527-4FE8-45A4-6994-BA71F0DC52C9}"/>
              </a:ext>
            </a:extLst>
          </p:cNvPr>
          <p:cNvSpPr/>
          <p:nvPr/>
        </p:nvSpPr>
        <p:spPr bwMode="auto">
          <a:xfrm>
            <a:off x="4637934" y="3272729"/>
            <a:ext cx="360000" cy="144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cs typeface="Noto Sans"/>
            </a:endParaRPr>
          </a:p>
        </p:txBody>
      </p:sp>
      <p:sp>
        <p:nvSpPr>
          <p:cNvPr id="107" name="Rectangle: Rounded Corners 106">
            <a:extLst>
              <a:ext uri="{FF2B5EF4-FFF2-40B4-BE49-F238E27FC236}">
                <a16:creationId xmlns:a16="http://schemas.microsoft.com/office/drawing/2014/main" id="{31CF50C2-19FE-9090-F353-A91E24763B6D}"/>
              </a:ext>
            </a:extLst>
          </p:cNvPr>
          <p:cNvSpPr/>
          <p:nvPr/>
        </p:nvSpPr>
        <p:spPr bwMode="auto">
          <a:xfrm>
            <a:off x="3136791" y="5638379"/>
            <a:ext cx="8280705" cy="683500"/>
          </a:xfrm>
          <a:prstGeom prst="roundRect">
            <a:avLst>
              <a:gd name="adj" fmla="val 7101"/>
            </a:avLst>
          </a:prstGeom>
          <a:noFill/>
          <a:ln w="12700">
            <a:solidFill>
              <a:schemeClr val="tx2"/>
            </a:solidFill>
            <a:prstDash val="dash"/>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cs typeface="Noto Sans"/>
            </a:endParaRPr>
          </a:p>
        </p:txBody>
      </p:sp>
      <p:pic>
        <p:nvPicPr>
          <p:cNvPr id="108" name="Graphic 107" descr="Plugged Unplugged with solid fill">
            <a:extLst>
              <a:ext uri="{FF2B5EF4-FFF2-40B4-BE49-F238E27FC236}">
                <a16:creationId xmlns:a16="http://schemas.microsoft.com/office/drawing/2014/main" id="{852A1EDE-1193-2DC5-04E0-7CA19E50F9A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551703" y="4097110"/>
            <a:ext cx="504000" cy="504000"/>
          </a:xfrm>
          <a:prstGeom prst="rect">
            <a:avLst/>
          </a:prstGeom>
        </p:spPr>
      </p:pic>
      <p:sp>
        <p:nvSpPr>
          <p:cNvPr id="109" name="TextBox 108">
            <a:extLst>
              <a:ext uri="{FF2B5EF4-FFF2-40B4-BE49-F238E27FC236}">
                <a16:creationId xmlns:a16="http://schemas.microsoft.com/office/drawing/2014/main" id="{27205612-E76D-9247-3F74-7BD7C973C45C}"/>
              </a:ext>
            </a:extLst>
          </p:cNvPr>
          <p:cNvSpPr txBox="1"/>
          <p:nvPr/>
        </p:nvSpPr>
        <p:spPr>
          <a:xfrm>
            <a:off x="9388350" y="4651498"/>
            <a:ext cx="842400" cy="324000"/>
          </a:xfrm>
          <a:prstGeom prst="rect">
            <a:avLst/>
          </a:prstGeom>
          <a:noFill/>
        </p:spPr>
        <p:txBody>
          <a:bodyPr wrap="square" lIns="0" tIns="0" rIns="0" bIns="0" rtlCol="0" anchor="t">
            <a:noAutofit/>
          </a:bodyPr>
          <a:lstStyle/>
          <a:p>
            <a:pPr marL="0" marR="0" lvl="0" indent="0" algn="ct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0" i="0" u="none" strike="noStrike" kern="1200" cap="none" spc="0" normalizeH="0" baseline="0" noProof="0">
                <a:ln>
                  <a:noFill/>
                </a:ln>
                <a:solidFill>
                  <a:srgbClr val="959595">
                    <a:lumMod val="50000"/>
                  </a:srgbClr>
                </a:solidFill>
                <a:effectLst/>
                <a:uLnTx/>
                <a:uFillTx/>
                <a:latin typeface="Arial"/>
                <a:ea typeface="+mn-ea"/>
                <a:cs typeface="Noto Sans"/>
              </a:rPr>
              <a:t>Citrix Cloud Connectors</a:t>
            </a:r>
          </a:p>
        </p:txBody>
      </p:sp>
      <p:cxnSp>
        <p:nvCxnSpPr>
          <p:cNvPr id="110" name="Connector: Elbow 109">
            <a:extLst>
              <a:ext uri="{FF2B5EF4-FFF2-40B4-BE49-F238E27FC236}">
                <a16:creationId xmlns:a16="http://schemas.microsoft.com/office/drawing/2014/main" id="{D27B5DDD-CF10-EB21-414A-43CB20D1968E}"/>
              </a:ext>
            </a:extLst>
          </p:cNvPr>
          <p:cNvCxnSpPr>
            <a:cxnSpLocks/>
            <a:stCxn id="154" idx="0"/>
            <a:endCxn id="116" idx="2"/>
          </p:cNvCxnSpPr>
          <p:nvPr/>
        </p:nvCxnSpPr>
        <p:spPr>
          <a:xfrm rot="16200000" flipV="1">
            <a:off x="6237575" y="1995848"/>
            <a:ext cx="705003" cy="3324721"/>
          </a:xfrm>
          <a:prstGeom prst="bentConnector3">
            <a:avLst>
              <a:gd name="adj1" fmla="val 50000"/>
            </a:avLst>
          </a:prstGeom>
          <a:ln w="12700" cap="rnd">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1" name="Connector: Elbow 110">
            <a:extLst>
              <a:ext uri="{FF2B5EF4-FFF2-40B4-BE49-F238E27FC236}">
                <a16:creationId xmlns:a16="http://schemas.microsoft.com/office/drawing/2014/main" id="{F97DEDC8-C50F-8A78-F9BA-C65615C3A3EC}"/>
              </a:ext>
            </a:extLst>
          </p:cNvPr>
          <p:cNvCxnSpPr>
            <a:cxnSpLocks/>
            <a:stCxn id="112" idx="0"/>
            <a:endCxn id="30" idx="2"/>
          </p:cNvCxnSpPr>
          <p:nvPr/>
        </p:nvCxnSpPr>
        <p:spPr>
          <a:xfrm rot="5400000" flipH="1" flipV="1">
            <a:off x="4378622" y="2240027"/>
            <a:ext cx="638468" cy="517"/>
          </a:xfrm>
          <a:prstGeom prst="bentConnector3">
            <a:avLst>
              <a:gd name="adj1" fmla="val 50000"/>
            </a:avLst>
          </a:prstGeom>
          <a:ln w="12700" cap="rnd">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2" name="Rectangle 111">
            <a:extLst>
              <a:ext uri="{FF2B5EF4-FFF2-40B4-BE49-F238E27FC236}">
                <a16:creationId xmlns:a16="http://schemas.microsoft.com/office/drawing/2014/main" id="{570876E0-6581-1123-B006-994490E1A7E8}"/>
              </a:ext>
            </a:extLst>
          </p:cNvPr>
          <p:cNvSpPr/>
          <p:nvPr/>
        </p:nvSpPr>
        <p:spPr bwMode="auto">
          <a:xfrm>
            <a:off x="4589598" y="2559519"/>
            <a:ext cx="216000" cy="216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cs typeface="Noto Sans"/>
            </a:endParaRPr>
          </a:p>
        </p:txBody>
      </p:sp>
      <p:sp>
        <p:nvSpPr>
          <p:cNvPr id="113" name="Rectangle 112">
            <a:extLst>
              <a:ext uri="{FF2B5EF4-FFF2-40B4-BE49-F238E27FC236}">
                <a16:creationId xmlns:a16="http://schemas.microsoft.com/office/drawing/2014/main" id="{D7BC4A4B-05E6-EF8A-1F2C-93C8F36BDD07}"/>
              </a:ext>
            </a:extLst>
          </p:cNvPr>
          <p:cNvSpPr/>
          <p:nvPr/>
        </p:nvSpPr>
        <p:spPr bwMode="auto">
          <a:xfrm>
            <a:off x="4819715" y="2559519"/>
            <a:ext cx="216000" cy="216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cs typeface="Noto Sans"/>
            </a:endParaRPr>
          </a:p>
        </p:txBody>
      </p:sp>
      <p:cxnSp>
        <p:nvCxnSpPr>
          <p:cNvPr id="114" name="Connector: Elbow 113">
            <a:extLst>
              <a:ext uri="{FF2B5EF4-FFF2-40B4-BE49-F238E27FC236}">
                <a16:creationId xmlns:a16="http://schemas.microsoft.com/office/drawing/2014/main" id="{36B1EA26-8314-E8B6-1087-2111500E9F24}"/>
              </a:ext>
            </a:extLst>
          </p:cNvPr>
          <p:cNvCxnSpPr>
            <a:cxnSpLocks/>
            <a:stCxn id="113" idx="0"/>
            <a:endCxn id="28" idx="2"/>
          </p:cNvCxnSpPr>
          <p:nvPr/>
        </p:nvCxnSpPr>
        <p:spPr>
          <a:xfrm rot="5400000" flipH="1" flipV="1">
            <a:off x="5460776" y="1388596"/>
            <a:ext cx="637862" cy="1703985"/>
          </a:xfrm>
          <a:prstGeom prst="bentConnector3">
            <a:avLst>
              <a:gd name="adj1" fmla="val 50000"/>
            </a:avLst>
          </a:prstGeom>
          <a:ln w="12700" cap="rnd">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5" name="Rectangle 114">
            <a:extLst>
              <a:ext uri="{FF2B5EF4-FFF2-40B4-BE49-F238E27FC236}">
                <a16:creationId xmlns:a16="http://schemas.microsoft.com/office/drawing/2014/main" id="{AB7259AF-D045-6175-49D2-0A90043FA035}"/>
              </a:ext>
            </a:extLst>
          </p:cNvPr>
          <p:cNvSpPr/>
          <p:nvPr/>
        </p:nvSpPr>
        <p:spPr bwMode="auto">
          <a:xfrm>
            <a:off x="4589598" y="3089707"/>
            <a:ext cx="216000" cy="216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cs typeface="Noto Sans"/>
            </a:endParaRPr>
          </a:p>
        </p:txBody>
      </p:sp>
      <p:sp>
        <p:nvSpPr>
          <p:cNvPr id="116" name="Rectangle 115">
            <a:extLst>
              <a:ext uri="{FF2B5EF4-FFF2-40B4-BE49-F238E27FC236}">
                <a16:creationId xmlns:a16="http://schemas.microsoft.com/office/drawing/2014/main" id="{AAFFB08A-6FA0-63C2-CC06-343439D20669}"/>
              </a:ext>
            </a:extLst>
          </p:cNvPr>
          <p:cNvSpPr/>
          <p:nvPr/>
        </p:nvSpPr>
        <p:spPr bwMode="auto">
          <a:xfrm>
            <a:off x="4819715" y="3089707"/>
            <a:ext cx="216000" cy="216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cs typeface="Noto Sans"/>
            </a:endParaRPr>
          </a:p>
        </p:txBody>
      </p:sp>
      <p:sp>
        <p:nvSpPr>
          <p:cNvPr id="117" name="Rectangle 116">
            <a:extLst>
              <a:ext uri="{FF2B5EF4-FFF2-40B4-BE49-F238E27FC236}">
                <a16:creationId xmlns:a16="http://schemas.microsoft.com/office/drawing/2014/main" id="{1610D366-0257-50FF-DBE4-517954D7B503}"/>
              </a:ext>
            </a:extLst>
          </p:cNvPr>
          <p:cNvSpPr/>
          <p:nvPr/>
        </p:nvSpPr>
        <p:spPr bwMode="auto">
          <a:xfrm>
            <a:off x="4590480" y="4008796"/>
            <a:ext cx="216000" cy="216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cs typeface="Noto Sans"/>
            </a:endParaRPr>
          </a:p>
        </p:txBody>
      </p:sp>
      <p:sp>
        <p:nvSpPr>
          <p:cNvPr id="118" name="Rectangle 117">
            <a:extLst>
              <a:ext uri="{FF2B5EF4-FFF2-40B4-BE49-F238E27FC236}">
                <a16:creationId xmlns:a16="http://schemas.microsoft.com/office/drawing/2014/main" id="{83999FE4-35CD-E67B-F79D-4FE71E9480DD}"/>
              </a:ext>
            </a:extLst>
          </p:cNvPr>
          <p:cNvSpPr/>
          <p:nvPr/>
        </p:nvSpPr>
        <p:spPr bwMode="auto">
          <a:xfrm>
            <a:off x="4586875" y="5749510"/>
            <a:ext cx="216000" cy="216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cs typeface="Noto Sans"/>
            </a:endParaRPr>
          </a:p>
        </p:txBody>
      </p:sp>
      <p:sp>
        <p:nvSpPr>
          <p:cNvPr id="119" name="Rectangle 118">
            <a:extLst>
              <a:ext uri="{FF2B5EF4-FFF2-40B4-BE49-F238E27FC236}">
                <a16:creationId xmlns:a16="http://schemas.microsoft.com/office/drawing/2014/main" id="{2A66320D-706A-0E19-B57F-57D8B534E70F}"/>
              </a:ext>
            </a:extLst>
          </p:cNvPr>
          <p:cNvSpPr/>
          <p:nvPr/>
        </p:nvSpPr>
        <p:spPr bwMode="auto">
          <a:xfrm>
            <a:off x="8146466" y="2559910"/>
            <a:ext cx="216000" cy="216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cs typeface="Noto Sans"/>
            </a:endParaRPr>
          </a:p>
        </p:txBody>
      </p:sp>
      <p:sp>
        <p:nvSpPr>
          <p:cNvPr id="120" name="Rectangle 119">
            <a:extLst>
              <a:ext uri="{FF2B5EF4-FFF2-40B4-BE49-F238E27FC236}">
                <a16:creationId xmlns:a16="http://schemas.microsoft.com/office/drawing/2014/main" id="{DCE9914A-7DA8-50ED-F0B7-438E9DF0AAD2}"/>
              </a:ext>
            </a:extLst>
          </p:cNvPr>
          <p:cNvSpPr/>
          <p:nvPr/>
        </p:nvSpPr>
        <p:spPr bwMode="auto">
          <a:xfrm>
            <a:off x="2598710" y="4008908"/>
            <a:ext cx="216000" cy="216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cs typeface="Noto Sans"/>
            </a:endParaRPr>
          </a:p>
        </p:txBody>
      </p:sp>
      <p:sp>
        <p:nvSpPr>
          <p:cNvPr id="121" name="Rectangle 120">
            <a:extLst>
              <a:ext uri="{FF2B5EF4-FFF2-40B4-BE49-F238E27FC236}">
                <a16:creationId xmlns:a16="http://schemas.microsoft.com/office/drawing/2014/main" id="{0C04AEC6-C526-1F3D-A98C-57435DB884F7}"/>
              </a:ext>
            </a:extLst>
          </p:cNvPr>
          <p:cNvSpPr/>
          <p:nvPr/>
        </p:nvSpPr>
        <p:spPr bwMode="auto">
          <a:xfrm>
            <a:off x="3620971" y="4008796"/>
            <a:ext cx="216000" cy="216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cs typeface="Noto Sans"/>
            </a:endParaRPr>
          </a:p>
        </p:txBody>
      </p:sp>
      <p:sp>
        <p:nvSpPr>
          <p:cNvPr id="122" name="Rectangle 121">
            <a:extLst>
              <a:ext uri="{FF2B5EF4-FFF2-40B4-BE49-F238E27FC236}">
                <a16:creationId xmlns:a16="http://schemas.microsoft.com/office/drawing/2014/main" id="{F6B040F6-6C07-2ABD-53FA-FBB8D2A44516}"/>
              </a:ext>
            </a:extLst>
          </p:cNvPr>
          <p:cNvSpPr/>
          <p:nvPr/>
        </p:nvSpPr>
        <p:spPr bwMode="auto">
          <a:xfrm>
            <a:off x="4589415" y="4919559"/>
            <a:ext cx="216000" cy="216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cs typeface="Noto Sans"/>
            </a:endParaRPr>
          </a:p>
        </p:txBody>
      </p:sp>
      <p:sp>
        <p:nvSpPr>
          <p:cNvPr id="123" name="Rectangle 122">
            <a:extLst>
              <a:ext uri="{FF2B5EF4-FFF2-40B4-BE49-F238E27FC236}">
                <a16:creationId xmlns:a16="http://schemas.microsoft.com/office/drawing/2014/main" id="{0C4DD7E2-9137-1F57-5E73-9B8EE3988AD6}"/>
              </a:ext>
            </a:extLst>
          </p:cNvPr>
          <p:cNvSpPr/>
          <p:nvPr/>
        </p:nvSpPr>
        <p:spPr bwMode="auto">
          <a:xfrm>
            <a:off x="2598710" y="4919671"/>
            <a:ext cx="216000" cy="216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cs typeface="Noto Sans"/>
            </a:endParaRPr>
          </a:p>
        </p:txBody>
      </p:sp>
      <p:sp>
        <p:nvSpPr>
          <p:cNvPr id="124" name="Rectangle 123">
            <a:extLst>
              <a:ext uri="{FF2B5EF4-FFF2-40B4-BE49-F238E27FC236}">
                <a16:creationId xmlns:a16="http://schemas.microsoft.com/office/drawing/2014/main" id="{3EDD4F5E-243D-07FF-9540-49CDE18BA22D}"/>
              </a:ext>
            </a:extLst>
          </p:cNvPr>
          <p:cNvSpPr/>
          <p:nvPr/>
        </p:nvSpPr>
        <p:spPr bwMode="auto">
          <a:xfrm>
            <a:off x="3620971" y="4919559"/>
            <a:ext cx="216000" cy="216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cs typeface="Noto Sans"/>
            </a:endParaRPr>
          </a:p>
        </p:txBody>
      </p:sp>
      <p:sp>
        <p:nvSpPr>
          <p:cNvPr id="125" name="Rectangle 124">
            <a:extLst>
              <a:ext uri="{FF2B5EF4-FFF2-40B4-BE49-F238E27FC236}">
                <a16:creationId xmlns:a16="http://schemas.microsoft.com/office/drawing/2014/main" id="{11D8F13F-6265-A1F9-632D-800AA6D79D92}"/>
              </a:ext>
            </a:extLst>
          </p:cNvPr>
          <p:cNvSpPr/>
          <p:nvPr/>
        </p:nvSpPr>
        <p:spPr bwMode="auto">
          <a:xfrm>
            <a:off x="10708296" y="5750585"/>
            <a:ext cx="216000" cy="216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cs typeface="Noto Sans"/>
            </a:endParaRPr>
          </a:p>
        </p:txBody>
      </p:sp>
      <p:sp>
        <p:nvSpPr>
          <p:cNvPr id="126" name="Rectangle 125">
            <a:extLst>
              <a:ext uri="{FF2B5EF4-FFF2-40B4-BE49-F238E27FC236}">
                <a16:creationId xmlns:a16="http://schemas.microsoft.com/office/drawing/2014/main" id="{D31ED2C2-C74C-1C5F-DF33-1C027D4F8692}"/>
              </a:ext>
            </a:extLst>
          </p:cNvPr>
          <p:cNvSpPr/>
          <p:nvPr/>
        </p:nvSpPr>
        <p:spPr bwMode="auto">
          <a:xfrm>
            <a:off x="8147196" y="5750585"/>
            <a:ext cx="216000" cy="216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cs typeface="Noto Sans"/>
            </a:endParaRPr>
          </a:p>
        </p:txBody>
      </p:sp>
      <p:sp>
        <p:nvSpPr>
          <p:cNvPr id="127" name="Rectangle 126">
            <a:extLst>
              <a:ext uri="{FF2B5EF4-FFF2-40B4-BE49-F238E27FC236}">
                <a16:creationId xmlns:a16="http://schemas.microsoft.com/office/drawing/2014/main" id="{74B4AED6-72C0-5344-CB1A-18047D575416}"/>
              </a:ext>
            </a:extLst>
          </p:cNvPr>
          <p:cNvSpPr/>
          <p:nvPr/>
        </p:nvSpPr>
        <p:spPr bwMode="auto">
          <a:xfrm>
            <a:off x="10708296" y="4919596"/>
            <a:ext cx="216000" cy="216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cs typeface="Noto Sans"/>
            </a:endParaRPr>
          </a:p>
        </p:txBody>
      </p:sp>
      <p:sp>
        <p:nvSpPr>
          <p:cNvPr id="128" name="Rectangle 127">
            <a:extLst>
              <a:ext uri="{FF2B5EF4-FFF2-40B4-BE49-F238E27FC236}">
                <a16:creationId xmlns:a16="http://schemas.microsoft.com/office/drawing/2014/main" id="{5CD82999-D12F-B612-0949-CA32DBDB583E}"/>
              </a:ext>
            </a:extLst>
          </p:cNvPr>
          <p:cNvSpPr/>
          <p:nvPr/>
        </p:nvSpPr>
        <p:spPr bwMode="auto">
          <a:xfrm>
            <a:off x="8147449" y="4919596"/>
            <a:ext cx="216000" cy="216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cs typeface="Noto Sans"/>
            </a:endParaRPr>
          </a:p>
        </p:txBody>
      </p:sp>
      <p:sp>
        <p:nvSpPr>
          <p:cNvPr id="129" name="Rectangle 128">
            <a:extLst>
              <a:ext uri="{FF2B5EF4-FFF2-40B4-BE49-F238E27FC236}">
                <a16:creationId xmlns:a16="http://schemas.microsoft.com/office/drawing/2014/main" id="{70E770FE-F549-EB45-B886-E53C8825EFDB}"/>
              </a:ext>
            </a:extLst>
          </p:cNvPr>
          <p:cNvSpPr/>
          <p:nvPr/>
        </p:nvSpPr>
        <p:spPr bwMode="auto">
          <a:xfrm>
            <a:off x="5674599" y="3089110"/>
            <a:ext cx="216000" cy="216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cs typeface="Noto Sans"/>
            </a:endParaRPr>
          </a:p>
        </p:txBody>
      </p:sp>
      <p:sp>
        <p:nvSpPr>
          <p:cNvPr id="130" name="Rectangle 129">
            <a:extLst>
              <a:ext uri="{FF2B5EF4-FFF2-40B4-BE49-F238E27FC236}">
                <a16:creationId xmlns:a16="http://schemas.microsoft.com/office/drawing/2014/main" id="{0A41C914-6C9E-473A-BCB3-49FE1AD158A1}"/>
              </a:ext>
            </a:extLst>
          </p:cNvPr>
          <p:cNvSpPr/>
          <p:nvPr/>
        </p:nvSpPr>
        <p:spPr bwMode="auto">
          <a:xfrm>
            <a:off x="5673947" y="4010710"/>
            <a:ext cx="216000" cy="216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cs typeface="Noto Sans"/>
            </a:endParaRPr>
          </a:p>
        </p:txBody>
      </p:sp>
      <p:sp>
        <p:nvSpPr>
          <p:cNvPr id="131" name="Rectangle 130">
            <a:extLst>
              <a:ext uri="{FF2B5EF4-FFF2-40B4-BE49-F238E27FC236}">
                <a16:creationId xmlns:a16="http://schemas.microsoft.com/office/drawing/2014/main" id="{AB53E8A1-882C-AAEB-9572-34AA0ACFC457}"/>
              </a:ext>
            </a:extLst>
          </p:cNvPr>
          <p:cNvSpPr/>
          <p:nvPr/>
        </p:nvSpPr>
        <p:spPr bwMode="auto">
          <a:xfrm>
            <a:off x="7151016" y="4008796"/>
            <a:ext cx="216000" cy="216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cs typeface="Noto Sans"/>
            </a:endParaRPr>
          </a:p>
        </p:txBody>
      </p:sp>
      <p:sp>
        <p:nvSpPr>
          <p:cNvPr id="132" name="Rectangle 131">
            <a:extLst>
              <a:ext uri="{FF2B5EF4-FFF2-40B4-BE49-F238E27FC236}">
                <a16:creationId xmlns:a16="http://schemas.microsoft.com/office/drawing/2014/main" id="{D8666FC7-37E9-2EF7-53D8-2677C0CDF771}"/>
              </a:ext>
            </a:extLst>
          </p:cNvPr>
          <p:cNvSpPr/>
          <p:nvPr/>
        </p:nvSpPr>
        <p:spPr bwMode="auto">
          <a:xfrm>
            <a:off x="9632328" y="4008796"/>
            <a:ext cx="216000" cy="216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cs typeface="Noto Sans"/>
            </a:endParaRPr>
          </a:p>
        </p:txBody>
      </p:sp>
      <p:sp>
        <p:nvSpPr>
          <p:cNvPr id="133" name="Rectangle 132">
            <a:extLst>
              <a:ext uri="{FF2B5EF4-FFF2-40B4-BE49-F238E27FC236}">
                <a16:creationId xmlns:a16="http://schemas.microsoft.com/office/drawing/2014/main" id="{F75528EB-CFD7-63D0-4A8A-ACA896BE0817}"/>
              </a:ext>
            </a:extLst>
          </p:cNvPr>
          <p:cNvSpPr/>
          <p:nvPr/>
        </p:nvSpPr>
        <p:spPr bwMode="auto">
          <a:xfrm>
            <a:off x="10708296" y="4008796"/>
            <a:ext cx="216000" cy="216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cs typeface="Noto Sans"/>
            </a:endParaRPr>
          </a:p>
        </p:txBody>
      </p:sp>
      <p:sp>
        <p:nvSpPr>
          <p:cNvPr id="134" name="Rectangle 133">
            <a:extLst>
              <a:ext uri="{FF2B5EF4-FFF2-40B4-BE49-F238E27FC236}">
                <a16:creationId xmlns:a16="http://schemas.microsoft.com/office/drawing/2014/main" id="{7ABBD48B-6C1B-4A83-35D7-5505FB7C017D}"/>
              </a:ext>
            </a:extLst>
          </p:cNvPr>
          <p:cNvSpPr/>
          <p:nvPr/>
        </p:nvSpPr>
        <p:spPr bwMode="auto">
          <a:xfrm>
            <a:off x="10708296" y="3092277"/>
            <a:ext cx="216000" cy="216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cs typeface="Noto Sans"/>
            </a:endParaRPr>
          </a:p>
        </p:txBody>
      </p:sp>
      <p:sp>
        <p:nvSpPr>
          <p:cNvPr id="135" name="TextBox 134">
            <a:extLst>
              <a:ext uri="{FF2B5EF4-FFF2-40B4-BE49-F238E27FC236}">
                <a16:creationId xmlns:a16="http://schemas.microsoft.com/office/drawing/2014/main" id="{7001E0B7-8813-E4E7-2359-09E4BC885E9C}"/>
              </a:ext>
            </a:extLst>
          </p:cNvPr>
          <p:cNvSpPr txBox="1"/>
          <p:nvPr/>
        </p:nvSpPr>
        <p:spPr>
          <a:xfrm>
            <a:off x="1268722" y="4303029"/>
            <a:ext cx="901344" cy="812383"/>
          </a:xfrm>
          <a:prstGeom prst="rect">
            <a:avLst/>
          </a:prstGeom>
          <a:noFill/>
        </p:spPr>
        <p:txBody>
          <a:bodyPr wrap="square" lIns="0" tIns="0" rIns="0" bIns="0" rtlCol="0" anchor="t">
            <a:noAutofit/>
          </a:bodyPr>
          <a:lstStyle/>
          <a:p>
            <a:pPr marL="0" marR="0" lvl="0" indent="0" algn="ct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0" i="0" u="none" strike="noStrike" kern="1200" cap="none" spc="0" normalizeH="0" baseline="0" noProof="0">
                <a:ln>
                  <a:noFill/>
                </a:ln>
                <a:solidFill>
                  <a:srgbClr val="F36633"/>
                </a:solidFill>
                <a:effectLst/>
                <a:uLnTx/>
                <a:uFillTx/>
                <a:latin typeface="Arial"/>
                <a:ea typeface="+mn-ea"/>
                <a:cs typeface="Noto Sans"/>
              </a:rPr>
              <a:t>Cloud DaaS Workloads in US East 2 &amp;</a:t>
            </a:r>
          </a:p>
          <a:p>
            <a:pPr marL="0" marR="0" lvl="0" indent="0" algn="ct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0" i="0" u="none" strike="noStrike" kern="1200" cap="none" spc="0" normalizeH="0" baseline="0" noProof="0">
                <a:ln>
                  <a:noFill/>
                </a:ln>
                <a:solidFill>
                  <a:srgbClr val="F36633"/>
                </a:solidFill>
                <a:effectLst/>
                <a:uLnTx/>
                <a:uFillTx/>
                <a:latin typeface="Arial"/>
                <a:ea typeface="+mn-ea"/>
                <a:cs typeface="Noto Sans"/>
              </a:rPr>
              <a:t>North Europe (IT &amp; OT Subs)</a:t>
            </a:r>
          </a:p>
        </p:txBody>
      </p:sp>
      <p:pic>
        <p:nvPicPr>
          <p:cNvPr id="136" name="Picture 6">
            <a:extLst>
              <a:ext uri="{FF2B5EF4-FFF2-40B4-BE49-F238E27FC236}">
                <a16:creationId xmlns:a16="http://schemas.microsoft.com/office/drawing/2014/main" id="{F1A08AFD-DEAB-6E8B-87DB-58D1E626FEF1}"/>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390962" y="4059155"/>
            <a:ext cx="622702" cy="180000"/>
          </a:xfrm>
          <a:prstGeom prst="rect">
            <a:avLst/>
          </a:prstGeom>
          <a:noFill/>
          <a:effectLst/>
          <a:extLst>
            <a:ext uri="{909E8E84-426E-40DD-AFC4-6F175D3DCCD1}">
              <a14:hiddenFill xmlns:a14="http://schemas.microsoft.com/office/drawing/2010/main">
                <a:solidFill>
                  <a:srgbClr val="FFFFFF"/>
                </a:solidFill>
              </a14:hiddenFill>
            </a:ext>
          </a:extLst>
        </p:spPr>
      </p:pic>
      <p:sp>
        <p:nvSpPr>
          <p:cNvPr id="137" name="TextBox 136">
            <a:extLst>
              <a:ext uri="{FF2B5EF4-FFF2-40B4-BE49-F238E27FC236}">
                <a16:creationId xmlns:a16="http://schemas.microsoft.com/office/drawing/2014/main" id="{9F94A5A6-4102-462B-35CE-3A656AC823ED}"/>
              </a:ext>
            </a:extLst>
          </p:cNvPr>
          <p:cNvSpPr txBox="1"/>
          <p:nvPr/>
        </p:nvSpPr>
        <p:spPr>
          <a:xfrm>
            <a:off x="3266022" y="5911691"/>
            <a:ext cx="1078275" cy="320511"/>
          </a:xfrm>
          <a:prstGeom prst="rect">
            <a:avLst/>
          </a:prstGeom>
          <a:noFill/>
        </p:spPr>
        <p:txBody>
          <a:bodyPr wrap="square" lIns="0" tIns="0" rIns="0" bIns="0" rtlCol="0" anchor="t">
            <a:noAutofit/>
          </a:bodyPr>
          <a:lstStyle/>
          <a:p>
            <a:pPr marL="0" marR="0" lvl="0" indent="0" algn="ct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0" i="0" u="none" strike="noStrike" kern="1200" cap="none" spc="0" normalizeH="0" baseline="0" noProof="0">
                <a:ln>
                  <a:noFill/>
                </a:ln>
                <a:solidFill>
                  <a:srgbClr val="F36633"/>
                </a:solidFill>
                <a:effectLst/>
                <a:uLnTx/>
                <a:uFillTx/>
                <a:latin typeface="Arial"/>
                <a:ea typeface="+mn-ea"/>
                <a:cs typeface="Noto Sans"/>
              </a:rPr>
              <a:t>End User Application Estate</a:t>
            </a:r>
          </a:p>
        </p:txBody>
      </p:sp>
      <p:pic>
        <p:nvPicPr>
          <p:cNvPr id="138" name="Picture 8">
            <a:extLst>
              <a:ext uri="{FF2B5EF4-FFF2-40B4-BE49-F238E27FC236}">
                <a16:creationId xmlns:a16="http://schemas.microsoft.com/office/drawing/2014/main" id="{86E137DD-F09F-F9DA-1961-40C5D797A144}"/>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3577321" y="5737616"/>
            <a:ext cx="450110" cy="144000"/>
          </a:xfrm>
          <a:prstGeom prst="rect">
            <a:avLst/>
          </a:prstGeom>
          <a:noFill/>
          <a:effectLst/>
          <a:extLst>
            <a:ext uri="{909E8E84-426E-40DD-AFC4-6F175D3DCCD1}">
              <a14:hiddenFill xmlns:a14="http://schemas.microsoft.com/office/drawing/2010/main">
                <a:solidFill>
                  <a:srgbClr val="FFFFFF"/>
                </a:solidFill>
              </a14:hiddenFill>
            </a:ext>
          </a:extLst>
        </p:spPr>
      </p:pic>
      <p:sp>
        <p:nvSpPr>
          <p:cNvPr id="139" name="TextBox 138">
            <a:extLst>
              <a:ext uri="{FF2B5EF4-FFF2-40B4-BE49-F238E27FC236}">
                <a16:creationId xmlns:a16="http://schemas.microsoft.com/office/drawing/2014/main" id="{4642FD75-1831-4302-7ED5-24947D7F49CF}"/>
              </a:ext>
            </a:extLst>
          </p:cNvPr>
          <p:cNvSpPr txBox="1"/>
          <p:nvPr/>
        </p:nvSpPr>
        <p:spPr>
          <a:xfrm>
            <a:off x="9445528" y="2757439"/>
            <a:ext cx="842400" cy="666000"/>
          </a:xfrm>
          <a:prstGeom prst="rect">
            <a:avLst/>
          </a:prstGeom>
          <a:noFill/>
        </p:spPr>
        <p:txBody>
          <a:bodyPr wrap="square" lIns="0" tIns="0" rIns="0" bIns="0" rtlCol="0" anchor="t">
            <a:noAutofit/>
          </a:bodyPr>
          <a:lstStyle/>
          <a:p>
            <a:pPr marL="0" marR="0" lvl="0" indent="0" algn="ct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0" i="0" u="none" strike="noStrike" kern="1200" cap="none" spc="0" normalizeH="0" baseline="0" noProof="0">
                <a:ln>
                  <a:noFill/>
                </a:ln>
                <a:solidFill>
                  <a:srgbClr val="F36633"/>
                </a:solidFill>
                <a:effectLst/>
                <a:uLnTx/>
                <a:uFillTx/>
                <a:latin typeface="Arial"/>
                <a:ea typeface="+mn-ea"/>
                <a:cs typeface="Noto Sans"/>
              </a:rPr>
              <a:t>OT Workloads in Rosia Italy</a:t>
            </a:r>
          </a:p>
        </p:txBody>
      </p:sp>
      <p:sp>
        <p:nvSpPr>
          <p:cNvPr id="140" name="TextBox 139">
            <a:extLst>
              <a:ext uri="{FF2B5EF4-FFF2-40B4-BE49-F238E27FC236}">
                <a16:creationId xmlns:a16="http://schemas.microsoft.com/office/drawing/2014/main" id="{04FE17F6-E8AD-0F15-5402-A316A37B5666}"/>
              </a:ext>
            </a:extLst>
          </p:cNvPr>
          <p:cNvSpPr txBox="1"/>
          <p:nvPr/>
        </p:nvSpPr>
        <p:spPr>
          <a:xfrm>
            <a:off x="6883025" y="2739069"/>
            <a:ext cx="842400" cy="666000"/>
          </a:xfrm>
          <a:prstGeom prst="rect">
            <a:avLst/>
          </a:prstGeom>
          <a:noFill/>
        </p:spPr>
        <p:txBody>
          <a:bodyPr wrap="square" lIns="0" tIns="0" rIns="0" bIns="0" rtlCol="0" anchor="t">
            <a:noAutofit/>
          </a:bodyPr>
          <a:lstStyle/>
          <a:p>
            <a:pPr marL="0" marR="0" lvl="0" indent="0" algn="ct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0" i="0" u="none" strike="noStrike" kern="1200" cap="none" spc="0" normalizeH="0" baseline="0" noProof="0">
                <a:ln>
                  <a:noFill/>
                </a:ln>
                <a:solidFill>
                  <a:srgbClr val="F36633"/>
                </a:solidFill>
                <a:effectLst/>
                <a:uLnTx/>
                <a:uFillTx/>
                <a:latin typeface="Arial"/>
                <a:ea typeface="+mn-ea"/>
                <a:cs typeface="Noto Sans"/>
              </a:rPr>
              <a:t>Labware &amp; Empower in Wavre &amp; </a:t>
            </a:r>
            <a:r>
              <a:rPr kumimoji="0" lang="en-GB" sz="1000" b="0" i="0" u="none" strike="noStrike" kern="1200" cap="none" spc="0" normalizeH="0" baseline="0" noProof="0" err="1">
                <a:ln>
                  <a:noFill/>
                </a:ln>
                <a:solidFill>
                  <a:srgbClr val="F36633"/>
                </a:solidFill>
                <a:effectLst/>
                <a:uLnTx/>
                <a:uFillTx/>
                <a:latin typeface="Arial"/>
                <a:ea typeface="+mn-ea"/>
                <a:cs typeface="Noto Sans"/>
              </a:rPr>
              <a:t>Rixensart</a:t>
            </a:r>
            <a:endParaRPr kumimoji="0" lang="en-GB" sz="1000" b="0" i="0" u="none" strike="noStrike" kern="1200" cap="none" spc="0" normalizeH="0" baseline="0" noProof="0">
              <a:ln>
                <a:noFill/>
              </a:ln>
              <a:solidFill>
                <a:srgbClr val="F36633"/>
              </a:solidFill>
              <a:effectLst/>
              <a:uLnTx/>
              <a:uFillTx/>
              <a:latin typeface="Arial"/>
              <a:ea typeface="+mn-ea"/>
              <a:cs typeface="Noto Sans"/>
            </a:endParaRPr>
          </a:p>
        </p:txBody>
      </p:sp>
      <p:sp>
        <p:nvSpPr>
          <p:cNvPr id="141" name="TextBox 140">
            <a:extLst>
              <a:ext uri="{FF2B5EF4-FFF2-40B4-BE49-F238E27FC236}">
                <a16:creationId xmlns:a16="http://schemas.microsoft.com/office/drawing/2014/main" id="{43656B86-986B-09E7-97E7-371AA2959ACD}"/>
              </a:ext>
            </a:extLst>
          </p:cNvPr>
          <p:cNvSpPr txBox="1"/>
          <p:nvPr/>
        </p:nvSpPr>
        <p:spPr>
          <a:xfrm>
            <a:off x="3550920" y="2738307"/>
            <a:ext cx="828312" cy="666000"/>
          </a:xfrm>
          <a:prstGeom prst="rect">
            <a:avLst/>
          </a:prstGeom>
          <a:noFill/>
        </p:spPr>
        <p:txBody>
          <a:bodyPr wrap="square" lIns="0" tIns="0" rIns="0" bIns="0" rtlCol="0" anchor="t">
            <a:noAutofit/>
          </a:bodyPr>
          <a:lstStyle/>
          <a:p>
            <a:pPr marL="0" marR="0" lvl="0" indent="0" algn="ct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0" i="0" u="none" strike="noStrike" kern="1200" cap="none" spc="0" normalizeH="0" baseline="0" noProof="0">
                <a:ln>
                  <a:noFill/>
                </a:ln>
                <a:solidFill>
                  <a:srgbClr val="F36633"/>
                </a:solidFill>
                <a:effectLst/>
                <a:uLnTx/>
                <a:uFillTx/>
                <a:latin typeface="Arial"/>
                <a:ea typeface="+mn-ea"/>
                <a:cs typeface="Noto Sans"/>
              </a:rPr>
              <a:t>Citrix Cloud DaaS Provided as SaaS</a:t>
            </a:r>
          </a:p>
        </p:txBody>
      </p:sp>
      <p:pic>
        <p:nvPicPr>
          <p:cNvPr id="142" name="Picture 4" descr="Press &amp; Media Resources - Citrix">
            <a:extLst>
              <a:ext uri="{FF2B5EF4-FFF2-40B4-BE49-F238E27FC236}">
                <a16:creationId xmlns:a16="http://schemas.microsoft.com/office/drawing/2014/main" id="{484E98E1-5CAC-54D2-7534-172ABFD35365}"/>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3724261" y="2524129"/>
            <a:ext cx="477456" cy="180000"/>
          </a:xfrm>
          <a:prstGeom prst="rect">
            <a:avLst/>
          </a:prstGeom>
          <a:noFill/>
          <a:effectLst/>
          <a:extLst>
            <a:ext uri="{909E8E84-426E-40DD-AFC4-6F175D3DCCD1}">
              <a14:hiddenFill xmlns:a14="http://schemas.microsoft.com/office/drawing/2010/main">
                <a:solidFill>
                  <a:srgbClr val="FFFFFF"/>
                </a:solidFill>
              </a14:hiddenFill>
            </a:ext>
          </a:extLst>
        </p:spPr>
      </p:pic>
      <p:sp>
        <p:nvSpPr>
          <p:cNvPr id="143" name="TextBox 142">
            <a:extLst>
              <a:ext uri="{FF2B5EF4-FFF2-40B4-BE49-F238E27FC236}">
                <a16:creationId xmlns:a16="http://schemas.microsoft.com/office/drawing/2014/main" id="{70C6C3C4-0C2A-E240-F7F4-370C328C8B96}"/>
              </a:ext>
            </a:extLst>
          </p:cNvPr>
          <p:cNvSpPr txBox="1"/>
          <p:nvPr/>
        </p:nvSpPr>
        <p:spPr>
          <a:xfrm>
            <a:off x="3267390" y="1654493"/>
            <a:ext cx="1078275" cy="320511"/>
          </a:xfrm>
          <a:prstGeom prst="rect">
            <a:avLst/>
          </a:prstGeom>
          <a:noFill/>
        </p:spPr>
        <p:txBody>
          <a:bodyPr wrap="square" lIns="0" tIns="0" rIns="0" bIns="0" rtlCol="0" anchor="t">
            <a:noAutofit/>
          </a:bodyPr>
          <a:lstStyle/>
          <a:p>
            <a:pPr marL="0" marR="0" lvl="0" indent="0" algn="ct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0" i="0" u="none" strike="noStrike" kern="1200" cap="none" spc="0" normalizeH="0" baseline="0" noProof="0">
                <a:ln>
                  <a:noFill/>
                </a:ln>
                <a:solidFill>
                  <a:srgbClr val="F36633"/>
                </a:solidFill>
                <a:effectLst/>
                <a:uLnTx/>
                <a:uFillTx/>
                <a:latin typeface="Arial"/>
                <a:ea typeface="+mn-ea"/>
                <a:cs typeface="Noto Sans"/>
              </a:rPr>
              <a:t>End User VDI Personas</a:t>
            </a:r>
          </a:p>
        </p:txBody>
      </p:sp>
      <p:pic>
        <p:nvPicPr>
          <p:cNvPr id="144" name="Picture 8">
            <a:extLst>
              <a:ext uri="{FF2B5EF4-FFF2-40B4-BE49-F238E27FC236}">
                <a16:creationId xmlns:a16="http://schemas.microsoft.com/office/drawing/2014/main" id="{7B6B1BF4-A7F1-88E4-04A4-95BAF5AEFA1F}"/>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3576990" y="1480418"/>
            <a:ext cx="450110" cy="14400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145" name="Straight Arrow Connector 144">
            <a:extLst>
              <a:ext uri="{FF2B5EF4-FFF2-40B4-BE49-F238E27FC236}">
                <a16:creationId xmlns:a16="http://schemas.microsoft.com/office/drawing/2014/main" id="{3C6B9FC1-57E1-300E-2AD0-B6AE14AE2BB6}"/>
              </a:ext>
            </a:extLst>
          </p:cNvPr>
          <p:cNvCxnSpPr>
            <a:cxnSpLocks/>
          </p:cNvCxnSpPr>
          <p:nvPr/>
        </p:nvCxnSpPr>
        <p:spPr>
          <a:xfrm>
            <a:off x="7421578" y="4398094"/>
            <a:ext cx="390228" cy="0"/>
          </a:xfrm>
          <a:prstGeom prst="straightConnector1">
            <a:avLst/>
          </a:prstGeom>
          <a:ln w="12700" cap="rnd">
            <a:solidFill>
              <a:schemeClr val="bg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6" name="Straight Arrow Connector 145">
            <a:extLst>
              <a:ext uri="{FF2B5EF4-FFF2-40B4-BE49-F238E27FC236}">
                <a16:creationId xmlns:a16="http://schemas.microsoft.com/office/drawing/2014/main" id="{806EAB9F-E05D-0063-46A2-7FE82B9B4605}"/>
              </a:ext>
            </a:extLst>
          </p:cNvPr>
          <p:cNvCxnSpPr>
            <a:cxnSpLocks/>
          </p:cNvCxnSpPr>
          <p:nvPr/>
        </p:nvCxnSpPr>
        <p:spPr>
          <a:xfrm>
            <a:off x="9997669" y="4401632"/>
            <a:ext cx="390228" cy="0"/>
          </a:xfrm>
          <a:prstGeom prst="straightConnector1">
            <a:avLst/>
          </a:prstGeom>
          <a:ln w="12700" cap="rnd">
            <a:solidFill>
              <a:schemeClr val="bg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7" name="Straight Arrow Connector 146">
            <a:extLst>
              <a:ext uri="{FF2B5EF4-FFF2-40B4-BE49-F238E27FC236}">
                <a16:creationId xmlns:a16="http://schemas.microsoft.com/office/drawing/2014/main" id="{E58C0D92-0652-F918-D6A8-6E9DEEFC5303}"/>
              </a:ext>
            </a:extLst>
          </p:cNvPr>
          <p:cNvCxnSpPr>
            <a:cxnSpLocks/>
          </p:cNvCxnSpPr>
          <p:nvPr/>
        </p:nvCxnSpPr>
        <p:spPr>
          <a:xfrm>
            <a:off x="5214258" y="4398283"/>
            <a:ext cx="390228" cy="0"/>
          </a:xfrm>
          <a:prstGeom prst="straightConnector1">
            <a:avLst/>
          </a:prstGeom>
          <a:ln w="12700" cap="rnd">
            <a:solidFill>
              <a:schemeClr val="bg2"/>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48" name="Picture 2">
            <a:extLst>
              <a:ext uri="{FF2B5EF4-FFF2-40B4-BE49-F238E27FC236}">
                <a16:creationId xmlns:a16="http://schemas.microsoft.com/office/drawing/2014/main" id="{45D53E96-600B-7993-9FA7-B3AFC0CC30E5}"/>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6984969" y="2583147"/>
            <a:ext cx="625646" cy="95802"/>
          </a:xfrm>
          <a:prstGeom prst="rect">
            <a:avLst/>
          </a:prstGeom>
          <a:noFill/>
          <a:extLst>
            <a:ext uri="{909E8E84-426E-40DD-AFC4-6F175D3DCCD1}">
              <a14:hiddenFill xmlns:a14="http://schemas.microsoft.com/office/drawing/2010/main">
                <a:solidFill>
                  <a:srgbClr val="FFFFFF"/>
                </a:solidFill>
              </a14:hiddenFill>
            </a:ext>
          </a:extLst>
        </p:spPr>
      </p:pic>
      <p:sp>
        <p:nvSpPr>
          <p:cNvPr id="149" name="TextBox 148">
            <a:extLst>
              <a:ext uri="{FF2B5EF4-FFF2-40B4-BE49-F238E27FC236}">
                <a16:creationId xmlns:a16="http://schemas.microsoft.com/office/drawing/2014/main" id="{98CF6DA9-DDFD-697E-4E53-33F90562C5D3}"/>
              </a:ext>
            </a:extLst>
          </p:cNvPr>
          <p:cNvSpPr txBox="1"/>
          <p:nvPr/>
        </p:nvSpPr>
        <p:spPr>
          <a:xfrm>
            <a:off x="7841084" y="2970971"/>
            <a:ext cx="842400" cy="324000"/>
          </a:xfrm>
          <a:prstGeom prst="rect">
            <a:avLst/>
          </a:prstGeom>
          <a:noFill/>
          <a:ln>
            <a:noFill/>
          </a:ln>
        </p:spPr>
        <p:txBody>
          <a:bodyPr wrap="square" lIns="0" tIns="0" rIns="0" bIns="0" rtlCol="0" anchor="t">
            <a:noAutofit/>
          </a:bodyPr>
          <a:lstStyle/>
          <a:p>
            <a:pPr marL="0" marR="0" lvl="0" indent="0" algn="ct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1000" b="0" i="0" u="none" strike="noStrike" kern="1200" cap="none" spc="0" normalizeH="0" baseline="0" noProof="0">
                <a:ln>
                  <a:noFill/>
                </a:ln>
                <a:solidFill>
                  <a:srgbClr val="959595">
                    <a:lumMod val="50000"/>
                  </a:srgbClr>
                </a:solidFill>
                <a:effectLst/>
                <a:uLnTx/>
                <a:uFillTx/>
                <a:latin typeface="Arial"/>
                <a:ea typeface="+mn-ea"/>
                <a:cs typeface="Noto Sans"/>
              </a:rPr>
              <a:t>Physical Citrix NetScalers</a:t>
            </a:r>
            <a:r>
              <a:rPr kumimoji="0" lang="en-GB" sz="1000" b="0" i="0" u="none" strike="noStrike" kern="1200" cap="none" spc="0" normalizeH="0" baseline="30000" noProof="0">
                <a:ln>
                  <a:noFill/>
                </a:ln>
                <a:solidFill>
                  <a:srgbClr val="959595">
                    <a:lumMod val="50000"/>
                  </a:srgbClr>
                </a:solidFill>
                <a:effectLst/>
                <a:uLnTx/>
                <a:uFillTx/>
                <a:latin typeface="Arial"/>
                <a:ea typeface="+mn-ea"/>
                <a:cs typeface="Noto Sans"/>
              </a:rPr>
              <a:t>2</a:t>
            </a:r>
          </a:p>
        </p:txBody>
      </p:sp>
      <p:pic>
        <p:nvPicPr>
          <p:cNvPr id="150" name="Graphic 149" descr="Fence with solid fill">
            <a:extLst>
              <a:ext uri="{FF2B5EF4-FFF2-40B4-BE49-F238E27FC236}">
                <a16:creationId xmlns:a16="http://schemas.microsoft.com/office/drawing/2014/main" id="{72830FE2-F5FA-3611-9BA0-2ED14692E97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03367" y="2523920"/>
            <a:ext cx="504000" cy="504000"/>
          </a:xfrm>
          <a:prstGeom prst="rect">
            <a:avLst/>
          </a:prstGeom>
        </p:spPr>
      </p:pic>
      <p:sp>
        <p:nvSpPr>
          <p:cNvPr id="151" name="Rectangle 150">
            <a:extLst>
              <a:ext uri="{FF2B5EF4-FFF2-40B4-BE49-F238E27FC236}">
                <a16:creationId xmlns:a16="http://schemas.microsoft.com/office/drawing/2014/main" id="{92485B1F-A7E5-4BA6-D351-0712FFE58235}"/>
              </a:ext>
            </a:extLst>
          </p:cNvPr>
          <p:cNvSpPr/>
          <p:nvPr/>
        </p:nvSpPr>
        <p:spPr bwMode="auto">
          <a:xfrm>
            <a:off x="8144865" y="3092710"/>
            <a:ext cx="216000" cy="216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cs typeface="Noto Sans"/>
            </a:endParaRPr>
          </a:p>
        </p:txBody>
      </p:sp>
      <p:cxnSp>
        <p:nvCxnSpPr>
          <p:cNvPr id="152" name="Connector: Elbow 151">
            <a:extLst>
              <a:ext uri="{FF2B5EF4-FFF2-40B4-BE49-F238E27FC236}">
                <a16:creationId xmlns:a16="http://schemas.microsoft.com/office/drawing/2014/main" id="{62B909EA-ABAA-6B45-B9DF-EAB435CF0D39}"/>
              </a:ext>
            </a:extLst>
          </p:cNvPr>
          <p:cNvCxnSpPr>
            <a:cxnSpLocks/>
            <a:stCxn id="119" idx="0"/>
            <a:endCxn id="28" idx="2"/>
          </p:cNvCxnSpPr>
          <p:nvPr/>
        </p:nvCxnSpPr>
        <p:spPr>
          <a:xfrm rot="16200000" flipV="1">
            <a:off x="7123957" y="1429401"/>
            <a:ext cx="638253" cy="1622766"/>
          </a:xfrm>
          <a:prstGeom prst="bentConnector3">
            <a:avLst>
              <a:gd name="adj1" fmla="val 50000"/>
            </a:avLst>
          </a:prstGeom>
          <a:ln w="12700" cap="rnd">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53" name="Picture 2">
            <a:extLst>
              <a:ext uri="{FF2B5EF4-FFF2-40B4-BE49-F238E27FC236}">
                <a16:creationId xmlns:a16="http://schemas.microsoft.com/office/drawing/2014/main" id="{9D60C37E-3DB7-3817-C1BB-F760BB8DFF70}"/>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9551703" y="2581826"/>
            <a:ext cx="625646" cy="95802"/>
          </a:xfrm>
          <a:prstGeom prst="rect">
            <a:avLst/>
          </a:prstGeom>
          <a:noFill/>
          <a:extLst>
            <a:ext uri="{909E8E84-426E-40DD-AFC4-6F175D3DCCD1}">
              <a14:hiddenFill xmlns:a14="http://schemas.microsoft.com/office/drawing/2010/main">
                <a:solidFill>
                  <a:srgbClr val="FFFFFF"/>
                </a:solidFill>
              </a14:hiddenFill>
            </a:ext>
          </a:extLst>
        </p:spPr>
      </p:pic>
      <p:sp>
        <p:nvSpPr>
          <p:cNvPr id="154" name="Rectangle 153">
            <a:extLst>
              <a:ext uri="{FF2B5EF4-FFF2-40B4-BE49-F238E27FC236}">
                <a16:creationId xmlns:a16="http://schemas.microsoft.com/office/drawing/2014/main" id="{4850CA08-C66D-7EFA-E401-DD35761D2B91}"/>
              </a:ext>
            </a:extLst>
          </p:cNvPr>
          <p:cNvSpPr/>
          <p:nvPr/>
        </p:nvSpPr>
        <p:spPr bwMode="auto">
          <a:xfrm>
            <a:off x="8144436" y="4010710"/>
            <a:ext cx="216000" cy="216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cs typeface="Noto Sans"/>
            </a:endParaRPr>
          </a:p>
        </p:txBody>
      </p:sp>
      <p:cxnSp>
        <p:nvCxnSpPr>
          <p:cNvPr id="155" name="Connector: Elbow 154">
            <a:extLst>
              <a:ext uri="{FF2B5EF4-FFF2-40B4-BE49-F238E27FC236}">
                <a16:creationId xmlns:a16="http://schemas.microsoft.com/office/drawing/2014/main" id="{387B7F43-5F23-14A4-F09B-D76D18B93F76}"/>
              </a:ext>
            </a:extLst>
          </p:cNvPr>
          <p:cNvCxnSpPr>
            <a:cxnSpLocks/>
            <a:stCxn id="154" idx="0"/>
            <a:endCxn id="151" idx="2"/>
          </p:cNvCxnSpPr>
          <p:nvPr/>
        </p:nvCxnSpPr>
        <p:spPr>
          <a:xfrm rot="5400000" flipH="1" flipV="1">
            <a:off x="7901650" y="3659496"/>
            <a:ext cx="702000" cy="429"/>
          </a:xfrm>
          <a:prstGeom prst="bentConnector3">
            <a:avLst>
              <a:gd name="adj1" fmla="val 50000"/>
            </a:avLst>
          </a:prstGeom>
          <a:ln w="12700" cap="rnd">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6" name="TextBox 155">
            <a:extLst>
              <a:ext uri="{FF2B5EF4-FFF2-40B4-BE49-F238E27FC236}">
                <a16:creationId xmlns:a16="http://schemas.microsoft.com/office/drawing/2014/main" id="{23AEEBB8-29DE-01AF-BBDA-EA5F76C39F10}"/>
              </a:ext>
            </a:extLst>
          </p:cNvPr>
          <p:cNvSpPr txBox="1"/>
          <p:nvPr/>
        </p:nvSpPr>
        <p:spPr>
          <a:xfrm>
            <a:off x="7419051" y="2102639"/>
            <a:ext cx="842400" cy="117482"/>
          </a:xfrm>
          <a:prstGeom prst="rect">
            <a:avLst/>
          </a:prstGeom>
          <a:noFill/>
        </p:spPr>
        <p:txBody>
          <a:bodyPr wrap="square" lIns="0" tIns="0" rIns="0" bIns="0" rtlCol="0" anchor="t">
            <a:noAutofit/>
          </a:bodyPr>
          <a:lstStyle/>
          <a:p>
            <a:pPr marL="0" marR="0" lvl="0" indent="0" algn="r" defTabSz="1219170" rtl="0" eaLnBrk="1" fontAlgn="auto" latinLnBrk="0" hangingPunct="1">
              <a:lnSpc>
                <a:spcPct val="100000"/>
              </a:lnSpc>
              <a:spcBef>
                <a:spcPts val="0"/>
              </a:spcBef>
              <a:spcAft>
                <a:spcPts val="0"/>
              </a:spcAft>
              <a:buClr>
                <a:srgbClr val="F36633"/>
              </a:buClr>
              <a:buSzPct val="110000"/>
              <a:buFontTx/>
              <a:buNone/>
              <a:tabLst/>
              <a:defRPr/>
            </a:pPr>
            <a:r>
              <a:rPr kumimoji="0" lang="en-GB" sz="800" b="0" i="0" u="none" strike="noStrike" kern="1200" cap="none" spc="0" normalizeH="0" baseline="0" noProof="0">
                <a:ln>
                  <a:noFill/>
                </a:ln>
                <a:solidFill>
                  <a:srgbClr val="F36633"/>
                </a:solidFill>
                <a:effectLst/>
                <a:uLnTx/>
                <a:uFillTx/>
                <a:latin typeface="Arial"/>
                <a:ea typeface="+mn-ea"/>
                <a:cs typeface="Noto Sans"/>
              </a:rPr>
              <a:t>Legacy route</a:t>
            </a:r>
          </a:p>
        </p:txBody>
      </p:sp>
      <p:grpSp>
        <p:nvGrpSpPr>
          <p:cNvPr id="157" name="Group 156">
            <a:extLst>
              <a:ext uri="{FF2B5EF4-FFF2-40B4-BE49-F238E27FC236}">
                <a16:creationId xmlns:a16="http://schemas.microsoft.com/office/drawing/2014/main" id="{6ED5F3DC-2557-4E93-EC21-62048BE7DCD5}"/>
              </a:ext>
            </a:extLst>
          </p:cNvPr>
          <p:cNvGrpSpPr/>
          <p:nvPr/>
        </p:nvGrpSpPr>
        <p:grpSpPr>
          <a:xfrm>
            <a:off x="391631" y="1702412"/>
            <a:ext cx="2107689" cy="1682770"/>
            <a:chOff x="391631" y="1702412"/>
            <a:chExt cx="2107689" cy="1682770"/>
          </a:xfrm>
        </p:grpSpPr>
        <p:sp>
          <p:nvSpPr>
            <p:cNvPr id="158" name="Rectangle: Rounded Corners 157">
              <a:extLst>
                <a:ext uri="{FF2B5EF4-FFF2-40B4-BE49-F238E27FC236}">
                  <a16:creationId xmlns:a16="http://schemas.microsoft.com/office/drawing/2014/main" id="{B581CD93-2E45-A461-9D5A-34650A92C365}"/>
                </a:ext>
              </a:extLst>
            </p:cNvPr>
            <p:cNvSpPr/>
            <p:nvPr/>
          </p:nvSpPr>
          <p:spPr bwMode="auto">
            <a:xfrm>
              <a:off x="391631" y="1702412"/>
              <a:ext cx="2107689" cy="1656000"/>
            </a:xfrm>
            <a:prstGeom prst="roundRect">
              <a:avLst>
                <a:gd name="adj" fmla="val 4902"/>
              </a:avLst>
            </a:prstGeom>
            <a:solidFill>
              <a:schemeClr val="bg1"/>
            </a:solidFill>
            <a:ln w="19050">
              <a:solidFill>
                <a:schemeClr val="tx2">
                  <a:lumMod val="40000"/>
                  <a:lumOff val="60000"/>
                </a:schemeClr>
              </a:solidFill>
              <a:prstDash val="sysDot"/>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72000" rIns="72000" bIns="72000" numCol="1" spcCol="0" rtlCol="0" fromWordArt="0" anchor="t" anchorCtr="0" forceAA="0" compatLnSpc="1">
              <a:prstTxWarp prst="textNoShape">
                <a:avLst/>
              </a:prstTxWarp>
              <a:noAutofit/>
            </a:bodyPr>
            <a:lstStyle/>
            <a:p>
              <a:pPr marL="0" marR="0" lvl="0" indent="0" algn="l" defTabSz="1219170" rtl="0" eaLnBrk="0" fontAlgn="auto" latinLnBrk="0" hangingPunct="0">
                <a:lnSpc>
                  <a:spcPct val="100000"/>
                </a:lnSpc>
                <a:spcBef>
                  <a:spcPts val="0"/>
                </a:spcBef>
                <a:spcAft>
                  <a:spcPts val="0"/>
                </a:spcAft>
                <a:buClr>
                  <a:srgbClr val="F36633"/>
                </a:buClr>
                <a:buSzPct val="110000"/>
                <a:buFontTx/>
                <a:buNone/>
                <a:tabLst/>
                <a:defRPr/>
              </a:pPr>
              <a:r>
                <a:rPr kumimoji="0" lang="en-GB" sz="800" b="0" i="0" u="none" strike="noStrike" kern="0" cap="none" spc="0" normalizeH="0" baseline="0" noProof="0">
                  <a:ln>
                    <a:noFill/>
                  </a:ln>
                  <a:solidFill>
                    <a:srgbClr val="F36633"/>
                  </a:solidFill>
                  <a:effectLst/>
                  <a:uLnTx/>
                  <a:uFillTx/>
                  <a:latin typeface="Arial"/>
                  <a:ea typeface="+mn-ea"/>
                  <a:cs typeface="Noto Sans"/>
                </a:rPr>
                <a:t>Key:</a:t>
              </a:r>
            </a:p>
          </p:txBody>
        </p:sp>
        <p:sp>
          <p:nvSpPr>
            <p:cNvPr id="159" name="Rectangle 158">
              <a:extLst>
                <a:ext uri="{FF2B5EF4-FFF2-40B4-BE49-F238E27FC236}">
                  <a16:creationId xmlns:a16="http://schemas.microsoft.com/office/drawing/2014/main" id="{8BA3852A-A03F-D21D-28A5-B514F47BFB74}"/>
                </a:ext>
              </a:extLst>
            </p:cNvPr>
            <p:cNvSpPr/>
            <p:nvPr/>
          </p:nvSpPr>
          <p:spPr bwMode="auto">
            <a:xfrm>
              <a:off x="1008855" y="1876836"/>
              <a:ext cx="1400633" cy="1508346"/>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1219170" rtl="0" eaLnBrk="1" fontAlgn="auto" latinLnBrk="0" hangingPunct="1">
                <a:lnSpc>
                  <a:spcPct val="100000"/>
                </a:lnSpc>
                <a:spcBef>
                  <a:spcPts val="300"/>
                </a:spcBef>
                <a:spcAft>
                  <a:spcPts val="300"/>
                </a:spcAft>
                <a:buClr>
                  <a:srgbClr val="F36633"/>
                </a:buClr>
                <a:buSzTx/>
                <a:buFontTx/>
                <a:buNone/>
                <a:tabLst/>
                <a:defRPr/>
              </a:pPr>
              <a:r>
                <a:rPr kumimoji="0" lang="en-GB" sz="800" b="0" i="0" u="none" strike="noStrike" kern="1200" cap="none" spc="10" normalizeH="0" baseline="0" noProof="0">
                  <a:ln>
                    <a:noFill/>
                  </a:ln>
                  <a:solidFill>
                    <a:srgbClr val="959595">
                      <a:lumMod val="50000"/>
                    </a:srgbClr>
                  </a:solidFill>
                  <a:effectLst/>
                  <a:uLnTx/>
                  <a:uFillTx/>
                  <a:latin typeface="Arial"/>
                  <a:ea typeface="Calibri" panose="020F0502020204030204" pitchFamily="34" charset="0"/>
                  <a:cs typeface="Noto Sans"/>
                </a:rPr>
                <a:t>Multiple users sharing one VM with Windows desktop OS</a:t>
              </a:r>
            </a:p>
            <a:p>
              <a:pPr marL="0" marR="0" lvl="0" indent="0" algn="l" defTabSz="1219170" rtl="0" eaLnBrk="1" fontAlgn="auto" latinLnBrk="0" hangingPunct="1">
                <a:lnSpc>
                  <a:spcPct val="100000"/>
                </a:lnSpc>
                <a:spcBef>
                  <a:spcPts val="300"/>
                </a:spcBef>
                <a:spcAft>
                  <a:spcPts val="300"/>
                </a:spcAft>
                <a:buClr>
                  <a:srgbClr val="F36633"/>
                </a:buClr>
                <a:buSzTx/>
                <a:buFontTx/>
                <a:buNone/>
                <a:tabLst/>
                <a:defRPr/>
              </a:pPr>
              <a:r>
                <a:rPr kumimoji="0" lang="en-GB" sz="800" b="0" i="0" u="none" strike="noStrike" kern="1200" cap="none" spc="10" normalizeH="0" baseline="0" noProof="0">
                  <a:ln>
                    <a:noFill/>
                  </a:ln>
                  <a:solidFill>
                    <a:srgbClr val="959595">
                      <a:lumMod val="50000"/>
                    </a:srgbClr>
                  </a:solidFill>
                  <a:effectLst/>
                  <a:uLnTx/>
                  <a:uFillTx/>
                  <a:latin typeface="Arial"/>
                  <a:ea typeface="Calibri" panose="020F0502020204030204" pitchFamily="34" charset="0"/>
                  <a:cs typeface="Noto Sans"/>
                </a:rPr>
                <a:t>Multiple users sharing one VM with Windows server OS</a:t>
              </a:r>
            </a:p>
            <a:p>
              <a:pPr marL="0" marR="0" lvl="0" indent="0" algn="l" defTabSz="1219170" rtl="0" eaLnBrk="1" fontAlgn="auto" latinLnBrk="0" hangingPunct="1">
                <a:lnSpc>
                  <a:spcPct val="100000"/>
                </a:lnSpc>
                <a:spcBef>
                  <a:spcPts val="300"/>
                </a:spcBef>
                <a:spcAft>
                  <a:spcPts val="300"/>
                </a:spcAft>
                <a:buClr>
                  <a:srgbClr val="F36633"/>
                </a:buClr>
                <a:buSzTx/>
                <a:buFontTx/>
                <a:buNone/>
                <a:tabLst/>
                <a:defRPr/>
              </a:pPr>
              <a:r>
                <a:rPr kumimoji="0" lang="en-GB" sz="800" b="0" i="0" u="none" strike="noStrike" kern="1200" cap="none" spc="10" normalizeH="0" baseline="0" noProof="0">
                  <a:ln>
                    <a:noFill/>
                  </a:ln>
                  <a:solidFill>
                    <a:srgbClr val="959595">
                      <a:lumMod val="50000"/>
                    </a:srgbClr>
                  </a:solidFill>
                  <a:effectLst/>
                  <a:uLnTx/>
                  <a:uFillTx/>
                  <a:latin typeface="Arial"/>
                  <a:ea typeface="Calibri" panose="020F0502020204030204" pitchFamily="34" charset="0"/>
                  <a:cs typeface="Noto Sans"/>
                </a:rPr>
                <a:t>Single user with a dedicated VM with Windows desktop OS</a:t>
              </a:r>
            </a:p>
            <a:p>
              <a:pPr marL="0" marR="0" lvl="0" indent="0" algn="l" defTabSz="1219170" rtl="0" eaLnBrk="1" fontAlgn="auto" latinLnBrk="0" hangingPunct="1">
                <a:lnSpc>
                  <a:spcPct val="100000"/>
                </a:lnSpc>
                <a:spcBef>
                  <a:spcPts val="300"/>
                </a:spcBef>
                <a:spcAft>
                  <a:spcPts val="300"/>
                </a:spcAft>
                <a:buClr>
                  <a:srgbClr val="F36633"/>
                </a:buClr>
                <a:buSzTx/>
                <a:buFontTx/>
                <a:buNone/>
                <a:tabLst/>
                <a:defRPr/>
              </a:pPr>
              <a:r>
                <a:rPr kumimoji="0" lang="en-GB" sz="800" b="0" i="0" u="none" strike="noStrike" kern="1200" cap="none" spc="10" normalizeH="0" baseline="0" noProof="0">
                  <a:ln>
                    <a:noFill/>
                  </a:ln>
                  <a:solidFill>
                    <a:srgbClr val="959595">
                      <a:lumMod val="50000"/>
                    </a:srgbClr>
                  </a:solidFill>
                  <a:effectLst/>
                  <a:uLnTx/>
                  <a:uFillTx/>
                  <a:latin typeface="Arial"/>
                  <a:ea typeface="Calibri" panose="020F0502020204030204" pitchFamily="34" charset="0"/>
                  <a:cs typeface="Noto Sans"/>
                </a:rPr>
                <a:t>Citrix user journey</a:t>
              </a:r>
            </a:p>
            <a:p>
              <a:pPr marL="0" marR="0" lvl="0" indent="0" algn="l" defTabSz="1219170" rtl="0" eaLnBrk="1" fontAlgn="auto" latinLnBrk="0" hangingPunct="1">
                <a:lnSpc>
                  <a:spcPct val="100000"/>
                </a:lnSpc>
                <a:spcBef>
                  <a:spcPts val="300"/>
                </a:spcBef>
                <a:spcAft>
                  <a:spcPts val="300"/>
                </a:spcAft>
                <a:buClr>
                  <a:srgbClr val="F36633"/>
                </a:buClr>
                <a:buSzTx/>
                <a:buFontTx/>
                <a:buNone/>
                <a:tabLst/>
                <a:defRPr/>
              </a:pPr>
              <a:r>
                <a:rPr kumimoji="0" lang="en-GB" sz="800" b="0" i="0" u="none" strike="noStrike" kern="1200" cap="none" spc="10" normalizeH="0" baseline="0" noProof="0">
                  <a:ln>
                    <a:noFill/>
                  </a:ln>
                  <a:solidFill>
                    <a:srgbClr val="959595">
                      <a:lumMod val="50000"/>
                    </a:srgbClr>
                  </a:solidFill>
                  <a:effectLst/>
                  <a:uLnTx/>
                  <a:uFillTx/>
                  <a:latin typeface="Arial"/>
                  <a:ea typeface="Calibri" panose="020F0502020204030204" pitchFamily="34" charset="0"/>
                  <a:cs typeface="Noto Sans"/>
                </a:rPr>
                <a:t>Citrix management</a:t>
              </a:r>
            </a:p>
          </p:txBody>
        </p:sp>
        <p:grpSp>
          <p:nvGrpSpPr>
            <p:cNvPr id="160" name="Group 159">
              <a:extLst>
                <a:ext uri="{FF2B5EF4-FFF2-40B4-BE49-F238E27FC236}">
                  <a16:creationId xmlns:a16="http://schemas.microsoft.com/office/drawing/2014/main" id="{D72F523F-AA53-BCAA-74CB-63EA9A331919}"/>
                </a:ext>
              </a:extLst>
            </p:cNvPr>
            <p:cNvGrpSpPr>
              <a:grpSpLocks noChangeAspect="1"/>
            </p:cNvGrpSpPr>
            <p:nvPr/>
          </p:nvGrpSpPr>
          <p:grpSpPr>
            <a:xfrm>
              <a:off x="527962" y="2310312"/>
              <a:ext cx="360000" cy="253474"/>
              <a:chOff x="999683" y="4792733"/>
              <a:chExt cx="741720" cy="522243"/>
            </a:xfrm>
          </p:grpSpPr>
          <p:sp>
            <p:nvSpPr>
              <p:cNvPr id="182" name="Rectangle: Rounded Corners 181">
                <a:extLst>
                  <a:ext uri="{FF2B5EF4-FFF2-40B4-BE49-F238E27FC236}">
                    <a16:creationId xmlns:a16="http://schemas.microsoft.com/office/drawing/2014/main" id="{70EFD1DA-71B3-4C3D-3B70-D3B842965CC2}"/>
                  </a:ext>
                </a:extLst>
              </p:cNvPr>
              <p:cNvSpPr/>
              <p:nvPr/>
            </p:nvSpPr>
            <p:spPr bwMode="auto">
              <a:xfrm>
                <a:off x="999683" y="4792733"/>
                <a:ext cx="576000" cy="360000"/>
              </a:xfrm>
              <a:prstGeom prst="roundRect">
                <a:avLst/>
              </a:prstGeom>
              <a:solidFill>
                <a:schemeClr val="tx2">
                  <a:lumMod val="40000"/>
                  <a:lumOff val="60000"/>
                </a:schemeClr>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cs typeface="Noto Sans"/>
                </a:endParaRPr>
              </a:p>
            </p:txBody>
          </p:sp>
          <p:sp>
            <p:nvSpPr>
              <p:cNvPr id="183" name="Rectangle: Rounded Corners 182">
                <a:extLst>
                  <a:ext uri="{FF2B5EF4-FFF2-40B4-BE49-F238E27FC236}">
                    <a16:creationId xmlns:a16="http://schemas.microsoft.com/office/drawing/2014/main" id="{916B2FEE-1506-3861-F931-0F9ABA1C7609}"/>
                  </a:ext>
                </a:extLst>
              </p:cNvPr>
              <p:cNvSpPr/>
              <p:nvPr/>
            </p:nvSpPr>
            <p:spPr bwMode="auto">
              <a:xfrm>
                <a:off x="1086020" y="4872116"/>
                <a:ext cx="576000" cy="360000"/>
              </a:xfrm>
              <a:prstGeom prst="roundRect">
                <a:avLst/>
              </a:prstGeom>
              <a:solidFill>
                <a:schemeClr val="tx2">
                  <a:lumMod val="60000"/>
                  <a:lumOff val="40000"/>
                </a:schemeClr>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cs typeface="Noto Sans"/>
                </a:endParaRPr>
              </a:p>
            </p:txBody>
          </p:sp>
          <p:sp>
            <p:nvSpPr>
              <p:cNvPr id="184" name="Rectangle: Rounded Corners 183">
                <a:extLst>
                  <a:ext uri="{FF2B5EF4-FFF2-40B4-BE49-F238E27FC236}">
                    <a16:creationId xmlns:a16="http://schemas.microsoft.com/office/drawing/2014/main" id="{DFD2446B-B85E-3349-E0AB-0CB52B826633}"/>
                  </a:ext>
                </a:extLst>
              </p:cNvPr>
              <p:cNvSpPr/>
              <p:nvPr/>
            </p:nvSpPr>
            <p:spPr bwMode="auto">
              <a:xfrm>
                <a:off x="1165403" y="4954976"/>
                <a:ext cx="576000" cy="360000"/>
              </a:xfrm>
              <a:prstGeom prst="roundRect">
                <a:avLst/>
              </a:prstGeom>
              <a:solidFill>
                <a:schemeClr val="tx2"/>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cs typeface="Noto Sans"/>
                </a:endParaRPr>
              </a:p>
            </p:txBody>
          </p:sp>
          <p:pic>
            <p:nvPicPr>
              <p:cNvPr id="185" name="Picture 2">
                <a:extLst>
                  <a:ext uri="{FF2B5EF4-FFF2-40B4-BE49-F238E27FC236}">
                    <a16:creationId xmlns:a16="http://schemas.microsoft.com/office/drawing/2014/main" id="{82FB27AA-2C5A-6190-BB61-0DCC6376C440}"/>
                  </a:ext>
                </a:extLst>
              </p:cNvPr>
              <p:cNvPicPr>
                <a:picLocks noChangeAspect="1" noChangeArrowheads="1"/>
              </p:cNvPicPr>
              <p:nvPr/>
            </p:nvPicPr>
            <p:blipFill>
              <a:blip r:embed="rId4" cstate="print">
                <a:biLevel thresh="25000"/>
                <a:extLst>
                  <a:ext uri="{28A0092B-C50C-407E-A947-70E740481C1C}">
                    <a14:useLocalDpi xmlns:a14="http://schemas.microsoft.com/office/drawing/2010/main" val="0"/>
                  </a:ext>
                </a:extLst>
              </a:blip>
              <a:srcRect/>
              <a:stretch>
                <a:fillRect/>
              </a:stretch>
            </p:blipFill>
            <p:spPr bwMode="auto">
              <a:xfrm>
                <a:off x="1412218" y="5073137"/>
                <a:ext cx="90000" cy="90000"/>
              </a:xfrm>
              <a:prstGeom prst="rect">
                <a:avLst/>
              </a:prstGeom>
              <a:noFill/>
              <a:extLst>
                <a:ext uri="{909E8E84-426E-40DD-AFC4-6F175D3DCCD1}">
                  <a14:hiddenFill xmlns:a14="http://schemas.microsoft.com/office/drawing/2010/main">
                    <a:solidFill>
                      <a:srgbClr val="FFFFFF"/>
                    </a:solidFill>
                  </a14:hiddenFill>
                </a:ext>
              </a:extLst>
            </p:spPr>
          </p:pic>
          <p:pic>
            <p:nvPicPr>
              <p:cNvPr id="186" name="Graphic 185" descr="Monitor with solid fill">
                <a:extLst>
                  <a:ext uri="{FF2B5EF4-FFF2-40B4-BE49-F238E27FC236}">
                    <a16:creationId xmlns:a16="http://schemas.microsoft.com/office/drawing/2014/main" id="{74EF3CE2-87EC-D0E0-C438-7C6E4A35A8D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3515" y="4991300"/>
                <a:ext cx="288000" cy="288000"/>
              </a:xfrm>
              <a:prstGeom prst="rect">
                <a:avLst/>
              </a:prstGeom>
            </p:spPr>
          </p:pic>
        </p:grpSp>
        <p:grpSp>
          <p:nvGrpSpPr>
            <p:cNvPr id="161" name="Group 160">
              <a:extLst>
                <a:ext uri="{FF2B5EF4-FFF2-40B4-BE49-F238E27FC236}">
                  <a16:creationId xmlns:a16="http://schemas.microsoft.com/office/drawing/2014/main" id="{7EC86095-DCEF-E033-A2F2-846434A62CD5}"/>
                </a:ext>
              </a:extLst>
            </p:cNvPr>
            <p:cNvGrpSpPr>
              <a:grpSpLocks noChangeAspect="1"/>
            </p:cNvGrpSpPr>
            <p:nvPr/>
          </p:nvGrpSpPr>
          <p:grpSpPr>
            <a:xfrm>
              <a:off x="541048" y="2623120"/>
              <a:ext cx="360000" cy="252000"/>
              <a:chOff x="2232000" y="3960000"/>
              <a:chExt cx="720000" cy="504000"/>
            </a:xfrm>
          </p:grpSpPr>
          <p:grpSp>
            <p:nvGrpSpPr>
              <p:cNvPr id="170" name="Group 169">
                <a:extLst>
                  <a:ext uri="{FF2B5EF4-FFF2-40B4-BE49-F238E27FC236}">
                    <a16:creationId xmlns:a16="http://schemas.microsoft.com/office/drawing/2014/main" id="{1B09F9AF-A7AE-B32E-1300-FB70479CEFC8}"/>
                  </a:ext>
                </a:extLst>
              </p:cNvPr>
              <p:cNvGrpSpPr/>
              <p:nvPr/>
            </p:nvGrpSpPr>
            <p:grpSpPr>
              <a:xfrm>
                <a:off x="2232000" y="3960000"/>
                <a:ext cx="360000" cy="252000"/>
                <a:chOff x="2256879" y="3984909"/>
                <a:chExt cx="360000" cy="252000"/>
              </a:xfrm>
            </p:grpSpPr>
            <p:sp>
              <p:nvSpPr>
                <p:cNvPr id="180" name="Rectangle: Rounded Corners 179">
                  <a:extLst>
                    <a:ext uri="{FF2B5EF4-FFF2-40B4-BE49-F238E27FC236}">
                      <a16:creationId xmlns:a16="http://schemas.microsoft.com/office/drawing/2014/main" id="{64DA6BAE-A7A1-4BC9-99BC-42134DDFE299}"/>
                    </a:ext>
                  </a:extLst>
                </p:cNvPr>
                <p:cNvSpPr/>
                <p:nvPr/>
              </p:nvSpPr>
              <p:spPr bwMode="auto">
                <a:xfrm>
                  <a:off x="2256879" y="3984909"/>
                  <a:ext cx="360000" cy="252000"/>
                </a:xfrm>
                <a:prstGeom prst="roundRect">
                  <a:avLst/>
                </a:prstGeom>
                <a:solidFill>
                  <a:schemeClr val="tx2"/>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cs typeface="Noto Sans"/>
                  </a:endParaRPr>
                </a:p>
              </p:txBody>
            </p:sp>
            <p:pic>
              <p:nvPicPr>
                <p:cNvPr id="181" name="Graphic 180" descr="Computer with solid fill">
                  <a:extLst>
                    <a:ext uri="{FF2B5EF4-FFF2-40B4-BE49-F238E27FC236}">
                      <a16:creationId xmlns:a16="http://schemas.microsoft.com/office/drawing/2014/main" id="{CC5BD09E-869F-4478-1860-47B51AC9E0CC}"/>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30210" y="4003288"/>
                  <a:ext cx="216000" cy="216000"/>
                </a:xfrm>
                <a:prstGeom prst="rect">
                  <a:avLst/>
                </a:prstGeom>
              </p:spPr>
            </p:pic>
          </p:grpSp>
          <p:grpSp>
            <p:nvGrpSpPr>
              <p:cNvPr id="171" name="Group 170">
                <a:extLst>
                  <a:ext uri="{FF2B5EF4-FFF2-40B4-BE49-F238E27FC236}">
                    <a16:creationId xmlns:a16="http://schemas.microsoft.com/office/drawing/2014/main" id="{8ABB9A91-10BA-EAC7-788A-537782C77ACC}"/>
                  </a:ext>
                </a:extLst>
              </p:cNvPr>
              <p:cNvGrpSpPr/>
              <p:nvPr/>
            </p:nvGrpSpPr>
            <p:grpSpPr>
              <a:xfrm>
                <a:off x="2232000" y="4212000"/>
                <a:ext cx="360000" cy="252000"/>
                <a:chOff x="2256879" y="3984909"/>
                <a:chExt cx="360000" cy="252000"/>
              </a:xfrm>
            </p:grpSpPr>
            <p:sp>
              <p:nvSpPr>
                <p:cNvPr id="178" name="Rectangle: Rounded Corners 177">
                  <a:extLst>
                    <a:ext uri="{FF2B5EF4-FFF2-40B4-BE49-F238E27FC236}">
                      <a16:creationId xmlns:a16="http://schemas.microsoft.com/office/drawing/2014/main" id="{80EBC051-A709-82C0-AF4C-693BC9A6FF36}"/>
                    </a:ext>
                  </a:extLst>
                </p:cNvPr>
                <p:cNvSpPr/>
                <p:nvPr/>
              </p:nvSpPr>
              <p:spPr bwMode="auto">
                <a:xfrm>
                  <a:off x="2256879" y="3984909"/>
                  <a:ext cx="360000" cy="252000"/>
                </a:xfrm>
                <a:prstGeom prst="roundRect">
                  <a:avLst/>
                </a:prstGeom>
                <a:solidFill>
                  <a:schemeClr val="tx2"/>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cs typeface="Noto Sans"/>
                  </a:endParaRPr>
                </a:p>
              </p:txBody>
            </p:sp>
            <p:pic>
              <p:nvPicPr>
                <p:cNvPr id="179" name="Graphic 178" descr="Computer with solid fill">
                  <a:extLst>
                    <a:ext uri="{FF2B5EF4-FFF2-40B4-BE49-F238E27FC236}">
                      <a16:creationId xmlns:a16="http://schemas.microsoft.com/office/drawing/2014/main" id="{395DC318-AA8D-6BF7-5623-5E62BACE10E5}"/>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30210" y="4003288"/>
                  <a:ext cx="216000" cy="216000"/>
                </a:xfrm>
                <a:prstGeom prst="rect">
                  <a:avLst/>
                </a:prstGeom>
              </p:spPr>
            </p:pic>
          </p:grpSp>
          <p:grpSp>
            <p:nvGrpSpPr>
              <p:cNvPr id="172" name="Group 171">
                <a:extLst>
                  <a:ext uri="{FF2B5EF4-FFF2-40B4-BE49-F238E27FC236}">
                    <a16:creationId xmlns:a16="http://schemas.microsoft.com/office/drawing/2014/main" id="{F576AC03-E9E9-F232-0A23-6703C0302903}"/>
                  </a:ext>
                </a:extLst>
              </p:cNvPr>
              <p:cNvGrpSpPr/>
              <p:nvPr/>
            </p:nvGrpSpPr>
            <p:grpSpPr>
              <a:xfrm>
                <a:off x="2592000" y="3960000"/>
                <a:ext cx="360000" cy="252000"/>
                <a:chOff x="2256879" y="3984909"/>
                <a:chExt cx="360000" cy="252000"/>
              </a:xfrm>
            </p:grpSpPr>
            <p:sp>
              <p:nvSpPr>
                <p:cNvPr id="176" name="Rectangle: Rounded Corners 175">
                  <a:extLst>
                    <a:ext uri="{FF2B5EF4-FFF2-40B4-BE49-F238E27FC236}">
                      <a16:creationId xmlns:a16="http://schemas.microsoft.com/office/drawing/2014/main" id="{4325EC4F-8AA5-1488-5833-7E7CE384EE7F}"/>
                    </a:ext>
                  </a:extLst>
                </p:cNvPr>
                <p:cNvSpPr/>
                <p:nvPr/>
              </p:nvSpPr>
              <p:spPr bwMode="auto">
                <a:xfrm>
                  <a:off x="2256879" y="3984909"/>
                  <a:ext cx="360000" cy="252000"/>
                </a:xfrm>
                <a:prstGeom prst="roundRect">
                  <a:avLst/>
                </a:prstGeom>
                <a:solidFill>
                  <a:schemeClr val="tx2"/>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cs typeface="Noto Sans"/>
                  </a:endParaRPr>
                </a:p>
              </p:txBody>
            </p:sp>
            <p:pic>
              <p:nvPicPr>
                <p:cNvPr id="177" name="Graphic 176" descr="Computer with solid fill">
                  <a:extLst>
                    <a:ext uri="{FF2B5EF4-FFF2-40B4-BE49-F238E27FC236}">
                      <a16:creationId xmlns:a16="http://schemas.microsoft.com/office/drawing/2014/main" id="{43E316BA-E403-4640-BB38-3BE4977D3FA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30210" y="4003288"/>
                  <a:ext cx="216000" cy="216000"/>
                </a:xfrm>
                <a:prstGeom prst="rect">
                  <a:avLst/>
                </a:prstGeom>
              </p:spPr>
            </p:pic>
          </p:grpSp>
          <p:grpSp>
            <p:nvGrpSpPr>
              <p:cNvPr id="173" name="Group 172">
                <a:extLst>
                  <a:ext uri="{FF2B5EF4-FFF2-40B4-BE49-F238E27FC236}">
                    <a16:creationId xmlns:a16="http://schemas.microsoft.com/office/drawing/2014/main" id="{ADBE797C-C747-86BC-C395-2DA5335379C7}"/>
                  </a:ext>
                </a:extLst>
              </p:cNvPr>
              <p:cNvGrpSpPr/>
              <p:nvPr/>
            </p:nvGrpSpPr>
            <p:grpSpPr>
              <a:xfrm>
                <a:off x="2592000" y="4212000"/>
                <a:ext cx="360000" cy="252000"/>
                <a:chOff x="2256879" y="3984909"/>
                <a:chExt cx="360000" cy="252000"/>
              </a:xfrm>
            </p:grpSpPr>
            <p:sp>
              <p:nvSpPr>
                <p:cNvPr id="174" name="Rectangle: Rounded Corners 173">
                  <a:extLst>
                    <a:ext uri="{FF2B5EF4-FFF2-40B4-BE49-F238E27FC236}">
                      <a16:creationId xmlns:a16="http://schemas.microsoft.com/office/drawing/2014/main" id="{D6AE3AAC-C2FD-7D78-09B2-FCEC5F62A93A}"/>
                    </a:ext>
                  </a:extLst>
                </p:cNvPr>
                <p:cNvSpPr/>
                <p:nvPr/>
              </p:nvSpPr>
              <p:spPr bwMode="auto">
                <a:xfrm>
                  <a:off x="2256879" y="3984909"/>
                  <a:ext cx="360000" cy="252000"/>
                </a:xfrm>
                <a:prstGeom prst="roundRect">
                  <a:avLst/>
                </a:prstGeom>
                <a:solidFill>
                  <a:schemeClr val="tx2"/>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cs typeface="Noto Sans"/>
                  </a:endParaRPr>
                </a:p>
              </p:txBody>
            </p:sp>
            <p:pic>
              <p:nvPicPr>
                <p:cNvPr id="175" name="Graphic 174" descr="Computer with solid fill">
                  <a:extLst>
                    <a:ext uri="{FF2B5EF4-FFF2-40B4-BE49-F238E27FC236}">
                      <a16:creationId xmlns:a16="http://schemas.microsoft.com/office/drawing/2014/main" id="{E84DF316-B752-3D26-73CC-7759F931522D}"/>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30210" y="4003288"/>
                  <a:ext cx="216000" cy="216000"/>
                </a:xfrm>
                <a:prstGeom prst="rect">
                  <a:avLst/>
                </a:prstGeom>
              </p:spPr>
            </p:pic>
          </p:grpSp>
        </p:grpSp>
        <p:cxnSp>
          <p:nvCxnSpPr>
            <p:cNvPr id="162" name="Straight Arrow Connector 161">
              <a:extLst>
                <a:ext uri="{FF2B5EF4-FFF2-40B4-BE49-F238E27FC236}">
                  <a16:creationId xmlns:a16="http://schemas.microsoft.com/office/drawing/2014/main" id="{EEB66AB8-B25F-25BD-AD10-81A1116596F5}"/>
                </a:ext>
              </a:extLst>
            </p:cNvPr>
            <p:cNvCxnSpPr>
              <a:cxnSpLocks/>
            </p:cNvCxnSpPr>
            <p:nvPr/>
          </p:nvCxnSpPr>
          <p:spPr>
            <a:xfrm flipH="1">
              <a:off x="578204" y="3016500"/>
              <a:ext cx="296616" cy="0"/>
            </a:xfrm>
            <a:prstGeom prst="straightConnector1">
              <a:avLst/>
            </a:prstGeom>
            <a:ln w="12700" cap="rnd">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8C42B741-B1F1-C6CB-3020-A33D2E5DDD38}"/>
                </a:ext>
              </a:extLst>
            </p:cNvPr>
            <p:cNvCxnSpPr>
              <a:cxnSpLocks/>
            </p:cNvCxnSpPr>
            <p:nvPr/>
          </p:nvCxnSpPr>
          <p:spPr>
            <a:xfrm flipH="1">
              <a:off x="577582" y="3211162"/>
              <a:ext cx="296616" cy="0"/>
            </a:xfrm>
            <a:prstGeom prst="straightConnector1">
              <a:avLst/>
            </a:prstGeom>
            <a:ln w="12700" cap="rnd">
              <a:solidFill>
                <a:schemeClr val="bg2"/>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64" name="Group 163">
              <a:extLst>
                <a:ext uri="{FF2B5EF4-FFF2-40B4-BE49-F238E27FC236}">
                  <a16:creationId xmlns:a16="http://schemas.microsoft.com/office/drawing/2014/main" id="{1BC70AD5-83C5-957C-4755-B98E95D5287C}"/>
                </a:ext>
              </a:extLst>
            </p:cNvPr>
            <p:cNvGrpSpPr>
              <a:grpSpLocks noChangeAspect="1"/>
            </p:cNvGrpSpPr>
            <p:nvPr/>
          </p:nvGrpSpPr>
          <p:grpSpPr>
            <a:xfrm>
              <a:off x="526851" y="1995204"/>
              <a:ext cx="360000" cy="253475"/>
              <a:chOff x="968131" y="4202255"/>
              <a:chExt cx="741720" cy="522243"/>
            </a:xfrm>
          </p:grpSpPr>
          <p:sp>
            <p:nvSpPr>
              <p:cNvPr id="165" name="Rectangle: Rounded Corners 164">
                <a:extLst>
                  <a:ext uri="{FF2B5EF4-FFF2-40B4-BE49-F238E27FC236}">
                    <a16:creationId xmlns:a16="http://schemas.microsoft.com/office/drawing/2014/main" id="{EB2CE8D9-AA5E-8112-D907-97B2F72153F6}"/>
                  </a:ext>
                </a:extLst>
              </p:cNvPr>
              <p:cNvSpPr/>
              <p:nvPr/>
            </p:nvSpPr>
            <p:spPr bwMode="auto">
              <a:xfrm>
                <a:off x="968131" y="4202255"/>
                <a:ext cx="576000" cy="360000"/>
              </a:xfrm>
              <a:prstGeom prst="roundRect">
                <a:avLst/>
              </a:prstGeom>
              <a:solidFill>
                <a:schemeClr val="tx2">
                  <a:lumMod val="40000"/>
                  <a:lumOff val="60000"/>
                </a:schemeClr>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cs typeface="Noto Sans"/>
                </a:endParaRPr>
              </a:p>
            </p:txBody>
          </p:sp>
          <p:sp>
            <p:nvSpPr>
              <p:cNvPr id="166" name="Rectangle: Rounded Corners 165">
                <a:extLst>
                  <a:ext uri="{FF2B5EF4-FFF2-40B4-BE49-F238E27FC236}">
                    <a16:creationId xmlns:a16="http://schemas.microsoft.com/office/drawing/2014/main" id="{4F099385-8B04-1A42-903B-5A9789886246}"/>
                  </a:ext>
                </a:extLst>
              </p:cNvPr>
              <p:cNvSpPr/>
              <p:nvPr/>
            </p:nvSpPr>
            <p:spPr bwMode="auto">
              <a:xfrm>
                <a:off x="1054468" y="4281638"/>
                <a:ext cx="576000" cy="360000"/>
              </a:xfrm>
              <a:prstGeom prst="roundRect">
                <a:avLst/>
              </a:prstGeom>
              <a:solidFill>
                <a:schemeClr val="tx2">
                  <a:lumMod val="60000"/>
                  <a:lumOff val="40000"/>
                </a:schemeClr>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cs typeface="Noto Sans"/>
                </a:endParaRPr>
              </a:p>
            </p:txBody>
          </p:sp>
          <p:sp>
            <p:nvSpPr>
              <p:cNvPr id="167" name="Rectangle: Rounded Corners 166">
                <a:extLst>
                  <a:ext uri="{FF2B5EF4-FFF2-40B4-BE49-F238E27FC236}">
                    <a16:creationId xmlns:a16="http://schemas.microsoft.com/office/drawing/2014/main" id="{47526AD2-F5BC-CC2C-5E35-C9DDD6EBF233}"/>
                  </a:ext>
                </a:extLst>
              </p:cNvPr>
              <p:cNvSpPr/>
              <p:nvPr/>
            </p:nvSpPr>
            <p:spPr bwMode="auto">
              <a:xfrm>
                <a:off x="1133851" y="4364498"/>
                <a:ext cx="576000" cy="360000"/>
              </a:xfrm>
              <a:prstGeom prst="roundRect">
                <a:avLst/>
              </a:prstGeom>
              <a:solidFill>
                <a:schemeClr val="tx2"/>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cs typeface="Noto Sans"/>
                </a:endParaRPr>
              </a:p>
            </p:txBody>
          </p:sp>
          <p:pic>
            <p:nvPicPr>
              <p:cNvPr id="168" name="Picture 2">
                <a:extLst>
                  <a:ext uri="{FF2B5EF4-FFF2-40B4-BE49-F238E27FC236}">
                    <a16:creationId xmlns:a16="http://schemas.microsoft.com/office/drawing/2014/main" id="{C2032DE0-EB05-A34F-51AD-F16A7449EEA6}"/>
                  </a:ext>
                </a:extLst>
              </p:cNvPr>
              <p:cNvPicPr>
                <a:picLocks noChangeAspect="1" noChangeArrowheads="1"/>
              </p:cNvPicPr>
              <p:nvPr/>
            </p:nvPicPr>
            <p:blipFill>
              <a:blip r:embed="rId4" cstate="print">
                <a:biLevel thresh="25000"/>
                <a:extLst>
                  <a:ext uri="{28A0092B-C50C-407E-A947-70E740481C1C}">
                    <a14:useLocalDpi xmlns:a14="http://schemas.microsoft.com/office/drawing/2010/main" val="0"/>
                  </a:ext>
                </a:extLst>
              </a:blip>
              <a:srcRect/>
              <a:stretch>
                <a:fillRect/>
              </a:stretch>
            </p:blipFill>
            <p:spPr bwMode="auto">
              <a:xfrm>
                <a:off x="1315896" y="4478849"/>
                <a:ext cx="86400" cy="86400"/>
              </a:xfrm>
              <a:prstGeom prst="rect">
                <a:avLst/>
              </a:prstGeom>
              <a:noFill/>
              <a:extLst>
                <a:ext uri="{909E8E84-426E-40DD-AFC4-6F175D3DCCD1}">
                  <a14:hiddenFill xmlns:a14="http://schemas.microsoft.com/office/drawing/2010/main">
                    <a:solidFill>
                      <a:srgbClr val="FFFFFF"/>
                    </a:solidFill>
                  </a14:hiddenFill>
                </a:ext>
              </a:extLst>
            </p:spPr>
          </p:pic>
          <p:pic>
            <p:nvPicPr>
              <p:cNvPr id="169" name="Graphic 168" descr="Computer with solid fill">
                <a:extLst>
                  <a:ext uri="{FF2B5EF4-FFF2-40B4-BE49-F238E27FC236}">
                    <a16:creationId xmlns:a16="http://schemas.microsoft.com/office/drawing/2014/main" id="{46B77DEC-E4B4-F90F-EF3C-AAD5D7D7A21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39235" y="4364498"/>
                <a:ext cx="360000" cy="360000"/>
              </a:xfrm>
              <a:prstGeom prst="rect">
                <a:avLst/>
              </a:prstGeom>
            </p:spPr>
          </p:pic>
        </p:grpSp>
      </p:grpSp>
      <p:sp>
        <p:nvSpPr>
          <p:cNvPr id="187" name="Subtitle 6">
            <a:extLst>
              <a:ext uri="{FF2B5EF4-FFF2-40B4-BE49-F238E27FC236}">
                <a16:creationId xmlns:a16="http://schemas.microsoft.com/office/drawing/2014/main" id="{D7CE6D34-C381-95E9-023F-0CE123260B54}"/>
              </a:ext>
            </a:extLst>
          </p:cNvPr>
          <p:cNvSpPr>
            <a:spLocks noGrp="1"/>
          </p:cNvSpPr>
          <p:nvPr>
            <p:ph type="subTitle" idx="1"/>
          </p:nvPr>
        </p:nvSpPr>
        <p:spPr>
          <a:xfrm>
            <a:off x="350123" y="813080"/>
            <a:ext cx="11459627" cy="765860"/>
          </a:xfrm>
        </p:spPr>
        <p:txBody>
          <a:bodyPr vert="horz" wrap="square" lIns="0" tIns="0" rIns="0" bIns="0" rtlCol="0" anchor="t" anchorCtr="0">
            <a:noAutofit/>
          </a:bodyPr>
          <a:lstStyle/>
          <a:p>
            <a:r>
              <a:rPr lang="en-GB" sz="1400">
                <a:solidFill>
                  <a:srgbClr val="4A4A4A"/>
                </a:solidFill>
                <a:effectLst/>
                <a:latin typeface="Arial" panose="020B0604020202020204" pitchFamily="34" charset="0"/>
              </a:rPr>
              <a:t>The existing deployment features </a:t>
            </a:r>
            <a:r>
              <a:rPr lang="en-GB" sz="1400">
                <a:solidFill>
                  <a:schemeClr val="tx2"/>
                </a:solidFill>
                <a:effectLst/>
                <a:latin typeface="Arial" panose="020B0604020202020204" pitchFamily="34" charset="0"/>
              </a:rPr>
              <a:t>three distinct VDI platform </a:t>
            </a:r>
            <a:r>
              <a:rPr lang="en-GB" sz="1400">
                <a:solidFill>
                  <a:srgbClr val="4A4A4A"/>
                </a:solidFill>
                <a:effectLst/>
                <a:latin typeface="Arial" panose="020B0604020202020204" pitchFamily="34" charset="0"/>
              </a:rPr>
              <a:t>configurations. User management is conducted through the </a:t>
            </a:r>
            <a:r>
              <a:rPr lang="en-GB" sz="1400">
                <a:solidFill>
                  <a:schemeClr val="tx2"/>
                </a:solidFill>
                <a:effectLst/>
                <a:latin typeface="Arial" panose="020B0604020202020204" pitchFamily="34" charset="0"/>
              </a:rPr>
              <a:t>Citrix Cloud DaaS </a:t>
            </a:r>
            <a:r>
              <a:rPr lang="en-GB" sz="1400">
                <a:solidFill>
                  <a:srgbClr val="4A4A4A"/>
                </a:solidFill>
                <a:effectLst/>
                <a:latin typeface="Arial" panose="020B0604020202020204" pitchFamily="34" charset="0"/>
              </a:rPr>
              <a:t>platform, which oversees VDI workloads within GSK's </a:t>
            </a:r>
            <a:r>
              <a:rPr lang="en-GB" sz="1400">
                <a:solidFill>
                  <a:schemeClr val="tx2"/>
                </a:solidFill>
                <a:effectLst/>
                <a:latin typeface="Arial" panose="020B0604020202020204" pitchFamily="34" charset="0"/>
              </a:rPr>
              <a:t>Azure</a:t>
            </a:r>
            <a:r>
              <a:rPr lang="en-GB" sz="1400">
                <a:solidFill>
                  <a:srgbClr val="4A4A4A"/>
                </a:solidFill>
                <a:effectLst/>
                <a:latin typeface="Arial" panose="020B0604020202020204" pitchFamily="34" charset="0"/>
              </a:rPr>
              <a:t> subscriptions and traditional on-premises workloads utilising </a:t>
            </a:r>
            <a:r>
              <a:rPr lang="en-GB" sz="1400">
                <a:solidFill>
                  <a:schemeClr val="tx2"/>
                </a:solidFill>
                <a:effectLst/>
                <a:latin typeface="Arial" panose="020B0604020202020204" pitchFamily="34" charset="0"/>
              </a:rPr>
              <a:t>VMware</a:t>
            </a:r>
            <a:r>
              <a:rPr lang="en-GB" sz="1400">
                <a:solidFill>
                  <a:srgbClr val="4A4A4A"/>
                </a:solidFill>
                <a:effectLst/>
                <a:latin typeface="Arial" panose="020B0604020202020204" pitchFamily="34" charset="0"/>
              </a:rPr>
              <a:t>.</a:t>
            </a:r>
            <a:endParaRPr lang="en-GB" sz="1400" noProof="0">
              <a:solidFill>
                <a:schemeClr val="bg2">
                  <a:lumMod val="50000"/>
                </a:schemeClr>
              </a:solidFill>
            </a:endParaRPr>
          </a:p>
        </p:txBody>
      </p:sp>
      <p:sp>
        <p:nvSpPr>
          <p:cNvPr id="188" name="Text Placeholder 4">
            <a:extLst>
              <a:ext uri="{FF2B5EF4-FFF2-40B4-BE49-F238E27FC236}">
                <a16:creationId xmlns:a16="http://schemas.microsoft.com/office/drawing/2014/main" id="{C1A1D785-9F42-EDE3-25EE-E58D482BFEE6}"/>
              </a:ext>
            </a:extLst>
          </p:cNvPr>
          <p:cNvSpPr txBox="1">
            <a:spLocks/>
          </p:cNvSpPr>
          <p:nvPr/>
        </p:nvSpPr>
        <p:spPr>
          <a:xfrm>
            <a:off x="1242000" y="6441370"/>
            <a:ext cx="7877443" cy="441047"/>
          </a:xfrm>
          <a:prstGeom prst="rect">
            <a:avLst/>
          </a:prstGeom>
        </p:spPr>
        <p:txBody>
          <a:bodyPr vert="horz" lIns="36000" tIns="36000" rIns="36000" bIns="36000" rtlCol="0">
            <a:noAutofit/>
          </a:bodyPr>
          <a:lstStyle>
            <a:lvl1pPr marL="0" indent="0" algn="l" defTabSz="1219170" rtl="0" eaLnBrk="1" latinLnBrk="0" hangingPunct="1">
              <a:spcBef>
                <a:spcPts val="300"/>
              </a:spcBef>
              <a:spcAft>
                <a:spcPts val="300"/>
              </a:spcAft>
              <a:buClr>
                <a:schemeClr val="tx2"/>
              </a:buClr>
              <a:buSzPct val="110000"/>
              <a:buFont typeface="Arial" panose="020B0604020202020204" pitchFamily="34" charset="0"/>
              <a:buNone/>
              <a:defRPr sz="2200" kern="1200">
                <a:solidFill>
                  <a:schemeClr val="tx1"/>
                </a:solidFill>
                <a:latin typeface="+mn-lt"/>
                <a:ea typeface="+mn-ea"/>
                <a:cs typeface="+mn-cs"/>
              </a:defRPr>
            </a:lvl1pPr>
            <a:lvl2pPr marL="357542" indent="0" algn="l" defTabSz="1219170" rtl="0" eaLnBrk="1" latinLnBrk="0" hangingPunct="1">
              <a:spcBef>
                <a:spcPts val="300"/>
              </a:spcBef>
              <a:spcAft>
                <a:spcPts val="300"/>
              </a:spcAft>
              <a:buClr>
                <a:schemeClr val="tx1"/>
              </a:buClr>
              <a:buFont typeface="Arial" panose="020B0604020202020204" pitchFamily="34" charset="0"/>
              <a:buNone/>
              <a:defRPr sz="2000" kern="1200">
                <a:solidFill>
                  <a:schemeClr val="tx1"/>
                </a:solidFill>
                <a:latin typeface="+mn-lt"/>
                <a:ea typeface="+mn-ea"/>
                <a:cs typeface="+mn-cs"/>
              </a:defRPr>
            </a:lvl2pPr>
            <a:lvl3pPr marL="719982" indent="0" algn="l" defTabSz="1219170" rtl="0" eaLnBrk="1" latinLnBrk="0" hangingPunct="1">
              <a:spcBef>
                <a:spcPts val="300"/>
              </a:spcBef>
              <a:spcAft>
                <a:spcPts val="300"/>
              </a:spcAft>
              <a:buClr>
                <a:schemeClr val="tx1"/>
              </a:buClr>
              <a:buFont typeface="Arial" panose="020B0604020202020204" pitchFamily="34" charset="0"/>
              <a:buNone/>
              <a:defRPr sz="1800" kern="1200">
                <a:solidFill>
                  <a:schemeClr val="tx1"/>
                </a:solidFill>
                <a:latin typeface="+mn-lt"/>
                <a:ea typeface="+mn-ea"/>
                <a:cs typeface="+mn-cs"/>
              </a:defRPr>
            </a:lvl3pPr>
            <a:lvl4pPr marL="1081424" indent="0" algn="l" defTabSz="1219170" rtl="0" eaLnBrk="1" latinLnBrk="0" hangingPunct="1">
              <a:spcBef>
                <a:spcPts val="300"/>
              </a:spcBef>
              <a:spcAft>
                <a:spcPts val="300"/>
              </a:spcAft>
              <a:buClr>
                <a:schemeClr val="tx1"/>
              </a:buClr>
              <a:buFont typeface="Arial" panose="020B0604020202020204" pitchFamily="34" charset="0"/>
              <a:buNone/>
              <a:defRPr sz="1600" kern="1200">
                <a:solidFill>
                  <a:schemeClr val="tx1"/>
                </a:solidFill>
                <a:latin typeface="+mn-lt"/>
                <a:ea typeface="+mn-ea"/>
                <a:cs typeface="+mn-cs"/>
              </a:defRPr>
            </a:lvl4pPr>
            <a:lvl5pPr marL="1439964" indent="0" algn="l" defTabSz="1219170" rtl="0" eaLnBrk="1" latinLnBrk="0" hangingPunct="1">
              <a:spcBef>
                <a:spcPts val="300"/>
              </a:spcBef>
              <a:spcAft>
                <a:spcPts val="300"/>
              </a:spcAft>
              <a:buClr>
                <a:schemeClr val="tx1"/>
              </a:buClr>
              <a:buFont typeface="Arial" panose="020B0604020202020204" pitchFamily="34" charset="0"/>
              <a:buNone/>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
                <a:srgbClr val="F36633"/>
              </a:buClr>
              <a:buSzPct val="110000"/>
              <a:buFont typeface="Arial" panose="020B0604020202020204" pitchFamily="34" charset="0"/>
              <a:buNone/>
              <a:tabLst/>
              <a:defRPr/>
            </a:pPr>
            <a:r>
              <a:rPr kumimoji="0" lang="en-GB" sz="800" b="0" i="0" u="none" strike="noStrike" kern="1200" cap="none" spc="0" normalizeH="0" baseline="0" noProof="0">
                <a:ln>
                  <a:noFill/>
                </a:ln>
                <a:solidFill>
                  <a:srgbClr val="959595">
                    <a:lumMod val="50000"/>
                  </a:srgbClr>
                </a:solidFill>
                <a:effectLst/>
                <a:uLnTx/>
                <a:uFillTx/>
                <a:latin typeface="Arial"/>
                <a:ea typeface="+mn-ea"/>
                <a:cs typeface="Noto Sans"/>
              </a:rPr>
              <a:t>1 Multi-session Server OS used for application compatibility purposes only. Deployment standard is multi-session desktop OS as 1:1 VDI is 6-7 more expensive.</a:t>
            </a:r>
          </a:p>
          <a:p>
            <a:pPr marL="0" marR="0" lvl="0" indent="0" algn="l" defTabSz="1219170" rtl="0" eaLnBrk="1" fontAlgn="auto" latinLnBrk="0" hangingPunct="1">
              <a:lnSpc>
                <a:spcPct val="100000"/>
              </a:lnSpc>
              <a:spcBef>
                <a:spcPts val="0"/>
              </a:spcBef>
              <a:spcAft>
                <a:spcPts val="0"/>
              </a:spcAft>
              <a:buClr>
                <a:srgbClr val="F36633"/>
              </a:buClr>
              <a:buSzPct val="110000"/>
              <a:buFont typeface="Arial" panose="020B0604020202020204" pitchFamily="34" charset="0"/>
              <a:buNone/>
              <a:tabLst/>
              <a:defRPr/>
            </a:pPr>
            <a:r>
              <a:rPr kumimoji="0" lang="en-GB" sz="800" b="0" i="0" u="none" strike="noStrike" kern="1200" cap="none" spc="0" normalizeH="0" baseline="0" noProof="0">
                <a:ln>
                  <a:noFill/>
                </a:ln>
                <a:solidFill>
                  <a:srgbClr val="959595">
                    <a:lumMod val="50000"/>
                  </a:srgbClr>
                </a:solidFill>
                <a:effectLst/>
                <a:uLnTx/>
                <a:uFillTx/>
                <a:latin typeface="Arial"/>
                <a:ea typeface="+mn-ea"/>
                <a:cs typeface="Noto Sans"/>
              </a:rPr>
              <a:t>2 Due for complete migration to Citrix Cloud Gateway to remove requirement for on-premises physical / virtual </a:t>
            </a:r>
            <a:r>
              <a:rPr kumimoji="0" lang="en-GB" sz="800" b="0" i="0" u="none" strike="noStrike" kern="1200" cap="none" spc="0" normalizeH="0" baseline="0" noProof="0" err="1">
                <a:ln>
                  <a:noFill/>
                </a:ln>
                <a:solidFill>
                  <a:srgbClr val="959595">
                    <a:lumMod val="50000"/>
                  </a:srgbClr>
                </a:solidFill>
                <a:effectLst/>
                <a:uLnTx/>
                <a:uFillTx/>
                <a:latin typeface="Arial"/>
                <a:ea typeface="+mn-ea"/>
                <a:cs typeface="Noto Sans"/>
              </a:rPr>
              <a:t>NetScalers</a:t>
            </a:r>
            <a:r>
              <a:rPr kumimoji="0" lang="en-GB" sz="800" b="0" i="0" u="none" strike="noStrike" kern="1200" cap="none" spc="0" normalizeH="0" baseline="0" noProof="0">
                <a:ln>
                  <a:noFill/>
                </a:ln>
                <a:solidFill>
                  <a:srgbClr val="959595">
                    <a:lumMod val="50000"/>
                  </a:srgbClr>
                </a:solidFill>
                <a:effectLst/>
                <a:uLnTx/>
                <a:uFillTx/>
                <a:latin typeface="Arial"/>
                <a:ea typeface="+mn-ea"/>
                <a:cs typeface="Noto Sans"/>
              </a:rPr>
              <a:t>.</a:t>
            </a:r>
          </a:p>
        </p:txBody>
      </p:sp>
    </p:spTree>
    <p:extLst>
      <p:ext uri="{BB962C8B-B14F-4D97-AF65-F5344CB8AC3E}">
        <p14:creationId xmlns:p14="http://schemas.microsoft.com/office/powerpoint/2010/main" val="56413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5">
            <a:extLst>
              <a:ext uri="{FF2B5EF4-FFF2-40B4-BE49-F238E27FC236}">
                <a16:creationId xmlns:a16="http://schemas.microsoft.com/office/drawing/2014/main" id="{814703E7-89D4-4DF6-9BFF-95507BA7358B}"/>
              </a:ext>
            </a:extLst>
          </p:cNvPr>
          <p:cNvSpPr txBox="1">
            <a:spLocks/>
          </p:cNvSpPr>
          <p:nvPr/>
        </p:nvSpPr>
        <p:spPr>
          <a:xfrm>
            <a:off x="478870" y="35563"/>
            <a:ext cx="10589345" cy="677108"/>
          </a:xfrm>
          <a:prstGeom prst="rect">
            <a:avLst/>
          </a:prstGeom>
        </p:spPr>
        <p:txBody>
          <a:bodyPr vert="horz" lIns="0" tIns="0" rIns="0" bIns="0" rtlCol="0" anchor="b" anchorCtr="0">
            <a:normAutofit fontScale="92500"/>
          </a:bodyPr>
          <a:lstStyle>
            <a:lvl1pPr algn="l" defTabSz="1219170" rtl="0" eaLnBrk="1" latinLnBrk="0" hangingPunct="1">
              <a:lnSpc>
                <a:spcPct val="100000"/>
              </a:lnSpc>
              <a:spcBef>
                <a:spcPct val="0"/>
              </a:spcBef>
              <a:buNone/>
              <a:defRPr sz="2800" b="1" kern="1200">
                <a:solidFill>
                  <a:schemeClr val="tx2"/>
                </a:solidFill>
                <a:latin typeface="+mj-lt"/>
                <a:ea typeface="+mj-ea"/>
                <a:cs typeface="+mj-cs"/>
              </a:defRPr>
            </a:lvl1pPr>
          </a:lstStyle>
          <a:p>
            <a:r>
              <a:rPr lang="en-US"/>
              <a:t>Tech Stack &amp; Architecture Diagram - EAS: Virtual Apps &amp; Desktops</a:t>
            </a:r>
          </a:p>
        </p:txBody>
      </p:sp>
      <p:sp>
        <p:nvSpPr>
          <p:cNvPr id="16" name="Date Placeholder 5">
            <a:extLst>
              <a:ext uri="{FF2B5EF4-FFF2-40B4-BE49-F238E27FC236}">
                <a16:creationId xmlns:a16="http://schemas.microsoft.com/office/drawing/2014/main" id="{E3C3A3A6-AD95-4BF9-AB35-C99B0B8181D0}"/>
              </a:ext>
            </a:extLst>
          </p:cNvPr>
          <p:cNvSpPr txBox="1">
            <a:spLocks/>
          </p:cNvSpPr>
          <p:nvPr/>
        </p:nvSpPr>
        <p:spPr>
          <a:xfrm>
            <a:off x="10907861" y="65881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graphicFrame>
        <p:nvGraphicFramePr>
          <p:cNvPr id="6" name="Table 5">
            <a:extLst>
              <a:ext uri="{FF2B5EF4-FFF2-40B4-BE49-F238E27FC236}">
                <a16:creationId xmlns:a16="http://schemas.microsoft.com/office/drawing/2014/main" id="{A2A7F88C-665C-CCAD-DC67-4613046453F5}"/>
              </a:ext>
            </a:extLst>
          </p:cNvPr>
          <p:cNvGraphicFramePr>
            <a:graphicFrameLocks noGrp="1"/>
          </p:cNvGraphicFramePr>
          <p:nvPr/>
        </p:nvGraphicFramePr>
        <p:xfrm>
          <a:off x="0" y="1019663"/>
          <a:ext cx="12192000" cy="4919962"/>
        </p:xfrm>
        <a:graphic>
          <a:graphicData uri="http://schemas.openxmlformats.org/drawingml/2006/table">
            <a:tbl>
              <a:tblPr firstRow="1" bandRow="1">
                <a:tableStyleId>{9D7B26C5-4107-4FEC-AEDC-1716B250A1EF}</a:tableStyleId>
              </a:tblPr>
              <a:tblGrid>
                <a:gridCol w="3048000">
                  <a:extLst>
                    <a:ext uri="{9D8B030D-6E8A-4147-A177-3AD203B41FA5}">
                      <a16:colId xmlns:a16="http://schemas.microsoft.com/office/drawing/2014/main" val="3456521118"/>
                    </a:ext>
                  </a:extLst>
                </a:gridCol>
                <a:gridCol w="3048000">
                  <a:extLst>
                    <a:ext uri="{9D8B030D-6E8A-4147-A177-3AD203B41FA5}">
                      <a16:colId xmlns:a16="http://schemas.microsoft.com/office/drawing/2014/main" val="1681009628"/>
                    </a:ext>
                  </a:extLst>
                </a:gridCol>
                <a:gridCol w="3048000">
                  <a:extLst>
                    <a:ext uri="{9D8B030D-6E8A-4147-A177-3AD203B41FA5}">
                      <a16:colId xmlns:a16="http://schemas.microsoft.com/office/drawing/2014/main" val="3167990485"/>
                    </a:ext>
                  </a:extLst>
                </a:gridCol>
                <a:gridCol w="3048000">
                  <a:extLst>
                    <a:ext uri="{9D8B030D-6E8A-4147-A177-3AD203B41FA5}">
                      <a16:colId xmlns:a16="http://schemas.microsoft.com/office/drawing/2014/main" val="4289150252"/>
                    </a:ext>
                  </a:extLst>
                </a:gridCol>
              </a:tblGrid>
              <a:tr h="2192743">
                <a:tc>
                  <a:txBody>
                    <a:bodyPr/>
                    <a:lstStyle/>
                    <a:p>
                      <a:endParaRPr lang="en-GB" noProof="0">
                        <a:solidFill>
                          <a:schemeClr val="bg1"/>
                        </a:solidFill>
                      </a:endParaRPr>
                    </a:p>
                  </a:txBody>
                  <a:tcPr>
                    <a:lnL>
                      <a:noFill/>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GB" noProof="0">
                        <a:solidFill>
                          <a:schemeClr val="bg1"/>
                        </a:solidFill>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GB" noProof="0">
                        <a:solidFill>
                          <a:schemeClr val="bg1"/>
                        </a:solidFill>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GB" noProof="0">
                        <a:solidFill>
                          <a:schemeClr val="bg1"/>
                        </a:solidFill>
                      </a:endParaRPr>
                    </a:p>
                  </a:txBody>
                  <a:tcPr>
                    <a:lnL w="12700" cap="flat" cmpd="sng" algn="ctr">
                      <a:solidFill>
                        <a:schemeClr val="bg1">
                          <a:lumMod val="85000"/>
                        </a:schemeClr>
                      </a:solid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30147245"/>
                  </a:ext>
                </a:extLst>
              </a:tr>
              <a:tr h="2727219">
                <a:tc>
                  <a:txBody>
                    <a:bodyPr/>
                    <a:lstStyle/>
                    <a:p>
                      <a:endParaRPr lang="en-GB" noProof="0">
                        <a:solidFill>
                          <a:schemeClr val="bg1"/>
                        </a:solidFill>
                      </a:endParaRPr>
                    </a:p>
                  </a:txBody>
                  <a:tcPr>
                    <a:lnL>
                      <a:noFill/>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GB" noProof="0">
                        <a:solidFill>
                          <a:schemeClr val="bg1"/>
                        </a:solidFill>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GB" noProof="0">
                        <a:solidFill>
                          <a:schemeClr val="bg1"/>
                        </a:solidFill>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GB" noProof="0">
                        <a:solidFill>
                          <a:schemeClr val="bg1"/>
                        </a:solidFill>
                      </a:endParaRPr>
                    </a:p>
                  </a:txBody>
                  <a:tcPr>
                    <a:lnL w="12700" cap="flat" cmpd="sng" algn="ctr">
                      <a:solidFill>
                        <a:schemeClr val="bg1">
                          <a:lumMod val="85000"/>
                        </a:schemeClr>
                      </a:solid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7859209"/>
                  </a:ext>
                </a:extLst>
              </a:tr>
            </a:tbl>
          </a:graphicData>
        </a:graphic>
      </p:graphicFrame>
      <p:sp>
        <p:nvSpPr>
          <p:cNvPr id="7" name="Text Placeholder 4">
            <a:extLst>
              <a:ext uri="{FF2B5EF4-FFF2-40B4-BE49-F238E27FC236}">
                <a16:creationId xmlns:a16="http://schemas.microsoft.com/office/drawing/2014/main" id="{72D72FE9-F2B8-3BA5-E9A0-B49AF7DFE289}"/>
              </a:ext>
            </a:extLst>
          </p:cNvPr>
          <p:cNvSpPr txBox="1">
            <a:spLocks/>
          </p:cNvSpPr>
          <p:nvPr/>
        </p:nvSpPr>
        <p:spPr>
          <a:xfrm>
            <a:off x="140925" y="1056146"/>
            <a:ext cx="2772000" cy="2250852"/>
          </a:xfrm>
          <a:prstGeom prst="rect">
            <a:avLst/>
          </a:prstGeom>
        </p:spPr>
        <p:txBody>
          <a:bodyPr vert="horz" lIns="36000" tIns="36000" rIns="36000" bIns="36000" rtlCol="0">
            <a:noAutofit/>
          </a:bodyPr>
          <a:lstStyle>
            <a:lvl1pPr marL="0" indent="0" algn="l" defTabSz="1219170" rtl="0" eaLnBrk="1" latinLnBrk="0" hangingPunct="1">
              <a:spcBef>
                <a:spcPts val="300"/>
              </a:spcBef>
              <a:spcAft>
                <a:spcPts val="300"/>
              </a:spcAft>
              <a:buClr>
                <a:schemeClr val="tx2"/>
              </a:buClr>
              <a:buSzPct val="110000"/>
              <a:buFont typeface="Arial" panose="020B0604020202020204" pitchFamily="34" charset="0"/>
              <a:buNone/>
              <a:defRPr sz="2200" kern="1200">
                <a:solidFill>
                  <a:schemeClr val="tx1"/>
                </a:solidFill>
                <a:latin typeface="+mn-lt"/>
                <a:ea typeface="+mn-ea"/>
                <a:cs typeface="+mn-cs"/>
              </a:defRPr>
            </a:lvl1pPr>
            <a:lvl2pPr marL="357542" indent="0" algn="l" defTabSz="1219170" rtl="0" eaLnBrk="1" latinLnBrk="0" hangingPunct="1">
              <a:spcBef>
                <a:spcPts val="300"/>
              </a:spcBef>
              <a:spcAft>
                <a:spcPts val="300"/>
              </a:spcAft>
              <a:buClr>
                <a:schemeClr val="tx1"/>
              </a:buClr>
              <a:buFont typeface="Arial" panose="020B0604020202020204" pitchFamily="34" charset="0"/>
              <a:buNone/>
              <a:defRPr sz="2000" kern="1200">
                <a:solidFill>
                  <a:schemeClr val="tx1"/>
                </a:solidFill>
                <a:latin typeface="+mn-lt"/>
                <a:ea typeface="+mn-ea"/>
                <a:cs typeface="+mn-cs"/>
              </a:defRPr>
            </a:lvl2pPr>
            <a:lvl3pPr marL="719982" indent="0" algn="l" defTabSz="1219170" rtl="0" eaLnBrk="1" latinLnBrk="0" hangingPunct="1">
              <a:spcBef>
                <a:spcPts val="300"/>
              </a:spcBef>
              <a:spcAft>
                <a:spcPts val="300"/>
              </a:spcAft>
              <a:buClr>
                <a:schemeClr val="tx1"/>
              </a:buClr>
              <a:buFont typeface="Arial" panose="020B0604020202020204" pitchFamily="34" charset="0"/>
              <a:buNone/>
              <a:defRPr sz="1800" kern="1200">
                <a:solidFill>
                  <a:schemeClr val="tx1"/>
                </a:solidFill>
                <a:latin typeface="+mn-lt"/>
                <a:ea typeface="+mn-ea"/>
                <a:cs typeface="+mn-cs"/>
              </a:defRPr>
            </a:lvl3pPr>
            <a:lvl4pPr marL="1081424" indent="0" algn="l" defTabSz="1219170" rtl="0" eaLnBrk="1" latinLnBrk="0" hangingPunct="1">
              <a:spcBef>
                <a:spcPts val="300"/>
              </a:spcBef>
              <a:spcAft>
                <a:spcPts val="300"/>
              </a:spcAft>
              <a:buClr>
                <a:schemeClr val="tx1"/>
              </a:buClr>
              <a:buFont typeface="Arial" panose="020B0604020202020204" pitchFamily="34" charset="0"/>
              <a:buNone/>
              <a:defRPr sz="1600" kern="1200">
                <a:solidFill>
                  <a:schemeClr val="tx1"/>
                </a:solidFill>
                <a:latin typeface="+mn-lt"/>
                <a:ea typeface="+mn-ea"/>
                <a:cs typeface="+mn-cs"/>
              </a:defRPr>
            </a:lvl4pPr>
            <a:lvl5pPr marL="1439964" indent="0" algn="l" defTabSz="1219170" rtl="0" eaLnBrk="1" latinLnBrk="0" hangingPunct="1">
              <a:spcBef>
                <a:spcPts val="300"/>
              </a:spcBef>
              <a:spcAft>
                <a:spcPts val="300"/>
              </a:spcAft>
              <a:buClr>
                <a:schemeClr val="tx1"/>
              </a:buClr>
              <a:buFont typeface="Arial" panose="020B0604020202020204" pitchFamily="34" charset="0"/>
              <a:buNone/>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347472" marR="0" lvl="0" indent="-347472" algn="l" defTabSz="1219170" rtl="0" eaLnBrk="1" fontAlgn="auto" latinLnBrk="0" hangingPunct="1">
              <a:lnSpc>
                <a:spcPct val="100000"/>
              </a:lnSpc>
              <a:spcBef>
                <a:spcPts val="300"/>
              </a:spcBef>
              <a:spcAft>
                <a:spcPts val="300"/>
              </a:spcAft>
              <a:buClr>
                <a:srgbClr val="F36633"/>
              </a:buClr>
              <a:buSzPct val="110000"/>
              <a:buFont typeface="+mj-lt"/>
              <a:buAutoNum type="arabicPeriod"/>
              <a:tabLst/>
              <a:defRPr/>
            </a:pPr>
            <a:r>
              <a:rPr kumimoji="0" lang="en-US" sz="1600" b="0" i="0" u="none" strike="noStrike" kern="1200" cap="none" spc="0" normalizeH="0" baseline="0" noProof="0">
                <a:ln>
                  <a:noFill/>
                </a:ln>
                <a:solidFill>
                  <a:srgbClr val="4A4A4A"/>
                </a:solidFill>
                <a:effectLst/>
                <a:uLnTx/>
                <a:uFillTx/>
                <a:latin typeface="Arial" panose="020B0604020202020204" pitchFamily="34" charset="0"/>
                <a:ea typeface="+mn-ea"/>
                <a:cs typeface="Noto Sans"/>
              </a:rPr>
              <a:t>GSK's Virtual Desktop Infrastructure (VDI) offers secure access to GSK applications for ~19.5k users, catering to </a:t>
            </a:r>
            <a:r>
              <a:rPr kumimoji="0" lang="en-US" sz="1600" b="1" i="0" u="none" strike="noStrike" kern="1200" cap="none" spc="0" normalizeH="0" baseline="0" noProof="0">
                <a:ln>
                  <a:noFill/>
                </a:ln>
                <a:solidFill>
                  <a:srgbClr val="F36633"/>
                </a:solidFill>
                <a:effectLst/>
                <a:uLnTx/>
                <a:uFillTx/>
                <a:latin typeface="Arial" panose="020B0604020202020204" pitchFamily="34" charset="0"/>
                <a:ea typeface="+mn-ea"/>
                <a:cs typeface="Noto Sans"/>
              </a:rPr>
              <a:t>two primary use cases</a:t>
            </a:r>
            <a:r>
              <a:rPr kumimoji="0" lang="en-US" sz="1600" b="0" i="0" u="none" strike="noStrike" kern="1200" cap="none" spc="0" normalizeH="0" baseline="0" noProof="0">
                <a:ln>
                  <a:noFill/>
                </a:ln>
                <a:solidFill>
                  <a:srgbClr val="4A4A4A"/>
                </a:solidFill>
                <a:effectLst/>
                <a:uLnTx/>
                <a:uFillTx/>
                <a:latin typeface="Arial" panose="020B0604020202020204" pitchFamily="34" charset="0"/>
                <a:ea typeface="+mn-ea"/>
                <a:cs typeface="Noto Sans"/>
              </a:rPr>
              <a:t>.</a:t>
            </a: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br>
              <a:rPr kumimoji="0" lang="en-US" sz="1600" b="0" i="0" u="none" strike="noStrike" kern="1200" cap="none" spc="0" normalizeH="0" baseline="0" noProof="0">
                <a:ln>
                  <a:noFill/>
                </a:ln>
                <a:solidFill>
                  <a:srgbClr val="4A4A4A"/>
                </a:solidFill>
                <a:effectLst/>
                <a:uLnTx/>
                <a:uFillTx/>
                <a:latin typeface="Arial" panose="020B0604020202020204" pitchFamily="34" charset="0"/>
                <a:ea typeface="+mn-ea"/>
                <a:cs typeface="Noto Sans"/>
              </a:rPr>
            </a:br>
            <a:endParaRPr kumimoji="0" lang="en-GB" sz="1600" b="0" i="0" u="none" strike="noStrike" kern="1200" cap="none" spc="0" normalizeH="0" baseline="0" noProof="0">
              <a:ln>
                <a:noFill/>
              </a:ln>
              <a:solidFill>
                <a:srgbClr val="000000"/>
              </a:solidFill>
              <a:effectLst/>
              <a:uLnTx/>
              <a:uFillTx/>
              <a:latin typeface="Arial"/>
              <a:ea typeface="+mn-ea"/>
              <a:cs typeface="Noto Sans"/>
            </a:endParaRPr>
          </a:p>
        </p:txBody>
      </p:sp>
      <p:sp>
        <p:nvSpPr>
          <p:cNvPr id="8" name="Text Placeholder 4">
            <a:extLst>
              <a:ext uri="{FF2B5EF4-FFF2-40B4-BE49-F238E27FC236}">
                <a16:creationId xmlns:a16="http://schemas.microsoft.com/office/drawing/2014/main" id="{AED4FF51-2BDE-D0DD-FADE-990B2BACA4CA}"/>
              </a:ext>
            </a:extLst>
          </p:cNvPr>
          <p:cNvSpPr txBox="1">
            <a:spLocks/>
          </p:cNvSpPr>
          <p:nvPr/>
        </p:nvSpPr>
        <p:spPr>
          <a:xfrm>
            <a:off x="3159530" y="1056146"/>
            <a:ext cx="2772000" cy="2246799"/>
          </a:xfrm>
          <a:prstGeom prst="rect">
            <a:avLst/>
          </a:prstGeom>
        </p:spPr>
        <p:txBody>
          <a:bodyPr vert="horz" lIns="36000" tIns="36000" rIns="36000" bIns="36000" rtlCol="0">
            <a:noAutofit/>
          </a:bodyPr>
          <a:lstStyle>
            <a:lvl1pPr marL="0" indent="0" algn="l" defTabSz="1219170" rtl="0" eaLnBrk="1" latinLnBrk="0" hangingPunct="1">
              <a:spcBef>
                <a:spcPts val="300"/>
              </a:spcBef>
              <a:spcAft>
                <a:spcPts val="300"/>
              </a:spcAft>
              <a:buClr>
                <a:schemeClr val="tx2"/>
              </a:buClr>
              <a:buSzPct val="110000"/>
              <a:buFont typeface="Arial" panose="020B0604020202020204" pitchFamily="34" charset="0"/>
              <a:buNone/>
              <a:defRPr sz="2200" kern="1200">
                <a:solidFill>
                  <a:schemeClr val="tx1"/>
                </a:solidFill>
                <a:latin typeface="+mn-lt"/>
                <a:ea typeface="+mn-ea"/>
                <a:cs typeface="+mn-cs"/>
              </a:defRPr>
            </a:lvl1pPr>
            <a:lvl2pPr marL="357542" indent="0" algn="l" defTabSz="1219170" rtl="0" eaLnBrk="1" latinLnBrk="0" hangingPunct="1">
              <a:spcBef>
                <a:spcPts val="300"/>
              </a:spcBef>
              <a:spcAft>
                <a:spcPts val="300"/>
              </a:spcAft>
              <a:buClr>
                <a:schemeClr val="tx1"/>
              </a:buClr>
              <a:buFont typeface="Arial" panose="020B0604020202020204" pitchFamily="34" charset="0"/>
              <a:buNone/>
              <a:defRPr sz="2000" kern="1200">
                <a:solidFill>
                  <a:schemeClr val="tx1"/>
                </a:solidFill>
                <a:latin typeface="+mn-lt"/>
                <a:ea typeface="+mn-ea"/>
                <a:cs typeface="+mn-cs"/>
              </a:defRPr>
            </a:lvl2pPr>
            <a:lvl3pPr marL="719982" indent="0" algn="l" defTabSz="1219170" rtl="0" eaLnBrk="1" latinLnBrk="0" hangingPunct="1">
              <a:spcBef>
                <a:spcPts val="300"/>
              </a:spcBef>
              <a:spcAft>
                <a:spcPts val="300"/>
              </a:spcAft>
              <a:buClr>
                <a:schemeClr val="tx1"/>
              </a:buClr>
              <a:buFont typeface="Arial" panose="020B0604020202020204" pitchFamily="34" charset="0"/>
              <a:buNone/>
              <a:defRPr sz="1800" kern="1200">
                <a:solidFill>
                  <a:schemeClr val="tx1"/>
                </a:solidFill>
                <a:latin typeface="+mn-lt"/>
                <a:ea typeface="+mn-ea"/>
                <a:cs typeface="+mn-cs"/>
              </a:defRPr>
            </a:lvl3pPr>
            <a:lvl4pPr marL="1081424" indent="0" algn="l" defTabSz="1219170" rtl="0" eaLnBrk="1" latinLnBrk="0" hangingPunct="1">
              <a:spcBef>
                <a:spcPts val="300"/>
              </a:spcBef>
              <a:spcAft>
                <a:spcPts val="300"/>
              </a:spcAft>
              <a:buClr>
                <a:schemeClr val="tx1"/>
              </a:buClr>
              <a:buFont typeface="Arial" panose="020B0604020202020204" pitchFamily="34" charset="0"/>
              <a:buNone/>
              <a:defRPr sz="1600" kern="1200">
                <a:solidFill>
                  <a:schemeClr val="tx1"/>
                </a:solidFill>
                <a:latin typeface="+mn-lt"/>
                <a:ea typeface="+mn-ea"/>
                <a:cs typeface="+mn-cs"/>
              </a:defRPr>
            </a:lvl4pPr>
            <a:lvl5pPr marL="1439964" indent="0" algn="l" defTabSz="1219170" rtl="0" eaLnBrk="1" latinLnBrk="0" hangingPunct="1">
              <a:spcBef>
                <a:spcPts val="300"/>
              </a:spcBef>
              <a:spcAft>
                <a:spcPts val="300"/>
              </a:spcAft>
              <a:buClr>
                <a:schemeClr val="tx1"/>
              </a:buClr>
              <a:buFont typeface="Arial" panose="020B0604020202020204" pitchFamily="34" charset="0"/>
              <a:buNone/>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342900" marR="0" lvl="0" indent="-342900" algn="l" defTabSz="1219170" rtl="0" eaLnBrk="1" fontAlgn="auto" latinLnBrk="0" hangingPunct="1">
              <a:lnSpc>
                <a:spcPct val="100000"/>
              </a:lnSpc>
              <a:spcBef>
                <a:spcPts val="300"/>
              </a:spcBef>
              <a:spcAft>
                <a:spcPts val="300"/>
              </a:spcAft>
              <a:buClr>
                <a:srgbClr val="F36633"/>
              </a:buClr>
              <a:buSzPct val="110000"/>
              <a:buFont typeface="+mj-lt"/>
              <a:buAutoNum type="arabicPeriod" startAt="2"/>
              <a:tabLst/>
              <a:defRPr/>
            </a:pPr>
            <a:r>
              <a:rPr kumimoji="0" lang="en-GB" sz="1600" b="0" i="0" u="none" strike="noStrike" kern="1200" cap="none" spc="0" normalizeH="0" baseline="0" noProof="0">
                <a:ln>
                  <a:noFill/>
                </a:ln>
                <a:solidFill>
                  <a:srgbClr val="959595">
                    <a:lumMod val="50000"/>
                  </a:srgbClr>
                </a:solidFill>
                <a:effectLst/>
                <a:uLnTx/>
                <a:uFillTx/>
                <a:latin typeface="Arial"/>
                <a:ea typeface="+mn-ea"/>
                <a:cs typeface="Noto Sans"/>
              </a:rPr>
              <a:t>Commonly referred to as “Citrix”, GSK's current VDI ecosystem is underpinned by </a:t>
            </a:r>
            <a:r>
              <a:rPr kumimoji="0" lang="en-GB" sz="1600" b="1" i="0" u="none" strike="noStrike" kern="1200" cap="none" spc="0" normalizeH="0" baseline="0" noProof="0">
                <a:ln>
                  <a:noFill/>
                </a:ln>
                <a:solidFill>
                  <a:srgbClr val="F36633"/>
                </a:solidFill>
                <a:effectLst/>
                <a:uLnTx/>
                <a:uFillTx/>
                <a:latin typeface="Arial"/>
                <a:ea typeface="+mn-ea"/>
                <a:cs typeface="Noto Sans"/>
              </a:rPr>
              <a:t>two primary technology vendors</a:t>
            </a:r>
            <a:r>
              <a:rPr kumimoji="0" lang="en-GB" sz="1600" b="0" i="0" u="none" strike="noStrike" kern="1200" cap="none" spc="0" normalizeH="0" baseline="0" noProof="0">
                <a:ln>
                  <a:noFill/>
                </a:ln>
                <a:solidFill>
                  <a:srgbClr val="959595">
                    <a:lumMod val="50000"/>
                  </a:srgbClr>
                </a:solidFill>
                <a:effectLst/>
                <a:uLnTx/>
                <a:uFillTx/>
                <a:latin typeface="Arial"/>
                <a:ea typeface="+mn-ea"/>
                <a:cs typeface="Noto Sans"/>
              </a:rPr>
              <a:t>.</a:t>
            </a:r>
            <a:endParaRPr kumimoji="0" lang="en-GB" sz="1600" b="0" i="0" u="none" strike="noStrike" kern="1200" cap="none" spc="0" normalizeH="0" baseline="0" noProof="0">
              <a:ln>
                <a:noFill/>
              </a:ln>
              <a:solidFill>
                <a:srgbClr val="000000"/>
              </a:solidFill>
              <a:effectLst/>
              <a:uLnTx/>
              <a:uFillTx/>
              <a:latin typeface="Arial"/>
              <a:ea typeface="+mn-ea"/>
              <a:cs typeface="Noto Sans"/>
            </a:endParaRPr>
          </a:p>
        </p:txBody>
      </p:sp>
      <p:sp>
        <p:nvSpPr>
          <p:cNvPr id="9" name="Text Placeholder 4">
            <a:extLst>
              <a:ext uri="{FF2B5EF4-FFF2-40B4-BE49-F238E27FC236}">
                <a16:creationId xmlns:a16="http://schemas.microsoft.com/office/drawing/2014/main" id="{67874A06-2CC3-ABEC-D6EF-D4DC149C0B9E}"/>
              </a:ext>
            </a:extLst>
          </p:cNvPr>
          <p:cNvSpPr txBox="1">
            <a:spLocks/>
          </p:cNvSpPr>
          <p:nvPr/>
        </p:nvSpPr>
        <p:spPr>
          <a:xfrm>
            <a:off x="9274579" y="1056146"/>
            <a:ext cx="2772000" cy="1943434"/>
          </a:xfrm>
          <a:prstGeom prst="rect">
            <a:avLst/>
          </a:prstGeom>
        </p:spPr>
        <p:txBody>
          <a:bodyPr vert="horz" lIns="36000" tIns="36000" rIns="36000" bIns="36000" rtlCol="0">
            <a:noAutofit/>
          </a:bodyPr>
          <a:lstStyle>
            <a:lvl1pPr marL="0" indent="0" algn="l" defTabSz="1219170" rtl="0" eaLnBrk="1" latinLnBrk="0" hangingPunct="1">
              <a:spcBef>
                <a:spcPts val="300"/>
              </a:spcBef>
              <a:spcAft>
                <a:spcPts val="300"/>
              </a:spcAft>
              <a:buClr>
                <a:schemeClr val="tx2"/>
              </a:buClr>
              <a:buSzPct val="110000"/>
              <a:buFont typeface="Arial" panose="020B0604020202020204" pitchFamily="34" charset="0"/>
              <a:buNone/>
              <a:defRPr sz="2200" kern="1200">
                <a:solidFill>
                  <a:schemeClr val="tx1"/>
                </a:solidFill>
                <a:latin typeface="+mn-lt"/>
                <a:ea typeface="+mn-ea"/>
                <a:cs typeface="+mn-cs"/>
              </a:defRPr>
            </a:lvl1pPr>
            <a:lvl2pPr marL="357542" indent="0" algn="l" defTabSz="1219170" rtl="0" eaLnBrk="1" latinLnBrk="0" hangingPunct="1">
              <a:spcBef>
                <a:spcPts val="300"/>
              </a:spcBef>
              <a:spcAft>
                <a:spcPts val="300"/>
              </a:spcAft>
              <a:buClr>
                <a:schemeClr val="tx1"/>
              </a:buClr>
              <a:buFont typeface="Arial" panose="020B0604020202020204" pitchFamily="34" charset="0"/>
              <a:buNone/>
              <a:defRPr sz="2000" kern="1200">
                <a:solidFill>
                  <a:schemeClr val="tx1"/>
                </a:solidFill>
                <a:latin typeface="+mn-lt"/>
                <a:ea typeface="+mn-ea"/>
                <a:cs typeface="+mn-cs"/>
              </a:defRPr>
            </a:lvl2pPr>
            <a:lvl3pPr marL="719982" indent="0" algn="l" defTabSz="1219170" rtl="0" eaLnBrk="1" latinLnBrk="0" hangingPunct="1">
              <a:spcBef>
                <a:spcPts val="300"/>
              </a:spcBef>
              <a:spcAft>
                <a:spcPts val="300"/>
              </a:spcAft>
              <a:buClr>
                <a:schemeClr val="tx1"/>
              </a:buClr>
              <a:buFont typeface="Arial" panose="020B0604020202020204" pitchFamily="34" charset="0"/>
              <a:buNone/>
              <a:defRPr sz="1800" kern="1200">
                <a:solidFill>
                  <a:schemeClr val="tx1"/>
                </a:solidFill>
                <a:latin typeface="+mn-lt"/>
                <a:ea typeface="+mn-ea"/>
                <a:cs typeface="+mn-cs"/>
              </a:defRPr>
            </a:lvl3pPr>
            <a:lvl4pPr marL="1081424" indent="0" algn="l" defTabSz="1219170" rtl="0" eaLnBrk="1" latinLnBrk="0" hangingPunct="1">
              <a:spcBef>
                <a:spcPts val="300"/>
              </a:spcBef>
              <a:spcAft>
                <a:spcPts val="300"/>
              </a:spcAft>
              <a:buClr>
                <a:schemeClr val="tx1"/>
              </a:buClr>
              <a:buFont typeface="Arial" panose="020B0604020202020204" pitchFamily="34" charset="0"/>
              <a:buNone/>
              <a:defRPr sz="1600" kern="1200">
                <a:solidFill>
                  <a:schemeClr val="tx1"/>
                </a:solidFill>
                <a:latin typeface="+mn-lt"/>
                <a:ea typeface="+mn-ea"/>
                <a:cs typeface="+mn-cs"/>
              </a:defRPr>
            </a:lvl4pPr>
            <a:lvl5pPr marL="1439964" indent="0" algn="l" defTabSz="1219170" rtl="0" eaLnBrk="1" latinLnBrk="0" hangingPunct="1">
              <a:spcBef>
                <a:spcPts val="300"/>
              </a:spcBef>
              <a:spcAft>
                <a:spcPts val="300"/>
              </a:spcAft>
              <a:buClr>
                <a:schemeClr val="tx1"/>
              </a:buClr>
              <a:buFont typeface="Arial" panose="020B0604020202020204" pitchFamily="34" charset="0"/>
              <a:buNone/>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342900" marR="0" lvl="0" indent="-342900" algn="l" defTabSz="1219170" rtl="0" eaLnBrk="1" fontAlgn="auto" latinLnBrk="0" hangingPunct="1">
              <a:lnSpc>
                <a:spcPct val="100000"/>
              </a:lnSpc>
              <a:spcBef>
                <a:spcPts val="300"/>
              </a:spcBef>
              <a:spcAft>
                <a:spcPts val="300"/>
              </a:spcAft>
              <a:buClr>
                <a:srgbClr val="F36633"/>
              </a:buClr>
              <a:buSzPct val="110000"/>
              <a:buFont typeface="+mj-lt"/>
              <a:buAutoNum type="arabicPeriod" startAt="4"/>
              <a:tabLst/>
              <a:defRPr/>
            </a:pPr>
            <a:r>
              <a:rPr kumimoji="0" lang="en-GB" sz="1600" b="0" i="0" u="none" strike="noStrike" kern="1200" cap="none" spc="0" normalizeH="0" baseline="0" noProof="0">
                <a:ln>
                  <a:noFill/>
                </a:ln>
                <a:solidFill>
                  <a:srgbClr val="959595">
                    <a:lumMod val="50000"/>
                  </a:srgbClr>
                </a:solidFill>
                <a:effectLst/>
                <a:uLnTx/>
                <a:uFillTx/>
                <a:latin typeface="Arial"/>
                <a:ea typeface="+mn-ea"/>
                <a:cs typeface="Noto Sans"/>
              </a:rPr>
              <a:t>VDI provides GSK with additional </a:t>
            </a:r>
            <a:r>
              <a:rPr kumimoji="0" lang="en-GB" sz="1600" b="1" i="0" u="none" strike="noStrike" kern="1200" cap="none" spc="0" normalizeH="0" baseline="0" noProof="0">
                <a:ln>
                  <a:noFill/>
                </a:ln>
                <a:solidFill>
                  <a:srgbClr val="F36633"/>
                </a:solidFill>
                <a:effectLst/>
                <a:uLnTx/>
                <a:uFillTx/>
                <a:latin typeface="Arial"/>
                <a:ea typeface="+mn-ea"/>
                <a:cs typeface="Noto Sans"/>
              </a:rPr>
              <a:t>security, performance</a:t>
            </a:r>
            <a:r>
              <a:rPr kumimoji="0" lang="en-GB" sz="1600" b="0" i="0" u="none" strike="noStrike" kern="1200" cap="none" spc="0" normalizeH="0" baseline="0" noProof="0">
                <a:ln>
                  <a:noFill/>
                </a:ln>
                <a:solidFill>
                  <a:srgbClr val="959595">
                    <a:lumMod val="50000"/>
                  </a:srgbClr>
                </a:solidFill>
                <a:effectLst/>
                <a:uLnTx/>
                <a:uFillTx/>
                <a:latin typeface="Arial"/>
                <a:ea typeface="+mn-ea"/>
                <a:cs typeface="Noto Sans"/>
              </a:rPr>
              <a:t> and </a:t>
            </a:r>
            <a:r>
              <a:rPr kumimoji="0" lang="en-GB" sz="1600" b="1" i="0" u="none" strike="noStrike" kern="1200" cap="none" spc="0" normalizeH="0" baseline="0" noProof="0">
                <a:ln>
                  <a:noFill/>
                </a:ln>
                <a:solidFill>
                  <a:srgbClr val="F36633"/>
                </a:solidFill>
                <a:effectLst/>
                <a:uLnTx/>
                <a:uFillTx/>
                <a:latin typeface="Arial"/>
                <a:ea typeface="+mn-ea"/>
                <a:cs typeface="Noto Sans"/>
              </a:rPr>
              <a:t>administrative </a:t>
            </a:r>
            <a:r>
              <a:rPr kumimoji="0" lang="en-GB" sz="1600" b="0" i="0" u="none" strike="noStrike" kern="1200" cap="none" spc="0" normalizeH="0" baseline="0" noProof="0">
                <a:ln>
                  <a:noFill/>
                </a:ln>
                <a:solidFill>
                  <a:srgbClr val="959595">
                    <a:lumMod val="50000"/>
                  </a:srgbClr>
                </a:solidFill>
                <a:effectLst/>
                <a:uLnTx/>
                <a:uFillTx/>
                <a:latin typeface="Arial"/>
                <a:ea typeface="+mn-ea"/>
                <a:cs typeface="Noto Sans"/>
              </a:rPr>
              <a:t>controls</a:t>
            </a:r>
            <a:r>
              <a:rPr kumimoji="0" lang="en-GB" sz="1600" b="1" i="0" u="none" strike="noStrike" kern="1200" cap="none" spc="0" normalizeH="0" baseline="0" noProof="0">
                <a:ln>
                  <a:noFill/>
                </a:ln>
                <a:solidFill>
                  <a:srgbClr val="F36633"/>
                </a:solidFill>
                <a:effectLst/>
                <a:uLnTx/>
                <a:uFillTx/>
                <a:latin typeface="Arial"/>
                <a:ea typeface="+mn-ea"/>
                <a:cs typeface="Noto Sans"/>
              </a:rPr>
              <a:t> </a:t>
            </a:r>
            <a:r>
              <a:rPr kumimoji="0" lang="en-GB" sz="1600" b="0" i="0" u="none" strike="noStrike" kern="1200" cap="none" spc="0" normalizeH="0" baseline="0" noProof="0">
                <a:ln>
                  <a:noFill/>
                </a:ln>
                <a:solidFill>
                  <a:srgbClr val="959595">
                    <a:lumMod val="50000"/>
                  </a:srgbClr>
                </a:solidFill>
                <a:effectLst/>
                <a:uLnTx/>
                <a:uFillTx/>
                <a:latin typeface="Arial"/>
                <a:ea typeface="+mn-ea"/>
                <a:cs typeface="Noto Sans"/>
              </a:rPr>
              <a:t>to govern and secure remote access</a:t>
            </a:r>
            <a:r>
              <a:rPr kumimoji="0" lang="en-GB" sz="1600" b="0" i="0" u="none" strike="noStrike" kern="1200" cap="none" spc="0" normalizeH="0" baseline="30000" noProof="0">
                <a:ln>
                  <a:noFill/>
                </a:ln>
                <a:solidFill>
                  <a:srgbClr val="959595">
                    <a:lumMod val="50000"/>
                  </a:srgbClr>
                </a:solidFill>
                <a:effectLst/>
                <a:uLnTx/>
                <a:uFillTx/>
                <a:latin typeface="Arial"/>
                <a:ea typeface="+mn-ea"/>
                <a:cs typeface="Noto Sans"/>
              </a:rPr>
              <a:t>3</a:t>
            </a:r>
            <a:r>
              <a:rPr kumimoji="0" lang="en-GB" sz="1600" b="0" i="0" u="none" strike="noStrike" kern="1200" cap="none" spc="0" normalizeH="0" baseline="0" noProof="0">
                <a:ln>
                  <a:noFill/>
                </a:ln>
                <a:solidFill>
                  <a:srgbClr val="959595">
                    <a:lumMod val="50000"/>
                  </a:srgbClr>
                </a:solidFill>
                <a:effectLst/>
                <a:uLnTx/>
                <a:uFillTx/>
                <a:latin typeface="Arial"/>
                <a:ea typeface="+mn-ea"/>
                <a:cs typeface="Noto Sans"/>
              </a:rPr>
              <a:t>.</a:t>
            </a:r>
          </a:p>
        </p:txBody>
      </p:sp>
      <p:sp>
        <p:nvSpPr>
          <p:cNvPr id="10" name="Text Placeholder 4">
            <a:extLst>
              <a:ext uri="{FF2B5EF4-FFF2-40B4-BE49-F238E27FC236}">
                <a16:creationId xmlns:a16="http://schemas.microsoft.com/office/drawing/2014/main" id="{BBE3996B-776A-7FDF-01DE-B4A476BCCEE6}"/>
              </a:ext>
            </a:extLst>
          </p:cNvPr>
          <p:cNvSpPr txBox="1">
            <a:spLocks/>
          </p:cNvSpPr>
          <p:nvPr/>
        </p:nvSpPr>
        <p:spPr>
          <a:xfrm>
            <a:off x="6240867" y="1056146"/>
            <a:ext cx="2772000" cy="1943434"/>
          </a:xfrm>
          <a:prstGeom prst="rect">
            <a:avLst/>
          </a:prstGeom>
        </p:spPr>
        <p:txBody>
          <a:bodyPr vert="horz" lIns="36000" tIns="36000" rIns="36000" bIns="36000" rtlCol="0">
            <a:noAutofit/>
          </a:bodyPr>
          <a:lstStyle>
            <a:lvl1pPr marL="0" indent="0" algn="l" defTabSz="1219170" rtl="0" eaLnBrk="1" latinLnBrk="0" hangingPunct="1">
              <a:spcBef>
                <a:spcPts val="300"/>
              </a:spcBef>
              <a:spcAft>
                <a:spcPts val="300"/>
              </a:spcAft>
              <a:buClr>
                <a:schemeClr val="tx2"/>
              </a:buClr>
              <a:buSzPct val="110000"/>
              <a:buFont typeface="Arial" panose="020B0604020202020204" pitchFamily="34" charset="0"/>
              <a:buNone/>
              <a:defRPr sz="2200" kern="1200">
                <a:solidFill>
                  <a:schemeClr val="tx1"/>
                </a:solidFill>
                <a:latin typeface="+mn-lt"/>
                <a:ea typeface="+mn-ea"/>
                <a:cs typeface="+mn-cs"/>
              </a:defRPr>
            </a:lvl1pPr>
            <a:lvl2pPr marL="357542" indent="0" algn="l" defTabSz="1219170" rtl="0" eaLnBrk="1" latinLnBrk="0" hangingPunct="1">
              <a:spcBef>
                <a:spcPts val="300"/>
              </a:spcBef>
              <a:spcAft>
                <a:spcPts val="300"/>
              </a:spcAft>
              <a:buClr>
                <a:schemeClr val="tx1"/>
              </a:buClr>
              <a:buFont typeface="Arial" panose="020B0604020202020204" pitchFamily="34" charset="0"/>
              <a:buNone/>
              <a:defRPr sz="2000" kern="1200">
                <a:solidFill>
                  <a:schemeClr val="tx1"/>
                </a:solidFill>
                <a:latin typeface="+mn-lt"/>
                <a:ea typeface="+mn-ea"/>
                <a:cs typeface="+mn-cs"/>
              </a:defRPr>
            </a:lvl2pPr>
            <a:lvl3pPr marL="719982" indent="0" algn="l" defTabSz="1219170" rtl="0" eaLnBrk="1" latinLnBrk="0" hangingPunct="1">
              <a:spcBef>
                <a:spcPts val="300"/>
              </a:spcBef>
              <a:spcAft>
                <a:spcPts val="300"/>
              </a:spcAft>
              <a:buClr>
                <a:schemeClr val="tx1"/>
              </a:buClr>
              <a:buFont typeface="Arial" panose="020B0604020202020204" pitchFamily="34" charset="0"/>
              <a:buNone/>
              <a:defRPr sz="1800" kern="1200">
                <a:solidFill>
                  <a:schemeClr val="tx1"/>
                </a:solidFill>
                <a:latin typeface="+mn-lt"/>
                <a:ea typeface="+mn-ea"/>
                <a:cs typeface="+mn-cs"/>
              </a:defRPr>
            </a:lvl3pPr>
            <a:lvl4pPr marL="1081424" indent="0" algn="l" defTabSz="1219170" rtl="0" eaLnBrk="1" latinLnBrk="0" hangingPunct="1">
              <a:spcBef>
                <a:spcPts val="300"/>
              </a:spcBef>
              <a:spcAft>
                <a:spcPts val="300"/>
              </a:spcAft>
              <a:buClr>
                <a:schemeClr val="tx1"/>
              </a:buClr>
              <a:buFont typeface="Arial" panose="020B0604020202020204" pitchFamily="34" charset="0"/>
              <a:buNone/>
              <a:defRPr sz="1600" kern="1200">
                <a:solidFill>
                  <a:schemeClr val="tx1"/>
                </a:solidFill>
                <a:latin typeface="+mn-lt"/>
                <a:ea typeface="+mn-ea"/>
                <a:cs typeface="+mn-cs"/>
              </a:defRPr>
            </a:lvl4pPr>
            <a:lvl5pPr marL="1439964" indent="0" algn="l" defTabSz="1219170" rtl="0" eaLnBrk="1" latinLnBrk="0" hangingPunct="1">
              <a:spcBef>
                <a:spcPts val="300"/>
              </a:spcBef>
              <a:spcAft>
                <a:spcPts val="300"/>
              </a:spcAft>
              <a:buClr>
                <a:schemeClr val="tx1"/>
              </a:buClr>
              <a:buFont typeface="Arial" panose="020B0604020202020204" pitchFamily="34" charset="0"/>
              <a:buNone/>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342900" marR="0" lvl="0" indent="-342900" algn="l" defTabSz="1219170" rtl="0" eaLnBrk="1" fontAlgn="auto" latinLnBrk="0" hangingPunct="1">
              <a:lnSpc>
                <a:spcPct val="100000"/>
              </a:lnSpc>
              <a:spcBef>
                <a:spcPts val="300"/>
              </a:spcBef>
              <a:spcAft>
                <a:spcPts val="300"/>
              </a:spcAft>
              <a:buClr>
                <a:srgbClr val="F36633"/>
              </a:buClr>
              <a:buSzPct val="110000"/>
              <a:buFont typeface="+mj-lt"/>
              <a:buAutoNum type="arabicPeriod" startAt="3"/>
              <a:tabLst/>
              <a:defRPr/>
            </a:pPr>
            <a:r>
              <a:rPr kumimoji="0" lang="en-GB" sz="1600" b="0" i="0" u="none" strike="noStrike" kern="1200" cap="none" spc="0" normalizeH="0" baseline="0" noProof="0">
                <a:ln>
                  <a:noFill/>
                </a:ln>
                <a:solidFill>
                  <a:srgbClr val="959595">
                    <a:lumMod val="50000"/>
                  </a:srgbClr>
                </a:solidFill>
                <a:effectLst/>
                <a:uLnTx/>
                <a:uFillTx/>
                <a:latin typeface="Arial"/>
                <a:ea typeface="+mn-ea"/>
                <a:cs typeface="Noto Sans"/>
              </a:rPr>
              <a:t>VDI provides access to GSK’s diverse end user application estate, consisting of SaaS, web, and </a:t>
            </a:r>
            <a:r>
              <a:rPr kumimoji="0" lang="en-GB" sz="1600" b="1" i="0" u="none" strike="noStrike" kern="1200" cap="none" spc="0" normalizeH="0" baseline="0" noProof="0">
                <a:ln>
                  <a:noFill/>
                </a:ln>
                <a:solidFill>
                  <a:srgbClr val="F36633"/>
                </a:solidFill>
                <a:effectLst/>
                <a:uLnTx/>
                <a:uFillTx/>
                <a:latin typeface="Arial"/>
                <a:ea typeface="+mn-ea"/>
                <a:cs typeface="Noto Sans"/>
              </a:rPr>
              <a:t>native Windows desktop </a:t>
            </a:r>
            <a:r>
              <a:rPr kumimoji="0" lang="en-GB" sz="1600" b="0" i="0" u="none" strike="noStrike" kern="1200" cap="none" spc="0" normalizeH="0" baseline="0" noProof="0">
                <a:ln>
                  <a:noFill/>
                </a:ln>
                <a:solidFill>
                  <a:srgbClr val="959595">
                    <a:lumMod val="50000"/>
                  </a:srgbClr>
                </a:solidFill>
                <a:effectLst/>
                <a:uLnTx/>
                <a:uFillTx/>
                <a:latin typeface="Arial"/>
                <a:ea typeface="+mn-ea"/>
                <a:cs typeface="Noto Sans"/>
              </a:rPr>
              <a:t>applications.</a:t>
            </a:r>
          </a:p>
        </p:txBody>
      </p:sp>
      <p:graphicFrame>
        <p:nvGraphicFramePr>
          <p:cNvPr id="11" name="Table 10">
            <a:extLst>
              <a:ext uri="{FF2B5EF4-FFF2-40B4-BE49-F238E27FC236}">
                <a16:creationId xmlns:a16="http://schemas.microsoft.com/office/drawing/2014/main" id="{32496EC3-EF6F-81CC-1F91-E577ADF852FA}"/>
              </a:ext>
            </a:extLst>
          </p:cNvPr>
          <p:cNvGraphicFramePr>
            <a:graphicFrameLocks noGrp="1"/>
          </p:cNvGraphicFramePr>
          <p:nvPr/>
        </p:nvGraphicFramePr>
        <p:xfrm>
          <a:off x="3238850" y="3213914"/>
          <a:ext cx="2664000" cy="1976951"/>
        </p:xfrm>
        <a:graphic>
          <a:graphicData uri="http://schemas.openxmlformats.org/drawingml/2006/table">
            <a:tbl>
              <a:tblPr firstRow="1" bandRow="1">
                <a:tableStyleId>{5940675A-B579-460E-94D1-54222C63F5DA}</a:tableStyleId>
              </a:tblPr>
              <a:tblGrid>
                <a:gridCol w="1332000">
                  <a:extLst>
                    <a:ext uri="{9D8B030D-6E8A-4147-A177-3AD203B41FA5}">
                      <a16:colId xmlns:a16="http://schemas.microsoft.com/office/drawing/2014/main" val="4097685316"/>
                    </a:ext>
                  </a:extLst>
                </a:gridCol>
                <a:gridCol w="1332000">
                  <a:extLst>
                    <a:ext uri="{9D8B030D-6E8A-4147-A177-3AD203B41FA5}">
                      <a16:colId xmlns:a16="http://schemas.microsoft.com/office/drawing/2014/main" val="621542585"/>
                    </a:ext>
                  </a:extLst>
                </a:gridCol>
              </a:tblGrid>
              <a:tr h="419831">
                <a:tc>
                  <a:txBody>
                    <a:bodyPr/>
                    <a:lstStyle/>
                    <a:p>
                      <a:pPr marL="216000" marR="0" lvl="0" indent="-171450" algn="l" defTabSz="1219170" rtl="0" eaLnBrk="1" fontAlgn="auto" latinLnBrk="0" hangingPunct="1">
                        <a:lnSpc>
                          <a:spcPct val="100000"/>
                        </a:lnSpc>
                        <a:spcBef>
                          <a:spcPts val="100"/>
                        </a:spcBef>
                        <a:spcAft>
                          <a:spcPts val="100"/>
                        </a:spcAft>
                        <a:buClr>
                          <a:schemeClr val="tx2"/>
                        </a:buClr>
                        <a:buSzTx/>
                        <a:buFont typeface="Arial" panose="020B0604020202020204" pitchFamily="34" charset="0"/>
                        <a:buChar char="•"/>
                        <a:tabLst/>
                        <a:defRPr/>
                      </a:pPr>
                      <a:endParaRPr lang="en-GB" sz="1050" b="0" kern="1200" noProof="0">
                        <a:solidFill>
                          <a:schemeClr val="bg2">
                            <a:lumMod val="50000"/>
                          </a:schemeClr>
                        </a:solidFill>
                        <a:latin typeface="+mn-lt"/>
                        <a:ea typeface="+mn-ea"/>
                        <a:cs typeface="+mn-cs"/>
                      </a:endParaRPr>
                    </a:p>
                  </a:txBody>
                  <a:tcPr marL="72000" marR="72000" anchor="ctr">
                    <a:lnL w="12700" cap="flat" cmpd="sng" algn="ctr">
                      <a:no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44550" marR="0" lvl="0" indent="0" algn="l" defTabSz="1219170" rtl="0" eaLnBrk="1" fontAlgn="auto" latinLnBrk="0" hangingPunct="1">
                        <a:lnSpc>
                          <a:spcPct val="100000"/>
                        </a:lnSpc>
                        <a:spcBef>
                          <a:spcPts val="100"/>
                        </a:spcBef>
                        <a:spcAft>
                          <a:spcPts val="100"/>
                        </a:spcAft>
                        <a:buClr>
                          <a:schemeClr val="tx2"/>
                        </a:buClr>
                        <a:buSzTx/>
                        <a:buFont typeface="Arial" panose="020B0604020202020204" pitchFamily="34" charset="0"/>
                        <a:buNone/>
                        <a:tabLst/>
                        <a:defRPr/>
                      </a:pPr>
                      <a:endParaRPr lang="en-GB" sz="1200" b="0" kern="1200" noProof="0">
                        <a:solidFill>
                          <a:schemeClr val="bg2">
                            <a:lumMod val="50000"/>
                          </a:schemeClr>
                        </a:solidFill>
                        <a:latin typeface="+mn-lt"/>
                        <a:ea typeface="+mn-ea"/>
                        <a:cs typeface="+mn-cs"/>
                      </a:endParaRPr>
                    </a:p>
                  </a:txBody>
                  <a:tcPr marL="72000" marR="72000" anchor="ctr">
                    <a:lnL w="12700"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24609640"/>
                  </a:ext>
                </a:extLst>
              </a:tr>
              <a:tr h="493243">
                <a:tc>
                  <a:txBody>
                    <a:bodyPr/>
                    <a:lstStyle/>
                    <a:p>
                      <a:pPr marL="0" marR="0" lvl="0" indent="0" algn="ctr" defTabSz="1219170" rtl="0" eaLnBrk="1" fontAlgn="auto" latinLnBrk="0" hangingPunct="1">
                        <a:lnSpc>
                          <a:spcPct val="100000"/>
                        </a:lnSpc>
                        <a:spcBef>
                          <a:spcPts val="100"/>
                        </a:spcBef>
                        <a:spcAft>
                          <a:spcPts val="100"/>
                        </a:spcAft>
                        <a:buClr>
                          <a:schemeClr val="tx2"/>
                        </a:buClr>
                        <a:buSzTx/>
                        <a:buFont typeface="Arial" panose="020B0604020202020204" pitchFamily="34" charset="0"/>
                        <a:buNone/>
                        <a:tabLst/>
                        <a:defRPr/>
                      </a:pPr>
                      <a:r>
                        <a:rPr lang="en-GB" sz="1100" b="0" kern="1200" noProof="0">
                          <a:solidFill>
                            <a:schemeClr val="bg2">
                              <a:lumMod val="50000"/>
                            </a:schemeClr>
                          </a:solidFill>
                          <a:latin typeface="+mn-lt"/>
                          <a:ea typeface="+mn-ea"/>
                          <a:cs typeface="+mn-cs"/>
                        </a:rPr>
                        <a:t>Providing</a:t>
                      </a:r>
                      <a:r>
                        <a:rPr lang="en-GB" sz="1100" b="0" kern="1200" noProof="0">
                          <a:solidFill>
                            <a:schemeClr val="tx2"/>
                          </a:solidFill>
                          <a:latin typeface="+mn-lt"/>
                          <a:ea typeface="+mn-ea"/>
                          <a:cs typeface="+mn-cs"/>
                        </a:rPr>
                        <a:t> Windows</a:t>
                      </a:r>
                      <a:r>
                        <a:rPr lang="en-GB" sz="1100" b="0" kern="1200" noProof="0">
                          <a:solidFill>
                            <a:schemeClr val="bg2">
                              <a:lumMod val="50000"/>
                            </a:schemeClr>
                          </a:solidFill>
                          <a:latin typeface="+mn-lt"/>
                          <a:ea typeface="+mn-ea"/>
                          <a:cs typeface="+mn-cs"/>
                        </a:rPr>
                        <a:t> server and desktop-based Azure Virtual Desktops (AVD) hosted in IE1 and US6 locations</a:t>
                      </a:r>
                    </a:p>
                  </a:txBody>
                  <a:tcPr marL="108000" marR="108000" marT="108000" marB="108000">
                    <a:lnL w="12700" cap="flat" cmpd="sng" algn="ctr">
                      <a:no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100"/>
                        </a:spcBef>
                        <a:spcAft>
                          <a:spcPts val="100"/>
                        </a:spcAft>
                        <a:buClr>
                          <a:schemeClr val="tx2"/>
                        </a:buClr>
                        <a:buSzTx/>
                        <a:buFont typeface="Arial" panose="020B0604020202020204" pitchFamily="34" charset="0"/>
                        <a:buNone/>
                        <a:tabLst/>
                        <a:defRPr/>
                      </a:pPr>
                      <a:r>
                        <a:rPr lang="en-GB" sz="1100" b="0" kern="1200" noProof="0">
                          <a:solidFill>
                            <a:schemeClr val="bg2">
                              <a:lumMod val="50000"/>
                            </a:schemeClr>
                          </a:solidFill>
                          <a:latin typeface="+mn-lt"/>
                          <a:ea typeface="+mn-ea"/>
                          <a:cs typeface="+mn-cs"/>
                        </a:rPr>
                        <a:t>Providing the </a:t>
                      </a:r>
                      <a:r>
                        <a:rPr lang="en-GB" sz="1100" b="0" kern="1200" noProof="0">
                          <a:solidFill>
                            <a:schemeClr val="tx2"/>
                          </a:solidFill>
                          <a:latin typeface="+mn-lt"/>
                          <a:ea typeface="+mn-ea"/>
                          <a:cs typeface="+mn-cs"/>
                        </a:rPr>
                        <a:t>VDI management</a:t>
                      </a:r>
                      <a:r>
                        <a:rPr lang="en-GB" sz="1100" b="0" kern="1200" noProof="0">
                          <a:solidFill>
                            <a:schemeClr val="bg2">
                              <a:lumMod val="50000"/>
                            </a:schemeClr>
                          </a:solidFill>
                          <a:latin typeface="+mn-lt"/>
                          <a:ea typeface="+mn-ea"/>
                          <a:cs typeface="+mn-cs"/>
                        </a:rPr>
                        <a:t>, secure access layer, cloud cost control, and HDX protocol for </a:t>
                      </a:r>
                      <a:r>
                        <a:rPr lang="en-GB" sz="1100" b="0" kern="1200" noProof="0">
                          <a:solidFill>
                            <a:schemeClr val="tx2"/>
                          </a:solidFill>
                          <a:latin typeface="+mn-lt"/>
                          <a:ea typeface="+mn-ea"/>
                          <a:cs typeface="+mn-cs"/>
                        </a:rPr>
                        <a:t>connectivity</a:t>
                      </a:r>
                      <a:r>
                        <a:rPr lang="en-GB" sz="1100" b="0" kern="1200" noProof="0">
                          <a:solidFill>
                            <a:schemeClr val="bg2">
                              <a:lumMod val="50000"/>
                            </a:schemeClr>
                          </a:solidFill>
                          <a:latin typeface="+mn-lt"/>
                          <a:ea typeface="+mn-ea"/>
                          <a:cs typeface="+mn-cs"/>
                        </a:rPr>
                        <a:t> &amp; security services</a:t>
                      </a:r>
                    </a:p>
                  </a:txBody>
                  <a:tcPr marL="108000" marR="108000" marT="108000" marB="108000">
                    <a:lnL w="12700"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5003643"/>
                  </a:ext>
                </a:extLst>
              </a:tr>
            </a:tbl>
          </a:graphicData>
        </a:graphic>
      </p:graphicFrame>
      <p:sp>
        <p:nvSpPr>
          <p:cNvPr id="12" name="Rectangle 11">
            <a:extLst>
              <a:ext uri="{FF2B5EF4-FFF2-40B4-BE49-F238E27FC236}">
                <a16:creationId xmlns:a16="http://schemas.microsoft.com/office/drawing/2014/main" id="{A91BE8C4-15CC-C91D-7FA7-2C793A42449A}"/>
              </a:ext>
            </a:extLst>
          </p:cNvPr>
          <p:cNvSpPr/>
          <p:nvPr/>
        </p:nvSpPr>
        <p:spPr bwMode="auto">
          <a:xfrm>
            <a:off x="7673951" y="4692000"/>
            <a:ext cx="1049578" cy="874978"/>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1219170" rtl="0" eaLnBrk="1" fontAlgn="auto" latinLnBrk="0" hangingPunct="1">
              <a:lnSpc>
                <a:spcPct val="100000"/>
              </a:lnSpc>
              <a:spcBef>
                <a:spcPts val="0"/>
              </a:spcBef>
              <a:spcAft>
                <a:spcPts val="0"/>
              </a:spcAft>
              <a:buClr>
                <a:srgbClr val="F36633"/>
              </a:buClr>
              <a:buSzTx/>
              <a:buFontTx/>
              <a:buNone/>
              <a:tabLst/>
              <a:defRPr/>
            </a:pPr>
            <a:r>
              <a:rPr kumimoji="0" lang="en-GB" sz="1100" b="0" i="0" u="none" strike="noStrike" kern="1200" cap="none" spc="10" normalizeH="0" baseline="0" noProof="0">
                <a:ln>
                  <a:noFill/>
                </a:ln>
                <a:solidFill>
                  <a:srgbClr val="959595">
                    <a:lumMod val="50000"/>
                  </a:srgbClr>
                </a:solidFill>
                <a:effectLst/>
                <a:uLnTx/>
                <a:uFillTx/>
                <a:latin typeface="Arial"/>
                <a:ea typeface="Calibri" panose="020F0502020204030204" pitchFamily="34" charset="0"/>
                <a:cs typeface="Noto Sans"/>
              </a:rPr>
              <a:t>Windows apps available via Company Portal for </a:t>
            </a:r>
            <a:r>
              <a:rPr kumimoji="0" lang="en-GB" sz="1100" b="0" i="0" u="none" strike="noStrike" kern="1200" cap="none" spc="10" normalizeH="0" baseline="0" noProof="0">
                <a:ln>
                  <a:noFill/>
                </a:ln>
                <a:solidFill>
                  <a:srgbClr val="F36633"/>
                </a:solidFill>
                <a:effectLst/>
                <a:uLnTx/>
                <a:uFillTx/>
                <a:latin typeface="Arial"/>
                <a:ea typeface="Calibri" panose="020F0502020204030204" pitchFamily="34" charset="0"/>
                <a:cs typeface="Noto Sans"/>
              </a:rPr>
              <a:t>single-session</a:t>
            </a:r>
            <a:r>
              <a:rPr kumimoji="0" lang="en-GB" sz="1100" b="0" i="0" u="none" strike="noStrike" kern="1200" cap="none" spc="10" normalizeH="0" baseline="0" noProof="0">
                <a:ln>
                  <a:noFill/>
                </a:ln>
                <a:solidFill>
                  <a:srgbClr val="959595">
                    <a:lumMod val="50000"/>
                  </a:srgbClr>
                </a:solidFill>
                <a:effectLst/>
                <a:uLnTx/>
                <a:uFillTx/>
                <a:latin typeface="Arial"/>
                <a:ea typeface="Calibri" panose="020F0502020204030204" pitchFamily="34" charset="0"/>
                <a:cs typeface="Noto Sans"/>
              </a:rPr>
              <a:t> VDI</a:t>
            </a:r>
            <a:r>
              <a:rPr kumimoji="0" lang="en-GB" sz="1100" b="0" i="0" u="none" strike="noStrike" kern="1200" cap="none" spc="10" normalizeH="0" baseline="30000" noProof="0">
                <a:ln>
                  <a:noFill/>
                </a:ln>
                <a:solidFill>
                  <a:srgbClr val="959595">
                    <a:lumMod val="50000"/>
                  </a:srgbClr>
                </a:solidFill>
                <a:effectLst/>
                <a:uLnTx/>
                <a:uFillTx/>
                <a:latin typeface="Arial"/>
                <a:ea typeface="Calibri" panose="020F0502020204030204" pitchFamily="34" charset="0"/>
                <a:cs typeface="Noto Sans"/>
              </a:rPr>
              <a:t>2</a:t>
            </a:r>
            <a:endParaRPr kumimoji="0" lang="en-GB" sz="1100" b="0" i="0" u="none" strike="noStrike" kern="1200" cap="none" spc="10" normalizeH="0" baseline="30000" noProof="0">
              <a:ln>
                <a:noFill/>
              </a:ln>
              <a:solidFill>
                <a:srgbClr val="959595">
                  <a:lumMod val="50000"/>
                </a:srgbClr>
              </a:solidFill>
              <a:effectLst/>
              <a:uLnTx/>
              <a:uFillTx/>
              <a:latin typeface="Arial"/>
              <a:ea typeface="+mn-ea"/>
              <a:cs typeface="Noto Sans"/>
            </a:endParaRPr>
          </a:p>
        </p:txBody>
      </p:sp>
      <p:grpSp>
        <p:nvGrpSpPr>
          <p:cNvPr id="13" name="Group 12">
            <a:extLst>
              <a:ext uri="{FF2B5EF4-FFF2-40B4-BE49-F238E27FC236}">
                <a16:creationId xmlns:a16="http://schemas.microsoft.com/office/drawing/2014/main" id="{57488D05-E28B-26E7-BF56-62A030E320A7}"/>
              </a:ext>
            </a:extLst>
          </p:cNvPr>
          <p:cNvGrpSpPr/>
          <p:nvPr/>
        </p:nvGrpSpPr>
        <p:grpSpPr>
          <a:xfrm>
            <a:off x="6319912" y="3241159"/>
            <a:ext cx="1980000" cy="1116000"/>
            <a:chOff x="6611498" y="3363214"/>
            <a:chExt cx="1980000" cy="1116000"/>
          </a:xfrm>
        </p:grpSpPr>
        <p:sp>
          <p:nvSpPr>
            <p:cNvPr id="14" name="Rounded Rectangle">
              <a:extLst>
                <a:ext uri="{FF2B5EF4-FFF2-40B4-BE49-F238E27FC236}">
                  <a16:creationId xmlns:a16="http://schemas.microsoft.com/office/drawing/2014/main" id="{0EB26A0A-523B-DD5A-D602-A9EA1C33B9E5}"/>
                </a:ext>
              </a:extLst>
            </p:cNvPr>
            <p:cNvSpPr/>
            <p:nvPr/>
          </p:nvSpPr>
          <p:spPr>
            <a:xfrm>
              <a:off x="6611498" y="3363214"/>
              <a:ext cx="1980000" cy="1116000"/>
            </a:xfrm>
            <a:prstGeom prst="roundRect">
              <a:avLst>
                <a:gd name="adj" fmla="val 5487"/>
              </a:avLst>
            </a:prstGeom>
            <a:solidFill>
              <a:schemeClr val="bg1"/>
            </a:solidFill>
            <a:ln w="12700" cap="flat">
              <a:noFill/>
              <a:miter lim="400000"/>
            </a:ln>
            <a:effectLst>
              <a:outerShdw blurRad="254000" dir="5400000" rotWithShape="0">
                <a:schemeClr val="tx2">
                  <a:lumMod val="60000"/>
                  <a:lumOff val="40000"/>
                  <a:alpha val="20000"/>
                </a:schemeClr>
              </a:outerShdw>
            </a:effectLst>
          </p:spPr>
          <p:txBody>
            <a:bodyPr wrap="square" lIns="144000" tIns="540000" rIns="144000" bIns="144000" numCol="1" anchor="t"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959595">
                    <a:lumMod val="50000"/>
                  </a:srgbClr>
                </a:solidFill>
                <a:effectLst/>
                <a:uLnTx/>
                <a:uFillTx/>
                <a:latin typeface="Arial"/>
                <a:ea typeface="+mn-ea"/>
                <a:cs typeface="Noto Sans"/>
              </a:endParaRPr>
            </a:p>
          </p:txBody>
        </p:sp>
        <p:sp>
          <p:nvSpPr>
            <p:cNvPr id="15" name="Rectangle 14">
              <a:extLst>
                <a:ext uri="{FF2B5EF4-FFF2-40B4-BE49-F238E27FC236}">
                  <a16:creationId xmlns:a16="http://schemas.microsoft.com/office/drawing/2014/main" id="{CBACD537-0A8C-23A9-AB6F-83BD307D7F43}"/>
                </a:ext>
              </a:extLst>
            </p:cNvPr>
            <p:cNvSpPr/>
            <p:nvPr/>
          </p:nvSpPr>
          <p:spPr bwMode="auto">
            <a:xfrm>
              <a:off x="6757509" y="4028245"/>
              <a:ext cx="1680638" cy="411476"/>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
                  <a:srgbClr val="F36633"/>
                </a:buClr>
                <a:buSzTx/>
                <a:buFontTx/>
                <a:buNone/>
                <a:tabLst/>
                <a:defRPr/>
              </a:pPr>
              <a:r>
                <a:rPr kumimoji="0" lang="en-GB" sz="1100" b="0" i="0" u="none" strike="noStrike" kern="1200" cap="none" spc="10" normalizeH="0" baseline="0" noProof="0">
                  <a:ln>
                    <a:noFill/>
                  </a:ln>
                  <a:solidFill>
                    <a:srgbClr val="959595">
                      <a:lumMod val="50000"/>
                    </a:srgbClr>
                  </a:solidFill>
                  <a:effectLst/>
                  <a:uLnTx/>
                  <a:uFillTx/>
                  <a:latin typeface="Arial"/>
                  <a:ea typeface="Calibri" panose="020F0502020204030204" pitchFamily="34" charset="0"/>
                  <a:cs typeface="Noto Sans"/>
                </a:rPr>
                <a:t>Windows apps deployed to</a:t>
              </a:r>
              <a:r>
                <a:rPr kumimoji="0" lang="en-GB" sz="1100" b="0" i="0" u="none" strike="noStrike" kern="1200" cap="none" spc="10" normalizeH="0" baseline="0" noProof="0">
                  <a:ln>
                    <a:noFill/>
                  </a:ln>
                  <a:solidFill>
                    <a:srgbClr val="F36633"/>
                  </a:solidFill>
                  <a:effectLst/>
                  <a:uLnTx/>
                  <a:uFillTx/>
                  <a:latin typeface="Arial"/>
                  <a:ea typeface="Calibri" panose="020F0502020204030204" pitchFamily="34" charset="0"/>
                  <a:cs typeface="Noto Sans"/>
                </a:rPr>
                <a:t> multi-session </a:t>
              </a:r>
              <a:r>
                <a:rPr kumimoji="0" lang="en-GB" sz="1100" b="0" i="0" u="none" strike="noStrike" kern="1200" cap="none" spc="10" normalizeH="0" baseline="0" noProof="0">
                  <a:ln>
                    <a:noFill/>
                  </a:ln>
                  <a:solidFill>
                    <a:srgbClr val="959595">
                      <a:lumMod val="50000"/>
                    </a:srgbClr>
                  </a:solidFill>
                  <a:effectLst/>
                  <a:uLnTx/>
                  <a:uFillTx/>
                  <a:latin typeface="Arial"/>
                  <a:ea typeface="Calibri" panose="020F0502020204030204" pitchFamily="34" charset="0"/>
                  <a:cs typeface="Noto Sans"/>
                </a:rPr>
                <a:t>VDI</a:t>
              </a:r>
            </a:p>
          </p:txBody>
        </p:sp>
        <p:sp>
          <p:nvSpPr>
            <p:cNvPr id="17" name="Rectangle 16">
              <a:extLst>
                <a:ext uri="{FF2B5EF4-FFF2-40B4-BE49-F238E27FC236}">
                  <a16:creationId xmlns:a16="http://schemas.microsoft.com/office/drawing/2014/main" id="{4BEEF1B6-89E3-F405-67EE-4276A2720278}"/>
                </a:ext>
              </a:extLst>
            </p:cNvPr>
            <p:cNvSpPr/>
            <p:nvPr/>
          </p:nvSpPr>
          <p:spPr bwMode="auto">
            <a:xfrm>
              <a:off x="7444780" y="3435128"/>
              <a:ext cx="1007336" cy="628209"/>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1219170" rtl="0" eaLnBrk="1" fontAlgn="auto" latinLnBrk="0" hangingPunct="1">
                <a:lnSpc>
                  <a:spcPct val="100000"/>
                </a:lnSpc>
                <a:spcBef>
                  <a:spcPts val="0"/>
                </a:spcBef>
                <a:spcAft>
                  <a:spcPts val="0"/>
                </a:spcAft>
                <a:buClr>
                  <a:srgbClr val="F36633"/>
                </a:buClr>
                <a:buSzTx/>
                <a:buFontTx/>
                <a:buNone/>
                <a:tabLst/>
                <a:defRPr/>
              </a:pPr>
              <a:r>
                <a:rPr kumimoji="0" lang="en-GB" sz="3200" b="0" i="0" u="none" strike="noStrike" kern="1200" cap="none" spc="10" normalizeH="0" baseline="0" noProof="0">
                  <a:ln>
                    <a:noFill/>
                  </a:ln>
                  <a:solidFill>
                    <a:srgbClr val="F36633"/>
                  </a:solidFill>
                  <a:effectLst/>
                  <a:uLnTx/>
                  <a:uFillTx/>
                  <a:latin typeface="Arial"/>
                  <a:ea typeface="Calibri" panose="020F0502020204030204" pitchFamily="34" charset="0"/>
                  <a:cs typeface="Noto Sans"/>
                </a:rPr>
                <a:t>~200</a:t>
              </a:r>
            </a:p>
          </p:txBody>
        </p:sp>
        <p:pic>
          <p:nvPicPr>
            <p:cNvPr id="18" name="Graphic 17" descr="Ui Ux with solid fill">
              <a:extLst>
                <a:ext uri="{FF2B5EF4-FFF2-40B4-BE49-F238E27FC236}">
                  <a16:creationId xmlns:a16="http://schemas.microsoft.com/office/drawing/2014/main" id="{8DA3C831-9F1F-D8FA-E08D-BC79C7CC66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771477" y="3475870"/>
              <a:ext cx="593004" cy="593004"/>
            </a:xfrm>
            <a:prstGeom prst="rect">
              <a:avLst/>
            </a:prstGeom>
          </p:spPr>
        </p:pic>
      </p:grpSp>
      <p:sp>
        <p:nvSpPr>
          <p:cNvPr id="20" name="Rounded Rectangle">
            <a:extLst>
              <a:ext uri="{FF2B5EF4-FFF2-40B4-BE49-F238E27FC236}">
                <a16:creationId xmlns:a16="http://schemas.microsoft.com/office/drawing/2014/main" id="{1AD8FDF7-FE11-E049-7A4E-393749347B7B}"/>
              </a:ext>
            </a:extLst>
          </p:cNvPr>
          <p:cNvSpPr/>
          <p:nvPr/>
        </p:nvSpPr>
        <p:spPr>
          <a:xfrm>
            <a:off x="205111" y="3238203"/>
            <a:ext cx="2628000" cy="1044000"/>
          </a:xfrm>
          <a:prstGeom prst="roundRect">
            <a:avLst>
              <a:gd name="adj" fmla="val 3518"/>
            </a:avLst>
          </a:prstGeom>
          <a:solidFill>
            <a:schemeClr val="bg1"/>
          </a:solidFill>
          <a:ln w="12700" cap="flat">
            <a:noFill/>
            <a:miter lim="400000"/>
          </a:ln>
          <a:effectLst>
            <a:outerShdw blurRad="254000" dir="5400000" rotWithShape="0">
              <a:schemeClr val="tx2">
                <a:lumMod val="60000"/>
                <a:lumOff val="40000"/>
                <a:alpha val="20000"/>
              </a:schemeClr>
            </a:outerShdw>
          </a:effectLst>
        </p:spPr>
        <p:txBody>
          <a:bodyPr wrap="square" lIns="576000" tIns="144000" rIns="144000" bIns="144000" numCol="1" anchor="ctr" anchorCtr="0">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959595">
                    <a:lumMod val="50000"/>
                  </a:srgbClr>
                </a:solidFill>
                <a:effectLst/>
                <a:uLnTx/>
                <a:uFillTx/>
                <a:latin typeface="Arial"/>
                <a:ea typeface="+mn-ea"/>
                <a:cs typeface="Noto Sans"/>
              </a:rPr>
              <a:t>Providing secure remote access to GSK applications for </a:t>
            </a:r>
            <a:r>
              <a:rPr kumimoji="0" lang="en-GB" sz="1100" b="0" i="0" u="none" strike="noStrike" kern="1200" cap="none" spc="0" normalizeH="0" baseline="0" noProof="0">
                <a:ln>
                  <a:noFill/>
                </a:ln>
                <a:solidFill>
                  <a:srgbClr val="F36633"/>
                </a:solidFill>
                <a:effectLst/>
                <a:uLnTx/>
                <a:uFillTx/>
                <a:latin typeface="Arial"/>
                <a:ea typeface="+mn-ea"/>
                <a:cs typeface="Noto Sans"/>
              </a:rPr>
              <a:t>~15k external users</a:t>
            </a:r>
            <a:r>
              <a:rPr kumimoji="0" lang="en-GB" sz="1100" b="0" i="0" u="none" strike="noStrike" kern="1200" cap="none" spc="0" normalizeH="0" baseline="30000" noProof="0">
                <a:ln>
                  <a:noFill/>
                </a:ln>
                <a:solidFill>
                  <a:srgbClr val="F36633"/>
                </a:solidFill>
                <a:effectLst/>
                <a:uLnTx/>
                <a:uFillTx/>
                <a:latin typeface="Arial"/>
                <a:ea typeface="+mn-ea"/>
                <a:cs typeface="Noto Sans"/>
              </a:rPr>
              <a:t>1</a:t>
            </a:r>
            <a:r>
              <a:rPr kumimoji="0" lang="en-GB" sz="1100" b="0" i="0" u="none" strike="noStrike" kern="1200" cap="none" spc="0" normalizeH="0" baseline="0" noProof="0">
                <a:ln>
                  <a:noFill/>
                </a:ln>
                <a:solidFill>
                  <a:srgbClr val="F36633"/>
                </a:solidFill>
                <a:effectLst/>
                <a:uLnTx/>
                <a:uFillTx/>
                <a:latin typeface="Arial"/>
                <a:ea typeface="+mn-ea"/>
                <a:cs typeface="Noto Sans"/>
              </a:rPr>
              <a:t> </a:t>
            </a:r>
            <a:r>
              <a:rPr kumimoji="0" lang="en-GB" sz="1100" b="0" i="0" u="none" strike="noStrike" kern="1200" cap="none" spc="0" normalizeH="0" baseline="0" noProof="0">
                <a:ln>
                  <a:noFill/>
                </a:ln>
                <a:solidFill>
                  <a:srgbClr val="959595">
                    <a:lumMod val="50000"/>
                  </a:srgbClr>
                </a:solidFill>
                <a:effectLst/>
                <a:uLnTx/>
                <a:uFillTx/>
                <a:latin typeface="Arial"/>
                <a:ea typeface="+mn-ea"/>
                <a:cs typeface="Noto Sans"/>
              </a:rPr>
              <a:t>who work for </a:t>
            </a:r>
            <a:r>
              <a:rPr kumimoji="0" lang="en-GB" sz="1100" b="0" i="0" u="none" strike="noStrike" kern="1200" cap="none" spc="0" normalizeH="0" baseline="0" noProof="0">
                <a:ln>
                  <a:noFill/>
                </a:ln>
                <a:solidFill>
                  <a:srgbClr val="F36633"/>
                </a:solidFill>
                <a:effectLst/>
                <a:uLnTx/>
                <a:uFillTx/>
                <a:latin typeface="Arial"/>
                <a:ea typeface="+mn-ea"/>
                <a:cs typeface="Noto Sans"/>
              </a:rPr>
              <a:t>strategic partners </a:t>
            </a:r>
            <a:r>
              <a:rPr kumimoji="0" lang="en-GB" sz="1100" b="0" i="0" u="none" strike="noStrike" kern="1200" cap="none" spc="0" normalizeH="0" baseline="0" noProof="0">
                <a:ln>
                  <a:noFill/>
                </a:ln>
                <a:solidFill>
                  <a:srgbClr val="959595">
                    <a:lumMod val="50000"/>
                  </a:srgbClr>
                </a:solidFill>
                <a:effectLst/>
                <a:uLnTx/>
                <a:uFillTx/>
                <a:latin typeface="Arial"/>
                <a:ea typeface="+mn-ea"/>
                <a:cs typeface="Noto Sans"/>
              </a:rPr>
              <a:t>&amp; </a:t>
            </a:r>
            <a:r>
              <a:rPr kumimoji="0" lang="en-GB" sz="1100" b="0" i="0" u="none" strike="noStrike" kern="1200" cap="none" spc="0" normalizeH="0" baseline="0" noProof="0">
                <a:ln>
                  <a:noFill/>
                </a:ln>
                <a:solidFill>
                  <a:srgbClr val="F36633"/>
                </a:solidFill>
                <a:effectLst/>
                <a:uLnTx/>
                <a:uFillTx/>
                <a:latin typeface="Arial"/>
                <a:ea typeface="+mn-ea"/>
                <a:cs typeface="Noto Sans"/>
              </a:rPr>
              <a:t>third parties </a:t>
            </a:r>
            <a:r>
              <a:rPr kumimoji="0" lang="en-GB" sz="1100" b="0" i="0" u="none" strike="noStrike" kern="1200" cap="none" spc="0" normalizeH="0" baseline="0" noProof="0">
                <a:ln>
                  <a:noFill/>
                </a:ln>
                <a:solidFill>
                  <a:srgbClr val="959595">
                    <a:lumMod val="50000"/>
                  </a:srgbClr>
                </a:solidFill>
                <a:effectLst/>
                <a:uLnTx/>
                <a:uFillTx/>
                <a:latin typeface="Arial"/>
                <a:ea typeface="+mn-ea"/>
                <a:cs typeface="Noto Sans"/>
              </a:rPr>
              <a:t>on behalf of GSK</a:t>
            </a:r>
          </a:p>
        </p:txBody>
      </p:sp>
      <p:sp>
        <p:nvSpPr>
          <p:cNvPr id="21" name="Rounded Rectangle">
            <a:extLst>
              <a:ext uri="{FF2B5EF4-FFF2-40B4-BE49-F238E27FC236}">
                <a16:creationId xmlns:a16="http://schemas.microsoft.com/office/drawing/2014/main" id="{FCBFAC44-BED9-0302-E8A5-02F0C86862F0}"/>
              </a:ext>
            </a:extLst>
          </p:cNvPr>
          <p:cNvSpPr/>
          <p:nvPr/>
        </p:nvSpPr>
        <p:spPr>
          <a:xfrm>
            <a:off x="203599" y="4554375"/>
            <a:ext cx="2628000" cy="1044000"/>
          </a:xfrm>
          <a:prstGeom prst="roundRect">
            <a:avLst>
              <a:gd name="adj" fmla="val 3518"/>
            </a:avLst>
          </a:prstGeom>
          <a:solidFill>
            <a:schemeClr val="bg1"/>
          </a:solidFill>
          <a:ln w="12700" cap="flat">
            <a:noFill/>
            <a:miter lim="400000"/>
          </a:ln>
          <a:effectLst>
            <a:outerShdw blurRad="254000" dir="5400000" rotWithShape="0">
              <a:schemeClr val="tx2">
                <a:lumMod val="60000"/>
                <a:lumOff val="40000"/>
                <a:alpha val="20000"/>
              </a:schemeClr>
            </a:outerShdw>
          </a:effectLst>
        </p:spPr>
        <p:txBody>
          <a:bodyPr wrap="square" lIns="576000" tIns="144000" rIns="72000" bIns="144000" numCol="1" anchor="ctr" anchorCtr="0">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959595">
                    <a:lumMod val="50000"/>
                  </a:srgbClr>
                </a:solidFill>
                <a:effectLst/>
                <a:uLnTx/>
                <a:uFillTx/>
                <a:latin typeface="Arial"/>
                <a:ea typeface="+mn-ea"/>
                <a:cs typeface="Noto Sans"/>
              </a:rPr>
              <a:t>Improving performance of </a:t>
            </a:r>
            <a:r>
              <a:rPr kumimoji="0" lang="en-GB" sz="1100" b="0" i="0" u="none" strike="noStrike" kern="1200" cap="none" spc="0" normalizeH="0" baseline="0" noProof="0">
                <a:ln>
                  <a:noFill/>
                </a:ln>
                <a:solidFill>
                  <a:srgbClr val="F36633"/>
                </a:solidFill>
                <a:effectLst/>
                <a:uLnTx/>
                <a:uFillTx/>
                <a:latin typeface="Arial"/>
                <a:ea typeface="+mn-ea"/>
                <a:cs typeface="Noto Sans"/>
              </a:rPr>
              <a:t>latency-sensitive applications </a:t>
            </a:r>
            <a:r>
              <a:rPr kumimoji="0" lang="en-GB" sz="1100" b="0" i="0" u="none" strike="noStrike" kern="1200" cap="none" spc="0" normalizeH="0" baseline="0" noProof="0">
                <a:ln>
                  <a:noFill/>
                </a:ln>
                <a:solidFill>
                  <a:srgbClr val="959595">
                    <a:lumMod val="50000"/>
                  </a:srgbClr>
                </a:solidFill>
                <a:effectLst/>
                <a:uLnTx/>
                <a:uFillTx/>
                <a:latin typeface="Arial"/>
                <a:ea typeface="+mn-ea"/>
                <a:cs typeface="Noto Sans"/>
              </a:rPr>
              <a:t>(e.g. Labware / Empower) for </a:t>
            </a:r>
            <a:r>
              <a:rPr kumimoji="0" lang="en-GB" sz="1100" b="0" i="0" u="none" strike="noStrike" kern="1200" cap="none" spc="0" normalizeH="0" baseline="0" noProof="0">
                <a:ln>
                  <a:noFill/>
                </a:ln>
                <a:solidFill>
                  <a:srgbClr val="F36633"/>
                </a:solidFill>
                <a:effectLst/>
                <a:uLnTx/>
                <a:uFillTx/>
                <a:latin typeface="Arial"/>
                <a:ea typeface="+mn-ea"/>
                <a:cs typeface="Noto Sans"/>
              </a:rPr>
              <a:t>~4k internal users</a:t>
            </a:r>
            <a:r>
              <a:rPr kumimoji="0" lang="en-GB" sz="1100" b="0" i="0" u="none" strike="noStrike" kern="1200" cap="none" spc="0" normalizeH="0" baseline="0" noProof="0">
                <a:ln>
                  <a:noFill/>
                </a:ln>
                <a:solidFill>
                  <a:srgbClr val="959595">
                    <a:lumMod val="50000"/>
                  </a:srgbClr>
                </a:solidFill>
                <a:effectLst/>
                <a:uLnTx/>
                <a:uFillTx/>
                <a:latin typeface="Arial"/>
                <a:ea typeface="+mn-ea"/>
                <a:cs typeface="Noto Sans"/>
              </a:rPr>
              <a:t> by hosting client adjacent to app servers</a:t>
            </a:r>
          </a:p>
        </p:txBody>
      </p:sp>
      <p:sp>
        <p:nvSpPr>
          <p:cNvPr id="22" name="Text Placeholder 4">
            <a:extLst>
              <a:ext uri="{FF2B5EF4-FFF2-40B4-BE49-F238E27FC236}">
                <a16:creationId xmlns:a16="http://schemas.microsoft.com/office/drawing/2014/main" id="{4CD7F662-77FC-DEEB-48A6-6A488DE23768}"/>
              </a:ext>
            </a:extLst>
          </p:cNvPr>
          <p:cNvSpPr txBox="1">
            <a:spLocks/>
          </p:cNvSpPr>
          <p:nvPr/>
        </p:nvSpPr>
        <p:spPr>
          <a:xfrm>
            <a:off x="9431837" y="3102609"/>
            <a:ext cx="2500759" cy="2687460"/>
          </a:xfrm>
          <a:prstGeom prst="rect">
            <a:avLst/>
          </a:prstGeom>
        </p:spPr>
        <p:txBody>
          <a:bodyPr vert="horz" lIns="0" tIns="180000" rIns="0" bIns="180000" rtlCol="0">
            <a:noAutofit/>
          </a:bodyPr>
          <a:lstStyle>
            <a:lvl1pPr marL="359991" indent="-359991" algn="l" defTabSz="1219170" rtl="0" eaLnBrk="1" latinLnBrk="0" hangingPunct="1">
              <a:spcBef>
                <a:spcPts val="300"/>
              </a:spcBef>
              <a:spcAft>
                <a:spcPts val="300"/>
              </a:spcAft>
              <a:buClr>
                <a:schemeClr val="tx2"/>
              </a:buClr>
              <a:buSzPct val="110000"/>
              <a:buFont typeface="Arial" panose="020B0604020202020204" pitchFamily="34" charset="0"/>
              <a:buChar char="•"/>
              <a:defRPr sz="2200" kern="1200">
                <a:solidFill>
                  <a:schemeClr val="tx1"/>
                </a:solidFill>
                <a:latin typeface="+mn-lt"/>
                <a:ea typeface="+mn-ea"/>
                <a:cs typeface="+mn-cs"/>
              </a:defRPr>
            </a:lvl1pPr>
            <a:lvl2pPr marL="717533" indent="-359991" algn="l" defTabSz="1219170" rtl="0" eaLnBrk="1" latinLnBrk="0" hangingPunct="1">
              <a:spcBef>
                <a:spcPts val="300"/>
              </a:spcBef>
              <a:spcAft>
                <a:spcPts val="300"/>
              </a:spcAft>
              <a:buClr>
                <a:schemeClr val="tx1"/>
              </a:buClr>
              <a:buFont typeface="Arial" panose="020B0604020202020204" pitchFamily="34" charset="0"/>
              <a:buChar char="­"/>
              <a:defRPr sz="2000" kern="1200">
                <a:solidFill>
                  <a:schemeClr val="tx1"/>
                </a:solidFill>
                <a:latin typeface="+mn-lt"/>
                <a:ea typeface="+mn-ea"/>
                <a:cs typeface="+mn-cs"/>
              </a:defRPr>
            </a:lvl2pPr>
            <a:lvl3pPr marL="1079973" indent="-359991" algn="l" defTabSz="1219170" rtl="0" eaLnBrk="1" latinLnBrk="0" hangingPunct="1">
              <a:spcBef>
                <a:spcPts val="300"/>
              </a:spcBef>
              <a:spcAft>
                <a:spcPts val="300"/>
              </a:spcAft>
              <a:buClr>
                <a:schemeClr val="tx1"/>
              </a:buClr>
              <a:buFont typeface="Arial" panose="020B0604020202020204" pitchFamily="34" charset="0"/>
              <a:buChar char="­"/>
              <a:defRPr sz="1800" kern="1200">
                <a:solidFill>
                  <a:schemeClr val="tx1"/>
                </a:solidFill>
                <a:latin typeface="+mn-lt"/>
                <a:ea typeface="+mn-ea"/>
                <a:cs typeface="+mn-cs"/>
              </a:defRPr>
            </a:lvl3pPr>
            <a:lvl4pPr marL="1441415" indent="-359991" algn="l" defTabSz="1219170" rtl="0" eaLnBrk="1" latinLnBrk="0" hangingPunct="1">
              <a:spcBef>
                <a:spcPts val="300"/>
              </a:spcBef>
              <a:spcAft>
                <a:spcPts val="300"/>
              </a:spcAft>
              <a:buClr>
                <a:schemeClr val="tx1"/>
              </a:buClr>
              <a:buFont typeface="Arial" panose="020B0604020202020204" pitchFamily="34" charset="0"/>
              <a:buChar char="­"/>
              <a:defRPr sz="1600" kern="1200">
                <a:solidFill>
                  <a:schemeClr val="tx1"/>
                </a:solidFill>
                <a:latin typeface="+mn-lt"/>
                <a:ea typeface="+mn-ea"/>
                <a:cs typeface="+mn-cs"/>
              </a:defRPr>
            </a:lvl4pPr>
            <a:lvl5pPr marL="1799955" indent="-359991" algn="l" defTabSz="1219170" rtl="0" eaLnBrk="1" latinLnBrk="0" hangingPunct="1">
              <a:spcBef>
                <a:spcPts val="300"/>
              </a:spcBef>
              <a:spcAft>
                <a:spcPts val="300"/>
              </a:spcAft>
              <a:buClr>
                <a:schemeClr val="tx1"/>
              </a:buClr>
              <a:buFont typeface="Arial" panose="020B0604020202020204" pitchFamily="34" charset="0"/>
              <a:buChar char="­"/>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228600" marR="0" lvl="0" indent="-228600" algn="l" defTabSz="1219170" rtl="0" eaLnBrk="1" fontAlgn="auto" latinLnBrk="0" hangingPunct="1">
              <a:lnSpc>
                <a:spcPct val="100000"/>
              </a:lnSpc>
              <a:spcBef>
                <a:spcPts val="300"/>
              </a:spcBef>
              <a:spcAft>
                <a:spcPts val="300"/>
              </a:spcAft>
              <a:buClr>
                <a:srgbClr val="F36633"/>
              </a:buClr>
              <a:buSzPct val="110000"/>
              <a:buFont typeface="+mj-lt"/>
              <a:buAutoNum type="alphaLcParenR"/>
              <a:tabLst/>
              <a:defRPr/>
            </a:pPr>
            <a:r>
              <a:rPr kumimoji="0" lang="en-GB" sz="1100" b="0" i="0" u="none" strike="noStrike" kern="1200" cap="none" spc="0" normalizeH="0" baseline="0" noProof="0">
                <a:ln>
                  <a:noFill/>
                </a:ln>
                <a:solidFill>
                  <a:srgbClr val="959595">
                    <a:lumMod val="50000"/>
                  </a:srgbClr>
                </a:solidFill>
                <a:effectLst/>
                <a:uLnTx/>
                <a:uFillTx/>
                <a:latin typeface="Arial"/>
                <a:ea typeface="+mn-ea"/>
                <a:cs typeface="Noto Sans"/>
              </a:rPr>
              <a:t>Reducing risks of third-party </a:t>
            </a:r>
            <a:r>
              <a:rPr kumimoji="0" lang="en-GB" sz="1100" b="0" i="0" u="none" strike="noStrike" kern="1200" cap="none" spc="0" normalizeH="0" baseline="0" noProof="0">
                <a:ln>
                  <a:noFill/>
                </a:ln>
                <a:solidFill>
                  <a:srgbClr val="F36633"/>
                </a:solidFill>
                <a:effectLst/>
                <a:uLnTx/>
                <a:uFillTx/>
                <a:latin typeface="Arial"/>
                <a:ea typeface="+mn-ea"/>
                <a:cs typeface="Noto Sans"/>
              </a:rPr>
              <a:t>data exfiltration </a:t>
            </a:r>
            <a:r>
              <a:rPr kumimoji="0" lang="en-GB" sz="1100" b="0" i="0" u="none" strike="noStrike" kern="1200" cap="none" spc="0" normalizeH="0" baseline="0" noProof="0">
                <a:ln>
                  <a:noFill/>
                </a:ln>
                <a:solidFill>
                  <a:srgbClr val="959595">
                    <a:lumMod val="50000"/>
                  </a:srgbClr>
                </a:solidFill>
                <a:effectLst/>
                <a:uLnTx/>
                <a:uFillTx/>
                <a:latin typeface="Arial"/>
                <a:ea typeface="+mn-ea"/>
                <a:cs typeface="Noto Sans"/>
              </a:rPr>
              <a:t>(e.g. copy / paste, file upload / download and remote print)</a:t>
            </a:r>
          </a:p>
          <a:p>
            <a:pPr marL="228600" marR="0" lvl="0" indent="-228600" algn="l" defTabSz="1219170" rtl="0" eaLnBrk="1" fontAlgn="auto" latinLnBrk="0" hangingPunct="1">
              <a:lnSpc>
                <a:spcPct val="100000"/>
              </a:lnSpc>
              <a:spcBef>
                <a:spcPts val="300"/>
              </a:spcBef>
              <a:spcAft>
                <a:spcPts val="300"/>
              </a:spcAft>
              <a:buClr>
                <a:srgbClr val="F36633"/>
              </a:buClr>
              <a:buSzPct val="110000"/>
              <a:buFont typeface="+mj-lt"/>
              <a:buAutoNum type="alphaLcParenR"/>
              <a:tabLst/>
              <a:defRPr/>
            </a:pPr>
            <a:r>
              <a:rPr kumimoji="0" lang="en-GB" sz="1100" b="0" i="0" u="none" strike="noStrike" kern="1200" cap="none" spc="0" normalizeH="0" baseline="0" noProof="0">
                <a:ln>
                  <a:noFill/>
                </a:ln>
                <a:solidFill>
                  <a:srgbClr val="959595">
                    <a:lumMod val="50000"/>
                  </a:srgbClr>
                </a:solidFill>
                <a:effectLst/>
                <a:uLnTx/>
                <a:uFillTx/>
                <a:latin typeface="Arial"/>
                <a:ea typeface="+mn-ea"/>
                <a:cs typeface="Noto Sans"/>
              </a:rPr>
              <a:t>Providing enhanced </a:t>
            </a:r>
            <a:r>
              <a:rPr kumimoji="0" lang="en-GB" sz="1100" b="0" i="0" u="none" strike="noStrike" kern="1200" cap="none" spc="0" normalizeH="0" baseline="0" noProof="0">
                <a:ln>
                  <a:noFill/>
                </a:ln>
                <a:solidFill>
                  <a:srgbClr val="F36633"/>
                </a:solidFill>
                <a:effectLst/>
                <a:uLnTx/>
                <a:uFillTx/>
                <a:latin typeface="Arial"/>
                <a:ea typeface="+mn-ea"/>
                <a:cs typeface="Noto Sans"/>
              </a:rPr>
              <a:t>security posture verification</a:t>
            </a:r>
            <a:r>
              <a:rPr kumimoji="0" lang="en-GB" sz="1100" b="0" i="0" u="none" strike="noStrike" kern="1200" cap="none" spc="0" normalizeH="0" baseline="0" noProof="0">
                <a:ln>
                  <a:noFill/>
                </a:ln>
                <a:solidFill>
                  <a:srgbClr val="959595">
                    <a:lumMod val="50000"/>
                  </a:srgbClr>
                </a:solidFill>
                <a:effectLst/>
                <a:uLnTx/>
                <a:uFillTx/>
                <a:latin typeface="Arial"/>
                <a:ea typeface="+mn-ea"/>
                <a:cs typeface="Noto Sans"/>
              </a:rPr>
              <a:t> for endpoint devices before granting access to GSK</a:t>
            </a:r>
          </a:p>
          <a:p>
            <a:pPr marL="228600" marR="0" lvl="0" indent="-228600" algn="l" defTabSz="1219170" rtl="0" eaLnBrk="1" fontAlgn="auto" latinLnBrk="0" hangingPunct="1">
              <a:lnSpc>
                <a:spcPct val="100000"/>
              </a:lnSpc>
              <a:spcBef>
                <a:spcPts val="300"/>
              </a:spcBef>
              <a:spcAft>
                <a:spcPts val="300"/>
              </a:spcAft>
              <a:buClr>
                <a:srgbClr val="F36633"/>
              </a:buClr>
              <a:buSzPct val="110000"/>
              <a:buFont typeface="+mj-lt"/>
              <a:buAutoNum type="alphaLcParenR"/>
              <a:tabLst/>
              <a:defRPr/>
            </a:pPr>
            <a:r>
              <a:rPr kumimoji="0" lang="en-GB" sz="1100" b="0" i="0" u="none" strike="noStrike" kern="1200" cap="none" spc="0" normalizeH="0" baseline="0" noProof="0">
                <a:ln>
                  <a:noFill/>
                </a:ln>
                <a:solidFill>
                  <a:srgbClr val="959595">
                    <a:lumMod val="50000"/>
                  </a:srgbClr>
                </a:solidFill>
                <a:effectLst/>
                <a:uLnTx/>
                <a:uFillTx/>
                <a:latin typeface="Arial"/>
                <a:ea typeface="+mn-ea"/>
                <a:cs typeface="Noto Sans"/>
              </a:rPr>
              <a:t>Providing a platform that </a:t>
            </a:r>
            <a:r>
              <a:rPr kumimoji="0" lang="en-GB" sz="1100" b="0" i="0" u="none" strike="noStrike" kern="1200" cap="none" spc="0" normalizeH="0" baseline="0" noProof="0">
                <a:ln>
                  <a:noFill/>
                </a:ln>
                <a:solidFill>
                  <a:srgbClr val="F36633"/>
                </a:solidFill>
                <a:effectLst/>
                <a:uLnTx/>
                <a:uFillTx/>
                <a:latin typeface="Arial"/>
                <a:ea typeface="+mn-ea"/>
                <a:cs typeface="Noto Sans"/>
              </a:rPr>
              <a:t>rapidly scales</a:t>
            </a:r>
            <a:r>
              <a:rPr kumimoji="0" lang="en-GB" sz="1100" b="0" i="0" u="none" strike="noStrike" kern="1200" cap="none" spc="0" normalizeH="0" baseline="0" noProof="0">
                <a:ln>
                  <a:noFill/>
                </a:ln>
                <a:solidFill>
                  <a:srgbClr val="959595">
                    <a:lumMod val="50000"/>
                  </a:srgbClr>
                </a:solidFill>
                <a:effectLst/>
                <a:uLnTx/>
                <a:uFillTx/>
                <a:latin typeface="Arial"/>
                <a:ea typeface="+mn-ea"/>
                <a:cs typeface="Noto Sans"/>
              </a:rPr>
              <a:t> to accommodate new third-party arrangements</a:t>
            </a:r>
          </a:p>
          <a:p>
            <a:pPr marL="228600" marR="0" lvl="0" indent="-228600" algn="l" defTabSz="1219170" rtl="0" eaLnBrk="1" fontAlgn="auto" latinLnBrk="0" hangingPunct="1">
              <a:lnSpc>
                <a:spcPct val="100000"/>
              </a:lnSpc>
              <a:spcBef>
                <a:spcPts val="300"/>
              </a:spcBef>
              <a:spcAft>
                <a:spcPts val="300"/>
              </a:spcAft>
              <a:buClr>
                <a:srgbClr val="F36633"/>
              </a:buClr>
              <a:buSzPct val="110000"/>
              <a:buFont typeface="+mj-lt"/>
              <a:buAutoNum type="alphaLcParenR"/>
              <a:tabLst/>
              <a:defRPr/>
            </a:pPr>
            <a:r>
              <a:rPr kumimoji="0" lang="en-GB" sz="1100" b="0" i="0" u="none" strike="noStrike" kern="1200" cap="none" spc="0" normalizeH="0" baseline="0" noProof="0">
                <a:ln>
                  <a:noFill/>
                </a:ln>
                <a:solidFill>
                  <a:srgbClr val="959595">
                    <a:lumMod val="50000"/>
                  </a:srgbClr>
                </a:solidFill>
                <a:effectLst/>
                <a:uLnTx/>
                <a:uFillTx/>
                <a:latin typeface="Arial"/>
                <a:ea typeface="+mn-ea"/>
                <a:cs typeface="Noto Sans"/>
              </a:rPr>
              <a:t>Improving </a:t>
            </a:r>
            <a:r>
              <a:rPr kumimoji="0" lang="en-GB" sz="1100" b="0" i="0" u="none" strike="noStrike" kern="1200" cap="none" spc="0" normalizeH="0" baseline="0" noProof="0">
                <a:ln>
                  <a:noFill/>
                </a:ln>
                <a:solidFill>
                  <a:srgbClr val="F36633"/>
                </a:solidFill>
                <a:effectLst/>
                <a:uLnTx/>
                <a:uFillTx/>
                <a:latin typeface="Arial"/>
                <a:ea typeface="+mn-ea"/>
                <a:cs typeface="Noto Sans"/>
              </a:rPr>
              <a:t>performance</a:t>
            </a:r>
            <a:r>
              <a:rPr kumimoji="0" lang="en-GB" sz="1100" b="0" i="0" u="none" strike="noStrike" kern="1200" cap="none" spc="0" normalizeH="0" baseline="0" noProof="0">
                <a:ln>
                  <a:noFill/>
                </a:ln>
                <a:solidFill>
                  <a:srgbClr val="959595">
                    <a:lumMod val="50000"/>
                  </a:srgbClr>
                </a:solidFill>
                <a:effectLst/>
                <a:uLnTx/>
                <a:uFillTx/>
                <a:latin typeface="Arial"/>
                <a:ea typeface="+mn-ea"/>
                <a:cs typeface="Noto Sans"/>
              </a:rPr>
              <a:t> of latency-sensitive applications and access over low bandwidth / high-latency links.</a:t>
            </a:r>
          </a:p>
          <a:p>
            <a:pPr marL="359991" marR="0" lvl="0" indent="-359991"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200" b="0" i="0" u="none" strike="noStrike" kern="1200" cap="none" spc="0" normalizeH="0" baseline="0" noProof="0">
              <a:ln>
                <a:noFill/>
              </a:ln>
              <a:solidFill>
                <a:srgbClr val="000000"/>
              </a:solidFill>
              <a:effectLst/>
              <a:uLnTx/>
              <a:uFillTx/>
              <a:latin typeface="Arial"/>
              <a:ea typeface="+mn-ea"/>
              <a:cs typeface="Noto Sans"/>
            </a:endParaRPr>
          </a:p>
        </p:txBody>
      </p:sp>
      <p:sp>
        <p:nvSpPr>
          <p:cNvPr id="23" name="Text Placeholder 4">
            <a:extLst>
              <a:ext uri="{FF2B5EF4-FFF2-40B4-BE49-F238E27FC236}">
                <a16:creationId xmlns:a16="http://schemas.microsoft.com/office/drawing/2014/main" id="{916C5C6A-220C-A762-EEED-77C5829BB9EB}"/>
              </a:ext>
            </a:extLst>
          </p:cNvPr>
          <p:cNvSpPr txBox="1">
            <a:spLocks/>
          </p:cNvSpPr>
          <p:nvPr/>
        </p:nvSpPr>
        <p:spPr>
          <a:xfrm>
            <a:off x="1242000" y="6305150"/>
            <a:ext cx="7877443" cy="441047"/>
          </a:xfrm>
          <a:prstGeom prst="rect">
            <a:avLst/>
          </a:prstGeom>
        </p:spPr>
        <p:txBody>
          <a:bodyPr vert="horz" lIns="36000" tIns="36000" rIns="36000" bIns="36000" rtlCol="0">
            <a:noAutofit/>
          </a:bodyPr>
          <a:lstStyle>
            <a:lvl1pPr marL="0" indent="0" algn="l" defTabSz="1219170" rtl="0" eaLnBrk="1" latinLnBrk="0" hangingPunct="1">
              <a:spcBef>
                <a:spcPts val="300"/>
              </a:spcBef>
              <a:spcAft>
                <a:spcPts val="300"/>
              </a:spcAft>
              <a:buClr>
                <a:schemeClr val="tx2"/>
              </a:buClr>
              <a:buSzPct val="110000"/>
              <a:buFont typeface="Arial" panose="020B0604020202020204" pitchFamily="34" charset="0"/>
              <a:buNone/>
              <a:defRPr sz="2200" kern="1200">
                <a:solidFill>
                  <a:schemeClr val="tx1"/>
                </a:solidFill>
                <a:latin typeface="+mn-lt"/>
                <a:ea typeface="+mn-ea"/>
                <a:cs typeface="+mn-cs"/>
              </a:defRPr>
            </a:lvl1pPr>
            <a:lvl2pPr marL="357542" indent="0" algn="l" defTabSz="1219170" rtl="0" eaLnBrk="1" latinLnBrk="0" hangingPunct="1">
              <a:spcBef>
                <a:spcPts val="300"/>
              </a:spcBef>
              <a:spcAft>
                <a:spcPts val="300"/>
              </a:spcAft>
              <a:buClr>
                <a:schemeClr val="tx1"/>
              </a:buClr>
              <a:buFont typeface="Arial" panose="020B0604020202020204" pitchFamily="34" charset="0"/>
              <a:buNone/>
              <a:defRPr sz="2000" kern="1200">
                <a:solidFill>
                  <a:schemeClr val="tx1"/>
                </a:solidFill>
                <a:latin typeface="+mn-lt"/>
                <a:ea typeface="+mn-ea"/>
                <a:cs typeface="+mn-cs"/>
              </a:defRPr>
            </a:lvl2pPr>
            <a:lvl3pPr marL="719982" indent="0" algn="l" defTabSz="1219170" rtl="0" eaLnBrk="1" latinLnBrk="0" hangingPunct="1">
              <a:spcBef>
                <a:spcPts val="300"/>
              </a:spcBef>
              <a:spcAft>
                <a:spcPts val="300"/>
              </a:spcAft>
              <a:buClr>
                <a:schemeClr val="tx1"/>
              </a:buClr>
              <a:buFont typeface="Arial" panose="020B0604020202020204" pitchFamily="34" charset="0"/>
              <a:buNone/>
              <a:defRPr sz="1800" kern="1200">
                <a:solidFill>
                  <a:schemeClr val="tx1"/>
                </a:solidFill>
                <a:latin typeface="+mn-lt"/>
                <a:ea typeface="+mn-ea"/>
                <a:cs typeface="+mn-cs"/>
              </a:defRPr>
            </a:lvl3pPr>
            <a:lvl4pPr marL="1081424" indent="0" algn="l" defTabSz="1219170" rtl="0" eaLnBrk="1" latinLnBrk="0" hangingPunct="1">
              <a:spcBef>
                <a:spcPts val="300"/>
              </a:spcBef>
              <a:spcAft>
                <a:spcPts val="300"/>
              </a:spcAft>
              <a:buClr>
                <a:schemeClr val="tx1"/>
              </a:buClr>
              <a:buFont typeface="Arial" panose="020B0604020202020204" pitchFamily="34" charset="0"/>
              <a:buNone/>
              <a:defRPr sz="1600" kern="1200">
                <a:solidFill>
                  <a:schemeClr val="tx1"/>
                </a:solidFill>
                <a:latin typeface="+mn-lt"/>
                <a:ea typeface="+mn-ea"/>
                <a:cs typeface="+mn-cs"/>
              </a:defRPr>
            </a:lvl4pPr>
            <a:lvl5pPr marL="1439964" indent="0" algn="l" defTabSz="1219170" rtl="0" eaLnBrk="1" latinLnBrk="0" hangingPunct="1">
              <a:spcBef>
                <a:spcPts val="300"/>
              </a:spcBef>
              <a:spcAft>
                <a:spcPts val="300"/>
              </a:spcAft>
              <a:buClr>
                <a:schemeClr val="tx1"/>
              </a:buClr>
              <a:buFont typeface="Arial" panose="020B0604020202020204" pitchFamily="34" charset="0"/>
              <a:buNone/>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
                <a:srgbClr val="F36633"/>
              </a:buClr>
              <a:buSzPct val="110000"/>
              <a:buFont typeface="Arial" panose="020B0604020202020204" pitchFamily="34" charset="0"/>
              <a:buNone/>
              <a:tabLst/>
              <a:defRPr/>
            </a:pPr>
            <a:r>
              <a:rPr kumimoji="0" lang="en-GB" sz="800" b="0" i="0" u="none" strike="noStrike" kern="1200" cap="none" spc="0" normalizeH="0" baseline="0" noProof="0">
                <a:ln>
                  <a:noFill/>
                </a:ln>
                <a:solidFill>
                  <a:srgbClr val="959595">
                    <a:lumMod val="50000"/>
                  </a:srgbClr>
                </a:solidFill>
                <a:effectLst/>
                <a:uLnTx/>
                <a:uFillTx/>
                <a:latin typeface="Arial"/>
                <a:ea typeface="+mn-ea"/>
                <a:cs typeface="Noto Sans"/>
              </a:rPr>
              <a:t>1 Available to ~21k unique users, with ~18k monthly active users / ~12k daily active users.</a:t>
            </a:r>
          </a:p>
          <a:p>
            <a:pPr marL="0" marR="0" lvl="0" indent="0" algn="l" defTabSz="1219170" rtl="0" eaLnBrk="1" fontAlgn="auto" latinLnBrk="0" hangingPunct="1">
              <a:lnSpc>
                <a:spcPct val="100000"/>
              </a:lnSpc>
              <a:spcBef>
                <a:spcPts val="0"/>
              </a:spcBef>
              <a:spcAft>
                <a:spcPts val="0"/>
              </a:spcAft>
              <a:buClr>
                <a:srgbClr val="F36633"/>
              </a:buClr>
              <a:buSzPct val="110000"/>
              <a:buFont typeface="Arial" panose="020B0604020202020204" pitchFamily="34" charset="0"/>
              <a:buNone/>
              <a:tabLst/>
              <a:defRPr/>
            </a:pPr>
            <a:r>
              <a:rPr kumimoji="0" lang="en-GB" sz="800" b="0" i="0" u="none" strike="noStrike" kern="1200" cap="none" spc="0" normalizeH="0" baseline="0" noProof="0">
                <a:ln>
                  <a:noFill/>
                </a:ln>
                <a:solidFill>
                  <a:srgbClr val="959595">
                    <a:lumMod val="50000"/>
                  </a:srgbClr>
                </a:solidFill>
                <a:effectLst/>
                <a:uLnTx/>
                <a:uFillTx/>
                <a:latin typeface="Arial"/>
                <a:ea typeface="+mn-ea"/>
                <a:cs typeface="Noto Sans"/>
              </a:rPr>
              <a:t>2 GSK ServiceNow report on active desktop software report </a:t>
            </a:r>
            <a:r>
              <a:rPr kumimoji="0" lang="en-GB" sz="800" b="0" i="0" u="sng" strike="noStrike" kern="100" cap="none" spc="0" normalizeH="0" baseline="0" noProof="0">
                <a:ln>
                  <a:noFill/>
                </a:ln>
                <a:solidFill>
                  <a:srgbClr val="959595">
                    <a:lumMod val="50000"/>
                  </a:srgbClr>
                </a:solidFill>
                <a:effectLst/>
                <a:uLnTx/>
                <a:uFillTx/>
                <a:latin typeface="Arial"/>
                <a:ea typeface="Aptos" panose="020B000402020202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Desktop Software | ServiceNow</a:t>
            </a:r>
            <a:r>
              <a:rPr kumimoji="0" lang="en-GB" sz="800" b="0" i="0" u="none" strike="noStrike" kern="100" cap="none" spc="0" normalizeH="0" baseline="0" noProof="0">
                <a:ln>
                  <a:noFill/>
                </a:ln>
                <a:solidFill>
                  <a:srgbClr val="959595">
                    <a:lumMod val="50000"/>
                  </a:srgbClr>
                </a:solidFill>
                <a:effectLst/>
                <a:uLnTx/>
                <a:uFillTx/>
                <a:latin typeface="Arial"/>
                <a:ea typeface="Aptos" panose="020B0004020202020204" pitchFamily="34" charset="0"/>
                <a:cs typeface="Times New Roman" panose="02020603050405020304" pitchFamily="18" charset="0"/>
              </a:rPr>
              <a:t>, 27</a:t>
            </a:r>
            <a:r>
              <a:rPr kumimoji="0" lang="en-GB" sz="800" b="0" i="0" u="none" strike="noStrike" kern="100" cap="none" spc="0" normalizeH="0" baseline="30000" noProof="0">
                <a:ln>
                  <a:noFill/>
                </a:ln>
                <a:solidFill>
                  <a:srgbClr val="959595">
                    <a:lumMod val="50000"/>
                  </a:srgbClr>
                </a:solidFill>
                <a:effectLst/>
                <a:uLnTx/>
                <a:uFillTx/>
                <a:latin typeface="Arial"/>
                <a:ea typeface="Aptos" panose="020B0004020202020204" pitchFamily="34" charset="0"/>
                <a:cs typeface="Times New Roman" panose="02020603050405020304" pitchFamily="18" charset="0"/>
              </a:rPr>
              <a:t>th</a:t>
            </a:r>
            <a:r>
              <a:rPr kumimoji="0" lang="en-GB" sz="800" b="0" i="0" u="none" strike="noStrike" kern="100" cap="none" spc="0" normalizeH="0" baseline="0" noProof="0">
                <a:ln>
                  <a:noFill/>
                </a:ln>
                <a:solidFill>
                  <a:srgbClr val="959595">
                    <a:lumMod val="50000"/>
                  </a:srgbClr>
                </a:solidFill>
                <a:effectLst/>
                <a:uLnTx/>
                <a:uFillTx/>
                <a:latin typeface="Arial"/>
                <a:ea typeface="Aptos" panose="020B0004020202020204" pitchFamily="34" charset="0"/>
                <a:cs typeface="Times New Roman" panose="02020603050405020304" pitchFamily="18" charset="0"/>
              </a:rPr>
              <a:t> February 2025</a:t>
            </a:r>
          </a:p>
          <a:p>
            <a:pPr marL="0" marR="0" lvl="0" indent="0" algn="l" defTabSz="1219170" rtl="0" eaLnBrk="1" fontAlgn="auto" latinLnBrk="0" hangingPunct="1">
              <a:lnSpc>
                <a:spcPct val="100000"/>
              </a:lnSpc>
              <a:spcBef>
                <a:spcPts val="0"/>
              </a:spcBef>
              <a:spcAft>
                <a:spcPts val="0"/>
              </a:spcAft>
              <a:buClr>
                <a:srgbClr val="F36633"/>
              </a:buClr>
              <a:buSzPct val="110000"/>
              <a:buFont typeface="Arial" panose="020B0604020202020204" pitchFamily="34" charset="0"/>
              <a:buNone/>
              <a:tabLst/>
              <a:defRPr/>
            </a:pPr>
            <a:r>
              <a:rPr kumimoji="0" lang="en-GB" sz="800" b="0" i="0" u="none" strike="noStrike" kern="100" cap="none" spc="0" normalizeH="0" baseline="0" noProof="0">
                <a:ln>
                  <a:noFill/>
                </a:ln>
                <a:solidFill>
                  <a:srgbClr val="959595">
                    <a:lumMod val="50000"/>
                  </a:srgbClr>
                </a:solidFill>
                <a:effectLst/>
                <a:uLnTx/>
                <a:uFillTx/>
                <a:latin typeface="Arial"/>
                <a:ea typeface="Aptos" panose="020B0004020202020204" pitchFamily="34" charset="0"/>
                <a:cs typeface="Times New Roman" panose="02020603050405020304" pitchFamily="18" charset="0"/>
              </a:rPr>
              <a:t>3 Reference Architecture Brief: DaaS and VDI, Gartner, 8</a:t>
            </a:r>
            <a:r>
              <a:rPr kumimoji="0" lang="en-GB" sz="800" b="0" i="0" u="none" strike="noStrike" kern="100" cap="none" spc="0" normalizeH="0" baseline="30000" noProof="0">
                <a:ln>
                  <a:noFill/>
                </a:ln>
                <a:solidFill>
                  <a:srgbClr val="959595">
                    <a:lumMod val="50000"/>
                  </a:srgbClr>
                </a:solidFill>
                <a:effectLst/>
                <a:uLnTx/>
                <a:uFillTx/>
                <a:latin typeface="Arial"/>
                <a:ea typeface="Aptos" panose="020B0004020202020204" pitchFamily="34" charset="0"/>
                <a:cs typeface="Times New Roman" panose="02020603050405020304" pitchFamily="18" charset="0"/>
              </a:rPr>
              <a:t>th</a:t>
            </a:r>
            <a:r>
              <a:rPr kumimoji="0" lang="en-GB" sz="800" b="0" i="0" u="none" strike="noStrike" kern="100" cap="none" spc="0" normalizeH="0" baseline="0" noProof="0">
                <a:ln>
                  <a:noFill/>
                </a:ln>
                <a:solidFill>
                  <a:srgbClr val="959595">
                    <a:lumMod val="50000"/>
                  </a:srgbClr>
                </a:solidFill>
                <a:effectLst/>
                <a:uLnTx/>
                <a:uFillTx/>
                <a:latin typeface="Arial"/>
                <a:ea typeface="Aptos" panose="020B0004020202020204" pitchFamily="34" charset="0"/>
                <a:cs typeface="Times New Roman" panose="02020603050405020304" pitchFamily="18" charset="0"/>
              </a:rPr>
              <a:t> November 2024, ID G00820662</a:t>
            </a:r>
          </a:p>
          <a:p>
            <a:pPr marL="0" marR="0" lvl="0" indent="0" algn="l" defTabSz="1219170" rtl="0" eaLnBrk="1" fontAlgn="auto" latinLnBrk="0" hangingPunct="1">
              <a:lnSpc>
                <a:spcPct val="100000"/>
              </a:lnSpc>
              <a:spcBef>
                <a:spcPts val="0"/>
              </a:spcBef>
              <a:spcAft>
                <a:spcPts val="0"/>
              </a:spcAft>
              <a:buClr>
                <a:srgbClr val="F36633"/>
              </a:buClr>
              <a:buSzPct val="110000"/>
              <a:buFont typeface="Arial" panose="020B0604020202020204" pitchFamily="34" charset="0"/>
              <a:buNone/>
              <a:tabLst/>
              <a:defRPr/>
            </a:pPr>
            <a:r>
              <a:rPr kumimoji="0" lang="en-GB" sz="800" b="0" i="0" u="none" strike="noStrike" kern="1200" cap="none" spc="0" normalizeH="0" baseline="0" noProof="0">
                <a:ln>
                  <a:noFill/>
                </a:ln>
                <a:solidFill>
                  <a:srgbClr val="959595">
                    <a:lumMod val="50000"/>
                  </a:srgbClr>
                </a:solidFill>
                <a:effectLst/>
                <a:uLnTx/>
                <a:uFillTx/>
                <a:latin typeface="Arial"/>
                <a:ea typeface="+mn-ea"/>
                <a:cs typeface="Noto Sans"/>
              </a:rPr>
              <a:t> </a:t>
            </a:r>
          </a:p>
        </p:txBody>
      </p:sp>
    </p:spTree>
    <p:extLst>
      <p:ext uri="{BB962C8B-B14F-4D97-AF65-F5344CB8AC3E}">
        <p14:creationId xmlns:p14="http://schemas.microsoft.com/office/powerpoint/2010/main" val="2548309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7296E-2E8A-FB7E-0B0A-C553785A4677}"/>
            </a:ext>
          </a:extLst>
        </p:cNvPr>
        <p:cNvGrpSpPr/>
        <p:nvPr/>
      </p:nvGrpSpPr>
      <p:grpSpPr>
        <a:xfrm>
          <a:off x="0" y="0"/>
          <a:ext cx="0" cy="0"/>
          <a:chOff x="0" y="0"/>
          <a:chExt cx="0" cy="0"/>
        </a:xfrm>
      </p:grpSpPr>
      <p:sp>
        <p:nvSpPr>
          <p:cNvPr id="1080" name="Rounded Rectangle">
            <a:extLst>
              <a:ext uri="{FF2B5EF4-FFF2-40B4-BE49-F238E27FC236}">
                <a16:creationId xmlns:a16="http://schemas.microsoft.com/office/drawing/2014/main" id="{7D001935-9E12-E08C-F2B9-83D448C87B25}"/>
              </a:ext>
            </a:extLst>
          </p:cNvPr>
          <p:cNvSpPr/>
          <p:nvPr/>
        </p:nvSpPr>
        <p:spPr>
          <a:xfrm>
            <a:off x="10515692" y="2569338"/>
            <a:ext cx="1512000" cy="2304000"/>
          </a:xfrm>
          <a:prstGeom prst="roundRect">
            <a:avLst>
              <a:gd name="adj" fmla="val 5897"/>
            </a:avLst>
          </a:prstGeom>
          <a:solidFill>
            <a:srgbClr val="FFFFFF"/>
          </a:solidFill>
          <a:ln w="12700" cap="flat">
            <a:noFill/>
            <a:miter lim="400000"/>
          </a:ln>
          <a:effectLst>
            <a:outerShdw blurRad="444500" dir="5400000" rotWithShape="0">
              <a:srgbClr val="44546A">
                <a:lumMod val="60000"/>
                <a:lumOff val="40000"/>
                <a:alpha val="30000"/>
              </a:srgbClr>
            </a:outerShdw>
          </a:effectLst>
        </p:spPr>
        <p:txBody>
          <a:bodyPr wrap="square" lIns="91440" tIns="36000" rIns="91440" bIns="36000" numCol="1" anchor="t" anchorCtr="0">
            <a:noAutofit/>
          </a:bodyPr>
          <a:lstStyle/>
          <a:p>
            <a:pPr defTabSz="914400">
              <a:spcBef>
                <a:spcPts val="30"/>
              </a:spcBef>
              <a:spcAft>
                <a:spcPts val="30"/>
              </a:spcAft>
            </a:pPr>
            <a:r>
              <a:rPr lang="en-GB" sz="1100" b="1" kern="0">
                <a:solidFill>
                  <a:schemeClr val="tx2"/>
                </a:solidFill>
                <a:latin typeface="+mj-lt"/>
              </a:rPr>
              <a:t>Management</a:t>
            </a:r>
          </a:p>
        </p:txBody>
      </p:sp>
      <p:sp>
        <p:nvSpPr>
          <p:cNvPr id="3" name="Rounded Rectangle">
            <a:extLst>
              <a:ext uri="{FF2B5EF4-FFF2-40B4-BE49-F238E27FC236}">
                <a16:creationId xmlns:a16="http://schemas.microsoft.com/office/drawing/2014/main" id="{5F58DB11-02F3-C04C-D77C-C5ED6DFD6D5A}"/>
              </a:ext>
            </a:extLst>
          </p:cNvPr>
          <p:cNvSpPr/>
          <p:nvPr/>
        </p:nvSpPr>
        <p:spPr>
          <a:xfrm>
            <a:off x="4267996" y="939045"/>
            <a:ext cx="1548000" cy="4420730"/>
          </a:xfrm>
          <a:prstGeom prst="roundRect">
            <a:avLst>
              <a:gd name="adj" fmla="val 4820"/>
            </a:avLst>
          </a:prstGeom>
          <a:solidFill>
            <a:srgbClr val="FFFFFF"/>
          </a:solidFill>
          <a:ln w="12700" cap="flat">
            <a:noFill/>
            <a:miter lim="400000"/>
          </a:ln>
          <a:effectLst>
            <a:outerShdw blurRad="444500" dir="5400000" rotWithShape="0">
              <a:srgbClr val="44546A">
                <a:lumMod val="60000"/>
                <a:lumOff val="40000"/>
                <a:alpha val="30000"/>
              </a:srgbClr>
            </a:outerShdw>
          </a:effectLst>
        </p:spPr>
        <p:txBody>
          <a:bodyPr wrap="square" lIns="91440" tIns="36000" rIns="91440" bIns="36000" numCol="1" anchor="t" anchorCtr="0">
            <a:noAutofit/>
          </a:bodyPr>
          <a:lstStyle/>
          <a:p>
            <a:pPr marL="0" marR="0" lvl="0" indent="0" defTabSz="914400" eaLnBrk="1" fontAlgn="auto" latinLnBrk="0" hangingPunct="1">
              <a:lnSpc>
                <a:spcPct val="100000"/>
              </a:lnSpc>
              <a:spcBef>
                <a:spcPts val="30"/>
              </a:spcBef>
              <a:spcAft>
                <a:spcPts val="30"/>
              </a:spcAft>
              <a:buClrTx/>
              <a:buSzTx/>
              <a:buFontTx/>
              <a:buNone/>
              <a:tabLst/>
              <a:defRPr/>
            </a:pPr>
            <a:r>
              <a:rPr kumimoji="0" lang="en-GB" sz="1100" b="1" i="0" u="none" strike="noStrike" kern="0" cap="none" spc="0" normalizeH="0" baseline="0" noProof="0">
                <a:ln>
                  <a:noFill/>
                </a:ln>
                <a:solidFill>
                  <a:schemeClr val="tx2"/>
                </a:solidFill>
                <a:effectLst/>
                <a:uLnTx/>
                <a:uFillTx/>
                <a:latin typeface="+mj-lt"/>
              </a:rPr>
              <a:t>Management (MS)</a:t>
            </a:r>
          </a:p>
        </p:txBody>
      </p:sp>
      <p:cxnSp>
        <p:nvCxnSpPr>
          <p:cNvPr id="1473" name="Connector: Elbow 1472">
            <a:extLst>
              <a:ext uri="{FF2B5EF4-FFF2-40B4-BE49-F238E27FC236}">
                <a16:creationId xmlns:a16="http://schemas.microsoft.com/office/drawing/2014/main" id="{5F7D03D1-F242-AABC-DD2B-5B1E0795BCF3}"/>
              </a:ext>
            </a:extLst>
          </p:cNvPr>
          <p:cNvCxnSpPr>
            <a:cxnSpLocks/>
            <a:stCxn id="1416" idx="3"/>
            <a:endCxn id="1472" idx="0"/>
          </p:cNvCxnSpPr>
          <p:nvPr/>
        </p:nvCxnSpPr>
        <p:spPr>
          <a:xfrm>
            <a:off x="5580203" y="1511453"/>
            <a:ext cx="1362367" cy="1835291"/>
          </a:xfrm>
          <a:prstGeom prst="bentConnector2">
            <a:avLst/>
          </a:prstGeom>
          <a:ln w="19050" cap="rnd">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nvGrpSpPr>
          <p:cNvPr id="1548" name="Group 1547">
            <a:extLst>
              <a:ext uri="{FF2B5EF4-FFF2-40B4-BE49-F238E27FC236}">
                <a16:creationId xmlns:a16="http://schemas.microsoft.com/office/drawing/2014/main" id="{AA4578EF-BE92-CAC0-D6DC-A3BED9D7180E}"/>
              </a:ext>
            </a:extLst>
          </p:cNvPr>
          <p:cNvGrpSpPr/>
          <p:nvPr/>
        </p:nvGrpSpPr>
        <p:grpSpPr>
          <a:xfrm>
            <a:off x="6855009" y="2947695"/>
            <a:ext cx="180000" cy="180000"/>
            <a:chOff x="11825288" y="1426980"/>
            <a:chExt cx="180000" cy="180000"/>
          </a:xfrm>
        </p:grpSpPr>
        <p:sp>
          <p:nvSpPr>
            <p:cNvPr id="1549" name="Rectangle 1548">
              <a:extLst>
                <a:ext uri="{FF2B5EF4-FFF2-40B4-BE49-F238E27FC236}">
                  <a16:creationId xmlns:a16="http://schemas.microsoft.com/office/drawing/2014/main" id="{067CC2D8-33EE-7A18-719A-856660F67A25}"/>
                </a:ext>
              </a:extLst>
            </p:cNvPr>
            <p:cNvSpPr/>
            <p:nvPr/>
          </p:nvSpPr>
          <p:spPr bwMode="auto">
            <a:xfrm>
              <a:off x="11825288" y="1426980"/>
              <a:ext cx="180000" cy="180000"/>
            </a:xfrm>
            <a:prstGeom prst="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1550" name="Graphic 1549" descr="Adhesive Bandage with solid fill">
              <a:extLst>
                <a:ext uri="{FF2B5EF4-FFF2-40B4-BE49-F238E27FC236}">
                  <a16:creationId xmlns:a16="http://schemas.microsoft.com/office/drawing/2014/main" id="{BE586980-6C79-5384-236C-9FBCA06FB7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843288" y="1447998"/>
              <a:ext cx="144000" cy="144000"/>
            </a:xfrm>
            <a:prstGeom prst="rect">
              <a:avLst/>
            </a:prstGeom>
          </p:spPr>
        </p:pic>
      </p:grpSp>
      <p:sp>
        <p:nvSpPr>
          <p:cNvPr id="1446" name="Rounded Rectangle">
            <a:extLst>
              <a:ext uri="{FF2B5EF4-FFF2-40B4-BE49-F238E27FC236}">
                <a16:creationId xmlns:a16="http://schemas.microsoft.com/office/drawing/2014/main" id="{F8AD4D36-4D7C-1267-80CC-1D78007F2D5B}"/>
              </a:ext>
            </a:extLst>
          </p:cNvPr>
          <p:cNvSpPr/>
          <p:nvPr/>
        </p:nvSpPr>
        <p:spPr>
          <a:xfrm>
            <a:off x="4268421" y="5529768"/>
            <a:ext cx="1548000" cy="1012924"/>
          </a:xfrm>
          <a:prstGeom prst="roundRect">
            <a:avLst>
              <a:gd name="adj" fmla="val 11174"/>
            </a:avLst>
          </a:prstGeom>
          <a:solidFill>
            <a:srgbClr val="FFFFFF"/>
          </a:solidFill>
          <a:ln w="12700" cap="flat">
            <a:noFill/>
            <a:miter lim="400000"/>
          </a:ln>
          <a:effectLst>
            <a:outerShdw blurRad="444500" dir="5400000" rotWithShape="0">
              <a:srgbClr val="44546A">
                <a:lumMod val="60000"/>
                <a:lumOff val="40000"/>
                <a:alpha val="30000"/>
              </a:srgbClr>
            </a:outerShdw>
          </a:effectLst>
        </p:spPr>
        <p:txBody>
          <a:bodyPr wrap="square" lIns="91440" tIns="36000" rIns="91440" bIns="36000" numCol="1" anchor="b" anchorCtr="0">
            <a:noAutofit/>
          </a:bodyPr>
          <a:lstStyle/>
          <a:p>
            <a:pPr defTabSz="914400">
              <a:spcBef>
                <a:spcPts val="30"/>
              </a:spcBef>
              <a:spcAft>
                <a:spcPts val="30"/>
              </a:spcAft>
            </a:pPr>
            <a:r>
              <a:rPr lang="en-GB" sz="1100" b="1" kern="0">
                <a:solidFill>
                  <a:schemeClr val="tx2"/>
                </a:solidFill>
                <a:latin typeface="+mj-lt"/>
              </a:rPr>
              <a:t>Security</a:t>
            </a:r>
          </a:p>
        </p:txBody>
      </p:sp>
      <p:sp>
        <p:nvSpPr>
          <p:cNvPr id="1081" name="Rounded Rectangle">
            <a:extLst>
              <a:ext uri="{FF2B5EF4-FFF2-40B4-BE49-F238E27FC236}">
                <a16:creationId xmlns:a16="http://schemas.microsoft.com/office/drawing/2014/main" id="{20AEB0B0-983F-FA92-0E67-C6B4AE6E15AE}"/>
              </a:ext>
            </a:extLst>
          </p:cNvPr>
          <p:cNvSpPr/>
          <p:nvPr/>
        </p:nvSpPr>
        <p:spPr>
          <a:xfrm>
            <a:off x="7702353" y="4986734"/>
            <a:ext cx="3528000" cy="1731600"/>
          </a:xfrm>
          <a:prstGeom prst="roundRect">
            <a:avLst>
              <a:gd name="adj" fmla="val 6202"/>
            </a:avLst>
          </a:prstGeom>
          <a:solidFill>
            <a:srgbClr val="FFFFFF"/>
          </a:solidFill>
          <a:ln w="12700" cap="flat">
            <a:noFill/>
            <a:miter lim="400000"/>
          </a:ln>
          <a:effectLst>
            <a:outerShdw blurRad="444500" dir="5400000" rotWithShape="0">
              <a:srgbClr val="44546A">
                <a:lumMod val="60000"/>
                <a:lumOff val="40000"/>
                <a:alpha val="30000"/>
              </a:srgbClr>
            </a:outerShdw>
          </a:effectLst>
        </p:spPr>
        <p:txBody>
          <a:bodyPr wrap="square" lIns="91440" tIns="36000" rIns="91440" bIns="36000" numCol="1" anchor="b" anchorCtr="0">
            <a:noAutofit/>
          </a:bodyPr>
          <a:lstStyle/>
          <a:p>
            <a:pPr defTabSz="914400">
              <a:spcBef>
                <a:spcPts val="30"/>
              </a:spcBef>
              <a:spcAft>
                <a:spcPts val="30"/>
              </a:spcAft>
            </a:pPr>
            <a:r>
              <a:rPr lang="en-GB" sz="1100" b="1" kern="0">
                <a:solidFill>
                  <a:schemeClr val="tx2"/>
                </a:solidFill>
                <a:latin typeface="+mj-lt"/>
              </a:rPr>
              <a:t>Security</a:t>
            </a:r>
          </a:p>
        </p:txBody>
      </p:sp>
      <p:sp>
        <p:nvSpPr>
          <p:cNvPr id="1079" name="Rounded Rectangle">
            <a:extLst>
              <a:ext uri="{FF2B5EF4-FFF2-40B4-BE49-F238E27FC236}">
                <a16:creationId xmlns:a16="http://schemas.microsoft.com/office/drawing/2014/main" id="{B4E5038C-634D-67C4-9413-629E44B522D9}"/>
              </a:ext>
            </a:extLst>
          </p:cNvPr>
          <p:cNvSpPr/>
          <p:nvPr/>
        </p:nvSpPr>
        <p:spPr>
          <a:xfrm>
            <a:off x="7703235" y="732257"/>
            <a:ext cx="3528000" cy="1731357"/>
          </a:xfrm>
          <a:prstGeom prst="roundRect">
            <a:avLst>
              <a:gd name="adj" fmla="val 7505"/>
            </a:avLst>
          </a:prstGeom>
          <a:solidFill>
            <a:srgbClr val="FFFFFF"/>
          </a:solidFill>
          <a:ln w="12700" cap="flat">
            <a:noFill/>
            <a:miter lim="400000"/>
          </a:ln>
          <a:effectLst>
            <a:outerShdw blurRad="444500" dir="5400000" rotWithShape="0">
              <a:srgbClr val="44546A">
                <a:lumMod val="60000"/>
                <a:lumOff val="40000"/>
                <a:alpha val="30000"/>
              </a:srgbClr>
            </a:outerShdw>
          </a:effectLst>
        </p:spPr>
        <p:txBody>
          <a:bodyPr wrap="square" lIns="91440" tIns="36000" rIns="91440" bIns="36000" numCol="1" anchor="t" anchorCtr="0">
            <a:noAutofit/>
          </a:bodyPr>
          <a:lstStyle/>
          <a:p>
            <a:pPr defTabSz="914400">
              <a:spcBef>
                <a:spcPts val="30"/>
              </a:spcBef>
              <a:spcAft>
                <a:spcPts val="30"/>
              </a:spcAft>
            </a:pPr>
            <a:r>
              <a:rPr lang="en-GB" sz="1100" b="1" kern="0">
                <a:solidFill>
                  <a:schemeClr val="tx2"/>
                </a:solidFill>
                <a:latin typeface="+mj-lt"/>
              </a:rPr>
              <a:t>Management (MS)</a:t>
            </a:r>
          </a:p>
        </p:txBody>
      </p:sp>
      <p:sp>
        <p:nvSpPr>
          <p:cNvPr id="6" name="Title 5">
            <a:extLst>
              <a:ext uri="{FF2B5EF4-FFF2-40B4-BE49-F238E27FC236}">
                <a16:creationId xmlns:a16="http://schemas.microsoft.com/office/drawing/2014/main" id="{D670227F-1916-A718-0761-DA4ACCCDA3FF}"/>
              </a:ext>
            </a:extLst>
          </p:cNvPr>
          <p:cNvSpPr>
            <a:spLocks noGrp="1"/>
          </p:cNvSpPr>
          <p:nvPr>
            <p:ph type="title"/>
          </p:nvPr>
        </p:nvSpPr>
        <p:spPr>
          <a:xfrm>
            <a:off x="365128" y="43063"/>
            <a:ext cx="10865225" cy="430887"/>
          </a:xfrm>
        </p:spPr>
        <p:txBody>
          <a:bodyPr vert="horz" lIns="0" tIns="0" rIns="0" bIns="0" rtlCol="0" anchor="b" anchorCtr="0">
            <a:normAutofit fontScale="90000"/>
          </a:bodyPr>
          <a:lstStyle/>
          <a:p>
            <a:r>
              <a:rPr lang="en-US">
                <a:solidFill>
                  <a:schemeClr val="tx2"/>
                </a:solidFill>
              </a:rPr>
              <a:t>Tech Stack &amp; Architecture Diagram - EAS: Virtual Apps &amp; Desktops – </a:t>
            </a:r>
          </a:p>
        </p:txBody>
      </p:sp>
      <p:sp>
        <p:nvSpPr>
          <p:cNvPr id="53" name="Freeform: Shape 52">
            <a:extLst>
              <a:ext uri="{FF2B5EF4-FFF2-40B4-BE49-F238E27FC236}">
                <a16:creationId xmlns:a16="http://schemas.microsoft.com/office/drawing/2014/main" id="{DE1D9AE3-EA3F-62A1-A32B-857525E6E5B9}"/>
              </a:ext>
            </a:extLst>
          </p:cNvPr>
          <p:cNvSpPr>
            <a:spLocks noChangeAspect="1"/>
          </p:cNvSpPr>
          <p:nvPr/>
        </p:nvSpPr>
        <p:spPr>
          <a:xfrm>
            <a:off x="9106074" y="3406681"/>
            <a:ext cx="768919" cy="468000"/>
          </a:xfrm>
          <a:custGeom>
            <a:avLst/>
            <a:gdLst>
              <a:gd name="connsiteX0" fmla="*/ 3170534 w 3801622"/>
              <a:gd name="connsiteY0" fmla="*/ 2313835 h 2313835"/>
              <a:gd name="connsiteX1" fmla="*/ 3801438 w 3801622"/>
              <a:gd name="connsiteY1" fmla="*/ 1652343 h 2313835"/>
              <a:gd name="connsiteX2" fmla="*/ 3249057 w 3801622"/>
              <a:gd name="connsiteY2" fmla="*/ 1028105 h 2313835"/>
              <a:gd name="connsiteX3" fmla="*/ 2939920 w 3801622"/>
              <a:gd name="connsiteY3" fmla="*/ 523897 h 2313835"/>
              <a:gd name="connsiteX4" fmla="*/ 2350163 w 3801622"/>
              <a:gd name="connsiteY4" fmla="*/ 399912 h 2313835"/>
              <a:gd name="connsiteX5" fmla="*/ 1410352 w 3801622"/>
              <a:gd name="connsiteY5" fmla="*/ 24236 h 2313835"/>
              <a:gd name="connsiteX6" fmla="*/ 743310 w 3801622"/>
              <a:gd name="connsiteY6" fmla="*/ 768149 h 2313835"/>
              <a:gd name="connsiteX7" fmla="*/ 149832 w 3801622"/>
              <a:gd name="connsiteY7" fmla="*/ 1076046 h 2313835"/>
              <a:gd name="connsiteX8" fmla="*/ 70482 w 3801622"/>
              <a:gd name="connsiteY8" fmla="*/ 1867901 h 2313835"/>
              <a:gd name="connsiteX9" fmla="*/ 720992 w 3801622"/>
              <a:gd name="connsiteY9" fmla="*/ 2309289 h 2313835"/>
              <a:gd name="connsiteX10" fmla="*/ 732151 w 3801622"/>
              <a:gd name="connsiteY10" fmla="*/ 2052639 h 2313835"/>
              <a:gd name="connsiteX11" fmla="*/ 299442 w 3801622"/>
              <a:gd name="connsiteY11" fmla="*/ 1758793 h 2313835"/>
              <a:gd name="connsiteX12" fmla="*/ 351929 w 3801622"/>
              <a:gd name="connsiteY12" fmla="*/ 1231028 h 2313835"/>
              <a:gd name="connsiteX13" fmla="*/ 837952 w 3801622"/>
              <a:gd name="connsiteY13" fmla="*/ 1032651 h 2313835"/>
              <a:gd name="connsiteX14" fmla="*/ 984668 w 3801622"/>
              <a:gd name="connsiteY14" fmla="*/ 1057035 h 2313835"/>
              <a:gd name="connsiteX15" fmla="*/ 984668 w 3801622"/>
              <a:gd name="connsiteY15" fmla="*/ 895027 h 2313835"/>
              <a:gd name="connsiteX16" fmla="*/ 1468625 w 3801622"/>
              <a:gd name="connsiteY16" fmla="*/ 275100 h 2313835"/>
              <a:gd name="connsiteX17" fmla="*/ 2177823 w 3801622"/>
              <a:gd name="connsiteY17" fmla="*/ 605728 h 2313835"/>
              <a:gd name="connsiteX18" fmla="*/ 2227830 w 3801622"/>
              <a:gd name="connsiteY18" fmla="*/ 705330 h 2313835"/>
              <a:gd name="connsiteX19" fmla="*/ 2331565 w 3801622"/>
              <a:gd name="connsiteY19" fmla="*/ 668547 h 2313835"/>
              <a:gd name="connsiteX20" fmla="*/ 2793204 w 3801622"/>
              <a:gd name="connsiteY20" fmla="*/ 733020 h 2313835"/>
              <a:gd name="connsiteX21" fmla="*/ 3006046 w 3801622"/>
              <a:gd name="connsiteY21" fmla="*/ 1151678 h 2313835"/>
              <a:gd name="connsiteX22" fmla="*/ 3006046 w 3801622"/>
              <a:gd name="connsiteY22" fmla="*/ 1280622 h 2313835"/>
              <a:gd name="connsiteX23" fmla="*/ 3174666 w 3801622"/>
              <a:gd name="connsiteY23" fmla="*/ 1280622 h 2313835"/>
              <a:gd name="connsiteX24" fmla="*/ 3547908 w 3801622"/>
              <a:gd name="connsiteY24" fmla="*/ 1682984 h 2313835"/>
              <a:gd name="connsiteX25" fmla="*/ 3170534 w 3801622"/>
              <a:gd name="connsiteY25" fmla="*/ 2056358 h 2313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801622" h="2313835">
                <a:moveTo>
                  <a:pt x="3170534" y="2313835"/>
                </a:moveTo>
                <a:cubicBezTo>
                  <a:pt x="3527418" y="2305388"/>
                  <a:pt x="3809881" y="2009228"/>
                  <a:pt x="3801438" y="1652343"/>
                </a:cubicBezTo>
                <a:cubicBezTo>
                  <a:pt x="3793982" y="1337478"/>
                  <a:pt x="3560679" y="1073819"/>
                  <a:pt x="3249057" y="1028105"/>
                </a:cubicBezTo>
                <a:cubicBezTo>
                  <a:pt x="3216127" y="825996"/>
                  <a:pt x="3105106" y="644920"/>
                  <a:pt x="2939920" y="523897"/>
                </a:cubicBezTo>
                <a:cubicBezTo>
                  <a:pt x="2768961" y="402743"/>
                  <a:pt x="2555437" y="357852"/>
                  <a:pt x="2350163" y="399912"/>
                </a:cubicBezTo>
                <a:cubicBezTo>
                  <a:pt x="2148211" y="88113"/>
                  <a:pt x="1771588" y="-62439"/>
                  <a:pt x="1410352" y="24236"/>
                </a:cubicBezTo>
                <a:cubicBezTo>
                  <a:pt x="1058275" y="114906"/>
                  <a:pt x="795194" y="408306"/>
                  <a:pt x="743310" y="768149"/>
                </a:cubicBezTo>
                <a:cubicBezTo>
                  <a:pt x="508762" y="774447"/>
                  <a:pt x="290046" y="887919"/>
                  <a:pt x="149832" y="1076046"/>
                </a:cubicBezTo>
                <a:cubicBezTo>
                  <a:pt x="-16302" y="1306821"/>
                  <a:pt x="-46557" y="1608746"/>
                  <a:pt x="70482" y="1867901"/>
                </a:cubicBezTo>
                <a:cubicBezTo>
                  <a:pt x="189786" y="2123344"/>
                  <a:pt x="439541" y="2292812"/>
                  <a:pt x="720992" y="2309289"/>
                </a:cubicBezTo>
                <a:close/>
                <a:moveTo>
                  <a:pt x="732151" y="2052639"/>
                </a:moveTo>
                <a:cubicBezTo>
                  <a:pt x="545144" y="2040860"/>
                  <a:pt x="379354" y="1928277"/>
                  <a:pt x="299442" y="1758793"/>
                </a:cubicBezTo>
                <a:cubicBezTo>
                  <a:pt x="221899" y="1586044"/>
                  <a:pt x="241881" y="1385122"/>
                  <a:pt x="351929" y="1231028"/>
                </a:cubicBezTo>
                <a:cubicBezTo>
                  <a:pt x="464442" y="1079667"/>
                  <a:pt x="651660" y="1003254"/>
                  <a:pt x="837952" y="1032651"/>
                </a:cubicBezTo>
                <a:lnTo>
                  <a:pt x="984668" y="1057035"/>
                </a:lnTo>
                <a:lnTo>
                  <a:pt x="984668" y="895027"/>
                </a:lnTo>
                <a:cubicBezTo>
                  <a:pt x="986103" y="602326"/>
                  <a:pt x="1185021" y="347520"/>
                  <a:pt x="1468625" y="275100"/>
                </a:cubicBezTo>
                <a:cubicBezTo>
                  <a:pt x="1753197" y="206486"/>
                  <a:pt x="2047419" y="343651"/>
                  <a:pt x="2177823" y="605728"/>
                </a:cubicBezTo>
                <a:lnTo>
                  <a:pt x="2227830" y="705330"/>
                </a:lnTo>
                <a:lnTo>
                  <a:pt x="2331565" y="668547"/>
                </a:lnTo>
                <a:cubicBezTo>
                  <a:pt x="2486774" y="613708"/>
                  <a:pt x="2658957" y="637757"/>
                  <a:pt x="2793204" y="733020"/>
                </a:cubicBezTo>
                <a:cubicBezTo>
                  <a:pt x="2926679" y="830795"/>
                  <a:pt x="3005699" y="986223"/>
                  <a:pt x="3006046" y="1151678"/>
                </a:cubicBezTo>
                <a:lnTo>
                  <a:pt x="3006046" y="1280622"/>
                </a:lnTo>
                <a:lnTo>
                  <a:pt x="3174666" y="1280622"/>
                </a:lnTo>
                <a:cubicBezTo>
                  <a:pt x="3388843" y="1288665"/>
                  <a:pt x="3555951" y="1468808"/>
                  <a:pt x="3547908" y="1682984"/>
                </a:cubicBezTo>
                <a:cubicBezTo>
                  <a:pt x="3540233" y="1887470"/>
                  <a:pt x="3375093" y="2050862"/>
                  <a:pt x="3170534" y="2056358"/>
                </a:cubicBezTo>
                <a:close/>
              </a:path>
            </a:pathLst>
          </a:custGeom>
          <a:solidFill>
            <a:schemeClr val="tx2"/>
          </a:solidFill>
          <a:ln w="41275" cap="flat">
            <a:noFill/>
            <a:prstDash val="solid"/>
            <a:miter/>
          </a:ln>
        </p:spPr>
        <p:txBody>
          <a:bodyPr rtlCol="0" anchor="ctr"/>
          <a:lstStyle/>
          <a:p>
            <a:pPr>
              <a:spcBef>
                <a:spcPts val="30"/>
              </a:spcBef>
              <a:spcAft>
                <a:spcPts val="30"/>
              </a:spcAft>
            </a:pPr>
            <a:endParaRPr lang="en-GB"/>
          </a:p>
        </p:txBody>
      </p:sp>
      <p:sp>
        <p:nvSpPr>
          <p:cNvPr id="1360" name="Rectangle: Rounded Corners 1359">
            <a:extLst>
              <a:ext uri="{FF2B5EF4-FFF2-40B4-BE49-F238E27FC236}">
                <a16:creationId xmlns:a16="http://schemas.microsoft.com/office/drawing/2014/main" id="{A24AE4DD-1E6A-F631-1507-E9E4F42E650D}"/>
              </a:ext>
            </a:extLst>
          </p:cNvPr>
          <p:cNvSpPr/>
          <p:nvPr/>
        </p:nvSpPr>
        <p:spPr bwMode="auto">
          <a:xfrm>
            <a:off x="7937945" y="5170962"/>
            <a:ext cx="1080000" cy="537312"/>
          </a:xfrm>
          <a:prstGeom prst="roundRect">
            <a:avLst>
              <a:gd name="adj" fmla="val 7101"/>
            </a:avLst>
          </a:prstGeom>
          <a:noFill/>
          <a:ln w="12700">
            <a:solidFill>
              <a:schemeClr val="tx2"/>
            </a:solidFill>
            <a:prstDash val="dash"/>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t" anchorCtr="0" forceAA="0" compatLnSpc="1">
            <a:prstTxWarp prst="textNoShape">
              <a:avLst/>
            </a:prstTxWarp>
            <a:noAutofit/>
          </a:bodyPr>
          <a:lstStyle/>
          <a:p>
            <a:pPr>
              <a:spcBef>
                <a:spcPts val="30"/>
              </a:spcBef>
              <a:spcAft>
                <a:spcPts val="30"/>
              </a:spcAft>
            </a:pPr>
            <a:r>
              <a:rPr lang="en-GB" sz="1000" b="1">
                <a:solidFill>
                  <a:schemeClr val="tx2"/>
                </a:solidFill>
              </a:rPr>
              <a:t>CrowdStrike</a:t>
            </a:r>
            <a:endParaRPr lang="en-GB" sz="1000" b="1" noProof="0">
              <a:solidFill>
                <a:schemeClr val="tx2"/>
              </a:solidFill>
            </a:endParaRPr>
          </a:p>
          <a:p>
            <a:pPr marL="92075" indent="-92075">
              <a:spcBef>
                <a:spcPts val="30"/>
              </a:spcBef>
              <a:spcAft>
                <a:spcPts val="30"/>
              </a:spcAft>
              <a:buClr>
                <a:schemeClr val="tx2"/>
              </a:buClr>
              <a:buFont typeface="Arial" panose="020B0604020202020204" pitchFamily="34" charset="0"/>
              <a:buChar char="•"/>
            </a:pPr>
            <a:r>
              <a:rPr lang="en-GB" sz="850">
                <a:solidFill>
                  <a:schemeClr val="bg2">
                    <a:lumMod val="50000"/>
                  </a:schemeClr>
                </a:solidFill>
              </a:rPr>
              <a:t>Anti-Malware</a:t>
            </a:r>
          </a:p>
          <a:p>
            <a:pPr marL="92075" indent="-92075">
              <a:spcBef>
                <a:spcPts val="30"/>
              </a:spcBef>
              <a:spcAft>
                <a:spcPts val="30"/>
              </a:spcAft>
              <a:buClr>
                <a:schemeClr val="tx2"/>
              </a:buClr>
              <a:buFont typeface="Arial" panose="020B0604020202020204" pitchFamily="34" charset="0"/>
              <a:buChar char="•"/>
            </a:pPr>
            <a:r>
              <a:rPr lang="en-GB" sz="850">
                <a:solidFill>
                  <a:schemeClr val="bg2">
                    <a:lumMod val="50000"/>
                  </a:schemeClr>
                </a:solidFill>
              </a:rPr>
              <a:t>Threat Response</a:t>
            </a:r>
          </a:p>
          <a:p>
            <a:pPr>
              <a:spcBef>
                <a:spcPts val="30"/>
              </a:spcBef>
              <a:spcAft>
                <a:spcPts val="30"/>
              </a:spcAft>
            </a:pPr>
            <a:endParaRPr lang="en-GB" sz="1100" noProof="0">
              <a:solidFill>
                <a:schemeClr val="bg2">
                  <a:lumMod val="50000"/>
                </a:schemeClr>
              </a:solidFill>
            </a:endParaRPr>
          </a:p>
        </p:txBody>
      </p:sp>
      <p:sp>
        <p:nvSpPr>
          <p:cNvPr id="1362" name="Rectangle 1361">
            <a:extLst>
              <a:ext uri="{FF2B5EF4-FFF2-40B4-BE49-F238E27FC236}">
                <a16:creationId xmlns:a16="http://schemas.microsoft.com/office/drawing/2014/main" id="{C8E75D6E-ED5D-DA34-8CDA-55E6D82DF13A}"/>
              </a:ext>
            </a:extLst>
          </p:cNvPr>
          <p:cNvSpPr/>
          <p:nvPr/>
        </p:nvSpPr>
        <p:spPr bwMode="auto">
          <a:xfrm>
            <a:off x="7925534" y="5361085"/>
            <a:ext cx="180000" cy="180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grpSp>
        <p:nvGrpSpPr>
          <p:cNvPr id="1363" name="Group 1362">
            <a:extLst>
              <a:ext uri="{FF2B5EF4-FFF2-40B4-BE49-F238E27FC236}">
                <a16:creationId xmlns:a16="http://schemas.microsoft.com/office/drawing/2014/main" id="{BB114207-450B-B55D-F2C4-679F7FE03F45}"/>
              </a:ext>
            </a:extLst>
          </p:cNvPr>
          <p:cNvGrpSpPr>
            <a:grpSpLocks noChangeAspect="1"/>
          </p:cNvGrpSpPr>
          <p:nvPr/>
        </p:nvGrpSpPr>
        <p:grpSpPr>
          <a:xfrm>
            <a:off x="8237698" y="5648202"/>
            <a:ext cx="709421" cy="164827"/>
            <a:chOff x="2867487" y="4079030"/>
            <a:chExt cx="1035729" cy="240642"/>
          </a:xfrm>
        </p:grpSpPr>
        <p:sp>
          <p:nvSpPr>
            <p:cNvPr id="1364" name="Rectangle: Rounded Corners 1363">
              <a:extLst>
                <a:ext uri="{FF2B5EF4-FFF2-40B4-BE49-F238E27FC236}">
                  <a16:creationId xmlns:a16="http://schemas.microsoft.com/office/drawing/2014/main" id="{0A0B69AA-3B41-FD9F-D453-B261D8EDD82C}"/>
                </a:ext>
              </a:extLst>
            </p:cNvPr>
            <p:cNvSpPr/>
            <p:nvPr/>
          </p:nvSpPr>
          <p:spPr bwMode="auto">
            <a:xfrm>
              <a:off x="2867487" y="4079030"/>
              <a:ext cx="1035729" cy="240642"/>
            </a:xfrm>
            <a:prstGeom prst="round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1365" name="Picture 6">
              <a:extLst>
                <a:ext uri="{FF2B5EF4-FFF2-40B4-BE49-F238E27FC236}">
                  <a16:creationId xmlns:a16="http://schemas.microsoft.com/office/drawing/2014/main" id="{67B68E81-7971-0CA7-D435-878F8096596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96981" y="4118312"/>
              <a:ext cx="972151" cy="180000"/>
            </a:xfrm>
            <a:prstGeom prst="rect">
              <a:avLst/>
            </a:prstGeom>
            <a:noFill/>
            <a:extLst>
              <a:ext uri="{909E8E84-426E-40DD-AFC4-6F175D3DCCD1}">
                <a14:hiddenFill xmlns:a14="http://schemas.microsoft.com/office/drawing/2010/main">
                  <a:solidFill>
                    <a:srgbClr val="FFFFFF"/>
                  </a:solidFill>
                </a14:hiddenFill>
              </a:ext>
            </a:extLst>
          </p:spPr>
        </p:pic>
      </p:grpSp>
      <p:sp>
        <p:nvSpPr>
          <p:cNvPr id="1367" name="Rectangle: Rounded Corners 1366">
            <a:extLst>
              <a:ext uri="{FF2B5EF4-FFF2-40B4-BE49-F238E27FC236}">
                <a16:creationId xmlns:a16="http://schemas.microsoft.com/office/drawing/2014/main" id="{D46EFF60-6D92-3F7D-4D00-FF82AEEA253E}"/>
              </a:ext>
            </a:extLst>
          </p:cNvPr>
          <p:cNvSpPr/>
          <p:nvPr/>
        </p:nvSpPr>
        <p:spPr bwMode="auto">
          <a:xfrm>
            <a:off x="7938970" y="5854324"/>
            <a:ext cx="1080000" cy="537312"/>
          </a:xfrm>
          <a:prstGeom prst="roundRect">
            <a:avLst>
              <a:gd name="adj" fmla="val 7101"/>
            </a:avLst>
          </a:prstGeom>
          <a:noFill/>
          <a:ln w="12700">
            <a:solidFill>
              <a:schemeClr val="tx2"/>
            </a:solidFill>
            <a:prstDash val="dash"/>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t" anchorCtr="0" forceAA="0" compatLnSpc="1">
            <a:prstTxWarp prst="textNoShape">
              <a:avLst/>
            </a:prstTxWarp>
            <a:noAutofit/>
          </a:bodyPr>
          <a:lstStyle/>
          <a:p>
            <a:pPr>
              <a:spcBef>
                <a:spcPts val="30"/>
              </a:spcBef>
              <a:spcAft>
                <a:spcPts val="30"/>
              </a:spcAft>
            </a:pPr>
            <a:r>
              <a:rPr lang="en-GB" sz="1000" b="1">
                <a:solidFill>
                  <a:schemeClr val="tx2"/>
                </a:solidFill>
              </a:rPr>
              <a:t>Tenable</a:t>
            </a:r>
            <a:endParaRPr lang="en-GB" sz="1000" b="1" noProof="0">
              <a:solidFill>
                <a:schemeClr val="tx2"/>
              </a:solidFill>
            </a:endParaRPr>
          </a:p>
          <a:p>
            <a:pPr marL="92075" indent="-92075">
              <a:spcBef>
                <a:spcPts val="30"/>
              </a:spcBef>
              <a:spcAft>
                <a:spcPts val="30"/>
              </a:spcAft>
              <a:buClr>
                <a:schemeClr val="tx2"/>
              </a:buClr>
              <a:buFont typeface="Arial" panose="020B0604020202020204" pitchFamily="34" charset="0"/>
              <a:buChar char="•"/>
            </a:pPr>
            <a:r>
              <a:rPr lang="en-GB" sz="850">
                <a:solidFill>
                  <a:schemeClr val="bg2">
                    <a:lumMod val="50000"/>
                  </a:schemeClr>
                </a:solidFill>
              </a:rPr>
              <a:t>Vuln </a:t>
            </a:r>
            <a:r>
              <a:rPr lang="en-GB" sz="850" err="1">
                <a:solidFill>
                  <a:schemeClr val="bg2">
                    <a:lumMod val="50000"/>
                  </a:schemeClr>
                </a:solidFill>
              </a:rPr>
              <a:t>Mgmt</a:t>
            </a:r>
            <a:endParaRPr lang="en-GB" sz="850">
              <a:solidFill>
                <a:schemeClr val="bg2">
                  <a:lumMod val="50000"/>
                </a:schemeClr>
              </a:solidFill>
            </a:endParaRPr>
          </a:p>
          <a:p>
            <a:pPr marL="92075" indent="-92075">
              <a:spcBef>
                <a:spcPts val="30"/>
              </a:spcBef>
              <a:spcAft>
                <a:spcPts val="30"/>
              </a:spcAft>
              <a:buClr>
                <a:schemeClr val="tx2"/>
              </a:buClr>
              <a:buFont typeface="Arial" panose="020B0604020202020204" pitchFamily="34" charset="0"/>
              <a:buChar char="•"/>
            </a:pPr>
            <a:r>
              <a:rPr lang="en-GB" sz="850">
                <a:solidFill>
                  <a:schemeClr val="bg2">
                    <a:lumMod val="50000"/>
                  </a:schemeClr>
                </a:solidFill>
              </a:rPr>
              <a:t>CIS Benchmarks</a:t>
            </a:r>
          </a:p>
          <a:p>
            <a:pPr>
              <a:spcBef>
                <a:spcPts val="30"/>
              </a:spcBef>
              <a:spcAft>
                <a:spcPts val="30"/>
              </a:spcAft>
            </a:pPr>
            <a:endParaRPr lang="en-GB" sz="1100" noProof="0">
              <a:solidFill>
                <a:schemeClr val="bg2">
                  <a:lumMod val="50000"/>
                </a:schemeClr>
              </a:solidFill>
            </a:endParaRPr>
          </a:p>
        </p:txBody>
      </p:sp>
      <p:sp>
        <p:nvSpPr>
          <p:cNvPr id="1369" name="Rectangle 1368">
            <a:extLst>
              <a:ext uri="{FF2B5EF4-FFF2-40B4-BE49-F238E27FC236}">
                <a16:creationId xmlns:a16="http://schemas.microsoft.com/office/drawing/2014/main" id="{2794F4C6-4F5B-5570-4BDA-7AF776F7C174}"/>
              </a:ext>
            </a:extLst>
          </p:cNvPr>
          <p:cNvSpPr/>
          <p:nvPr/>
        </p:nvSpPr>
        <p:spPr bwMode="auto">
          <a:xfrm>
            <a:off x="7926559" y="6044447"/>
            <a:ext cx="180000" cy="180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sp>
        <p:nvSpPr>
          <p:cNvPr id="1374" name="Rectangle: Rounded Corners 1373">
            <a:extLst>
              <a:ext uri="{FF2B5EF4-FFF2-40B4-BE49-F238E27FC236}">
                <a16:creationId xmlns:a16="http://schemas.microsoft.com/office/drawing/2014/main" id="{B8B4A101-2622-17EC-F23B-78E7DE1388A2}"/>
              </a:ext>
            </a:extLst>
          </p:cNvPr>
          <p:cNvSpPr/>
          <p:nvPr/>
        </p:nvSpPr>
        <p:spPr bwMode="auto">
          <a:xfrm>
            <a:off x="9892663" y="5168841"/>
            <a:ext cx="1080000" cy="537312"/>
          </a:xfrm>
          <a:prstGeom prst="roundRect">
            <a:avLst>
              <a:gd name="adj" fmla="val 7101"/>
            </a:avLst>
          </a:prstGeom>
          <a:noFill/>
          <a:ln w="12700">
            <a:solidFill>
              <a:schemeClr val="tx2"/>
            </a:solidFill>
            <a:prstDash val="dash"/>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pPr>
              <a:spcBef>
                <a:spcPts val="30"/>
              </a:spcBef>
              <a:spcAft>
                <a:spcPts val="30"/>
              </a:spcAft>
            </a:pPr>
            <a:r>
              <a:rPr lang="en-GB" sz="1000" b="1">
                <a:solidFill>
                  <a:schemeClr val="tx2"/>
                </a:solidFill>
              </a:rPr>
              <a:t>Zscaler</a:t>
            </a:r>
            <a:endParaRPr lang="en-GB" sz="1000" b="1" noProof="0">
              <a:solidFill>
                <a:schemeClr val="tx2"/>
              </a:solidFill>
            </a:endParaRPr>
          </a:p>
          <a:p>
            <a:pPr marL="92075" indent="-92075">
              <a:spcBef>
                <a:spcPts val="30"/>
              </a:spcBef>
              <a:spcAft>
                <a:spcPts val="30"/>
              </a:spcAft>
              <a:buClr>
                <a:schemeClr val="tx2"/>
              </a:buClr>
              <a:buFont typeface="Arial" panose="020B0604020202020204" pitchFamily="34" charset="0"/>
              <a:buChar char="•"/>
            </a:pPr>
            <a:r>
              <a:rPr lang="en-GB" sz="850">
                <a:solidFill>
                  <a:schemeClr val="bg2">
                    <a:lumMod val="50000"/>
                  </a:schemeClr>
                </a:solidFill>
              </a:rPr>
              <a:t>Remote Access</a:t>
            </a:r>
          </a:p>
          <a:p>
            <a:pPr marL="92075" indent="-92075">
              <a:spcBef>
                <a:spcPts val="30"/>
              </a:spcBef>
              <a:spcAft>
                <a:spcPts val="30"/>
              </a:spcAft>
              <a:buClr>
                <a:schemeClr val="tx2"/>
              </a:buClr>
              <a:buFont typeface="Arial" panose="020B0604020202020204" pitchFamily="34" charset="0"/>
              <a:buChar char="•"/>
            </a:pPr>
            <a:r>
              <a:rPr lang="en-GB" sz="850">
                <a:solidFill>
                  <a:schemeClr val="bg2">
                    <a:lumMod val="50000"/>
                  </a:schemeClr>
                </a:solidFill>
              </a:rPr>
              <a:t>Web Filtering</a:t>
            </a:r>
          </a:p>
          <a:p>
            <a:pPr>
              <a:spcBef>
                <a:spcPts val="30"/>
              </a:spcBef>
              <a:spcAft>
                <a:spcPts val="30"/>
              </a:spcAft>
            </a:pPr>
            <a:endParaRPr lang="en-GB" sz="1100" noProof="0">
              <a:solidFill>
                <a:schemeClr val="bg2">
                  <a:lumMod val="50000"/>
                </a:schemeClr>
              </a:solidFill>
            </a:endParaRPr>
          </a:p>
        </p:txBody>
      </p:sp>
      <p:sp>
        <p:nvSpPr>
          <p:cNvPr id="1376" name="Rectangle 1375">
            <a:extLst>
              <a:ext uri="{FF2B5EF4-FFF2-40B4-BE49-F238E27FC236}">
                <a16:creationId xmlns:a16="http://schemas.microsoft.com/office/drawing/2014/main" id="{74A06D4A-1F5B-5D0A-F4D0-8224FEFF8728}"/>
              </a:ext>
            </a:extLst>
          </p:cNvPr>
          <p:cNvSpPr/>
          <p:nvPr/>
        </p:nvSpPr>
        <p:spPr bwMode="auto">
          <a:xfrm>
            <a:off x="9880252" y="5358964"/>
            <a:ext cx="180000" cy="180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sp>
        <p:nvSpPr>
          <p:cNvPr id="1381" name="Rectangle: Rounded Corners 1380">
            <a:extLst>
              <a:ext uri="{FF2B5EF4-FFF2-40B4-BE49-F238E27FC236}">
                <a16:creationId xmlns:a16="http://schemas.microsoft.com/office/drawing/2014/main" id="{E15F8DFF-A008-1515-B381-D8B8A018C0C6}"/>
              </a:ext>
            </a:extLst>
          </p:cNvPr>
          <p:cNvSpPr/>
          <p:nvPr/>
        </p:nvSpPr>
        <p:spPr bwMode="auto">
          <a:xfrm>
            <a:off x="9893369" y="5856068"/>
            <a:ext cx="1080000" cy="537312"/>
          </a:xfrm>
          <a:prstGeom prst="roundRect">
            <a:avLst>
              <a:gd name="adj" fmla="val 7101"/>
            </a:avLst>
          </a:prstGeom>
          <a:noFill/>
          <a:ln w="12700">
            <a:solidFill>
              <a:schemeClr val="tx2"/>
            </a:solidFill>
            <a:prstDash val="dash"/>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pPr>
              <a:spcBef>
                <a:spcPts val="30"/>
              </a:spcBef>
              <a:spcAft>
                <a:spcPts val="30"/>
              </a:spcAft>
            </a:pPr>
            <a:r>
              <a:rPr lang="en-GB" sz="1000" b="1" err="1">
                <a:solidFill>
                  <a:schemeClr val="tx2"/>
                </a:solidFill>
              </a:rPr>
              <a:t>BeyondTrust</a:t>
            </a:r>
            <a:endParaRPr lang="en-GB" sz="1000" b="1" noProof="0">
              <a:solidFill>
                <a:schemeClr val="tx2"/>
              </a:solidFill>
            </a:endParaRPr>
          </a:p>
          <a:p>
            <a:pPr marL="92075" indent="-92075">
              <a:spcBef>
                <a:spcPts val="30"/>
              </a:spcBef>
              <a:spcAft>
                <a:spcPts val="30"/>
              </a:spcAft>
              <a:buClr>
                <a:schemeClr val="tx2"/>
              </a:buClr>
              <a:buFont typeface="Arial" panose="020B0604020202020204" pitchFamily="34" charset="0"/>
              <a:buChar char="•"/>
            </a:pPr>
            <a:r>
              <a:rPr lang="en-GB" sz="850">
                <a:solidFill>
                  <a:schemeClr val="bg2">
                    <a:lumMod val="50000"/>
                  </a:schemeClr>
                </a:solidFill>
              </a:rPr>
              <a:t>Privilege </a:t>
            </a:r>
            <a:r>
              <a:rPr lang="en-GB" sz="850" err="1">
                <a:solidFill>
                  <a:schemeClr val="bg2">
                    <a:lumMod val="50000"/>
                  </a:schemeClr>
                </a:solidFill>
              </a:rPr>
              <a:t>Mgmt</a:t>
            </a:r>
            <a:endParaRPr lang="en-GB" sz="850">
              <a:solidFill>
                <a:schemeClr val="bg2">
                  <a:lumMod val="50000"/>
                </a:schemeClr>
              </a:solidFill>
            </a:endParaRPr>
          </a:p>
          <a:p>
            <a:pPr marL="92075" indent="-92075">
              <a:spcBef>
                <a:spcPts val="30"/>
              </a:spcBef>
              <a:spcAft>
                <a:spcPts val="30"/>
              </a:spcAft>
              <a:buClr>
                <a:schemeClr val="tx2"/>
              </a:buClr>
              <a:buFont typeface="Arial" panose="020B0604020202020204" pitchFamily="34" charset="0"/>
              <a:buChar char="•"/>
            </a:pPr>
            <a:r>
              <a:rPr lang="en-GB" sz="850">
                <a:solidFill>
                  <a:schemeClr val="bg2">
                    <a:lumMod val="50000"/>
                  </a:schemeClr>
                </a:solidFill>
              </a:rPr>
              <a:t>Priv Recording</a:t>
            </a:r>
          </a:p>
          <a:p>
            <a:pPr>
              <a:spcBef>
                <a:spcPts val="30"/>
              </a:spcBef>
              <a:spcAft>
                <a:spcPts val="30"/>
              </a:spcAft>
            </a:pPr>
            <a:endParaRPr lang="en-GB" sz="1100" noProof="0">
              <a:solidFill>
                <a:schemeClr val="bg2">
                  <a:lumMod val="50000"/>
                </a:schemeClr>
              </a:solidFill>
            </a:endParaRPr>
          </a:p>
        </p:txBody>
      </p:sp>
      <p:sp>
        <p:nvSpPr>
          <p:cNvPr id="1383" name="Rectangle 1382">
            <a:extLst>
              <a:ext uri="{FF2B5EF4-FFF2-40B4-BE49-F238E27FC236}">
                <a16:creationId xmlns:a16="http://schemas.microsoft.com/office/drawing/2014/main" id="{C871E267-7712-E8D0-E6F4-3A8D90FD0C84}"/>
              </a:ext>
            </a:extLst>
          </p:cNvPr>
          <p:cNvSpPr/>
          <p:nvPr/>
        </p:nvSpPr>
        <p:spPr bwMode="auto">
          <a:xfrm>
            <a:off x="9880958" y="6046191"/>
            <a:ext cx="180000" cy="180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sp>
        <p:nvSpPr>
          <p:cNvPr id="1395" name="Rectangle: Rounded Corners 1394">
            <a:extLst>
              <a:ext uri="{FF2B5EF4-FFF2-40B4-BE49-F238E27FC236}">
                <a16:creationId xmlns:a16="http://schemas.microsoft.com/office/drawing/2014/main" id="{98E73024-10CC-3DDF-99D0-F479F1AEBD9E}"/>
              </a:ext>
            </a:extLst>
          </p:cNvPr>
          <p:cNvSpPr/>
          <p:nvPr/>
        </p:nvSpPr>
        <p:spPr bwMode="auto">
          <a:xfrm>
            <a:off x="4496461" y="1916974"/>
            <a:ext cx="1080000" cy="537312"/>
          </a:xfrm>
          <a:prstGeom prst="roundRect">
            <a:avLst>
              <a:gd name="adj" fmla="val 7101"/>
            </a:avLst>
          </a:prstGeom>
          <a:noFill/>
          <a:ln w="12700">
            <a:solidFill>
              <a:schemeClr val="tx2"/>
            </a:solidFill>
            <a:prstDash val="dash"/>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pPr>
              <a:spcBef>
                <a:spcPts val="30"/>
              </a:spcBef>
              <a:spcAft>
                <a:spcPts val="30"/>
              </a:spcAft>
            </a:pPr>
            <a:r>
              <a:rPr lang="en-GB" sz="1000" b="1">
                <a:solidFill>
                  <a:schemeClr val="tx2"/>
                </a:solidFill>
              </a:rPr>
              <a:t>SCCM</a:t>
            </a:r>
            <a:endParaRPr lang="en-GB" sz="1000" b="1" noProof="0">
              <a:solidFill>
                <a:schemeClr val="tx2"/>
              </a:solidFill>
            </a:endParaRPr>
          </a:p>
          <a:p>
            <a:pPr marL="92075" indent="-92075">
              <a:spcBef>
                <a:spcPts val="30"/>
              </a:spcBef>
              <a:spcAft>
                <a:spcPts val="30"/>
              </a:spcAft>
              <a:buClr>
                <a:schemeClr val="tx2"/>
              </a:buClr>
              <a:buFont typeface="Arial" panose="020B0604020202020204" pitchFamily="34" charset="0"/>
              <a:buChar char="•"/>
            </a:pPr>
            <a:r>
              <a:rPr lang="en-GB" sz="850">
                <a:solidFill>
                  <a:schemeClr val="bg2">
                    <a:lumMod val="50000"/>
                  </a:schemeClr>
                </a:solidFill>
              </a:rPr>
              <a:t>App Deployment</a:t>
            </a:r>
          </a:p>
          <a:p>
            <a:pPr marL="92075" indent="-92075">
              <a:spcBef>
                <a:spcPts val="30"/>
              </a:spcBef>
              <a:spcAft>
                <a:spcPts val="30"/>
              </a:spcAft>
              <a:buClr>
                <a:schemeClr val="bg2">
                  <a:lumMod val="40000"/>
                  <a:lumOff val="60000"/>
                </a:schemeClr>
              </a:buClr>
              <a:buFont typeface="Arial" panose="020B0604020202020204" pitchFamily="34" charset="0"/>
              <a:buChar char="•"/>
            </a:pPr>
            <a:r>
              <a:rPr lang="en-GB" sz="850">
                <a:solidFill>
                  <a:schemeClr val="bg2">
                    <a:lumMod val="40000"/>
                    <a:lumOff val="60000"/>
                  </a:schemeClr>
                </a:solidFill>
              </a:rPr>
              <a:t>OS Deployment</a:t>
            </a:r>
            <a:endParaRPr lang="en-GB" sz="850">
              <a:solidFill>
                <a:schemeClr val="bg2">
                  <a:lumMod val="50000"/>
                </a:schemeClr>
              </a:solidFill>
            </a:endParaRPr>
          </a:p>
          <a:p>
            <a:pPr>
              <a:spcBef>
                <a:spcPts val="30"/>
              </a:spcBef>
              <a:spcAft>
                <a:spcPts val="30"/>
              </a:spcAft>
            </a:pPr>
            <a:endParaRPr lang="en-GB" sz="1100" noProof="0">
              <a:solidFill>
                <a:schemeClr val="bg2">
                  <a:lumMod val="50000"/>
                </a:schemeClr>
              </a:solidFill>
            </a:endParaRPr>
          </a:p>
        </p:txBody>
      </p:sp>
      <p:sp>
        <p:nvSpPr>
          <p:cNvPr id="1402" name="Rectangle: Rounded Corners 1401">
            <a:extLst>
              <a:ext uri="{FF2B5EF4-FFF2-40B4-BE49-F238E27FC236}">
                <a16:creationId xmlns:a16="http://schemas.microsoft.com/office/drawing/2014/main" id="{DF9E0334-8000-7BED-C21E-1354D529A252}"/>
              </a:ext>
            </a:extLst>
          </p:cNvPr>
          <p:cNvSpPr/>
          <p:nvPr/>
        </p:nvSpPr>
        <p:spPr bwMode="auto">
          <a:xfrm>
            <a:off x="4503697" y="4611645"/>
            <a:ext cx="1080000" cy="537312"/>
          </a:xfrm>
          <a:prstGeom prst="roundRect">
            <a:avLst>
              <a:gd name="adj" fmla="val 7101"/>
            </a:avLst>
          </a:prstGeom>
          <a:noFill/>
          <a:ln w="12700">
            <a:solidFill>
              <a:schemeClr val="tx2"/>
            </a:solidFill>
            <a:prstDash val="dash"/>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pPr>
              <a:spcBef>
                <a:spcPts val="30"/>
              </a:spcBef>
              <a:spcAft>
                <a:spcPts val="30"/>
              </a:spcAft>
            </a:pPr>
            <a:r>
              <a:rPr lang="en-GB" sz="1000" b="1">
                <a:solidFill>
                  <a:schemeClr val="tx2"/>
                </a:solidFill>
              </a:rPr>
              <a:t>AD</a:t>
            </a:r>
            <a:endParaRPr lang="en-GB" sz="1000" b="1" noProof="0">
              <a:solidFill>
                <a:schemeClr val="tx2"/>
              </a:solidFill>
            </a:endParaRPr>
          </a:p>
          <a:p>
            <a:pPr marL="92075" indent="-92075">
              <a:spcBef>
                <a:spcPts val="30"/>
              </a:spcBef>
              <a:spcAft>
                <a:spcPts val="30"/>
              </a:spcAft>
              <a:buClr>
                <a:schemeClr val="tx2"/>
              </a:buClr>
              <a:buFont typeface="Arial" panose="020B0604020202020204" pitchFamily="34" charset="0"/>
              <a:buChar char="•"/>
            </a:pPr>
            <a:r>
              <a:rPr lang="en-GB" sz="850">
                <a:solidFill>
                  <a:schemeClr val="bg2">
                    <a:lumMod val="50000"/>
                  </a:schemeClr>
                </a:solidFill>
              </a:rPr>
              <a:t>Authentication</a:t>
            </a:r>
          </a:p>
          <a:p>
            <a:pPr marL="92075" indent="-92075">
              <a:spcBef>
                <a:spcPts val="30"/>
              </a:spcBef>
              <a:spcAft>
                <a:spcPts val="30"/>
              </a:spcAft>
              <a:buClr>
                <a:schemeClr val="tx2"/>
              </a:buClr>
              <a:buFont typeface="Arial" panose="020B0604020202020204" pitchFamily="34" charset="0"/>
              <a:buChar char="•"/>
            </a:pPr>
            <a:r>
              <a:rPr lang="en-GB" sz="850">
                <a:solidFill>
                  <a:schemeClr val="bg2">
                    <a:lumMod val="50000"/>
                  </a:schemeClr>
                </a:solidFill>
              </a:rPr>
              <a:t>Win OS Policy</a:t>
            </a:r>
          </a:p>
          <a:p>
            <a:pPr>
              <a:spcBef>
                <a:spcPts val="30"/>
              </a:spcBef>
              <a:spcAft>
                <a:spcPts val="30"/>
              </a:spcAft>
            </a:pPr>
            <a:endParaRPr lang="en-GB" sz="1100" noProof="0">
              <a:solidFill>
                <a:schemeClr val="bg2">
                  <a:lumMod val="50000"/>
                </a:schemeClr>
              </a:solidFill>
            </a:endParaRPr>
          </a:p>
        </p:txBody>
      </p:sp>
      <p:sp>
        <p:nvSpPr>
          <p:cNvPr id="1404" name="Rectangle 1403">
            <a:extLst>
              <a:ext uri="{FF2B5EF4-FFF2-40B4-BE49-F238E27FC236}">
                <a16:creationId xmlns:a16="http://schemas.microsoft.com/office/drawing/2014/main" id="{2DB8B007-315C-0541-7C87-FBB3A21F6D76}"/>
              </a:ext>
            </a:extLst>
          </p:cNvPr>
          <p:cNvSpPr/>
          <p:nvPr/>
        </p:nvSpPr>
        <p:spPr bwMode="auto">
          <a:xfrm>
            <a:off x="4491286" y="4801768"/>
            <a:ext cx="180000" cy="180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sp>
        <p:nvSpPr>
          <p:cNvPr id="1409" name="Rectangle: Rounded Corners 1408">
            <a:extLst>
              <a:ext uri="{FF2B5EF4-FFF2-40B4-BE49-F238E27FC236}">
                <a16:creationId xmlns:a16="http://schemas.microsoft.com/office/drawing/2014/main" id="{9A854973-3B17-6E02-A9D4-108B51468478}"/>
              </a:ext>
            </a:extLst>
          </p:cNvPr>
          <p:cNvSpPr/>
          <p:nvPr/>
        </p:nvSpPr>
        <p:spPr bwMode="auto">
          <a:xfrm>
            <a:off x="4502856" y="3264587"/>
            <a:ext cx="1080000" cy="537312"/>
          </a:xfrm>
          <a:prstGeom prst="roundRect">
            <a:avLst>
              <a:gd name="adj" fmla="val 7101"/>
            </a:avLst>
          </a:prstGeom>
          <a:noFill/>
          <a:ln w="12700">
            <a:solidFill>
              <a:schemeClr val="bg2">
                <a:lumMod val="40000"/>
                <a:lumOff val="60000"/>
              </a:schemeClr>
            </a:solidFill>
            <a:prstDash val="dash"/>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pPr>
              <a:spcBef>
                <a:spcPts val="30"/>
              </a:spcBef>
              <a:spcAft>
                <a:spcPts val="30"/>
              </a:spcAft>
            </a:pPr>
            <a:r>
              <a:rPr lang="en-GB" sz="1000" b="1">
                <a:solidFill>
                  <a:schemeClr val="bg2">
                    <a:lumMod val="40000"/>
                    <a:lumOff val="60000"/>
                  </a:schemeClr>
                </a:solidFill>
              </a:rPr>
              <a:t>MCC</a:t>
            </a:r>
            <a:endParaRPr lang="en-GB" sz="1000" b="1" noProof="0">
              <a:solidFill>
                <a:schemeClr val="bg2">
                  <a:lumMod val="40000"/>
                  <a:lumOff val="60000"/>
                </a:schemeClr>
              </a:solidFill>
            </a:endParaRPr>
          </a:p>
          <a:p>
            <a:pPr marL="92075" indent="-92075">
              <a:spcBef>
                <a:spcPts val="30"/>
              </a:spcBef>
              <a:spcAft>
                <a:spcPts val="30"/>
              </a:spcAft>
              <a:buClr>
                <a:schemeClr val="bg2">
                  <a:lumMod val="40000"/>
                  <a:lumOff val="60000"/>
                </a:schemeClr>
              </a:buClr>
              <a:buFont typeface="Arial" panose="020B0604020202020204" pitchFamily="34" charset="0"/>
              <a:buChar char="•"/>
            </a:pPr>
            <a:r>
              <a:rPr lang="en-GB" sz="850">
                <a:solidFill>
                  <a:schemeClr val="bg2">
                    <a:lumMod val="40000"/>
                    <a:lumOff val="60000"/>
                  </a:schemeClr>
                </a:solidFill>
              </a:rPr>
              <a:t>Update Cache</a:t>
            </a:r>
          </a:p>
          <a:p>
            <a:pPr marL="92075" indent="-92075">
              <a:spcBef>
                <a:spcPts val="30"/>
              </a:spcBef>
              <a:spcAft>
                <a:spcPts val="30"/>
              </a:spcAft>
              <a:buClr>
                <a:schemeClr val="bg2">
                  <a:lumMod val="40000"/>
                  <a:lumOff val="60000"/>
                </a:schemeClr>
              </a:buClr>
              <a:buFont typeface="Arial" panose="020B0604020202020204" pitchFamily="34" charset="0"/>
              <a:buChar char="•"/>
            </a:pPr>
            <a:r>
              <a:rPr lang="en-GB" sz="850">
                <a:solidFill>
                  <a:schemeClr val="bg2">
                    <a:lumMod val="40000"/>
                    <a:lumOff val="60000"/>
                  </a:schemeClr>
                </a:solidFill>
              </a:rPr>
              <a:t>App </a:t>
            </a:r>
            <a:r>
              <a:rPr lang="en-GB" sz="850" err="1">
                <a:solidFill>
                  <a:schemeClr val="bg2">
                    <a:lumMod val="40000"/>
                    <a:lumOff val="60000"/>
                  </a:schemeClr>
                </a:solidFill>
              </a:rPr>
              <a:t>Pkg</a:t>
            </a:r>
            <a:r>
              <a:rPr lang="en-GB" sz="850">
                <a:solidFill>
                  <a:schemeClr val="bg2">
                    <a:lumMod val="40000"/>
                    <a:lumOff val="60000"/>
                  </a:schemeClr>
                </a:solidFill>
              </a:rPr>
              <a:t> Cache</a:t>
            </a:r>
          </a:p>
          <a:p>
            <a:pPr>
              <a:spcBef>
                <a:spcPts val="30"/>
              </a:spcBef>
              <a:spcAft>
                <a:spcPts val="30"/>
              </a:spcAft>
            </a:pPr>
            <a:endParaRPr lang="en-GB" sz="1100" noProof="0">
              <a:solidFill>
                <a:schemeClr val="bg2">
                  <a:lumMod val="50000"/>
                </a:schemeClr>
              </a:solidFill>
            </a:endParaRPr>
          </a:p>
        </p:txBody>
      </p:sp>
      <p:sp>
        <p:nvSpPr>
          <p:cNvPr id="1416" name="Rectangle: Rounded Corners 1415">
            <a:extLst>
              <a:ext uri="{FF2B5EF4-FFF2-40B4-BE49-F238E27FC236}">
                <a16:creationId xmlns:a16="http://schemas.microsoft.com/office/drawing/2014/main" id="{8589EFAA-65C2-2969-1F01-A4FB03D9714B}"/>
              </a:ext>
            </a:extLst>
          </p:cNvPr>
          <p:cNvSpPr/>
          <p:nvPr/>
        </p:nvSpPr>
        <p:spPr bwMode="auto">
          <a:xfrm>
            <a:off x="4500203" y="1242797"/>
            <a:ext cx="1080000" cy="537312"/>
          </a:xfrm>
          <a:prstGeom prst="roundRect">
            <a:avLst>
              <a:gd name="adj" fmla="val 7101"/>
            </a:avLst>
          </a:prstGeom>
          <a:noFill/>
          <a:ln w="12700">
            <a:solidFill>
              <a:schemeClr val="tx2"/>
            </a:solidFill>
            <a:prstDash val="dash"/>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pPr>
              <a:spcBef>
                <a:spcPts val="30"/>
              </a:spcBef>
              <a:spcAft>
                <a:spcPts val="30"/>
              </a:spcAft>
            </a:pPr>
            <a:r>
              <a:rPr lang="en-GB" sz="1000" b="1">
                <a:solidFill>
                  <a:schemeClr val="tx2"/>
                </a:solidFill>
              </a:rPr>
              <a:t>WSUS</a:t>
            </a:r>
            <a:endParaRPr lang="en-GB" sz="1000" b="1" noProof="0">
              <a:solidFill>
                <a:schemeClr val="tx2"/>
              </a:solidFill>
            </a:endParaRPr>
          </a:p>
          <a:p>
            <a:pPr marL="92075" indent="-92075">
              <a:spcBef>
                <a:spcPts val="30"/>
              </a:spcBef>
              <a:spcAft>
                <a:spcPts val="30"/>
              </a:spcAft>
              <a:buClr>
                <a:schemeClr val="tx2"/>
              </a:buClr>
              <a:buFont typeface="Arial" panose="020B0604020202020204" pitchFamily="34" charset="0"/>
              <a:buChar char="•"/>
            </a:pPr>
            <a:r>
              <a:rPr lang="en-GB" sz="850">
                <a:solidFill>
                  <a:schemeClr val="bg2">
                    <a:lumMod val="50000"/>
                  </a:schemeClr>
                </a:solidFill>
              </a:rPr>
              <a:t>Win Updates</a:t>
            </a:r>
          </a:p>
          <a:p>
            <a:pPr marL="92075" indent="-92075">
              <a:spcBef>
                <a:spcPts val="30"/>
              </a:spcBef>
              <a:spcAft>
                <a:spcPts val="30"/>
              </a:spcAft>
              <a:buClr>
                <a:schemeClr val="tx2"/>
              </a:buClr>
              <a:buFont typeface="Arial" panose="020B0604020202020204" pitchFamily="34" charset="0"/>
              <a:buChar char="•"/>
            </a:pPr>
            <a:r>
              <a:rPr lang="en-GB" sz="850">
                <a:solidFill>
                  <a:schemeClr val="bg2">
                    <a:lumMod val="50000"/>
                  </a:schemeClr>
                </a:solidFill>
              </a:rPr>
              <a:t>Driver Updates</a:t>
            </a:r>
          </a:p>
          <a:p>
            <a:pPr>
              <a:spcBef>
                <a:spcPts val="30"/>
              </a:spcBef>
              <a:spcAft>
                <a:spcPts val="30"/>
              </a:spcAft>
            </a:pPr>
            <a:endParaRPr lang="en-GB" sz="1100" noProof="0">
              <a:solidFill>
                <a:schemeClr val="bg2">
                  <a:lumMod val="50000"/>
                </a:schemeClr>
              </a:solidFill>
            </a:endParaRPr>
          </a:p>
        </p:txBody>
      </p:sp>
      <p:sp>
        <p:nvSpPr>
          <p:cNvPr id="1423" name="Rectangle: Rounded Corners 1422">
            <a:extLst>
              <a:ext uri="{FF2B5EF4-FFF2-40B4-BE49-F238E27FC236}">
                <a16:creationId xmlns:a16="http://schemas.microsoft.com/office/drawing/2014/main" id="{30676B3D-F57E-0B74-7576-7211B17E0A62}"/>
              </a:ext>
            </a:extLst>
          </p:cNvPr>
          <p:cNvSpPr/>
          <p:nvPr/>
        </p:nvSpPr>
        <p:spPr bwMode="auto">
          <a:xfrm>
            <a:off x="4500822" y="3939404"/>
            <a:ext cx="1080000" cy="537312"/>
          </a:xfrm>
          <a:prstGeom prst="roundRect">
            <a:avLst>
              <a:gd name="adj" fmla="val 7101"/>
            </a:avLst>
          </a:prstGeom>
          <a:noFill/>
          <a:ln w="12700">
            <a:solidFill>
              <a:schemeClr val="bg2">
                <a:lumMod val="40000"/>
                <a:lumOff val="60000"/>
              </a:schemeClr>
            </a:solidFill>
            <a:prstDash val="dash"/>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pPr>
              <a:spcBef>
                <a:spcPts val="30"/>
              </a:spcBef>
              <a:spcAft>
                <a:spcPts val="30"/>
              </a:spcAft>
            </a:pPr>
            <a:r>
              <a:rPr lang="en-GB" sz="1000" b="1">
                <a:solidFill>
                  <a:schemeClr val="bg2">
                    <a:lumMod val="40000"/>
                    <a:lumOff val="60000"/>
                  </a:schemeClr>
                </a:solidFill>
              </a:rPr>
              <a:t>IWH / SQL</a:t>
            </a:r>
            <a:endParaRPr lang="en-GB" sz="1000" b="1" noProof="0">
              <a:solidFill>
                <a:schemeClr val="bg2">
                  <a:lumMod val="40000"/>
                  <a:lumOff val="60000"/>
                </a:schemeClr>
              </a:solidFill>
            </a:endParaRPr>
          </a:p>
          <a:p>
            <a:pPr marL="92075" indent="-92075">
              <a:spcBef>
                <a:spcPts val="30"/>
              </a:spcBef>
              <a:spcAft>
                <a:spcPts val="30"/>
              </a:spcAft>
              <a:buClr>
                <a:schemeClr val="bg2">
                  <a:lumMod val="40000"/>
                  <a:lumOff val="60000"/>
                </a:schemeClr>
              </a:buClr>
              <a:buFont typeface="Arial" panose="020B0604020202020204" pitchFamily="34" charset="0"/>
              <a:buChar char="•"/>
            </a:pPr>
            <a:r>
              <a:rPr lang="en-GB" sz="850">
                <a:solidFill>
                  <a:schemeClr val="bg2">
                    <a:lumMod val="40000"/>
                    <a:lumOff val="60000"/>
                  </a:schemeClr>
                </a:solidFill>
              </a:rPr>
              <a:t>Build Monitoring</a:t>
            </a:r>
          </a:p>
          <a:p>
            <a:pPr marL="92075" indent="-92075">
              <a:spcBef>
                <a:spcPts val="30"/>
              </a:spcBef>
              <a:spcAft>
                <a:spcPts val="30"/>
              </a:spcAft>
              <a:buClr>
                <a:schemeClr val="bg2">
                  <a:lumMod val="40000"/>
                  <a:lumOff val="60000"/>
                </a:schemeClr>
              </a:buClr>
              <a:buFont typeface="Arial" panose="020B0604020202020204" pitchFamily="34" charset="0"/>
              <a:buChar char="•"/>
            </a:pPr>
            <a:r>
              <a:rPr lang="en-GB" sz="850">
                <a:solidFill>
                  <a:schemeClr val="bg2">
                    <a:lumMod val="40000"/>
                    <a:lumOff val="60000"/>
                  </a:schemeClr>
                </a:solidFill>
              </a:rPr>
              <a:t>Build QA</a:t>
            </a:r>
          </a:p>
          <a:p>
            <a:pPr>
              <a:spcBef>
                <a:spcPts val="30"/>
              </a:spcBef>
              <a:spcAft>
                <a:spcPts val="30"/>
              </a:spcAft>
            </a:pPr>
            <a:endParaRPr lang="en-GB" sz="1100" noProof="0">
              <a:solidFill>
                <a:schemeClr val="bg2">
                  <a:lumMod val="50000"/>
                </a:schemeClr>
              </a:solidFill>
            </a:endParaRPr>
          </a:p>
        </p:txBody>
      </p:sp>
      <p:sp>
        <p:nvSpPr>
          <p:cNvPr id="1430" name="Rectangle: Rounded Corners 1429">
            <a:extLst>
              <a:ext uri="{FF2B5EF4-FFF2-40B4-BE49-F238E27FC236}">
                <a16:creationId xmlns:a16="http://schemas.microsoft.com/office/drawing/2014/main" id="{71F6D852-3088-2E6D-719D-1932EF230A60}"/>
              </a:ext>
            </a:extLst>
          </p:cNvPr>
          <p:cNvSpPr/>
          <p:nvPr/>
        </p:nvSpPr>
        <p:spPr bwMode="auto">
          <a:xfrm>
            <a:off x="4503844" y="2589784"/>
            <a:ext cx="1080000" cy="537312"/>
          </a:xfrm>
          <a:prstGeom prst="roundRect">
            <a:avLst>
              <a:gd name="adj" fmla="val 7101"/>
            </a:avLst>
          </a:prstGeom>
          <a:noFill/>
          <a:ln w="12700">
            <a:solidFill>
              <a:schemeClr val="bg2">
                <a:lumMod val="40000"/>
                <a:lumOff val="60000"/>
              </a:schemeClr>
            </a:solidFill>
            <a:prstDash val="dash"/>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pPr>
              <a:spcBef>
                <a:spcPts val="30"/>
              </a:spcBef>
              <a:spcAft>
                <a:spcPts val="30"/>
              </a:spcAft>
            </a:pPr>
            <a:r>
              <a:rPr lang="en-GB" sz="1000" b="1">
                <a:solidFill>
                  <a:schemeClr val="bg2">
                    <a:lumMod val="40000"/>
                    <a:lumOff val="60000"/>
                  </a:schemeClr>
                </a:solidFill>
              </a:rPr>
              <a:t>MDT / WDS</a:t>
            </a:r>
            <a:endParaRPr lang="en-GB" sz="1000" b="1" noProof="0">
              <a:solidFill>
                <a:schemeClr val="bg2">
                  <a:lumMod val="40000"/>
                  <a:lumOff val="60000"/>
                </a:schemeClr>
              </a:solidFill>
            </a:endParaRPr>
          </a:p>
          <a:p>
            <a:pPr marL="92075" indent="-92075">
              <a:spcBef>
                <a:spcPts val="30"/>
              </a:spcBef>
              <a:spcAft>
                <a:spcPts val="30"/>
              </a:spcAft>
              <a:buClr>
                <a:schemeClr val="bg2">
                  <a:lumMod val="40000"/>
                  <a:lumOff val="60000"/>
                </a:schemeClr>
              </a:buClr>
              <a:buFont typeface="Arial" panose="020B0604020202020204" pitchFamily="34" charset="0"/>
              <a:buChar char="•"/>
            </a:pPr>
            <a:r>
              <a:rPr lang="en-GB" sz="850">
                <a:solidFill>
                  <a:schemeClr val="bg2">
                    <a:lumMod val="40000"/>
                    <a:lumOff val="60000"/>
                  </a:schemeClr>
                </a:solidFill>
              </a:rPr>
              <a:t>Task Sequence</a:t>
            </a:r>
          </a:p>
          <a:p>
            <a:pPr marL="92075" indent="-92075">
              <a:spcBef>
                <a:spcPts val="30"/>
              </a:spcBef>
              <a:spcAft>
                <a:spcPts val="30"/>
              </a:spcAft>
              <a:buClr>
                <a:schemeClr val="bg2">
                  <a:lumMod val="40000"/>
                  <a:lumOff val="60000"/>
                </a:schemeClr>
              </a:buClr>
              <a:buFont typeface="Arial" panose="020B0604020202020204" pitchFamily="34" charset="0"/>
              <a:buChar char="•"/>
            </a:pPr>
            <a:r>
              <a:rPr lang="en-GB" sz="850">
                <a:solidFill>
                  <a:schemeClr val="bg2">
                    <a:lumMod val="40000"/>
                    <a:lumOff val="60000"/>
                  </a:schemeClr>
                </a:solidFill>
              </a:rPr>
              <a:t>OS Deployment</a:t>
            </a:r>
          </a:p>
          <a:p>
            <a:pPr>
              <a:spcBef>
                <a:spcPts val="30"/>
              </a:spcBef>
              <a:spcAft>
                <a:spcPts val="30"/>
              </a:spcAft>
            </a:pPr>
            <a:endParaRPr lang="en-GB" sz="1100" noProof="0">
              <a:solidFill>
                <a:schemeClr val="bg2">
                  <a:lumMod val="50000"/>
                </a:schemeClr>
              </a:solidFill>
            </a:endParaRPr>
          </a:p>
        </p:txBody>
      </p:sp>
      <p:sp>
        <p:nvSpPr>
          <p:cNvPr id="1440" name="Rectangle: Rounded Corners 1439">
            <a:extLst>
              <a:ext uri="{FF2B5EF4-FFF2-40B4-BE49-F238E27FC236}">
                <a16:creationId xmlns:a16="http://schemas.microsoft.com/office/drawing/2014/main" id="{7B05F11A-4FD7-0870-4245-54FBDFA8860D}"/>
              </a:ext>
            </a:extLst>
          </p:cNvPr>
          <p:cNvSpPr/>
          <p:nvPr/>
        </p:nvSpPr>
        <p:spPr bwMode="auto">
          <a:xfrm>
            <a:off x="4505300" y="5692941"/>
            <a:ext cx="1080000" cy="537312"/>
          </a:xfrm>
          <a:prstGeom prst="roundRect">
            <a:avLst>
              <a:gd name="adj" fmla="val 7101"/>
            </a:avLst>
          </a:prstGeom>
          <a:noFill/>
          <a:ln w="12700">
            <a:solidFill>
              <a:schemeClr val="tx2"/>
            </a:solidFill>
            <a:prstDash val="dash"/>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pPr>
              <a:spcBef>
                <a:spcPts val="30"/>
              </a:spcBef>
              <a:spcAft>
                <a:spcPts val="30"/>
              </a:spcAft>
            </a:pPr>
            <a:r>
              <a:rPr lang="en-GB" sz="1000" b="1">
                <a:solidFill>
                  <a:schemeClr val="tx2"/>
                </a:solidFill>
              </a:rPr>
              <a:t>Forcepoint</a:t>
            </a:r>
            <a:endParaRPr lang="en-GB" sz="1000" b="1" noProof="0">
              <a:solidFill>
                <a:schemeClr val="tx2"/>
              </a:solidFill>
            </a:endParaRPr>
          </a:p>
          <a:p>
            <a:pPr marL="92075" indent="-92075">
              <a:spcBef>
                <a:spcPts val="30"/>
              </a:spcBef>
              <a:spcAft>
                <a:spcPts val="30"/>
              </a:spcAft>
              <a:buClr>
                <a:schemeClr val="tx2"/>
              </a:buClr>
              <a:buFont typeface="Arial" panose="020B0604020202020204" pitchFamily="34" charset="0"/>
              <a:buChar char="•"/>
            </a:pPr>
            <a:r>
              <a:rPr lang="en-GB" sz="850">
                <a:solidFill>
                  <a:schemeClr val="bg2">
                    <a:lumMod val="50000"/>
                  </a:schemeClr>
                </a:solidFill>
              </a:rPr>
              <a:t>Endpoint DLP</a:t>
            </a:r>
          </a:p>
          <a:p>
            <a:pPr marL="92075" indent="-92075">
              <a:spcBef>
                <a:spcPts val="30"/>
              </a:spcBef>
              <a:spcAft>
                <a:spcPts val="30"/>
              </a:spcAft>
              <a:buClr>
                <a:schemeClr val="tx2"/>
              </a:buClr>
              <a:buFont typeface="Arial" panose="020B0604020202020204" pitchFamily="34" charset="0"/>
              <a:buChar char="•"/>
            </a:pPr>
            <a:r>
              <a:rPr lang="en-GB" sz="850">
                <a:solidFill>
                  <a:schemeClr val="bg2">
                    <a:lumMod val="50000"/>
                  </a:schemeClr>
                </a:solidFill>
              </a:rPr>
              <a:t>Monitoring</a:t>
            </a:r>
          </a:p>
          <a:p>
            <a:pPr>
              <a:spcBef>
                <a:spcPts val="30"/>
              </a:spcBef>
              <a:spcAft>
                <a:spcPts val="30"/>
              </a:spcAft>
            </a:pPr>
            <a:endParaRPr lang="en-GB" sz="1100" noProof="0">
              <a:solidFill>
                <a:schemeClr val="bg2">
                  <a:lumMod val="50000"/>
                </a:schemeClr>
              </a:solidFill>
            </a:endParaRPr>
          </a:p>
        </p:txBody>
      </p:sp>
      <p:sp>
        <p:nvSpPr>
          <p:cNvPr id="1442" name="Rectangle 1441">
            <a:extLst>
              <a:ext uri="{FF2B5EF4-FFF2-40B4-BE49-F238E27FC236}">
                <a16:creationId xmlns:a16="http://schemas.microsoft.com/office/drawing/2014/main" id="{6B881DEA-9E12-F603-3044-3E13B14B10B1}"/>
              </a:ext>
            </a:extLst>
          </p:cNvPr>
          <p:cNvSpPr/>
          <p:nvPr/>
        </p:nvSpPr>
        <p:spPr bwMode="auto">
          <a:xfrm>
            <a:off x="4492889" y="5883064"/>
            <a:ext cx="180000" cy="180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cxnSp>
        <p:nvCxnSpPr>
          <p:cNvPr id="2" name="Straight Connector 1">
            <a:extLst>
              <a:ext uri="{FF2B5EF4-FFF2-40B4-BE49-F238E27FC236}">
                <a16:creationId xmlns:a16="http://schemas.microsoft.com/office/drawing/2014/main" id="{2B7A3BB6-DC12-56CB-BD32-6607EEEB2AC8}"/>
              </a:ext>
            </a:extLst>
          </p:cNvPr>
          <p:cNvCxnSpPr>
            <a:cxnSpLocks/>
          </p:cNvCxnSpPr>
          <p:nvPr/>
        </p:nvCxnSpPr>
        <p:spPr>
          <a:xfrm flipH="1">
            <a:off x="7371810" y="939045"/>
            <a:ext cx="0" cy="5688000"/>
          </a:xfrm>
          <a:prstGeom prst="line">
            <a:avLst/>
          </a:prstGeom>
          <a:ln w="19050" cap="rnd">
            <a:solidFill>
              <a:schemeClr val="tx2">
                <a:lumMod val="40000"/>
                <a:lumOff val="60000"/>
              </a:schemeClr>
            </a:solidFill>
            <a:prstDash val="sysDot"/>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EBAA95EC-A6C3-6D1C-30BF-5EC02A0D2DBB}"/>
              </a:ext>
            </a:extLst>
          </p:cNvPr>
          <p:cNvSpPr/>
          <p:nvPr/>
        </p:nvSpPr>
        <p:spPr bwMode="auto">
          <a:xfrm>
            <a:off x="9747153" y="3385994"/>
            <a:ext cx="180000" cy="180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sp>
        <p:nvSpPr>
          <p:cNvPr id="11" name="Rectangle 10">
            <a:extLst>
              <a:ext uri="{FF2B5EF4-FFF2-40B4-BE49-F238E27FC236}">
                <a16:creationId xmlns:a16="http://schemas.microsoft.com/office/drawing/2014/main" id="{C826997B-7E97-24E6-CDC0-F91A480F4810}"/>
              </a:ext>
            </a:extLst>
          </p:cNvPr>
          <p:cNvSpPr/>
          <p:nvPr/>
        </p:nvSpPr>
        <p:spPr bwMode="auto">
          <a:xfrm>
            <a:off x="9282073" y="3328892"/>
            <a:ext cx="180000" cy="180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cxnSp>
        <p:nvCxnSpPr>
          <p:cNvPr id="12" name="Connector: Elbow 11">
            <a:extLst>
              <a:ext uri="{FF2B5EF4-FFF2-40B4-BE49-F238E27FC236}">
                <a16:creationId xmlns:a16="http://schemas.microsoft.com/office/drawing/2014/main" id="{0A4A9F09-3B97-6031-EE44-BB2760EFB691}"/>
              </a:ext>
            </a:extLst>
          </p:cNvPr>
          <p:cNvCxnSpPr>
            <a:cxnSpLocks/>
            <a:stCxn id="1318" idx="3"/>
            <a:endCxn id="11" idx="0"/>
          </p:cNvCxnSpPr>
          <p:nvPr/>
        </p:nvCxnSpPr>
        <p:spPr>
          <a:xfrm>
            <a:off x="9016353" y="1323043"/>
            <a:ext cx="355720" cy="2005849"/>
          </a:xfrm>
          <a:prstGeom prst="bentConnector2">
            <a:avLst/>
          </a:prstGeom>
          <a:ln w="19050" cap="rnd">
            <a:solidFill>
              <a:schemeClr val="bg2">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882E385D-75A9-3669-E107-4EE9703D4C1E}"/>
              </a:ext>
            </a:extLst>
          </p:cNvPr>
          <p:cNvSpPr/>
          <p:nvPr/>
        </p:nvSpPr>
        <p:spPr bwMode="auto">
          <a:xfrm>
            <a:off x="9673361" y="3441847"/>
            <a:ext cx="180000" cy="180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cxnSp>
        <p:nvCxnSpPr>
          <p:cNvPr id="20" name="Connector: Elbow 19">
            <a:extLst>
              <a:ext uri="{FF2B5EF4-FFF2-40B4-BE49-F238E27FC236}">
                <a16:creationId xmlns:a16="http://schemas.microsoft.com/office/drawing/2014/main" id="{20950096-8D17-C384-CEF1-F846341CCBB5}"/>
              </a:ext>
            </a:extLst>
          </p:cNvPr>
          <p:cNvCxnSpPr>
            <a:cxnSpLocks/>
            <a:stCxn id="1332" idx="1"/>
            <a:endCxn id="19" idx="0"/>
          </p:cNvCxnSpPr>
          <p:nvPr/>
        </p:nvCxnSpPr>
        <p:spPr>
          <a:xfrm rot="10800000" flipV="1">
            <a:off x="9763362" y="2004783"/>
            <a:ext cx="134743" cy="1437064"/>
          </a:xfrm>
          <a:prstGeom prst="bentConnector2">
            <a:avLst/>
          </a:prstGeom>
          <a:ln w="19050" cap="rnd">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240F12F4-8006-6ACE-812F-A2FD18A85FD7}"/>
              </a:ext>
            </a:extLst>
          </p:cNvPr>
          <p:cNvSpPr/>
          <p:nvPr/>
        </p:nvSpPr>
        <p:spPr bwMode="auto">
          <a:xfrm>
            <a:off x="9086248" y="3477566"/>
            <a:ext cx="180000" cy="180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cxnSp>
        <p:nvCxnSpPr>
          <p:cNvPr id="23" name="Connector: Elbow 22">
            <a:extLst>
              <a:ext uri="{FF2B5EF4-FFF2-40B4-BE49-F238E27FC236}">
                <a16:creationId xmlns:a16="http://schemas.microsoft.com/office/drawing/2014/main" id="{253FDA2C-49E0-809E-8822-478ED78E289E}"/>
              </a:ext>
            </a:extLst>
          </p:cNvPr>
          <p:cNvCxnSpPr>
            <a:cxnSpLocks/>
            <a:stCxn id="1325" idx="3"/>
            <a:endCxn id="22" idx="0"/>
          </p:cNvCxnSpPr>
          <p:nvPr/>
        </p:nvCxnSpPr>
        <p:spPr>
          <a:xfrm>
            <a:off x="9016731" y="2006720"/>
            <a:ext cx="159517" cy="1470846"/>
          </a:xfrm>
          <a:prstGeom prst="bentConnector2">
            <a:avLst/>
          </a:prstGeom>
          <a:ln w="19050" cap="rnd">
            <a:solidFill>
              <a:schemeClr val="bg2">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136F644E-CD61-A3B2-8567-0F3941BA0368}"/>
              </a:ext>
            </a:extLst>
          </p:cNvPr>
          <p:cNvSpPr/>
          <p:nvPr/>
        </p:nvSpPr>
        <p:spPr bwMode="auto">
          <a:xfrm>
            <a:off x="9475612" y="3375595"/>
            <a:ext cx="180000" cy="180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cxnSp>
        <p:nvCxnSpPr>
          <p:cNvPr id="26" name="Connector: Elbow 25">
            <a:extLst>
              <a:ext uri="{FF2B5EF4-FFF2-40B4-BE49-F238E27FC236}">
                <a16:creationId xmlns:a16="http://schemas.microsoft.com/office/drawing/2014/main" id="{78EB8F9E-4E6B-8531-CF87-72507F2653A9}"/>
              </a:ext>
            </a:extLst>
          </p:cNvPr>
          <p:cNvCxnSpPr>
            <a:cxnSpLocks/>
            <a:stCxn id="1298" idx="1"/>
            <a:endCxn id="25" idx="0"/>
          </p:cNvCxnSpPr>
          <p:nvPr/>
        </p:nvCxnSpPr>
        <p:spPr>
          <a:xfrm rot="10800000" flipV="1">
            <a:off x="9565612" y="1327347"/>
            <a:ext cx="332956" cy="2048248"/>
          </a:xfrm>
          <a:prstGeom prst="bentConnector2">
            <a:avLst/>
          </a:prstGeom>
          <a:ln w="19050" cap="rnd">
            <a:solidFill>
              <a:schemeClr val="bg2">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36" name="Rectangle 1435">
            <a:extLst>
              <a:ext uri="{FF2B5EF4-FFF2-40B4-BE49-F238E27FC236}">
                <a16:creationId xmlns:a16="http://schemas.microsoft.com/office/drawing/2014/main" id="{37E72863-B4EC-D580-7E76-C1EB80E33C51}"/>
              </a:ext>
            </a:extLst>
          </p:cNvPr>
          <p:cNvSpPr/>
          <p:nvPr/>
        </p:nvSpPr>
        <p:spPr bwMode="auto">
          <a:xfrm>
            <a:off x="6660891" y="3769792"/>
            <a:ext cx="180000" cy="180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cxnSp>
        <p:nvCxnSpPr>
          <p:cNvPr id="1437" name="Connector: Elbow 1436">
            <a:extLst>
              <a:ext uri="{FF2B5EF4-FFF2-40B4-BE49-F238E27FC236}">
                <a16:creationId xmlns:a16="http://schemas.microsoft.com/office/drawing/2014/main" id="{BB72428E-1847-E0D0-9B58-9347B7587988}"/>
              </a:ext>
            </a:extLst>
          </p:cNvPr>
          <p:cNvCxnSpPr>
            <a:cxnSpLocks/>
            <a:stCxn id="1402" idx="3"/>
            <a:endCxn id="1436" idx="2"/>
          </p:cNvCxnSpPr>
          <p:nvPr/>
        </p:nvCxnSpPr>
        <p:spPr>
          <a:xfrm flipV="1">
            <a:off x="5583697" y="3949792"/>
            <a:ext cx="1167194" cy="930509"/>
          </a:xfrm>
          <a:prstGeom prst="bentConnector2">
            <a:avLst/>
          </a:prstGeom>
          <a:ln w="19050" cap="rnd">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027" name="Rectangle 1026">
            <a:extLst>
              <a:ext uri="{FF2B5EF4-FFF2-40B4-BE49-F238E27FC236}">
                <a16:creationId xmlns:a16="http://schemas.microsoft.com/office/drawing/2014/main" id="{2D84D6A2-6C06-A304-FF2A-6A951F9A535F}"/>
              </a:ext>
            </a:extLst>
          </p:cNvPr>
          <p:cNvSpPr/>
          <p:nvPr/>
        </p:nvSpPr>
        <p:spPr bwMode="auto">
          <a:xfrm>
            <a:off x="9747153" y="3581595"/>
            <a:ext cx="180000" cy="180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sp>
        <p:nvSpPr>
          <p:cNvPr id="1030" name="Rectangle 1029">
            <a:extLst>
              <a:ext uri="{FF2B5EF4-FFF2-40B4-BE49-F238E27FC236}">
                <a16:creationId xmlns:a16="http://schemas.microsoft.com/office/drawing/2014/main" id="{A990347C-8C43-7B4E-C48D-BE71006252A9}"/>
              </a:ext>
            </a:extLst>
          </p:cNvPr>
          <p:cNvSpPr/>
          <p:nvPr/>
        </p:nvSpPr>
        <p:spPr bwMode="auto">
          <a:xfrm>
            <a:off x="9085474" y="3768030"/>
            <a:ext cx="180000" cy="180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cxnSp>
        <p:nvCxnSpPr>
          <p:cNvPr id="1031" name="Connector: Elbow 1030">
            <a:extLst>
              <a:ext uri="{FF2B5EF4-FFF2-40B4-BE49-F238E27FC236}">
                <a16:creationId xmlns:a16="http://schemas.microsoft.com/office/drawing/2014/main" id="{EE8F7B66-2685-2B4E-4EA1-66F4A5688E83}"/>
              </a:ext>
            </a:extLst>
          </p:cNvPr>
          <p:cNvCxnSpPr>
            <a:cxnSpLocks/>
            <a:stCxn id="1360" idx="3"/>
            <a:endCxn id="1030" idx="2"/>
          </p:cNvCxnSpPr>
          <p:nvPr/>
        </p:nvCxnSpPr>
        <p:spPr>
          <a:xfrm flipV="1">
            <a:off x="9017945" y="3948030"/>
            <a:ext cx="157529" cy="1491588"/>
          </a:xfrm>
          <a:prstGeom prst="bentConnector2">
            <a:avLst/>
          </a:prstGeom>
          <a:ln w="19050" cap="rnd">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032" name="Rectangle 1031">
            <a:extLst>
              <a:ext uri="{FF2B5EF4-FFF2-40B4-BE49-F238E27FC236}">
                <a16:creationId xmlns:a16="http://schemas.microsoft.com/office/drawing/2014/main" id="{414CF694-820F-0690-3748-4F572757532D}"/>
              </a:ext>
            </a:extLst>
          </p:cNvPr>
          <p:cNvSpPr/>
          <p:nvPr/>
        </p:nvSpPr>
        <p:spPr bwMode="auto">
          <a:xfrm>
            <a:off x="8835681" y="5366812"/>
            <a:ext cx="180000" cy="180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sp>
        <p:nvSpPr>
          <p:cNvPr id="1033" name="Rectangle 1032">
            <a:extLst>
              <a:ext uri="{FF2B5EF4-FFF2-40B4-BE49-F238E27FC236}">
                <a16:creationId xmlns:a16="http://schemas.microsoft.com/office/drawing/2014/main" id="{A51B9228-1A9A-A718-10E6-5497FC9A9805}"/>
              </a:ext>
            </a:extLst>
          </p:cNvPr>
          <p:cNvSpPr/>
          <p:nvPr/>
        </p:nvSpPr>
        <p:spPr bwMode="auto">
          <a:xfrm>
            <a:off x="9282102" y="3766937"/>
            <a:ext cx="180000" cy="180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cxnSp>
        <p:nvCxnSpPr>
          <p:cNvPr id="1034" name="Connector: Elbow 1033">
            <a:extLst>
              <a:ext uri="{FF2B5EF4-FFF2-40B4-BE49-F238E27FC236}">
                <a16:creationId xmlns:a16="http://schemas.microsoft.com/office/drawing/2014/main" id="{BB3E5651-3448-1BAE-CAC2-71C2D0AE953C}"/>
              </a:ext>
            </a:extLst>
          </p:cNvPr>
          <p:cNvCxnSpPr>
            <a:cxnSpLocks/>
            <a:stCxn id="1367" idx="3"/>
            <a:endCxn id="1033" idx="2"/>
          </p:cNvCxnSpPr>
          <p:nvPr/>
        </p:nvCxnSpPr>
        <p:spPr>
          <a:xfrm flipV="1">
            <a:off x="9018970" y="3946937"/>
            <a:ext cx="353132" cy="2176043"/>
          </a:xfrm>
          <a:prstGeom prst="bentConnector2">
            <a:avLst/>
          </a:prstGeom>
          <a:ln w="19050" cap="rnd">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036" name="Rectangle 1035">
            <a:extLst>
              <a:ext uri="{FF2B5EF4-FFF2-40B4-BE49-F238E27FC236}">
                <a16:creationId xmlns:a16="http://schemas.microsoft.com/office/drawing/2014/main" id="{F2973D4C-D9BF-E596-B9A2-022C29AFD7DF}"/>
              </a:ext>
            </a:extLst>
          </p:cNvPr>
          <p:cNvSpPr/>
          <p:nvPr/>
        </p:nvSpPr>
        <p:spPr bwMode="auto">
          <a:xfrm>
            <a:off x="9476838" y="3766937"/>
            <a:ext cx="180000" cy="180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cxnSp>
        <p:nvCxnSpPr>
          <p:cNvPr id="1037" name="Connector: Elbow 1036">
            <a:extLst>
              <a:ext uri="{FF2B5EF4-FFF2-40B4-BE49-F238E27FC236}">
                <a16:creationId xmlns:a16="http://schemas.microsoft.com/office/drawing/2014/main" id="{865BE761-FB31-CD00-8E47-257F9393FC66}"/>
              </a:ext>
            </a:extLst>
          </p:cNvPr>
          <p:cNvCxnSpPr>
            <a:cxnSpLocks/>
            <a:stCxn id="1381" idx="1"/>
            <a:endCxn id="1036" idx="2"/>
          </p:cNvCxnSpPr>
          <p:nvPr/>
        </p:nvCxnSpPr>
        <p:spPr>
          <a:xfrm rot="10800000">
            <a:off x="9566839" y="3946938"/>
            <a:ext cx="326531" cy="2177787"/>
          </a:xfrm>
          <a:prstGeom prst="bentConnector2">
            <a:avLst/>
          </a:prstGeom>
          <a:ln w="19050" cap="rnd">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038" name="Rectangle 1037">
            <a:extLst>
              <a:ext uri="{FF2B5EF4-FFF2-40B4-BE49-F238E27FC236}">
                <a16:creationId xmlns:a16="http://schemas.microsoft.com/office/drawing/2014/main" id="{A99AF2AE-AB6E-207B-3DD1-657078F9540A}"/>
              </a:ext>
            </a:extLst>
          </p:cNvPr>
          <p:cNvSpPr/>
          <p:nvPr/>
        </p:nvSpPr>
        <p:spPr bwMode="auto">
          <a:xfrm>
            <a:off x="9907113" y="6001846"/>
            <a:ext cx="180000" cy="180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sp>
        <p:nvSpPr>
          <p:cNvPr id="1039" name="Rectangle 1038">
            <a:extLst>
              <a:ext uri="{FF2B5EF4-FFF2-40B4-BE49-F238E27FC236}">
                <a16:creationId xmlns:a16="http://schemas.microsoft.com/office/drawing/2014/main" id="{39818960-490D-8473-37E7-1BCDD44DFC44}"/>
              </a:ext>
            </a:extLst>
          </p:cNvPr>
          <p:cNvSpPr/>
          <p:nvPr/>
        </p:nvSpPr>
        <p:spPr bwMode="auto">
          <a:xfrm>
            <a:off x="9672019" y="3766937"/>
            <a:ext cx="180000" cy="180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cxnSp>
        <p:nvCxnSpPr>
          <p:cNvPr id="1040" name="Connector: Elbow 1039">
            <a:extLst>
              <a:ext uri="{FF2B5EF4-FFF2-40B4-BE49-F238E27FC236}">
                <a16:creationId xmlns:a16="http://schemas.microsoft.com/office/drawing/2014/main" id="{36A59B4C-5B2C-C865-57B9-DAFA97EDEC44}"/>
              </a:ext>
            </a:extLst>
          </p:cNvPr>
          <p:cNvCxnSpPr>
            <a:cxnSpLocks/>
            <a:stCxn id="1374" idx="1"/>
            <a:endCxn id="1039" idx="2"/>
          </p:cNvCxnSpPr>
          <p:nvPr/>
        </p:nvCxnSpPr>
        <p:spPr>
          <a:xfrm rot="10800000">
            <a:off x="9762019" y="3946937"/>
            <a:ext cx="130644" cy="1490560"/>
          </a:xfrm>
          <a:prstGeom prst="bentConnector2">
            <a:avLst/>
          </a:prstGeom>
          <a:ln w="19050" cap="rnd">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041" name="Rectangle 1040">
            <a:extLst>
              <a:ext uri="{FF2B5EF4-FFF2-40B4-BE49-F238E27FC236}">
                <a16:creationId xmlns:a16="http://schemas.microsoft.com/office/drawing/2014/main" id="{6B584043-E8D7-B3B8-2910-0434DD76F953}"/>
              </a:ext>
            </a:extLst>
          </p:cNvPr>
          <p:cNvSpPr/>
          <p:nvPr/>
        </p:nvSpPr>
        <p:spPr bwMode="auto">
          <a:xfrm>
            <a:off x="9895153" y="5387848"/>
            <a:ext cx="180000" cy="180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sp>
        <p:nvSpPr>
          <p:cNvPr id="1059" name="Rectangle 1058">
            <a:extLst>
              <a:ext uri="{FF2B5EF4-FFF2-40B4-BE49-F238E27FC236}">
                <a16:creationId xmlns:a16="http://schemas.microsoft.com/office/drawing/2014/main" id="{72952016-A39E-F95C-DBAA-3756893BBABD}"/>
              </a:ext>
            </a:extLst>
          </p:cNvPr>
          <p:cNvSpPr/>
          <p:nvPr/>
        </p:nvSpPr>
        <p:spPr bwMode="auto">
          <a:xfrm>
            <a:off x="9746599" y="3776783"/>
            <a:ext cx="180000" cy="180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sp>
        <p:nvSpPr>
          <p:cNvPr id="1291" name="Rectangle 1290">
            <a:extLst>
              <a:ext uri="{FF2B5EF4-FFF2-40B4-BE49-F238E27FC236}">
                <a16:creationId xmlns:a16="http://schemas.microsoft.com/office/drawing/2014/main" id="{664C8C88-E63C-1D9E-E57C-B84A76B88414}"/>
              </a:ext>
            </a:extLst>
          </p:cNvPr>
          <p:cNvSpPr/>
          <p:nvPr/>
        </p:nvSpPr>
        <p:spPr bwMode="auto">
          <a:xfrm>
            <a:off x="6435718" y="3770362"/>
            <a:ext cx="180000" cy="180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cxnSp>
        <p:nvCxnSpPr>
          <p:cNvPr id="1292" name="Connector: Elbow 1291">
            <a:extLst>
              <a:ext uri="{FF2B5EF4-FFF2-40B4-BE49-F238E27FC236}">
                <a16:creationId xmlns:a16="http://schemas.microsoft.com/office/drawing/2014/main" id="{D6665EC5-5863-C996-A8C2-84F9EDE5ED14}"/>
              </a:ext>
            </a:extLst>
          </p:cNvPr>
          <p:cNvCxnSpPr>
            <a:cxnSpLocks/>
            <a:stCxn id="1423" idx="3"/>
            <a:endCxn id="1291" idx="1"/>
          </p:cNvCxnSpPr>
          <p:nvPr/>
        </p:nvCxnSpPr>
        <p:spPr>
          <a:xfrm flipV="1">
            <a:off x="5580822" y="3860362"/>
            <a:ext cx="854896" cy="347698"/>
          </a:xfrm>
          <a:prstGeom prst="bentConnector3">
            <a:avLst>
              <a:gd name="adj1" fmla="val 50000"/>
            </a:avLst>
          </a:prstGeom>
          <a:ln w="19050" cap="rnd">
            <a:solidFill>
              <a:schemeClr val="bg2">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94" name="Rectangle 1293">
            <a:extLst>
              <a:ext uri="{FF2B5EF4-FFF2-40B4-BE49-F238E27FC236}">
                <a16:creationId xmlns:a16="http://schemas.microsoft.com/office/drawing/2014/main" id="{B0BB4FCE-2AA1-F50F-5E8E-39F0921F05EB}"/>
              </a:ext>
            </a:extLst>
          </p:cNvPr>
          <p:cNvSpPr/>
          <p:nvPr/>
        </p:nvSpPr>
        <p:spPr bwMode="auto">
          <a:xfrm>
            <a:off x="6435718" y="3572785"/>
            <a:ext cx="180000" cy="180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cxnSp>
        <p:nvCxnSpPr>
          <p:cNvPr id="1295" name="Connector: Elbow 1294">
            <a:extLst>
              <a:ext uri="{FF2B5EF4-FFF2-40B4-BE49-F238E27FC236}">
                <a16:creationId xmlns:a16="http://schemas.microsoft.com/office/drawing/2014/main" id="{A1C6A22C-6ADA-89AB-011B-BFB37A7E31C5}"/>
              </a:ext>
            </a:extLst>
          </p:cNvPr>
          <p:cNvCxnSpPr>
            <a:cxnSpLocks/>
            <a:stCxn id="1409" idx="3"/>
            <a:endCxn id="1294" idx="1"/>
          </p:cNvCxnSpPr>
          <p:nvPr/>
        </p:nvCxnSpPr>
        <p:spPr>
          <a:xfrm>
            <a:off x="5582856" y="3533243"/>
            <a:ext cx="852862" cy="129542"/>
          </a:xfrm>
          <a:prstGeom prst="bentConnector3">
            <a:avLst>
              <a:gd name="adj1" fmla="val 50000"/>
            </a:avLst>
          </a:prstGeom>
          <a:ln w="19050" cap="rnd">
            <a:solidFill>
              <a:schemeClr val="bg2">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96" name="Rectangle 1295">
            <a:extLst>
              <a:ext uri="{FF2B5EF4-FFF2-40B4-BE49-F238E27FC236}">
                <a16:creationId xmlns:a16="http://schemas.microsoft.com/office/drawing/2014/main" id="{9E40B571-DA47-57CB-A6E9-D2E8477559AA}"/>
              </a:ext>
            </a:extLst>
          </p:cNvPr>
          <p:cNvSpPr/>
          <p:nvPr/>
        </p:nvSpPr>
        <p:spPr bwMode="auto">
          <a:xfrm>
            <a:off x="5406727" y="3532133"/>
            <a:ext cx="180000" cy="180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sp>
        <p:nvSpPr>
          <p:cNvPr id="1297" name="Rectangle 1296">
            <a:extLst>
              <a:ext uri="{FF2B5EF4-FFF2-40B4-BE49-F238E27FC236}">
                <a16:creationId xmlns:a16="http://schemas.microsoft.com/office/drawing/2014/main" id="{A7C3A434-400C-66C2-0719-1C634156CF68}"/>
              </a:ext>
            </a:extLst>
          </p:cNvPr>
          <p:cNvSpPr/>
          <p:nvPr/>
        </p:nvSpPr>
        <p:spPr bwMode="auto">
          <a:xfrm>
            <a:off x="6434904" y="3376671"/>
            <a:ext cx="180000" cy="180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cxnSp>
        <p:nvCxnSpPr>
          <p:cNvPr id="1304" name="Connector: Elbow 1303">
            <a:extLst>
              <a:ext uri="{FF2B5EF4-FFF2-40B4-BE49-F238E27FC236}">
                <a16:creationId xmlns:a16="http://schemas.microsoft.com/office/drawing/2014/main" id="{BF08245F-5D7E-C882-2085-2ECBD0844993}"/>
              </a:ext>
            </a:extLst>
          </p:cNvPr>
          <p:cNvCxnSpPr>
            <a:cxnSpLocks/>
            <a:stCxn id="1430" idx="3"/>
            <a:endCxn id="1297" idx="1"/>
          </p:cNvCxnSpPr>
          <p:nvPr/>
        </p:nvCxnSpPr>
        <p:spPr>
          <a:xfrm>
            <a:off x="5583844" y="2858440"/>
            <a:ext cx="851060" cy="608231"/>
          </a:xfrm>
          <a:prstGeom prst="bentConnector3">
            <a:avLst>
              <a:gd name="adj1" fmla="val 50000"/>
            </a:avLst>
          </a:prstGeom>
          <a:ln w="19050" cap="rnd">
            <a:solidFill>
              <a:schemeClr val="bg2">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12" name="Rectangle 1311">
            <a:extLst>
              <a:ext uri="{FF2B5EF4-FFF2-40B4-BE49-F238E27FC236}">
                <a16:creationId xmlns:a16="http://schemas.microsoft.com/office/drawing/2014/main" id="{799ED979-3422-416A-E574-DF866B2B418F}"/>
              </a:ext>
            </a:extLst>
          </p:cNvPr>
          <p:cNvSpPr/>
          <p:nvPr/>
        </p:nvSpPr>
        <p:spPr bwMode="auto">
          <a:xfrm>
            <a:off x="6661350" y="3347670"/>
            <a:ext cx="180000" cy="180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cxnSp>
        <p:nvCxnSpPr>
          <p:cNvPr id="1313" name="Connector: Elbow 1312">
            <a:extLst>
              <a:ext uri="{FF2B5EF4-FFF2-40B4-BE49-F238E27FC236}">
                <a16:creationId xmlns:a16="http://schemas.microsoft.com/office/drawing/2014/main" id="{31373BFE-4AE3-B035-43D2-787406691778}"/>
              </a:ext>
            </a:extLst>
          </p:cNvPr>
          <p:cNvCxnSpPr>
            <a:cxnSpLocks/>
            <a:stCxn id="1395" idx="3"/>
            <a:endCxn id="1312" idx="0"/>
          </p:cNvCxnSpPr>
          <p:nvPr/>
        </p:nvCxnSpPr>
        <p:spPr>
          <a:xfrm>
            <a:off x="5576461" y="2185630"/>
            <a:ext cx="1174889" cy="1162040"/>
          </a:xfrm>
          <a:prstGeom prst="bentConnector2">
            <a:avLst/>
          </a:prstGeom>
          <a:ln w="19050" cap="rnd">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472" name="Rectangle 1471">
            <a:extLst>
              <a:ext uri="{FF2B5EF4-FFF2-40B4-BE49-F238E27FC236}">
                <a16:creationId xmlns:a16="http://schemas.microsoft.com/office/drawing/2014/main" id="{FB419224-16F5-809F-A83B-437E829D888B}"/>
              </a:ext>
            </a:extLst>
          </p:cNvPr>
          <p:cNvSpPr/>
          <p:nvPr/>
        </p:nvSpPr>
        <p:spPr bwMode="auto">
          <a:xfrm>
            <a:off x="6852570" y="3346744"/>
            <a:ext cx="180000" cy="180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sp>
        <p:nvSpPr>
          <p:cNvPr id="1485" name="Rectangle 1484">
            <a:extLst>
              <a:ext uri="{FF2B5EF4-FFF2-40B4-BE49-F238E27FC236}">
                <a16:creationId xmlns:a16="http://schemas.microsoft.com/office/drawing/2014/main" id="{CD36EEF4-CB0E-0686-3B04-9E8E88EBDDC7}"/>
              </a:ext>
            </a:extLst>
          </p:cNvPr>
          <p:cNvSpPr/>
          <p:nvPr/>
        </p:nvSpPr>
        <p:spPr bwMode="auto">
          <a:xfrm>
            <a:off x="6853378" y="3769288"/>
            <a:ext cx="180000" cy="1800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cxnSp>
        <p:nvCxnSpPr>
          <p:cNvPr id="1486" name="Connector: Elbow 1485">
            <a:extLst>
              <a:ext uri="{FF2B5EF4-FFF2-40B4-BE49-F238E27FC236}">
                <a16:creationId xmlns:a16="http://schemas.microsoft.com/office/drawing/2014/main" id="{B6723C5E-7630-E420-75E2-6148579A4D22}"/>
              </a:ext>
            </a:extLst>
          </p:cNvPr>
          <p:cNvCxnSpPr>
            <a:cxnSpLocks/>
            <a:stCxn id="1440" idx="3"/>
            <a:endCxn id="1485" idx="2"/>
          </p:cNvCxnSpPr>
          <p:nvPr/>
        </p:nvCxnSpPr>
        <p:spPr>
          <a:xfrm flipV="1">
            <a:off x="5585300" y="3949288"/>
            <a:ext cx="1358078" cy="2012309"/>
          </a:xfrm>
          <a:prstGeom prst="bentConnector2">
            <a:avLst/>
          </a:prstGeom>
          <a:ln w="19050" cap="rnd">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496" name="Straight Arrow Connector 1495">
            <a:extLst>
              <a:ext uri="{FF2B5EF4-FFF2-40B4-BE49-F238E27FC236}">
                <a16:creationId xmlns:a16="http://schemas.microsoft.com/office/drawing/2014/main" id="{12AD424B-BAFD-1F18-B03A-965246C1CE84}"/>
              </a:ext>
            </a:extLst>
          </p:cNvPr>
          <p:cNvCxnSpPr>
            <a:cxnSpLocks/>
          </p:cNvCxnSpPr>
          <p:nvPr/>
        </p:nvCxnSpPr>
        <p:spPr>
          <a:xfrm>
            <a:off x="7252968" y="3668603"/>
            <a:ext cx="1764000" cy="0"/>
          </a:xfrm>
          <a:prstGeom prst="straightConnector1">
            <a:avLst/>
          </a:prstGeom>
          <a:ln w="19050" cap="rnd">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479" name="Group 1478">
            <a:extLst>
              <a:ext uri="{FF2B5EF4-FFF2-40B4-BE49-F238E27FC236}">
                <a16:creationId xmlns:a16="http://schemas.microsoft.com/office/drawing/2014/main" id="{5DD577E2-FB03-8B72-2309-AD33E9B88B4E}"/>
              </a:ext>
            </a:extLst>
          </p:cNvPr>
          <p:cNvGrpSpPr/>
          <p:nvPr/>
        </p:nvGrpSpPr>
        <p:grpSpPr>
          <a:xfrm>
            <a:off x="9078864" y="2999196"/>
            <a:ext cx="180000" cy="180000"/>
            <a:chOff x="-63970" y="3948402"/>
            <a:chExt cx="180000" cy="180000"/>
          </a:xfrm>
        </p:grpSpPr>
        <p:sp>
          <p:nvSpPr>
            <p:cNvPr id="1480" name="Rectangle 1479">
              <a:extLst>
                <a:ext uri="{FF2B5EF4-FFF2-40B4-BE49-F238E27FC236}">
                  <a16:creationId xmlns:a16="http://schemas.microsoft.com/office/drawing/2014/main" id="{49D31DAE-8D56-FF54-570C-D766FA93E4EA}"/>
                </a:ext>
              </a:extLst>
            </p:cNvPr>
            <p:cNvSpPr/>
            <p:nvPr/>
          </p:nvSpPr>
          <p:spPr bwMode="auto">
            <a:xfrm>
              <a:off x="-63970" y="3948402"/>
              <a:ext cx="180000" cy="180000"/>
            </a:xfrm>
            <a:prstGeom prst="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1481" name="Graphic 1480" descr="Box with solid fill">
              <a:extLst>
                <a:ext uri="{FF2B5EF4-FFF2-40B4-BE49-F238E27FC236}">
                  <a16:creationId xmlns:a16="http://schemas.microsoft.com/office/drawing/2014/main" id="{9AA9A378-8125-9B9C-12A1-8009B300C8AB}"/>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904" y="3970112"/>
              <a:ext cx="144000" cy="144000"/>
            </a:xfrm>
            <a:prstGeom prst="rect">
              <a:avLst/>
            </a:prstGeom>
          </p:spPr>
        </p:pic>
      </p:grpSp>
      <p:grpSp>
        <p:nvGrpSpPr>
          <p:cNvPr id="1482" name="Group 1481">
            <a:extLst>
              <a:ext uri="{FF2B5EF4-FFF2-40B4-BE49-F238E27FC236}">
                <a16:creationId xmlns:a16="http://schemas.microsoft.com/office/drawing/2014/main" id="{C054BB01-3AB8-CB6C-6E1B-EA9C2D4C3B3D}"/>
              </a:ext>
            </a:extLst>
          </p:cNvPr>
          <p:cNvGrpSpPr/>
          <p:nvPr/>
        </p:nvGrpSpPr>
        <p:grpSpPr>
          <a:xfrm>
            <a:off x="9672019" y="2998095"/>
            <a:ext cx="180000" cy="180000"/>
            <a:chOff x="-237377" y="4301626"/>
            <a:chExt cx="180000" cy="180000"/>
          </a:xfrm>
        </p:grpSpPr>
        <p:sp>
          <p:nvSpPr>
            <p:cNvPr id="1483" name="Rectangle 1482">
              <a:extLst>
                <a:ext uri="{FF2B5EF4-FFF2-40B4-BE49-F238E27FC236}">
                  <a16:creationId xmlns:a16="http://schemas.microsoft.com/office/drawing/2014/main" id="{A5905007-2E4E-EA98-6E49-BD4EEF093601}"/>
                </a:ext>
              </a:extLst>
            </p:cNvPr>
            <p:cNvSpPr/>
            <p:nvPr/>
          </p:nvSpPr>
          <p:spPr bwMode="auto">
            <a:xfrm>
              <a:off x="-237377" y="4301626"/>
              <a:ext cx="180000" cy="180000"/>
            </a:xfrm>
            <a:prstGeom prst="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1484" name="Graphic 1483" descr="Lock with solid fill">
              <a:extLst>
                <a:ext uri="{FF2B5EF4-FFF2-40B4-BE49-F238E27FC236}">
                  <a16:creationId xmlns:a16="http://schemas.microsoft.com/office/drawing/2014/main" id="{662EC939-2ECE-6AD7-3E21-A7591D1D882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19377" y="4320657"/>
              <a:ext cx="144000" cy="144000"/>
            </a:xfrm>
            <a:prstGeom prst="rect">
              <a:avLst/>
            </a:prstGeom>
          </p:spPr>
        </p:pic>
      </p:grpSp>
      <p:grpSp>
        <p:nvGrpSpPr>
          <p:cNvPr id="1488" name="Group 1487">
            <a:extLst>
              <a:ext uri="{FF2B5EF4-FFF2-40B4-BE49-F238E27FC236}">
                <a16:creationId xmlns:a16="http://schemas.microsoft.com/office/drawing/2014/main" id="{B0D8DC09-F24B-AF8E-8DB8-0DD496501D06}"/>
              </a:ext>
            </a:extLst>
          </p:cNvPr>
          <p:cNvGrpSpPr/>
          <p:nvPr/>
        </p:nvGrpSpPr>
        <p:grpSpPr>
          <a:xfrm>
            <a:off x="9281236" y="2865794"/>
            <a:ext cx="180000" cy="180000"/>
            <a:chOff x="-280279" y="4577743"/>
            <a:chExt cx="180000" cy="180000"/>
          </a:xfrm>
        </p:grpSpPr>
        <p:sp>
          <p:nvSpPr>
            <p:cNvPr id="1489" name="Rectangle 1488">
              <a:extLst>
                <a:ext uri="{FF2B5EF4-FFF2-40B4-BE49-F238E27FC236}">
                  <a16:creationId xmlns:a16="http://schemas.microsoft.com/office/drawing/2014/main" id="{2E2F94B0-1DD0-8F6E-3DEF-5394B7862CB8}"/>
                </a:ext>
              </a:extLst>
            </p:cNvPr>
            <p:cNvSpPr/>
            <p:nvPr/>
          </p:nvSpPr>
          <p:spPr bwMode="auto">
            <a:xfrm>
              <a:off x="-280279" y="4577743"/>
              <a:ext cx="180000" cy="180000"/>
            </a:xfrm>
            <a:prstGeom prst="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1490" name="Graphic 1489" descr="Box trolley with solid fill">
              <a:extLst>
                <a:ext uri="{FF2B5EF4-FFF2-40B4-BE49-F238E27FC236}">
                  <a16:creationId xmlns:a16="http://schemas.microsoft.com/office/drawing/2014/main" id="{A7706BEB-49FB-A248-B07F-669B625555C8}"/>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62617" y="4595217"/>
              <a:ext cx="144000" cy="144000"/>
            </a:xfrm>
            <a:prstGeom prst="rect">
              <a:avLst/>
            </a:prstGeom>
          </p:spPr>
        </p:pic>
      </p:grpSp>
      <p:grpSp>
        <p:nvGrpSpPr>
          <p:cNvPr id="1495" name="Group 1494">
            <a:extLst>
              <a:ext uri="{FF2B5EF4-FFF2-40B4-BE49-F238E27FC236}">
                <a16:creationId xmlns:a16="http://schemas.microsoft.com/office/drawing/2014/main" id="{10BBD6E5-C7D4-89EE-5DC3-EDA1BB3EECA7}"/>
              </a:ext>
            </a:extLst>
          </p:cNvPr>
          <p:cNvGrpSpPr/>
          <p:nvPr/>
        </p:nvGrpSpPr>
        <p:grpSpPr>
          <a:xfrm>
            <a:off x="9472302" y="2864895"/>
            <a:ext cx="180000" cy="180000"/>
            <a:chOff x="11825288" y="1426980"/>
            <a:chExt cx="180000" cy="180000"/>
          </a:xfrm>
        </p:grpSpPr>
        <p:sp>
          <p:nvSpPr>
            <p:cNvPr id="1497" name="Rectangle 1496">
              <a:extLst>
                <a:ext uri="{FF2B5EF4-FFF2-40B4-BE49-F238E27FC236}">
                  <a16:creationId xmlns:a16="http://schemas.microsoft.com/office/drawing/2014/main" id="{E13471E2-45DC-D12F-750D-EB42CE1EFF5D}"/>
                </a:ext>
              </a:extLst>
            </p:cNvPr>
            <p:cNvSpPr/>
            <p:nvPr/>
          </p:nvSpPr>
          <p:spPr bwMode="auto">
            <a:xfrm>
              <a:off x="11825288" y="1426980"/>
              <a:ext cx="180000" cy="180000"/>
            </a:xfrm>
            <a:prstGeom prst="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1498" name="Graphic 1497" descr="Adhesive Bandage with solid fill">
              <a:extLst>
                <a:ext uri="{FF2B5EF4-FFF2-40B4-BE49-F238E27FC236}">
                  <a16:creationId xmlns:a16="http://schemas.microsoft.com/office/drawing/2014/main" id="{24AD48F3-D4D8-4314-B498-132019F848E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843288" y="1447998"/>
              <a:ext cx="144000" cy="144000"/>
            </a:xfrm>
            <a:prstGeom prst="rect">
              <a:avLst/>
            </a:prstGeom>
          </p:spPr>
        </p:pic>
      </p:grpSp>
      <p:sp>
        <p:nvSpPr>
          <p:cNvPr id="1318" name="Rectangle: Rounded Corners 1317">
            <a:extLst>
              <a:ext uri="{FF2B5EF4-FFF2-40B4-BE49-F238E27FC236}">
                <a16:creationId xmlns:a16="http://schemas.microsoft.com/office/drawing/2014/main" id="{C66A07DA-768F-91F5-0288-737CA06E8B0D}"/>
              </a:ext>
            </a:extLst>
          </p:cNvPr>
          <p:cNvSpPr/>
          <p:nvPr/>
        </p:nvSpPr>
        <p:spPr bwMode="auto">
          <a:xfrm>
            <a:off x="7936353" y="1049165"/>
            <a:ext cx="1080000" cy="547755"/>
          </a:xfrm>
          <a:prstGeom prst="roundRect">
            <a:avLst>
              <a:gd name="adj" fmla="val 7101"/>
            </a:avLst>
          </a:prstGeom>
          <a:noFill/>
          <a:ln w="12700">
            <a:solidFill>
              <a:schemeClr val="bg2">
                <a:lumMod val="40000"/>
                <a:lumOff val="60000"/>
              </a:schemeClr>
            </a:solidFill>
            <a:prstDash val="dash"/>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pPr>
              <a:spcBef>
                <a:spcPts val="30"/>
              </a:spcBef>
              <a:spcAft>
                <a:spcPts val="30"/>
              </a:spcAft>
            </a:pPr>
            <a:r>
              <a:rPr lang="en-GB" sz="1000" b="1">
                <a:solidFill>
                  <a:schemeClr val="bg2">
                    <a:lumMod val="40000"/>
                    <a:lumOff val="60000"/>
                  </a:schemeClr>
                </a:solidFill>
              </a:rPr>
              <a:t>Autopilot</a:t>
            </a:r>
            <a:endParaRPr lang="en-GB" sz="1000" b="1" noProof="0">
              <a:solidFill>
                <a:schemeClr val="bg2">
                  <a:lumMod val="40000"/>
                  <a:lumOff val="60000"/>
                </a:schemeClr>
              </a:solidFill>
            </a:endParaRPr>
          </a:p>
          <a:p>
            <a:pPr marL="92075" indent="-92075">
              <a:spcBef>
                <a:spcPts val="30"/>
              </a:spcBef>
              <a:spcAft>
                <a:spcPts val="30"/>
              </a:spcAft>
              <a:buClr>
                <a:schemeClr val="bg2">
                  <a:lumMod val="40000"/>
                  <a:lumOff val="60000"/>
                </a:schemeClr>
              </a:buClr>
              <a:buFont typeface="Arial" panose="020B0604020202020204" pitchFamily="34" charset="0"/>
              <a:buChar char="•"/>
            </a:pPr>
            <a:r>
              <a:rPr lang="en-GB" sz="850">
                <a:solidFill>
                  <a:schemeClr val="bg2">
                    <a:lumMod val="40000"/>
                    <a:lumOff val="60000"/>
                  </a:schemeClr>
                </a:solidFill>
              </a:rPr>
              <a:t>OS Enrolment</a:t>
            </a:r>
          </a:p>
          <a:p>
            <a:pPr marL="92075" indent="-92075">
              <a:spcBef>
                <a:spcPts val="30"/>
              </a:spcBef>
              <a:spcAft>
                <a:spcPts val="30"/>
              </a:spcAft>
              <a:buClr>
                <a:schemeClr val="bg2">
                  <a:lumMod val="40000"/>
                  <a:lumOff val="60000"/>
                </a:schemeClr>
              </a:buClr>
              <a:buFont typeface="Arial" panose="020B0604020202020204" pitchFamily="34" charset="0"/>
              <a:buChar char="•"/>
            </a:pPr>
            <a:r>
              <a:rPr lang="en-GB" sz="850">
                <a:solidFill>
                  <a:schemeClr val="bg2">
                    <a:lumMod val="40000"/>
                    <a:lumOff val="60000"/>
                  </a:schemeClr>
                </a:solidFill>
              </a:rPr>
              <a:t>OS Provisioning</a:t>
            </a:r>
          </a:p>
          <a:p>
            <a:pPr>
              <a:spcBef>
                <a:spcPts val="30"/>
              </a:spcBef>
              <a:spcAft>
                <a:spcPts val="30"/>
              </a:spcAft>
            </a:pPr>
            <a:endParaRPr lang="en-GB" sz="1100" noProof="0">
              <a:solidFill>
                <a:schemeClr val="bg2">
                  <a:lumMod val="50000"/>
                </a:schemeClr>
              </a:solidFill>
            </a:endParaRPr>
          </a:p>
        </p:txBody>
      </p:sp>
      <p:pic>
        <p:nvPicPr>
          <p:cNvPr id="1084" name="Graphic 1083" descr="Box trolley with solid fill">
            <a:extLst>
              <a:ext uri="{FF2B5EF4-FFF2-40B4-BE49-F238E27FC236}">
                <a16:creationId xmlns:a16="http://schemas.microsoft.com/office/drawing/2014/main" id="{90123FFE-61DE-9B2B-F836-44F26B37E6B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787772" y="1084322"/>
            <a:ext cx="180000" cy="180000"/>
          </a:xfrm>
          <a:prstGeom prst="rect">
            <a:avLst/>
          </a:prstGeom>
        </p:spPr>
      </p:pic>
      <p:grpSp>
        <p:nvGrpSpPr>
          <p:cNvPr id="1502" name="Group 1501">
            <a:extLst>
              <a:ext uri="{FF2B5EF4-FFF2-40B4-BE49-F238E27FC236}">
                <a16:creationId xmlns:a16="http://schemas.microsoft.com/office/drawing/2014/main" id="{C62C223A-1FE1-2F12-86C4-39D52C0B65BC}"/>
              </a:ext>
            </a:extLst>
          </p:cNvPr>
          <p:cNvGrpSpPr>
            <a:grpSpLocks noChangeAspect="1"/>
          </p:cNvGrpSpPr>
          <p:nvPr/>
        </p:nvGrpSpPr>
        <p:grpSpPr>
          <a:xfrm>
            <a:off x="8391815" y="1531967"/>
            <a:ext cx="566100" cy="133200"/>
            <a:chOff x="9474740" y="1844930"/>
            <a:chExt cx="803675" cy="189100"/>
          </a:xfrm>
        </p:grpSpPr>
        <p:sp>
          <p:nvSpPr>
            <p:cNvPr id="1500" name="Rectangle: Rounded Corners 1499">
              <a:extLst>
                <a:ext uri="{FF2B5EF4-FFF2-40B4-BE49-F238E27FC236}">
                  <a16:creationId xmlns:a16="http://schemas.microsoft.com/office/drawing/2014/main" id="{5AB02DE9-013C-C154-5FBA-F0226C516657}"/>
                </a:ext>
              </a:extLst>
            </p:cNvPr>
            <p:cNvSpPr/>
            <p:nvPr/>
          </p:nvSpPr>
          <p:spPr bwMode="auto">
            <a:xfrm>
              <a:off x="9474740" y="1844930"/>
              <a:ext cx="803675" cy="189100"/>
            </a:xfrm>
            <a:prstGeom prst="round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1501" name="Picture 2">
              <a:extLst>
                <a:ext uri="{FF2B5EF4-FFF2-40B4-BE49-F238E27FC236}">
                  <a16:creationId xmlns:a16="http://schemas.microsoft.com/office/drawing/2014/main" id="{9C1CD9DB-8F17-22D2-C3CE-62A4D70B172E}"/>
                </a:ext>
              </a:extLst>
            </p:cNvPr>
            <p:cNvPicPr>
              <a:picLocks noChangeAspect="1" noChangeArrowheads="1"/>
            </p:cNvPicPr>
            <p:nvPr/>
          </p:nvPicPr>
          <p:blipFill rotWithShape="1">
            <a:blip r:embed="rId9" cstate="print">
              <a:duotone>
                <a:schemeClr val="bg2">
                  <a:shade val="45000"/>
                  <a:satMod val="135000"/>
                </a:schemeClr>
                <a:prstClr val="white"/>
              </a:duotone>
              <a:extLst>
                <a:ext uri="{BEBA8EAE-BF5A-486C-A8C5-ECC9F3942E4B}">
                  <a14:imgProps xmlns:a14="http://schemas.microsoft.com/office/drawing/2010/main">
                    <a14:imgLayer r:embed="rId10">
                      <a14:imgEffect>
                        <a14:brightnessContrast bright="30000"/>
                      </a14:imgEffect>
                    </a14:imgLayer>
                  </a14:imgProps>
                </a:ext>
                <a:ext uri="{28A0092B-C50C-407E-A947-70E740481C1C}">
                  <a14:useLocalDpi xmlns:a14="http://schemas.microsoft.com/office/drawing/2010/main" val="0"/>
                </a:ext>
              </a:extLst>
            </a:blip>
            <a:srcRect l="-2" r="-5699"/>
            <a:stretch>
              <a:fillRect/>
            </a:stretch>
          </p:blipFill>
          <p:spPr bwMode="auto">
            <a:xfrm>
              <a:off x="9523777" y="1865136"/>
              <a:ext cx="741796" cy="149678"/>
            </a:xfrm>
            <a:prstGeom prst="rect">
              <a:avLst/>
            </a:prstGeom>
            <a:noFill/>
            <a:extLst>
              <a:ext uri="{909E8E84-426E-40DD-AFC4-6F175D3DCCD1}">
                <a14:hiddenFill xmlns:a14="http://schemas.microsoft.com/office/drawing/2010/main">
                  <a:solidFill>
                    <a:srgbClr val="FFFFFF"/>
                  </a:solidFill>
                </a14:hiddenFill>
              </a:ext>
            </a:extLst>
          </p:spPr>
        </p:pic>
      </p:grpSp>
      <p:sp>
        <p:nvSpPr>
          <p:cNvPr id="1332" name="Rectangle: Rounded Corners 1331">
            <a:extLst>
              <a:ext uri="{FF2B5EF4-FFF2-40B4-BE49-F238E27FC236}">
                <a16:creationId xmlns:a16="http://schemas.microsoft.com/office/drawing/2014/main" id="{77608DA2-45FF-6B66-5B62-0E68EB0B1568}"/>
              </a:ext>
            </a:extLst>
          </p:cNvPr>
          <p:cNvSpPr/>
          <p:nvPr/>
        </p:nvSpPr>
        <p:spPr bwMode="auto">
          <a:xfrm>
            <a:off x="9898104" y="1730905"/>
            <a:ext cx="1080000" cy="547755"/>
          </a:xfrm>
          <a:prstGeom prst="roundRect">
            <a:avLst>
              <a:gd name="adj" fmla="val 7101"/>
            </a:avLst>
          </a:prstGeom>
          <a:noFill/>
          <a:ln w="12700">
            <a:solidFill>
              <a:schemeClr val="tx2"/>
            </a:solidFill>
            <a:prstDash val="dash"/>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pPr>
              <a:spcBef>
                <a:spcPts val="30"/>
              </a:spcBef>
              <a:spcAft>
                <a:spcPts val="30"/>
              </a:spcAft>
            </a:pPr>
            <a:r>
              <a:rPr lang="en-GB" sz="1000" b="1">
                <a:solidFill>
                  <a:schemeClr val="tx2"/>
                </a:solidFill>
              </a:rPr>
              <a:t>Entra ID</a:t>
            </a:r>
            <a:endParaRPr lang="en-GB" sz="1000" b="1" noProof="0">
              <a:solidFill>
                <a:schemeClr val="tx2"/>
              </a:solidFill>
            </a:endParaRPr>
          </a:p>
          <a:p>
            <a:pPr marL="92075" indent="-92075">
              <a:spcBef>
                <a:spcPts val="30"/>
              </a:spcBef>
              <a:spcAft>
                <a:spcPts val="30"/>
              </a:spcAft>
              <a:buClr>
                <a:schemeClr val="tx2"/>
              </a:buClr>
              <a:buFont typeface="Arial" panose="020B0604020202020204" pitchFamily="34" charset="0"/>
              <a:buChar char="•"/>
            </a:pPr>
            <a:r>
              <a:rPr lang="en-GB" sz="850">
                <a:solidFill>
                  <a:schemeClr val="bg2">
                    <a:lumMod val="50000"/>
                  </a:schemeClr>
                </a:solidFill>
              </a:rPr>
              <a:t>Authentication</a:t>
            </a:r>
          </a:p>
          <a:p>
            <a:pPr marL="92075" indent="-92075">
              <a:spcBef>
                <a:spcPts val="30"/>
              </a:spcBef>
              <a:spcAft>
                <a:spcPts val="30"/>
              </a:spcAft>
              <a:buClr>
                <a:schemeClr val="tx2"/>
              </a:buClr>
              <a:buFont typeface="Arial" panose="020B0604020202020204" pitchFamily="34" charset="0"/>
              <a:buChar char="•"/>
            </a:pPr>
            <a:r>
              <a:rPr lang="en-GB" sz="850">
                <a:solidFill>
                  <a:schemeClr val="bg2">
                    <a:lumMod val="50000"/>
                  </a:schemeClr>
                </a:solidFill>
              </a:rPr>
              <a:t>Authorisation</a:t>
            </a:r>
          </a:p>
          <a:p>
            <a:pPr>
              <a:spcBef>
                <a:spcPts val="30"/>
              </a:spcBef>
              <a:spcAft>
                <a:spcPts val="30"/>
              </a:spcAft>
            </a:pPr>
            <a:endParaRPr lang="en-GB" sz="1100" noProof="0">
              <a:solidFill>
                <a:schemeClr val="bg2">
                  <a:lumMod val="50000"/>
                </a:schemeClr>
              </a:solidFill>
            </a:endParaRPr>
          </a:p>
        </p:txBody>
      </p:sp>
      <p:pic>
        <p:nvPicPr>
          <p:cNvPr id="1083" name="Graphic 1082" descr="Lock with solid fill">
            <a:extLst>
              <a:ext uri="{FF2B5EF4-FFF2-40B4-BE49-F238E27FC236}">
                <a16:creationId xmlns:a16="http://schemas.microsoft.com/office/drawing/2014/main" id="{31B5A70B-7B5D-BB5C-49CF-CF1E7E61F87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757396" y="1765227"/>
            <a:ext cx="180000" cy="180000"/>
          </a:xfrm>
          <a:prstGeom prst="rect">
            <a:avLst/>
          </a:prstGeom>
        </p:spPr>
      </p:pic>
      <p:grpSp>
        <p:nvGrpSpPr>
          <p:cNvPr id="1503" name="Group 1502">
            <a:extLst>
              <a:ext uri="{FF2B5EF4-FFF2-40B4-BE49-F238E27FC236}">
                <a16:creationId xmlns:a16="http://schemas.microsoft.com/office/drawing/2014/main" id="{8A9A072A-9551-1767-1E68-0C0C24AC4598}"/>
              </a:ext>
            </a:extLst>
          </p:cNvPr>
          <p:cNvGrpSpPr>
            <a:grpSpLocks noChangeAspect="1"/>
          </p:cNvGrpSpPr>
          <p:nvPr/>
        </p:nvGrpSpPr>
        <p:grpSpPr>
          <a:xfrm>
            <a:off x="10362045" y="2210542"/>
            <a:ext cx="566100" cy="133200"/>
            <a:chOff x="9474740" y="1844930"/>
            <a:chExt cx="803675" cy="189100"/>
          </a:xfrm>
        </p:grpSpPr>
        <p:sp>
          <p:nvSpPr>
            <p:cNvPr id="1504" name="Rectangle: Rounded Corners 1503">
              <a:extLst>
                <a:ext uri="{FF2B5EF4-FFF2-40B4-BE49-F238E27FC236}">
                  <a16:creationId xmlns:a16="http://schemas.microsoft.com/office/drawing/2014/main" id="{0083EF56-C739-D991-4F59-B90C2B774A4D}"/>
                </a:ext>
              </a:extLst>
            </p:cNvPr>
            <p:cNvSpPr/>
            <p:nvPr/>
          </p:nvSpPr>
          <p:spPr bwMode="auto">
            <a:xfrm>
              <a:off x="9474740" y="1844930"/>
              <a:ext cx="803675" cy="189100"/>
            </a:xfrm>
            <a:prstGeom prst="round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1505" name="Picture 2">
              <a:extLst>
                <a:ext uri="{FF2B5EF4-FFF2-40B4-BE49-F238E27FC236}">
                  <a16:creationId xmlns:a16="http://schemas.microsoft.com/office/drawing/2014/main" id="{07B21A77-9F2E-1F8E-1304-9BDB9B004902}"/>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2" r="-5699"/>
            <a:stretch>
              <a:fillRect/>
            </a:stretch>
          </p:blipFill>
          <p:spPr bwMode="auto">
            <a:xfrm>
              <a:off x="9523777" y="1865136"/>
              <a:ext cx="741796" cy="149678"/>
            </a:xfrm>
            <a:prstGeom prst="rect">
              <a:avLst/>
            </a:prstGeom>
            <a:noFill/>
            <a:extLst>
              <a:ext uri="{909E8E84-426E-40DD-AFC4-6F175D3DCCD1}">
                <a14:hiddenFill xmlns:a14="http://schemas.microsoft.com/office/drawing/2010/main">
                  <a:solidFill>
                    <a:srgbClr val="FFFFFF"/>
                  </a:solidFill>
                </a14:hiddenFill>
              </a:ext>
            </a:extLst>
          </p:spPr>
        </p:pic>
      </p:grpSp>
      <p:sp>
        <p:nvSpPr>
          <p:cNvPr id="1298" name="Rectangle: Rounded Corners 1297">
            <a:extLst>
              <a:ext uri="{FF2B5EF4-FFF2-40B4-BE49-F238E27FC236}">
                <a16:creationId xmlns:a16="http://schemas.microsoft.com/office/drawing/2014/main" id="{B5F2C771-923E-3C0D-1410-2E4F73AFD4F7}"/>
              </a:ext>
            </a:extLst>
          </p:cNvPr>
          <p:cNvSpPr/>
          <p:nvPr/>
        </p:nvSpPr>
        <p:spPr bwMode="auto">
          <a:xfrm>
            <a:off x="9898568" y="1053469"/>
            <a:ext cx="1080000" cy="547755"/>
          </a:xfrm>
          <a:prstGeom prst="roundRect">
            <a:avLst>
              <a:gd name="adj" fmla="val 7101"/>
            </a:avLst>
          </a:prstGeom>
          <a:noFill/>
          <a:ln w="12700">
            <a:solidFill>
              <a:schemeClr val="bg2">
                <a:lumMod val="40000"/>
                <a:lumOff val="60000"/>
              </a:schemeClr>
            </a:solidFill>
            <a:prstDash val="dash"/>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pPr>
              <a:spcBef>
                <a:spcPts val="30"/>
              </a:spcBef>
              <a:spcAft>
                <a:spcPts val="30"/>
              </a:spcAft>
            </a:pPr>
            <a:r>
              <a:rPr lang="en-GB" sz="1000" b="1">
                <a:solidFill>
                  <a:schemeClr val="bg2">
                    <a:lumMod val="40000"/>
                    <a:lumOff val="60000"/>
                  </a:schemeClr>
                </a:solidFill>
              </a:rPr>
              <a:t>WU4B</a:t>
            </a:r>
            <a:endParaRPr lang="en-GB" sz="1000" b="1" noProof="0">
              <a:solidFill>
                <a:schemeClr val="bg2">
                  <a:lumMod val="40000"/>
                  <a:lumOff val="60000"/>
                </a:schemeClr>
              </a:solidFill>
            </a:endParaRPr>
          </a:p>
          <a:p>
            <a:pPr marL="92075" indent="-92075">
              <a:spcBef>
                <a:spcPts val="30"/>
              </a:spcBef>
              <a:spcAft>
                <a:spcPts val="30"/>
              </a:spcAft>
              <a:buClr>
                <a:schemeClr val="bg2">
                  <a:lumMod val="40000"/>
                  <a:lumOff val="60000"/>
                </a:schemeClr>
              </a:buClr>
              <a:buFont typeface="Arial" panose="020B0604020202020204" pitchFamily="34" charset="0"/>
              <a:buChar char="•"/>
            </a:pPr>
            <a:r>
              <a:rPr lang="en-GB" sz="850">
                <a:solidFill>
                  <a:schemeClr val="bg2">
                    <a:lumMod val="40000"/>
                    <a:lumOff val="60000"/>
                  </a:schemeClr>
                </a:solidFill>
              </a:rPr>
              <a:t>Win Updates</a:t>
            </a:r>
          </a:p>
          <a:p>
            <a:pPr marL="92075" indent="-92075">
              <a:spcBef>
                <a:spcPts val="30"/>
              </a:spcBef>
              <a:spcAft>
                <a:spcPts val="30"/>
              </a:spcAft>
              <a:buClr>
                <a:schemeClr val="bg2">
                  <a:lumMod val="40000"/>
                  <a:lumOff val="60000"/>
                </a:schemeClr>
              </a:buClr>
              <a:buFont typeface="Arial" panose="020B0604020202020204" pitchFamily="34" charset="0"/>
              <a:buChar char="•"/>
            </a:pPr>
            <a:r>
              <a:rPr lang="en-GB" sz="850">
                <a:solidFill>
                  <a:schemeClr val="bg2">
                    <a:lumMod val="40000"/>
                    <a:lumOff val="60000"/>
                  </a:schemeClr>
                </a:solidFill>
              </a:rPr>
              <a:t>Driver Updates</a:t>
            </a:r>
          </a:p>
          <a:p>
            <a:pPr>
              <a:spcBef>
                <a:spcPts val="30"/>
              </a:spcBef>
              <a:spcAft>
                <a:spcPts val="30"/>
              </a:spcAft>
            </a:pPr>
            <a:endParaRPr lang="en-GB" sz="1100" noProof="0">
              <a:solidFill>
                <a:schemeClr val="bg2">
                  <a:lumMod val="50000"/>
                </a:schemeClr>
              </a:solidFill>
            </a:endParaRPr>
          </a:p>
        </p:txBody>
      </p:sp>
      <p:pic>
        <p:nvPicPr>
          <p:cNvPr id="1494" name="Graphic 1493" descr="Adhesive Bandage with solid fill">
            <a:extLst>
              <a:ext uri="{FF2B5EF4-FFF2-40B4-BE49-F238E27FC236}">
                <a16:creationId xmlns:a16="http://schemas.microsoft.com/office/drawing/2014/main" id="{B7C63CE6-9A70-40B8-EEFD-E2214FF317E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751084" y="1081687"/>
            <a:ext cx="180000" cy="180000"/>
          </a:xfrm>
          <a:prstGeom prst="rect">
            <a:avLst/>
          </a:prstGeom>
        </p:spPr>
      </p:pic>
      <p:grpSp>
        <p:nvGrpSpPr>
          <p:cNvPr id="1506" name="Group 1505">
            <a:extLst>
              <a:ext uri="{FF2B5EF4-FFF2-40B4-BE49-F238E27FC236}">
                <a16:creationId xmlns:a16="http://schemas.microsoft.com/office/drawing/2014/main" id="{6BB56B84-BD62-0928-57FE-D16873844357}"/>
              </a:ext>
            </a:extLst>
          </p:cNvPr>
          <p:cNvGrpSpPr>
            <a:grpSpLocks noChangeAspect="1"/>
          </p:cNvGrpSpPr>
          <p:nvPr/>
        </p:nvGrpSpPr>
        <p:grpSpPr>
          <a:xfrm>
            <a:off x="10358698" y="1533093"/>
            <a:ext cx="566100" cy="133200"/>
            <a:chOff x="9474740" y="1844930"/>
            <a:chExt cx="803675" cy="189100"/>
          </a:xfrm>
        </p:grpSpPr>
        <p:sp>
          <p:nvSpPr>
            <p:cNvPr id="1507" name="Rectangle: Rounded Corners 1506">
              <a:extLst>
                <a:ext uri="{FF2B5EF4-FFF2-40B4-BE49-F238E27FC236}">
                  <a16:creationId xmlns:a16="http://schemas.microsoft.com/office/drawing/2014/main" id="{AE2BA7DB-56CF-1E22-2A81-F4183C069480}"/>
                </a:ext>
              </a:extLst>
            </p:cNvPr>
            <p:cNvSpPr/>
            <p:nvPr/>
          </p:nvSpPr>
          <p:spPr bwMode="auto">
            <a:xfrm>
              <a:off x="9474740" y="1844930"/>
              <a:ext cx="803675" cy="189100"/>
            </a:xfrm>
            <a:prstGeom prst="round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1508" name="Picture 2">
              <a:extLst>
                <a:ext uri="{FF2B5EF4-FFF2-40B4-BE49-F238E27FC236}">
                  <a16:creationId xmlns:a16="http://schemas.microsoft.com/office/drawing/2014/main" id="{C426112E-2B2E-8E0A-0714-DFDC6BA75EFA}"/>
                </a:ext>
              </a:extLst>
            </p:cNvPr>
            <p:cNvPicPr>
              <a:picLocks noChangeAspect="1" noChangeArrowheads="1"/>
            </p:cNvPicPr>
            <p:nvPr/>
          </p:nvPicPr>
          <p:blipFill rotWithShape="1">
            <a:blip r:embed="rId9" cstate="print">
              <a:duotone>
                <a:schemeClr val="bg2">
                  <a:shade val="45000"/>
                  <a:satMod val="135000"/>
                </a:schemeClr>
                <a:prstClr val="white"/>
              </a:duotone>
              <a:extLst>
                <a:ext uri="{BEBA8EAE-BF5A-486C-A8C5-ECC9F3942E4B}">
                  <a14:imgProps xmlns:a14="http://schemas.microsoft.com/office/drawing/2010/main">
                    <a14:imgLayer r:embed="rId10">
                      <a14:imgEffect>
                        <a14:brightnessContrast bright="30000"/>
                      </a14:imgEffect>
                    </a14:imgLayer>
                  </a14:imgProps>
                </a:ext>
                <a:ext uri="{28A0092B-C50C-407E-A947-70E740481C1C}">
                  <a14:useLocalDpi xmlns:a14="http://schemas.microsoft.com/office/drawing/2010/main" val="0"/>
                </a:ext>
              </a:extLst>
            </a:blip>
            <a:srcRect l="-2" r="-5699"/>
            <a:stretch>
              <a:fillRect/>
            </a:stretch>
          </p:blipFill>
          <p:spPr bwMode="auto">
            <a:xfrm>
              <a:off x="9523777" y="1865136"/>
              <a:ext cx="741796" cy="14967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09" name="Group 1508">
            <a:extLst>
              <a:ext uri="{FF2B5EF4-FFF2-40B4-BE49-F238E27FC236}">
                <a16:creationId xmlns:a16="http://schemas.microsoft.com/office/drawing/2014/main" id="{3D07BA9A-9876-D66B-5FC1-7BABA07E993D}"/>
              </a:ext>
            </a:extLst>
          </p:cNvPr>
          <p:cNvGrpSpPr>
            <a:grpSpLocks noChangeAspect="1"/>
          </p:cNvGrpSpPr>
          <p:nvPr/>
        </p:nvGrpSpPr>
        <p:grpSpPr>
          <a:xfrm>
            <a:off x="4947362" y="1711721"/>
            <a:ext cx="566100" cy="133200"/>
            <a:chOff x="9474740" y="1844930"/>
            <a:chExt cx="803675" cy="189100"/>
          </a:xfrm>
        </p:grpSpPr>
        <p:sp>
          <p:nvSpPr>
            <p:cNvPr id="1510" name="Rectangle: Rounded Corners 1509">
              <a:extLst>
                <a:ext uri="{FF2B5EF4-FFF2-40B4-BE49-F238E27FC236}">
                  <a16:creationId xmlns:a16="http://schemas.microsoft.com/office/drawing/2014/main" id="{068ECAB6-7F36-2D97-8BCE-384FD5EEEE00}"/>
                </a:ext>
              </a:extLst>
            </p:cNvPr>
            <p:cNvSpPr/>
            <p:nvPr/>
          </p:nvSpPr>
          <p:spPr bwMode="auto">
            <a:xfrm>
              <a:off x="9474740" y="1844930"/>
              <a:ext cx="803675" cy="189100"/>
            </a:xfrm>
            <a:prstGeom prst="round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1511" name="Picture 2">
              <a:extLst>
                <a:ext uri="{FF2B5EF4-FFF2-40B4-BE49-F238E27FC236}">
                  <a16:creationId xmlns:a16="http://schemas.microsoft.com/office/drawing/2014/main" id="{F9F3D16A-A0C1-52EF-868C-72F47C709646}"/>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2" r="-5699"/>
            <a:stretch>
              <a:fillRect/>
            </a:stretch>
          </p:blipFill>
          <p:spPr bwMode="auto">
            <a:xfrm>
              <a:off x="9523777" y="1865136"/>
              <a:ext cx="741796" cy="14967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27" name="Group 1526">
            <a:extLst>
              <a:ext uri="{FF2B5EF4-FFF2-40B4-BE49-F238E27FC236}">
                <a16:creationId xmlns:a16="http://schemas.microsoft.com/office/drawing/2014/main" id="{C80D71AF-9992-5FC7-0040-8438A2957719}"/>
              </a:ext>
            </a:extLst>
          </p:cNvPr>
          <p:cNvGrpSpPr/>
          <p:nvPr/>
        </p:nvGrpSpPr>
        <p:grpSpPr>
          <a:xfrm>
            <a:off x="8398879" y="6304485"/>
            <a:ext cx="540000" cy="164827"/>
            <a:chOff x="8929736" y="5268170"/>
            <a:chExt cx="540000" cy="164827"/>
          </a:xfrm>
        </p:grpSpPr>
        <p:sp>
          <p:nvSpPr>
            <p:cNvPr id="1526" name="Rectangle: Rounded Corners 1525">
              <a:extLst>
                <a:ext uri="{FF2B5EF4-FFF2-40B4-BE49-F238E27FC236}">
                  <a16:creationId xmlns:a16="http://schemas.microsoft.com/office/drawing/2014/main" id="{A5531D30-CD9C-1E67-3E90-51EEF59A1577}"/>
                </a:ext>
              </a:extLst>
            </p:cNvPr>
            <p:cNvSpPr/>
            <p:nvPr/>
          </p:nvSpPr>
          <p:spPr bwMode="auto">
            <a:xfrm>
              <a:off x="8929736" y="5268170"/>
              <a:ext cx="540000" cy="164827"/>
            </a:xfrm>
            <a:prstGeom prst="round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1524" name="Picture 10">
              <a:extLst>
                <a:ext uri="{FF2B5EF4-FFF2-40B4-BE49-F238E27FC236}">
                  <a16:creationId xmlns:a16="http://schemas.microsoft.com/office/drawing/2014/main" id="{8012A285-49B8-8CA3-5430-ED78034E7FE7}"/>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8949736" y="5277530"/>
              <a:ext cx="512001" cy="144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28" name="Group 1527">
            <a:extLst>
              <a:ext uri="{FF2B5EF4-FFF2-40B4-BE49-F238E27FC236}">
                <a16:creationId xmlns:a16="http://schemas.microsoft.com/office/drawing/2014/main" id="{8CE85BFA-37B6-06C5-0DD1-4826ED0769DD}"/>
              </a:ext>
            </a:extLst>
          </p:cNvPr>
          <p:cNvGrpSpPr/>
          <p:nvPr/>
        </p:nvGrpSpPr>
        <p:grpSpPr>
          <a:xfrm>
            <a:off x="10303876" y="5623739"/>
            <a:ext cx="612000" cy="164827"/>
            <a:chOff x="9120029" y="4906789"/>
            <a:chExt cx="612000" cy="164827"/>
          </a:xfrm>
        </p:grpSpPr>
        <p:sp>
          <p:nvSpPr>
            <p:cNvPr id="1378" name="Rectangle: Rounded Corners 1377">
              <a:extLst>
                <a:ext uri="{FF2B5EF4-FFF2-40B4-BE49-F238E27FC236}">
                  <a16:creationId xmlns:a16="http://schemas.microsoft.com/office/drawing/2014/main" id="{3E7DA2FD-9958-8E62-0275-F2A10E69D925}"/>
                </a:ext>
              </a:extLst>
            </p:cNvPr>
            <p:cNvSpPr/>
            <p:nvPr/>
          </p:nvSpPr>
          <p:spPr bwMode="auto">
            <a:xfrm>
              <a:off x="9120029" y="4906789"/>
              <a:ext cx="612000" cy="164827"/>
            </a:xfrm>
            <a:prstGeom prst="round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1525" name="Graphic 1524">
              <a:extLst>
                <a:ext uri="{FF2B5EF4-FFF2-40B4-BE49-F238E27FC236}">
                  <a16:creationId xmlns:a16="http://schemas.microsoft.com/office/drawing/2014/main" id="{5A47C7DA-6376-B68D-CB0F-28CC41F4F17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128697" y="4927180"/>
              <a:ext cx="586593" cy="126000"/>
            </a:xfrm>
            <a:prstGeom prst="rect">
              <a:avLst/>
            </a:prstGeom>
          </p:spPr>
        </p:pic>
      </p:grpSp>
      <p:grpSp>
        <p:nvGrpSpPr>
          <p:cNvPr id="1529" name="Group 1528">
            <a:extLst>
              <a:ext uri="{FF2B5EF4-FFF2-40B4-BE49-F238E27FC236}">
                <a16:creationId xmlns:a16="http://schemas.microsoft.com/office/drawing/2014/main" id="{A4F1142F-AFFD-BB5F-07EF-89AC117DD306}"/>
              </a:ext>
            </a:extLst>
          </p:cNvPr>
          <p:cNvGrpSpPr/>
          <p:nvPr/>
        </p:nvGrpSpPr>
        <p:grpSpPr>
          <a:xfrm>
            <a:off x="10263229" y="6295821"/>
            <a:ext cx="671486" cy="164827"/>
            <a:chOff x="9693336" y="4599728"/>
            <a:chExt cx="671486" cy="164827"/>
          </a:xfrm>
        </p:grpSpPr>
        <p:sp>
          <p:nvSpPr>
            <p:cNvPr id="1530" name="Rectangle: Rounded Corners 1529">
              <a:extLst>
                <a:ext uri="{FF2B5EF4-FFF2-40B4-BE49-F238E27FC236}">
                  <a16:creationId xmlns:a16="http://schemas.microsoft.com/office/drawing/2014/main" id="{D88352A9-3551-2B7C-A5BC-828D6ED05507}"/>
                </a:ext>
              </a:extLst>
            </p:cNvPr>
            <p:cNvSpPr/>
            <p:nvPr/>
          </p:nvSpPr>
          <p:spPr bwMode="auto">
            <a:xfrm>
              <a:off x="9693336" y="4599728"/>
              <a:ext cx="671486" cy="164827"/>
            </a:xfrm>
            <a:prstGeom prst="round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1531" name="Picture 4">
              <a:extLst>
                <a:ext uri="{FF2B5EF4-FFF2-40B4-BE49-F238E27FC236}">
                  <a16:creationId xmlns:a16="http://schemas.microsoft.com/office/drawing/2014/main" id="{410A8CDC-04FB-3889-2186-F60AE86EAC6C}"/>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9732120" y="4612539"/>
              <a:ext cx="592055" cy="13760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32" name="Group 1531">
            <a:extLst>
              <a:ext uri="{FF2B5EF4-FFF2-40B4-BE49-F238E27FC236}">
                <a16:creationId xmlns:a16="http://schemas.microsoft.com/office/drawing/2014/main" id="{9BA96774-CFD1-2CF2-34BF-40E32CB13771}"/>
              </a:ext>
            </a:extLst>
          </p:cNvPr>
          <p:cNvGrpSpPr>
            <a:grpSpLocks noChangeAspect="1"/>
          </p:cNvGrpSpPr>
          <p:nvPr/>
        </p:nvGrpSpPr>
        <p:grpSpPr>
          <a:xfrm>
            <a:off x="4948821" y="2389648"/>
            <a:ext cx="566100" cy="133200"/>
            <a:chOff x="9474740" y="1844930"/>
            <a:chExt cx="803675" cy="189100"/>
          </a:xfrm>
        </p:grpSpPr>
        <p:sp>
          <p:nvSpPr>
            <p:cNvPr id="1533" name="Rectangle: Rounded Corners 1532">
              <a:extLst>
                <a:ext uri="{FF2B5EF4-FFF2-40B4-BE49-F238E27FC236}">
                  <a16:creationId xmlns:a16="http://schemas.microsoft.com/office/drawing/2014/main" id="{CC952AC9-D975-0C42-45F8-752FE6923F51}"/>
                </a:ext>
              </a:extLst>
            </p:cNvPr>
            <p:cNvSpPr/>
            <p:nvPr/>
          </p:nvSpPr>
          <p:spPr bwMode="auto">
            <a:xfrm>
              <a:off x="9474740" y="1844930"/>
              <a:ext cx="803675" cy="189100"/>
            </a:xfrm>
            <a:prstGeom prst="round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1534" name="Picture 2">
              <a:extLst>
                <a:ext uri="{FF2B5EF4-FFF2-40B4-BE49-F238E27FC236}">
                  <a16:creationId xmlns:a16="http://schemas.microsoft.com/office/drawing/2014/main" id="{4FBEBB49-B131-FF74-9C6A-37BBC40471DC}"/>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2" r="-5699"/>
            <a:stretch>
              <a:fillRect/>
            </a:stretch>
          </p:blipFill>
          <p:spPr bwMode="auto">
            <a:xfrm>
              <a:off x="9523777" y="1865136"/>
              <a:ext cx="741796" cy="14967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35" name="Group 1534">
            <a:extLst>
              <a:ext uri="{FF2B5EF4-FFF2-40B4-BE49-F238E27FC236}">
                <a16:creationId xmlns:a16="http://schemas.microsoft.com/office/drawing/2014/main" id="{E02DA103-8571-CE9B-75E2-D144B435AED4}"/>
              </a:ext>
            </a:extLst>
          </p:cNvPr>
          <p:cNvGrpSpPr>
            <a:grpSpLocks noChangeAspect="1"/>
          </p:cNvGrpSpPr>
          <p:nvPr/>
        </p:nvGrpSpPr>
        <p:grpSpPr>
          <a:xfrm>
            <a:off x="4948821" y="3058142"/>
            <a:ext cx="566100" cy="133200"/>
            <a:chOff x="9474740" y="1844930"/>
            <a:chExt cx="803675" cy="189100"/>
          </a:xfrm>
        </p:grpSpPr>
        <p:sp>
          <p:nvSpPr>
            <p:cNvPr id="1280" name="Rectangle: Rounded Corners 1279">
              <a:extLst>
                <a:ext uri="{FF2B5EF4-FFF2-40B4-BE49-F238E27FC236}">
                  <a16:creationId xmlns:a16="http://schemas.microsoft.com/office/drawing/2014/main" id="{D46395E5-B810-0C6C-28D7-B4CDD6747C3E}"/>
                </a:ext>
              </a:extLst>
            </p:cNvPr>
            <p:cNvSpPr/>
            <p:nvPr/>
          </p:nvSpPr>
          <p:spPr bwMode="auto">
            <a:xfrm>
              <a:off x="9474740" y="1844930"/>
              <a:ext cx="803675" cy="189100"/>
            </a:xfrm>
            <a:prstGeom prst="round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1281" name="Picture 2">
              <a:extLst>
                <a:ext uri="{FF2B5EF4-FFF2-40B4-BE49-F238E27FC236}">
                  <a16:creationId xmlns:a16="http://schemas.microsoft.com/office/drawing/2014/main" id="{464497B8-7B9B-CA75-6FBA-89B7F4C32F4D}"/>
                </a:ext>
              </a:extLst>
            </p:cNvPr>
            <p:cNvPicPr>
              <a:picLocks noChangeAspect="1" noChangeArrowheads="1"/>
            </p:cNvPicPr>
            <p:nvPr/>
          </p:nvPicPr>
          <p:blipFill rotWithShape="1">
            <a:blip r:embed="rId9" cstate="print">
              <a:duotone>
                <a:schemeClr val="bg2">
                  <a:shade val="45000"/>
                  <a:satMod val="135000"/>
                </a:schemeClr>
                <a:prstClr val="white"/>
              </a:duotone>
              <a:extLst>
                <a:ext uri="{BEBA8EAE-BF5A-486C-A8C5-ECC9F3942E4B}">
                  <a14:imgProps xmlns:a14="http://schemas.microsoft.com/office/drawing/2010/main">
                    <a14:imgLayer r:embed="rId10">
                      <a14:imgEffect>
                        <a14:brightnessContrast bright="30000"/>
                      </a14:imgEffect>
                    </a14:imgLayer>
                  </a14:imgProps>
                </a:ext>
                <a:ext uri="{28A0092B-C50C-407E-A947-70E740481C1C}">
                  <a14:useLocalDpi xmlns:a14="http://schemas.microsoft.com/office/drawing/2010/main" val="0"/>
                </a:ext>
              </a:extLst>
            </a:blip>
            <a:srcRect l="-2" r="-5699"/>
            <a:stretch>
              <a:fillRect/>
            </a:stretch>
          </p:blipFill>
          <p:spPr bwMode="auto">
            <a:xfrm>
              <a:off x="9523777" y="1865136"/>
              <a:ext cx="741796" cy="14967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82" name="Group 1281">
            <a:extLst>
              <a:ext uri="{FF2B5EF4-FFF2-40B4-BE49-F238E27FC236}">
                <a16:creationId xmlns:a16="http://schemas.microsoft.com/office/drawing/2014/main" id="{3CB42CEB-382F-0089-31EC-5995A3B68B4D}"/>
              </a:ext>
            </a:extLst>
          </p:cNvPr>
          <p:cNvGrpSpPr>
            <a:grpSpLocks noChangeAspect="1"/>
          </p:cNvGrpSpPr>
          <p:nvPr/>
        </p:nvGrpSpPr>
        <p:grpSpPr>
          <a:xfrm>
            <a:off x="4948821" y="3733331"/>
            <a:ext cx="566100" cy="133200"/>
            <a:chOff x="9474740" y="1844930"/>
            <a:chExt cx="803675" cy="189100"/>
          </a:xfrm>
        </p:grpSpPr>
        <p:sp>
          <p:nvSpPr>
            <p:cNvPr id="1283" name="Rectangle: Rounded Corners 1282">
              <a:extLst>
                <a:ext uri="{FF2B5EF4-FFF2-40B4-BE49-F238E27FC236}">
                  <a16:creationId xmlns:a16="http://schemas.microsoft.com/office/drawing/2014/main" id="{FF8B5AAD-165A-3E21-B8CD-FC78BCB8AEC4}"/>
                </a:ext>
              </a:extLst>
            </p:cNvPr>
            <p:cNvSpPr/>
            <p:nvPr/>
          </p:nvSpPr>
          <p:spPr bwMode="auto">
            <a:xfrm>
              <a:off x="9474740" y="1844930"/>
              <a:ext cx="803675" cy="189100"/>
            </a:xfrm>
            <a:prstGeom prst="round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1284" name="Picture 2">
              <a:extLst>
                <a:ext uri="{FF2B5EF4-FFF2-40B4-BE49-F238E27FC236}">
                  <a16:creationId xmlns:a16="http://schemas.microsoft.com/office/drawing/2014/main" id="{433C54A1-C75F-8934-C347-59DEB7875A07}"/>
                </a:ext>
              </a:extLst>
            </p:cNvPr>
            <p:cNvPicPr>
              <a:picLocks noChangeAspect="1" noChangeArrowheads="1"/>
            </p:cNvPicPr>
            <p:nvPr/>
          </p:nvPicPr>
          <p:blipFill rotWithShape="1">
            <a:blip r:embed="rId9" cstate="print">
              <a:duotone>
                <a:schemeClr val="bg2">
                  <a:shade val="45000"/>
                  <a:satMod val="135000"/>
                </a:schemeClr>
                <a:prstClr val="white"/>
              </a:duotone>
              <a:extLst>
                <a:ext uri="{BEBA8EAE-BF5A-486C-A8C5-ECC9F3942E4B}">
                  <a14:imgProps xmlns:a14="http://schemas.microsoft.com/office/drawing/2010/main">
                    <a14:imgLayer r:embed="rId10">
                      <a14:imgEffect>
                        <a14:brightnessContrast bright="30000"/>
                      </a14:imgEffect>
                    </a14:imgLayer>
                  </a14:imgProps>
                </a:ext>
                <a:ext uri="{28A0092B-C50C-407E-A947-70E740481C1C}">
                  <a14:useLocalDpi xmlns:a14="http://schemas.microsoft.com/office/drawing/2010/main" val="0"/>
                </a:ext>
              </a:extLst>
            </a:blip>
            <a:srcRect l="-2" r="-5699"/>
            <a:stretch>
              <a:fillRect/>
            </a:stretch>
          </p:blipFill>
          <p:spPr bwMode="auto">
            <a:xfrm>
              <a:off x="9523777" y="1865136"/>
              <a:ext cx="741796" cy="14967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85" name="Group 1284">
            <a:extLst>
              <a:ext uri="{FF2B5EF4-FFF2-40B4-BE49-F238E27FC236}">
                <a16:creationId xmlns:a16="http://schemas.microsoft.com/office/drawing/2014/main" id="{37E1FECD-7311-F31A-A6A4-378138673666}"/>
              </a:ext>
            </a:extLst>
          </p:cNvPr>
          <p:cNvGrpSpPr>
            <a:grpSpLocks noChangeAspect="1"/>
          </p:cNvGrpSpPr>
          <p:nvPr/>
        </p:nvGrpSpPr>
        <p:grpSpPr>
          <a:xfrm>
            <a:off x="4948821" y="4413329"/>
            <a:ext cx="566100" cy="133200"/>
            <a:chOff x="9474740" y="1844930"/>
            <a:chExt cx="803675" cy="189100"/>
          </a:xfrm>
        </p:grpSpPr>
        <p:sp>
          <p:nvSpPr>
            <p:cNvPr id="1286" name="Rectangle: Rounded Corners 1285">
              <a:extLst>
                <a:ext uri="{FF2B5EF4-FFF2-40B4-BE49-F238E27FC236}">
                  <a16:creationId xmlns:a16="http://schemas.microsoft.com/office/drawing/2014/main" id="{AB9CB82B-108D-0AE4-7C36-71243F995161}"/>
                </a:ext>
              </a:extLst>
            </p:cNvPr>
            <p:cNvSpPr/>
            <p:nvPr/>
          </p:nvSpPr>
          <p:spPr bwMode="auto">
            <a:xfrm>
              <a:off x="9474740" y="1844930"/>
              <a:ext cx="803675" cy="189100"/>
            </a:xfrm>
            <a:prstGeom prst="round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1287" name="Picture 2">
              <a:extLst>
                <a:ext uri="{FF2B5EF4-FFF2-40B4-BE49-F238E27FC236}">
                  <a16:creationId xmlns:a16="http://schemas.microsoft.com/office/drawing/2014/main" id="{9745A97C-DB79-1A28-4B40-F1AD54101942}"/>
                </a:ext>
              </a:extLst>
            </p:cNvPr>
            <p:cNvPicPr>
              <a:picLocks noChangeAspect="1" noChangeArrowheads="1"/>
            </p:cNvPicPr>
            <p:nvPr/>
          </p:nvPicPr>
          <p:blipFill rotWithShape="1">
            <a:blip r:embed="rId9" cstate="print">
              <a:duotone>
                <a:schemeClr val="bg2">
                  <a:shade val="45000"/>
                  <a:satMod val="135000"/>
                </a:schemeClr>
                <a:prstClr val="white"/>
              </a:duotone>
              <a:extLst>
                <a:ext uri="{BEBA8EAE-BF5A-486C-A8C5-ECC9F3942E4B}">
                  <a14:imgProps xmlns:a14="http://schemas.microsoft.com/office/drawing/2010/main">
                    <a14:imgLayer r:embed="rId10">
                      <a14:imgEffect>
                        <a14:brightnessContrast bright="30000"/>
                      </a14:imgEffect>
                    </a14:imgLayer>
                  </a14:imgProps>
                </a:ext>
                <a:ext uri="{28A0092B-C50C-407E-A947-70E740481C1C}">
                  <a14:useLocalDpi xmlns:a14="http://schemas.microsoft.com/office/drawing/2010/main" val="0"/>
                </a:ext>
              </a:extLst>
            </a:blip>
            <a:srcRect l="-2" r="-5699"/>
            <a:stretch>
              <a:fillRect/>
            </a:stretch>
          </p:blipFill>
          <p:spPr bwMode="auto">
            <a:xfrm>
              <a:off x="9523777" y="1865136"/>
              <a:ext cx="741796" cy="14967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88" name="Group 1287">
            <a:extLst>
              <a:ext uri="{FF2B5EF4-FFF2-40B4-BE49-F238E27FC236}">
                <a16:creationId xmlns:a16="http://schemas.microsoft.com/office/drawing/2014/main" id="{8895DE1C-AFEF-ED5C-C68F-7482E48FD0F5}"/>
              </a:ext>
            </a:extLst>
          </p:cNvPr>
          <p:cNvGrpSpPr>
            <a:grpSpLocks noChangeAspect="1"/>
          </p:cNvGrpSpPr>
          <p:nvPr/>
        </p:nvGrpSpPr>
        <p:grpSpPr>
          <a:xfrm>
            <a:off x="4948821" y="5083754"/>
            <a:ext cx="566100" cy="133200"/>
            <a:chOff x="9474740" y="1844930"/>
            <a:chExt cx="803675" cy="189100"/>
          </a:xfrm>
        </p:grpSpPr>
        <p:sp>
          <p:nvSpPr>
            <p:cNvPr id="1289" name="Rectangle: Rounded Corners 1288">
              <a:extLst>
                <a:ext uri="{FF2B5EF4-FFF2-40B4-BE49-F238E27FC236}">
                  <a16:creationId xmlns:a16="http://schemas.microsoft.com/office/drawing/2014/main" id="{AA0C8DB8-0B6C-D240-A836-F24F12148592}"/>
                </a:ext>
              </a:extLst>
            </p:cNvPr>
            <p:cNvSpPr/>
            <p:nvPr/>
          </p:nvSpPr>
          <p:spPr bwMode="auto">
            <a:xfrm>
              <a:off x="9474740" y="1844930"/>
              <a:ext cx="803675" cy="189100"/>
            </a:xfrm>
            <a:prstGeom prst="round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1290" name="Picture 2">
              <a:extLst>
                <a:ext uri="{FF2B5EF4-FFF2-40B4-BE49-F238E27FC236}">
                  <a16:creationId xmlns:a16="http://schemas.microsoft.com/office/drawing/2014/main" id="{40D2C47E-4745-5172-2C42-C64A25C27FBB}"/>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2" r="-5699"/>
            <a:stretch>
              <a:fillRect/>
            </a:stretch>
          </p:blipFill>
          <p:spPr bwMode="auto">
            <a:xfrm>
              <a:off x="9523777" y="1865136"/>
              <a:ext cx="741796" cy="149678"/>
            </a:xfrm>
            <a:prstGeom prst="rect">
              <a:avLst/>
            </a:prstGeom>
            <a:noFill/>
            <a:extLst>
              <a:ext uri="{909E8E84-426E-40DD-AFC4-6F175D3DCCD1}">
                <a14:hiddenFill xmlns:a14="http://schemas.microsoft.com/office/drawing/2010/main">
                  <a:solidFill>
                    <a:srgbClr val="FFFFFF"/>
                  </a:solidFill>
                </a14:hiddenFill>
              </a:ext>
            </a:extLst>
          </p:spPr>
        </p:pic>
      </p:grpSp>
      <p:pic>
        <p:nvPicPr>
          <p:cNvPr id="1309" name="Graphic 1308" descr="Circles with arrows with solid fill">
            <a:extLst>
              <a:ext uri="{FF2B5EF4-FFF2-40B4-BE49-F238E27FC236}">
                <a16:creationId xmlns:a16="http://schemas.microsoft.com/office/drawing/2014/main" id="{064595C7-26DB-1CEB-514B-3A6B33FA2B20}"/>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320911" y="3305032"/>
            <a:ext cx="216000" cy="216000"/>
          </a:xfrm>
          <a:prstGeom prst="rect">
            <a:avLst/>
          </a:prstGeom>
        </p:spPr>
      </p:pic>
      <p:pic>
        <p:nvPicPr>
          <p:cNvPr id="1310" name="Graphic 1309" descr="Lock with solid fill">
            <a:extLst>
              <a:ext uri="{FF2B5EF4-FFF2-40B4-BE49-F238E27FC236}">
                <a16:creationId xmlns:a16="http://schemas.microsoft.com/office/drawing/2014/main" id="{62C0300D-5E51-76AD-C9F0-D55E3A429B1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362189" y="4649378"/>
            <a:ext cx="180000" cy="180000"/>
          </a:xfrm>
          <a:prstGeom prst="rect">
            <a:avLst/>
          </a:prstGeom>
        </p:spPr>
      </p:pic>
      <p:grpSp>
        <p:nvGrpSpPr>
          <p:cNvPr id="1541" name="Group 1540">
            <a:extLst>
              <a:ext uri="{FF2B5EF4-FFF2-40B4-BE49-F238E27FC236}">
                <a16:creationId xmlns:a16="http://schemas.microsoft.com/office/drawing/2014/main" id="{E8C3A44D-F6B5-6D65-B8B9-8C18F28297D6}"/>
              </a:ext>
            </a:extLst>
          </p:cNvPr>
          <p:cNvGrpSpPr/>
          <p:nvPr/>
        </p:nvGrpSpPr>
        <p:grpSpPr>
          <a:xfrm>
            <a:off x="6663645" y="4169456"/>
            <a:ext cx="180000" cy="180000"/>
            <a:chOff x="-237377" y="4301626"/>
            <a:chExt cx="180000" cy="180000"/>
          </a:xfrm>
        </p:grpSpPr>
        <p:sp>
          <p:nvSpPr>
            <p:cNvPr id="1542" name="Rectangle 1541">
              <a:extLst>
                <a:ext uri="{FF2B5EF4-FFF2-40B4-BE49-F238E27FC236}">
                  <a16:creationId xmlns:a16="http://schemas.microsoft.com/office/drawing/2014/main" id="{2C335D03-0FD0-E79C-4C01-E5AE8CD64C92}"/>
                </a:ext>
              </a:extLst>
            </p:cNvPr>
            <p:cNvSpPr/>
            <p:nvPr/>
          </p:nvSpPr>
          <p:spPr bwMode="auto">
            <a:xfrm>
              <a:off x="-237377" y="4301626"/>
              <a:ext cx="180000" cy="180000"/>
            </a:xfrm>
            <a:prstGeom prst="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1543" name="Graphic 1542" descr="Lock with solid fill">
              <a:extLst>
                <a:ext uri="{FF2B5EF4-FFF2-40B4-BE49-F238E27FC236}">
                  <a16:creationId xmlns:a16="http://schemas.microsoft.com/office/drawing/2014/main" id="{5BA37A14-A416-6052-F82F-AC52ADBB991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19377" y="4320657"/>
              <a:ext cx="144000" cy="144000"/>
            </a:xfrm>
            <a:prstGeom prst="rect">
              <a:avLst/>
            </a:prstGeom>
          </p:spPr>
        </p:pic>
      </p:grpSp>
      <p:pic>
        <p:nvPicPr>
          <p:cNvPr id="1547" name="Graphic 1546" descr="Adhesive Bandage with solid fill">
            <a:extLst>
              <a:ext uri="{FF2B5EF4-FFF2-40B4-BE49-F238E27FC236}">
                <a16:creationId xmlns:a16="http://schemas.microsoft.com/office/drawing/2014/main" id="{56E1CAAE-04ED-6A1E-CCDC-78C308EA19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54383" y="1285425"/>
            <a:ext cx="180000" cy="180000"/>
          </a:xfrm>
          <a:prstGeom prst="rect">
            <a:avLst/>
          </a:prstGeom>
        </p:spPr>
      </p:pic>
      <p:grpSp>
        <p:nvGrpSpPr>
          <p:cNvPr id="1551" name="Group 1550">
            <a:extLst>
              <a:ext uri="{FF2B5EF4-FFF2-40B4-BE49-F238E27FC236}">
                <a16:creationId xmlns:a16="http://schemas.microsoft.com/office/drawing/2014/main" id="{6DA2761F-188F-FEA0-C7AA-39B56A3DBD6B}"/>
              </a:ext>
            </a:extLst>
          </p:cNvPr>
          <p:cNvGrpSpPr/>
          <p:nvPr/>
        </p:nvGrpSpPr>
        <p:grpSpPr>
          <a:xfrm>
            <a:off x="6099897" y="3574385"/>
            <a:ext cx="180000" cy="180000"/>
            <a:chOff x="-280279" y="4831370"/>
            <a:chExt cx="180000" cy="180000"/>
          </a:xfrm>
        </p:grpSpPr>
        <p:sp>
          <p:nvSpPr>
            <p:cNvPr id="1552" name="Rectangle 1551">
              <a:extLst>
                <a:ext uri="{FF2B5EF4-FFF2-40B4-BE49-F238E27FC236}">
                  <a16:creationId xmlns:a16="http://schemas.microsoft.com/office/drawing/2014/main" id="{5F682ADC-A9A3-2326-5498-FAEB1C3F9467}"/>
                </a:ext>
              </a:extLst>
            </p:cNvPr>
            <p:cNvSpPr/>
            <p:nvPr/>
          </p:nvSpPr>
          <p:spPr bwMode="auto">
            <a:xfrm>
              <a:off x="-280279" y="4831370"/>
              <a:ext cx="180000" cy="180000"/>
            </a:xfrm>
            <a:prstGeom prst="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a:solidFill>
                  <a:schemeClr val="tx1"/>
                </a:solidFill>
              </a:endParaRPr>
            </a:p>
          </p:txBody>
        </p:sp>
        <p:pic>
          <p:nvPicPr>
            <p:cNvPr id="1553" name="Graphic 1552" descr="Circles with arrows with solid fill">
              <a:extLst>
                <a:ext uri="{FF2B5EF4-FFF2-40B4-BE49-F238E27FC236}">
                  <a16:creationId xmlns:a16="http://schemas.microsoft.com/office/drawing/2014/main" id="{5E3F51B5-BD3B-2417-1893-0A9808D87E4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260198" y="4851789"/>
              <a:ext cx="144000" cy="144000"/>
            </a:xfrm>
            <a:prstGeom prst="rect">
              <a:avLst/>
            </a:prstGeom>
          </p:spPr>
        </p:pic>
      </p:grpSp>
      <p:grpSp>
        <p:nvGrpSpPr>
          <p:cNvPr id="1563" name="Group 1562">
            <a:extLst>
              <a:ext uri="{FF2B5EF4-FFF2-40B4-BE49-F238E27FC236}">
                <a16:creationId xmlns:a16="http://schemas.microsoft.com/office/drawing/2014/main" id="{E33CA5D3-0A5F-6702-1B8E-E2C906E3DA66}"/>
              </a:ext>
            </a:extLst>
          </p:cNvPr>
          <p:cNvGrpSpPr/>
          <p:nvPr/>
        </p:nvGrpSpPr>
        <p:grpSpPr>
          <a:xfrm>
            <a:off x="6099897" y="3776177"/>
            <a:ext cx="180000" cy="180000"/>
            <a:chOff x="11720763" y="4420770"/>
            <a:chExt cx="180000" cy="180000"/>
          </a:xfrm>
        </p:grpSpPr>
        <p:sp>
          <p:nvSpPr>
            <p:cNvPr id="1564" name="Rectangle 1563">
              <a:extLst>
                <a:ext uri="{FF2B5EF4-FFF2-40B4-BE49-F238E27FC236}">
                  <a16:creationId xmlns:a16="http://schemas.microsoft.com/office/drawing/2014/main" id="{6AC822C7-24E5-CD46-AEA2-6325484680A5}"/>
                </a:ext>
              </a:extLst>
            </p:cNvPr>
            <p:cNvSpPr/>
            <p:nvPr/>
          </p:nvSpPr>
          <p:spPr bwMode="auto">
            <a:xfrm>
              <a:off x="11720763" y="4420770"/>
              <a:ext cx="180000" cy="180000"/>
            </a:xfrm>
            <a:prstGeom prst="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a:solidFill>
                  <a:schemeClr val="tx1"/>
                </a:solidFill>
              </a:endParaRPr>
            </a:p>
          </p:txBody>
        </p:sp>
        <p:pic>
          <p:nvPicPr>
            <p:cNvPr id="1565" name="Graphic 1564" descr="Research with solid fill">
              <a:extLst>
                <a:ext uri="{FF2B5EF4-FFF2-40B4-BE49-F238E27FC236}">
                  <a16:creationId xmlns:a16="http://schemas.microsoft.com/office/drawing/2014/main" id="{A8A5A011-3208-C265-CA95-2E12A09DC474}"/>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1737831" y="4441136"/>
              <a:ext cx="144000" cy="144000"/>
            </a:xfrm>
            <a:prstGeom prst="rect">
              <a:avLst/>
            </a:prstGeom>
          </p:spPr>
        </p:pic>
      </p:grpSp>
      <p:pic>
        <p:nvPicPr>
          <p:cNvPr id="1566" name="Graphic 1565" descr="Box trolley with solid fill">
            <a:extLst>
              <a:ext uri="{FF2B5EF4-FFF2-40B4-BE49-F238E27FC236}">
                <a16:creationId xmlns:a16="http://schemas.microsoft.com/office/drawing/2014/main" id="{77A0ACB4-F68E-359A-92E0-DCBD3B9A2028}"/>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64880" y="2630101"/>
            <a:ext cx="180000" cy="180000"/>
          </a:xfrm>
          <a:prstGeom prst="rect">
            <a:avLst/>
          </a:prstGeom>
        </p:spPr>
      </p:pic>
      <p:grpSp>
        <p:nvGrpSpPr>
          <p:cNvPr id="1567" name="Group 1566">
            <a:extLst>
              <a:ext uri="{FF2B5EF4-FFF2-40B4-BE49-F238E27FC236}">
                <a16:creationId xmlns:a16="http://schemas.microsoft.com/office/drawing/2014/main" id="{4E9F474A-DE58-6DDC-94C9-9BFF8FA6106E}"/>
              </a:ext>
            </a:extLst>
          </p:cNvPr>
          <p:cNvGrpSpPr/>
          <p:nvPr/>
        </p:nvGrpSpPr>
        <p:grpSpPr>
          <a:xfrm>
            <a:off x="6664724" y="2948089"/>
            <a:ext cx="180000" cy="180000"/>
            <a:chOff x="-63970" y="3948402"/>
            <a:chExt cx="180000" cy="180000"/>
          </a:xfrm>
        </p:grpSpPr>
        <p:sp>
          <p:nvSpPr>
            <p:cNvPr id="1568" name="Rectangle 1567">
              <a:extLst>
                <a:ext uri="{FF2B5EF4-FFF2-40B4-BE49-F238E27FC236}">
                  <a16:creationId xmlns:a16="http://schemas.microsoft.com/office/drawing/2014/main" id="{11684007-7B80-A75F-19F5-F0B404B85CB2}"/>
                </a:ext>
              </a:extLst>
            </p:cNvPr>
            <p:cNvSpPr/>
            <p:nvPr/>
          </p:nvSpPr>
          <p:spPr bwMode="auto">
            <a:xfrm>
              <a:off x="-63970" y="3948402"/>
              <a:ext cx="180000" cy="180000"/>
            </a:xfrm>
            <a:prstGeom prst="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1569" name="Graphic 1568" descr="Box with solid fill">
              <a:extLst>
                <a:ext uri="{FF2B5EF4-FFF2-40B4-BE49-F238E27FC236}">
                  <a16:creationId xmlns:a16="http://schemas.microsoft.com/office/drawing/2014/main" id="{10346FAB-DF6B-B1A8-BEB8-AC20E0E6471E}"/>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5904" y="3970112"/>
              <a:ext cx="144000" cy="144000"/>
            </a:xfrm>
            <a:prstGeom prst="rect">
              <a:avLst/>
            </a:prstGeom>
          </p:spPr>
        </p:pic>
      </p:grpSp>
      <p:grpSp>
        <p:nvGrpSpPr>
          <p:cNvPr id="1570" name="Group 1569">
            <a:extLst>
              <a:ext uri="{FF2B5EF4-FFF2-40B4-BE49-F238E27FC236}">
                <a16:creationId xmlns:a16="http://schemas.microsoft.com/office/drawing/2014/main" id="{356B05D2-E2E6-FA8B-8299-0C5FA0E86443}"/>
              </a:ext>
            </a:extLst>
          </p:cNvPr>
          <p:cNvGrpSpPr/>
          <p:nvPr/>
        </p:nvGrpSpPr>
        <p:grpSpPr>
          <a:xfrm>
            <a:off x="6099897" y="3375948"/>
            <a:ext cx="180000" cy="180000"/>
            <a:chOff x="-280279" y="4577743"/>
            <a:chExt cx="180000" cy="180000"/>
          </a:xfrm>
        </p:grpSpPr>
        <p:sp>
          <p:nvSpPr>
            <p:cNvPr id="1571" name="Rectangle 1570">
              <a:extLst>
                <a:ext uri="{FF2B5EF4-FFF2-40B4-BE49-F238E27FC236}">
                  <a16:creationId xmlns:a16="http://schemas.microsoft.com/office/drawing/2014/main" id="{F541A56D-C997-AD96-49CD-297260C88E77}"/>
                </a:ext>
              </a:extLst>
            </p:cNvPr>
            <p:cNvSpPr/>
            <p:nvPr/>
          </p:nvSpPr>
          <p:spPr bwMode="auto">
            <a:xfrm>
              <a:off x="-280279" y="4577743"/>
              <a:ext cx="180000" cy="180000"/>
            </a:xfrm>
            <a:prstGeom prst="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1572" name="Graphic 1571" descr="Box trolley with solid fill">
              <a:extLst>
                <a:ext uri="{FF2B5EF4-FFF2-40B4-BE49-F238E27FC236}">
                  <a16:creationId xmlns:a16="http://schemas.microsoft.com/office/drawing/2014/main" id="{3ED10C7A-593D-2B0A-F3F4-3184B6930FA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62617" y="4595217"/>
              <a:ext cx="144000" cy="144000"/>
            </a:xfrm>
            <a:prstGeom prst="rect">
              <a:avLst/>
            </a:prstGeom>
          </p:spPr>
        </p:pic>
      </p:grpSp>
      <p:pic>
        <p:nvPicPr>
          <p:cNvPr id="1573" name="Graphic 1572" descr="Box with solid fill">
            <a:extLst>
              <a:ext uri="{FF2B5EF4-FFF2-40B4-BE49-F238E27FC236}">
                <a16:creationId xmlns:a16="http://schemas.microsoft.com/office/drawing/2014/main" id="{76743E2C-2828-1EB2-C784-6B2018E8D35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356090" y="1955900"/>
            <a:ext cx="180000" cy="180000"/>
          </a:xfrm>
          <a:prstGeom prst="rect">
            <a:avLst/>
          </a:prstGeom>
        </p:spPr>
      </p:pic>
      <p:pic>
        <p:nvPicPr>
          <p:cNvPr id="1575" name="Graphic 1574" descr="Research with solid fill">
            <a:extLst>
              <a:ext uri="{FF2B5EF4-FFF2-40B4-BE49-F238E27FC236}">
                <a16:creationId xmlns:a16="http://schemas.microsoft.com/office/drawing/2014/main" id="{7C89E25C-13D8-722B-BBDC-62E5B40DDD6C}"/>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5363872" y="3979059"/>
            <a:ext cx="180000" cy="180000"/>
          </a:xfrm>
          <a:prstGeom prst="rect">
            <a:avLst/>
          </a:prstGeom>
        </p:spPr>
      </p:pic>
      <p:grpSp>
        <p:nvGrpSpPr>
          <p:cNvPr id="1580" name="Group 1579">
            <a:extLst>
              <a:ext uri="{FF2B5EF4-FFF2-40B4-BE49-F238E27FC236}">
                <a16:creationId xmlns:a16="http://schemas.microsoft.com/office/drawing/2014/main" id="{0B6115E5-60FD-1621-FC26-05BADAF4CA79}"/>
              </a:ext>
            </a:extLst>
          </p:cNvPr>
          <p:cNvGrpSpPr>
            <a:grpSpLocks noChangeAspect="1"/>
          </p:cNvGrpSpPr>
          <p:nvPr/>
        </p:nvGrpSpPr>
        <p:grpSpPr>
          <a:xfrm>
            <a:off x="4875999" y="6162181"/>
            <a:ext cx="674887" cy="136800"/>
            <a:chOff x="9441760" y="5304279"/>
            <a:chExt cx="813154" cy="164827"/>
          </a:xfrm>
        </p:grpSpPr>
        <p:sp>
          <p:nvSpPr>
            <p:cNvPr id="1578" name="Rectangle: Rounded Corners 1577">
              <a:extLst>
                <a:ext uri="{FF2B5EF4-FFF2-40B4-BE49-F238E27FC236}">
                  <a16:creationId xmlns:a16="http://schemas.microsoft.com/office/drawing/2014/main" id="{A7199F91-E14A-53A9-4EBA-C16720B20303}"/>
                </a:ext>
              </a:extLst>
            </p:cNvPr>
            <p:cNvSpPr/>
            <p:nvPr/>
          </p:nvSpPr>
          <p:spPr bwMode="auto">
            <a:xfrm>
              <a:off x="9441760" y="5304279"/>
              <a:ext cx="813154" cy="164827"/>
            </a:xfrm>
            <a:prstGeom prst="round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1576" name="Picture 22">
              <a:extLst>
                <a:ext uri="{FF2B5EF4-FFF2-40B4-BE49-F238E27FC236}">
                  <a16:creationId xmlns:a16="http://schemas.microsoft.com/office/drawing/2014/main" id="{179D65A4-63FD-BE84-87C7-990B94C53D7A}"/>
                </a:ext>
              </a:extLst>
            </p:cNvPr>
            <p:cNvPicPr>
              <a:picLocks noChangeAspect="1" noChangeArrowheads="1"/>
            </p:cNvPicPr>
            <p:nvPr/>
          </p:nvPicPr>
          <p:blipFill rotWithShape="1">
            <a:blip r:embed="rId18" cstate="print">
              <a:extLst>
                <a:ext uri="{28A0092B-C50C-407E-A947-70E740481C1C}">
                  <a14:useLocalDpi xmlns:a14="http://schemas.microsoft.com/office/drawing/2010/main" val="0"/>
                </a:ext>
              </a:extLst>
            </a:blip>
            <a:srcRect t="16601" r="12098" b="31959"/>
            <a:stretch>
              <a:fillRect/>
            </a:stretch>
          </p:blipFill>
          <p:spPr bwMode="auto">
            <a:xfrm>
              <a:off x="9474770" y="5322818"/>
              <a:ext cx="736060" cy="127032"/>
            </a:xfrm>
            <a:prstGeom prst="rect">
              <a:avLst/>
            </a:prstGeom>
            <a:noFill/>
            <a:extLst>
              <a:ext uri="{909E8E84-426E-40DD-AFC4-6F175D3DCCD1}">
                <a14:hiddenFill xmlns:a14="http://schemas.microsoft.com/office/drawing/2010/main">
                  <a:solidFill>
                    <a:srgbClr val="FFFFFF"/>
                  </a:solidFill>
                </a14:hiddenFill>
              </a:ext>
            </a:extLst>
          </p:spPr>
        </p:pic>
      </p:grpSp>
      <p:sp>
        <p:nvSpPr>
          <p:cNvPr id="1582" name="TextBox 1581">
            <a:extLst>
              <a:ext uri="{FF2B5EF4-FFF2-40B4-BE49-F238E27FC236}">
                <a16:creationId xmlns:a16="http://schemas.microsoft.com/office/drawing/2014/main" id="{2DE7F23D-83E7-C755-93AE-C8C9CB7BF760}"/>
              </a:ext>
            </a:extLst>
          </p:cNvPr>
          <p:cNvSpPr txBox="1"/>
          <p:nvPr/>
        </p:nvSpPr>
        <p:spPr>
          <a:xfrm rot="16200000">
            <a:off x="6868401" y="5979468"/>
            <a:ext cx="1275023" cy="230832"/>
          </a:xfrm>
          <a:prstGeom prst="rect">
            <a:avLst/>
          </a:prstGeom>
          <a:noFill/>
        </p:spPr>
        <p:txBody>
          <a:bodyPr wrap="square" anchor="ctr">
            <a:spAutoFit/>
          </a:bodyPr>
          <a:lstStyle/>
          <a:p>
            <a:pPr>
              <a:spcBef>
                <a:spcPts val="30"/>
              </a:spcBef>
              <a:spcAft>
                <a:spcPts val="30"/>
              </a:spcAft>
              <a:buClr>
                <a:schemeClr val="tx2"/>
              </a:buClr>
            </a:pPr>
            <a:r>
              <a:rPr lang="en-GB" sz="900">
                <a:solidFill>
                  <a:schemeClr val="tx2"/>
                </a:solidFill>
              </a:rPr>
              <a:t>SaaS / Cloud Native</a:t>
            </a:r>
          </a:p>
        </p:txBody>
      </p:sp>
      <p:sp>
        <p:nvSpPr>
          <p:cNvPr id="1583" name="TextBox 1582">
            <a:extLst>
              <a:ext uri="{FF2B5EF4-FFF2-40B4-BE49-F238E27FC236}">
                <a16:creationId xmlns:a16="http://schemas.microsoft.com/office/drawing/2014/main" id="{4D2CF9C5-1F8E-D592-9A79-3C386F4B5C1D}"/>
              </a:ext>
            </a:extLst>
          </p:cNvPr>
          <p:cNvSpPr txBox="1"/>
          <p:nvPr/>
        </p:nvSpPr>
        <p:spPr>
          <a:xfrm rot="5400000">
            <a:off x="6651077" y="1276373"/>
            <a:ext cx="1152000" cy="230832"/>
          </a:xfrm>
          <a:prstGeom prst="rect">
            <a:avLst/>
          </a:prstGeom>
          <a:noFill/>
        </p:spPr>
        <p:txBody>
          <a:bodyPr wrap="square" anchor="ctr">
            <a:spAutoFit/>
          </a:bodyPr>
          <a:lstStyle/>
          <a:p>
            <a:pPr algn="r">
              <a:spcBef>
                <a:spcPts val="100"/>
              </a:spcBef>
              <a:spcAft>
                <a:spcPts val="100"/>
              </a:spcAft>
              <a:buClr>
                <a:schemeClr val="tx2"/>
              </a:buClr>
            </a:pPr>
            <a:r>
              <a:rPr lang="en-GB" sz="900">
                <a:solidFill>
                  <a:schemeClr val="tx2"/>
                </a:solidFill>
              </a:rPr>
              <a:t>VM / Server Based</a:t>
            </a:r>
          </a:p>
        </p:txBody>
      </p:sp>
      <p:sp>
        <p:nvSpPr>
          <p:cNvPr id="1585" name="Arrow: Down 1584">
            <a:extLst>
              <a:ext uri="{FF2B5EF4-FFF2-40B4-BE49-F238E27FC236}">
                <a16:creationId xmlns:a16="http://schemas.microsoft.com/office/drawing/2014/main" id="{4B1BF455-8592-8CEE-A1BA-F9D22C0C0811}"/>
              </a:ext>
            </a:extLst>
          </p:cNvPr>
          <p:cNvSpPr/>
          <p:nvPr/>
        </p:nvSpPr>
        <p:spPr bwMode="auto">
          <a:xfrm rot="16200000">
            <a:off x="7455363" y="5427518"/>
            <a:ext cx="144000" cy="144000"/>
          </a:xfrm>
          <a:prstGeom prst="downArrow">
            <a:avLst/>
          </a:prstGeom>
          <a:solidFill>
            <a:schemeClr val="tx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sp>
        <p:nvSpPr>
          <p:cNvPr id="1586" name="Arrow: Down 1585">
            <a:extLst>
              <a:ext uri="{FF2B5EF4-FFF2-40B4-BE49-F238E27FC236}">
                <a16:creationId xmlns:a16="http://schemas.microsoft.com/office/drawing/2014/main" id="{E799F75E-15BB-8976-CB83-8144A590FB28}"/>
              </a:ext>
            </a:extLst>
          </p:cNvPr>
          <p:cNvSpPr/>
          <p:nvPr/>
        </p:nvSpPr>
        <p:spPr bwMode="auto">
          <a:xfrm rot="5400000">
            <a:off x="7133601" y="1923047"/>
            <a:ext cx="144000" cy="144000"/>
          </a:xfrm>
          <a:prstGeom prst="downArrow">
            <a:avLst/>
          </a:prstGeom>
          <a:solidFill>
            <a:schemeClr val="tx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sp>
        <p:nvSpPr>
          <p:cNvPr id="1325" name="Rectangle: Rounded Corners 1324">
            <a:extLst>
              <a:ext uri="{FF2B5EF4-FFF2-40B4-BE49-F238E27FC236}">
                <a16:creationId xmlns:a16="http://schemas.microsoft.com/office/drawing/2014/main" id="{0F87B92C-2128-1640-041D-229EFEC1EED8}"/>
              </a:ext>
            </a:extLst>
          </p:cNvPr>
          <p:cNvSpPr/>
          <p:nvPr/>
        </p:nvSpPr>
        <p:spPr bwMode="auto">
          <a:xfrm>
            <a:off x="7936731" y="1732842"/>
            <a:ext cx="1080000" cy="547755"/>
          </a:xfrm>
          <a:prstGeom prst="roundRect">
            <a:avLst>
              <a:gd name="adj" fmla="val 7101"/>
            </a:avLst>
          </a:prstGeom>
          <a:noFill/>
          <a:ln w="12700">
            <a:solidFill>
              <a:schemeClr val="bg2">
                <a:lumMod val="40000"/>
                <a:lumOff val="60000"/>
              </a:schemeClr>
            </a:solidFill>
            <a:prstDash val="dash"/>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pPr>
              <a:spcBef>
                <a:spcPts val="30"/>
              </a:spcBef>
              <a:spcAft>
                <a:spcPts val="30"/>
              </a:spcAft>
            </a:pPr>
            <a:r>
              <a:rPr lang="en-GB" sz="1000" b="1">
                <a:solidFill>
                  <a:schemeClr val="bg2">
                    <a:lumMod val="40000"/>
                    <a:lumOff val="60000"/>
                  </a:schemeClr>
                </a:solidFill>
              </a:rPr>
              <a:t>Intune</a:t>
            </a:r>
          </a:p>
          <a:p>
            <a:pPr marL="92075" indent="-92075">
              <a:spcBef>
                <a:spcPts val="30"/>
              </a:spcBef>
              <a:spcAft>
                <a:spcPts val="30"/>
              </a:spcAft>
              <a:buClr>
                <a:schemeClr val="bg2">
                  <a:lumMod val="40000"/>
                  <a:lumOff val="60000"/>
                </a:schemeClr>
              </a:buClr>
              <a:buFont typeface="Arial" panose="020B0604020202020204" pitchFamily="34" charset="0"/>
              <a:buChar char="•"/>
            </a:pPr>
            <a:r>
              <a:rPr lang="en-GB" sz="850">
                <a:solidFill>
                  <a:schemeClr val="bg2">
                    <a:lumMod val="40000"/>
                    <a:lumOff val="60000"/>
                  </a:schemeClr>
                </a:solidFill>
              </a:rPr>
              <a:t>OS &amp; FW Policy</a:t>
            </a:r>
          </a:p>
          <a:p>
            <a:pPr marL="92075" indent="-92075">
              <a:spcBef>
                <a:spcPts val="30"/>
              </a:spcBef>
              <a:spcAft>
                <a:spcPts val="30"/>
              </a:spcAft>
              <a:buClr>
                <a:schemeClr val="bg2">
                  <a:lumMod val="40000"/>
                  <a:lumOff val="60000"/>
                </a:schemeClr>
              </a:buClr>
              <a:buFont typeface="Arial" panose="020B0604020202020204" pitchFamily="34" charset="0"/>
              <a:buChar char="•"/>
            </a:pPr>
            <a:r>
              <a:rPr lang="en-GB" sz="850">
                <a:solidFill>
                  <a:schemeClr val="bg2">
                    <a:lumMod val="40000"/>
                    <a:lumOff val="60000"/>
                  </a:schemeClr>
                </a:solidFill>
              </a:rPr>
              <a:t>App Deployment</a:t>
            </a:r>
          </a:p>
          <a:p>
            <a:pPr>
              <a:spcBef>
                <a:spcPts val="30"/>
              </a:spcBef>
              <a:spcAft>
                <a:spcPts val="30"/>
              </a:spcAft>
            </a:pPr>
            <a:endParaRPr lang="en-GB" sz="1100" noProof="0">
              <a:solidFill>
                <a:schemeClr val="bg2">
                  <a:lumMod val="50000"/>
                </a:schemeClr>
              </a:solidFill>
            </a:endParaRPr>
          </a:p>
        </p:txBody>
      </p:sp>
      <p:sp>
        <p:nvSpPr>
          <p:cNvPr id="1327" name="Rectangle 1326">
            <a:extLst>
              <a:ext uri="{FF2B5EF4-FFF2-40B4-BE49-F238E27FC236}">
                <a16:creationId xmlns:a16="http://schemas.microsoft.com/office/drawing/2014/main" id="{99EA401E-F7AB-04D9-8586-D71D2D492044}"/>
              </a:ext>
            </a:extLst>
          </p:cNvPr>
          <p:cNvSpPr/>
          <p:nvPr/>
        </p:nvSpPr>
        <p:spPr bwMode="auto">
          <a:xfrm>
            <a:off x="7924320" y="1926660"/>
            <a:ext cx="180000" cy="183498"/>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1085" name="Graphic 1084" descr="Box with solid fill">
            <a:extLst>
              <a:ext uri="{FF2B5EF4-FFF2-40B4-BE49-F238E27FC236}">
                <a16:creationId xmlns:a16="http://schemas.microsoft.com/office/drawing/2014/main" id="{45BEDAC5-8A47-5DC8-3577-1FBAB41A8E83}"/>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10208" y="1765489"/>
            <a:ext cx="180000" cy="180000"/>
          </a:xfrm>
          <a:prstGeom prst="rect">
            <a:avLst/>
          </a:prstGeom>
        </p:spPr>
      </p:pic>
      <p:grpSp>
        <p:nvGrpSpPr>
          <p:cNvPr id="1590" name="Group 1589">
            <a:extLst>
              <a:ext uri="{FF2B5EF4-FFF2-40B4-BE49-F238E27FC236}">
                <a16:creationId xmlns:a16="http://schemas.microsoft.com/office/drawing/2014/main" id="{B3024A77-A094-567C-D376-9735B6EAE797}"/>
              </a:ext>
            </a:extLst>
          </p:cNvPr>
          <p:cNvGrpSpPr>
            <a:grpSpLocks noChangeAspect="1"/>
          </p:cNvGrpSpPr>
          <p:nvPr/>
        </p:nvGrpSpPr>
        <p:grpSpPr>
          <a:xfrm>
            <a:off x="8384576" y="2213407"/>
            <a:ext cx="566100" cy="133200"/>
            <a:chOff x="9474740" y="1844930"/>
            <a:chExt cx="803675" cy="189100"/>
          </a:xfrm>
        </p:grpSpPr>
        <p:sp>
          <p:nvSpPr>
            <p:cNvPr id="1591" name="Rectangle: Rounded Corners 1590">
              <a:extLst>
                <a:ext uri="{FF2B5EF4-FFF2-40B4-BE49-F238E27FC236}">
                  <a16:creationId xmlns:a16="http://schemas.microsoft.com/office/drawing/2014/main" id="{08AEE793-B089-7362-06DE-2535F6486D38}"/>
                </a:ext>
              </a:extLst>
            </p:cNvPr>
            <p:cNvSpPr/>
            <p:nvPr/>
          </p:nvSpPr>
          <p:spPr bwMode="auto">
            <a:xfrm>
              <a:off x="9474740" y="1844930"/>
              <a:ext cx="803675" cy="189100"/>
            </a:xfrm>
            <a:prstGeom prst="round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1592" name="Picture 2">
              <a:extLst>
                <a:ext uri="{FF2B5EF4-FFF2-40B4-BE49-F238E27FC236}">
                  <a16:creationId xmlns:a16="http://schemas.microsoft.com/office/drawing/2014/main" id="{6738A451-8B7D-10E7-9AAE-9B39411DF01F}"/>
                </a:ext>
              </a:extLst>
            </p:cNvPr>
            <p:cNvPicPr>
              <a:picLocks noChangeAspect="1" noChangeArrowheads="1"/>
            </p:cNvPicPr>
            <p:nvPr/>
          </p:nvPicPr>
          <p:blipFill rotWithShape="1">
            <a:blip r:embed="rId9" cstate="print">
              <a:duotone>
                <a:schemeClr val="bg2">
                  <a:shade val="45000"/>
                  <a:satMod val="135000"/>
                </a:schemeClr>
                <a:prstClr val="white"/>
              </a:duotone>
              <a:extLst>
                <a:ext uri="{BEBA8EAE-BF5A-486C-A8C5-ECC9F3942E4B}">
                  <a14:imgProps xmlns:a14="http://schemas.microsoft.com/office/drawing/2010/main">
                    <a14:imgLayer r:embed="rId10">
                      <a14:imgEffect>
                        <a14:brightnessContrast bright="30000"/>
                      </a14:imgEffect>
                    </a14:imgLayer>
                  </a14:imgProps>
                </a:ext>
                <a:ext uri="{28A0092B-C50C-407E-A947-70E740481C1C}">
                  <a14:useLocalDpi xmlns:a14="http://schemas.microsoft.com/office/drawing/2010/main" val="0"/>
                </a:ext>
              </a:extLst>
            </a:blip>
            <a:srcRect l="-2" r="-5699"/>
            <a:stretch>
              <a:fillRect/>
            </a:stretch>
          </p:blipFill>
          <p:spPr bwMode="auto">
            <a:xfrm>
              <a:off x="9523777" y="1865136"/>
              <a:ext cx="741796" cy="149678"/>
            </a:xfrm>
            <a:prstGeom prst="rect">
              <a:avLst/>
            </a:prstGeom>
            <a:noFill/>
            <a:extLst>
              <a:ext uri="{909E8E84-426E-40DD-AFC4-6F175D3DCCD1}">
                <a14:hiddenFill xmlns:a14="http://schemas.microsoft.com/office/drawing/2010/main">
                  <a:solidFill>
                    <a:srgbClr val="FFFFFF"/>
                  </a:solidFill>
                </a14:hiddenFill>
              </a:ext>
            </a:extLst>
          </p:spPr>
        </p:pic>
      </p:grpSp>
      <p:pic>
        <p:nvPicPr>
          <p:cNvPr id="10" name="Graphic 9" descr="Shield Tick with solid fill">
            <a:extLst>
              <a:ext uri="{FF2B5EF4-FFF2-40B4-BE49-F238E27FC236}">
                <a16:creationId xmlns:a16="http://schemas.microsoft.com/office/drawing/2014/main" id="{CCDC4552-586C-6FAA-B1C8-6D20684E802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0764690" y="5892138"/>
            <a:ext cx="180000" cy="180000"/>
          </a:xfrm>
          <a:prstGeom prst="rect">
            <a:avLst/>
          </a:prstGeom>
        </p:spPr>
      </p:pic>
      <p:pic>
        <p:nvPicPr>
          <p:cNvPr id="14" name="Graphic 13" descr="Internet Of Things with solid fill">
            <a:extLst>
              <a:ext uri="{FF2B5EF4-FFF2-40B4-BE49-F238E27FC236}">
                <a16:creationId xmlns:a16="http://schemas.microsoft.com/office/drawing/2014/main" id="{2FEF2BBA-84BA-1D50-9E50-3219F908B711}"/>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10750082" y="5205789"/>
            <a:ext cx="180000" cy="180000"/>
          </a:xfrm>
          <a:prstGeom prst="rect">
            <a:avLst/>
          </a:prstGeom>
        </p:spPr>
      </p:pic>
      <p:pic>
        <p:nvPicPr>
          <p:cNvPr id="28" name="Graphic 27" descr="Germ with solid fill">
            <a:extLst>
              <a:ext uri="{FF2B5EF4-FFF2-40B4-BE49-F238E27FC236}">
                <a16:creationId xmlns:a16="http://schemas.microsoft.com/office/drawing/2014/main" id="{A730D5B5-5A86-0972-5EB9-D144D251BBA2}"/>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8795587" y="5208046"/>
            <a:ext cx="180000" cy="180000"/>
          </a:xfrm>
          <a:prstGeom prst="rect">
            <a:avLst/>
          </a:prstGeom>
        </p:spPr>
      </p:pic>
      <p:pic>
        <p:nvPicPr>
          <p:cNvPr id="30" name="Graphic 29" descr="Usb Stick with solid fill">
            <a:extLst>
              <a:ext uri="{FF2B5EF4-FFF2-40B4-BE49-F238E27FC236}">
                <a16:creationId xmlns:a16="http://schemas.microsoft.com/office/drawing/2014/main" id="{0D1BCDD6-BD4A-5331-EC8C-9DD12B02E93D}"/>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5372071" y="5730206"/>
            <a:ext cx="180000" cy="180000"/>
          </a:xfrm>
          <a:prstGeom prst="rect">
            <a:avLst/>
          </a:prstGeom>
        </p:spPr>
      </p:pic>
      <p:pic>
        <p:nvPicPr>
          <p:cNvPr id="32" name="Graphic 31" descr="Jail Break with solid fill">
            <a:extLst>
              <a:ext uri="{FF2B5EF4-FFF2-40B4-BE49-F238E27FC236}">
                <a16:creationId xmlns:a16="http://schemas.microsoft.com/office/drawing/2014/main" id="{9DC0FCE7-FCE7-8A70-C6D0-14F02A6BAC56}"/>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8803942" y="5885209"/>
            <a:ext cx="180000" cy="180000"/>
          </a:xfrm>
          <a:prstGeom prst="rect">
            <a:avLst/>
          </a:prstGeom>
        </p:spPr>
      </p:pic>
      <p:grpSp>
        <p:nvGrpSpPr>
          <p:cNvPr id="58" name="Group 57">
            <a:extLst>
              <a:ext uri="{FF2B5EF4-FFF2-40B4-BE49-F238E27FC236}">
                <a16:creationId xmlns:a16="http://schemas.microsoft.com/office/drawing/2014/main" id="{7BBDBD60-4845-70A0-B9F7-20A24DE6F142}"/>
              </a:ext>
            </a:extLst>
          </p:cNvPr>
          <p:cNvGrpSpPr/>
          <p:nvPr/>
        </p:nvGrpSpPr>
        <p:grpSpPr>
          <a:xfrm>
            <a:off x="6853487" y="4170729"/>
            <a:ext cx="180000" cy="180000"/>
            <a:chOff x="7455757" y="3823017"/>
            <a:chExt cx="180000" cy="180000"/>
          </a:xfrm>
        </p:grpSpPr>
        <p:sp>
          <p:nvSpPr>
            <p:cNvPr id="34" name="Rectangle 33">
              <a:extLst>
                <a:ext uri="{FF2B5EF4-FFF2-40B4-BE49-F238E27FC236}">
                  <a16:creationId xmlns:a16="http://schemas.microsoft.com/office/drawing/2014/main" id="{79C6626C-1FAB-BE3A-FCE9-B88F2FEEE114}"/>
                </a:ext>
              </a:extLst>
            </p:cNvPr>
            <p:cNvSpPr/>
            <p:nvPr/>
          </p:nvSpPr>
          <p:spPr bwMode="auto">
            <a:xfrm>
              <a:off x="7455757" y="3823017"/>
              <a:ext cx="180000" cy="180000"/>
            </a:xfrm>
            <a:prstGeom prst="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47" name="Graphic 46" descr="Usb Stick with solid fill">
              <a:extLst>
                <a:ext uri="{FF2B5EF4-FFF2-40B4-BE49-F238E27FC236}">
                  <a16:creationId xmlns:a16="http://schemas.microsoft.com/office/drawing/2014/main" id="{27010151-C8B4-BA9A-35F1-76E3E47A44F9}"/>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7476289" y="3841017"/>
              <a:ext cx="144000" cy="144000"/>
            </a:xfrm>
            <a:prstGeom prst="rect">
              <a:avLst/>
            </a:prstGeom>
          </p:spPr>
        </p:pic>
      </p:grpSp>
      <p:grpSp>
        <p:nvGrpSpPr>
          <p:cNvPr id="59" name="Group 58">
            <a:extLst>
              <a:ext uri="{FF2B5EF4-FFF2-40B4-BE49-F238E27FC236}">
                <a16:creationId xmlns:a16="http://schemas.microsoft.com/office/drawing/2014/main" id="{CE1858DD-A3CC-D736-9AD4-B5AD6C1AC6C4}"/>
              </a:ext>
            </a:extLst>
          </p:cNvPr>
          <p:cNvGrpSpPr/>
          <p:nvPr/>
        </p:nvGrpSpPr>
        <p:grpSpPr>
          <a:xfrm>
            <a:off x="9088228" y="4189695"/>
            <a:ext cx="180000" cy="180000"/>
            <a:chOff x="7608157" y="3975417"/>
            <a:chExt cx="180000" cy="180000"/>
          </a:xfrm>
        </p:grpSpPr>
        <p:sp>
          <p:nvSpPr>
            <p:cNvPr id="36" name="Rectangle 35">
              <a:extLst>
                <a:ext uri="{FF2B5EF4-FFF2-40B4-BE49-F238E27FC236}">
                  <a16:creationId xmlns:a16="http://schemas.microsoft.com/office/drawing/2014/main" id="{CD53C9E8-EF15-F205-904D-FC45CAEDA594}"/>
                </a:ext>
              </a:extLst>
            </p:cNvPr>
            <p:cNvSpPr/>
            <p:nvPr/>
          </p:nvSpPr>
          <p:spPr bwMode="auto">
            <a:xfrm>
              <a:off x="7608157" y="3975417"/>
              <a:ext cx="180000" cy="180000"/>
            </a:xfrm>
            <a:prstGeom prst="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48" name="Graphic 47" descr="Germ with solid fill">
              <a:extLst>
                <a:ext uri="{FF2B5EF4-FFF2-40B4-BE49-F238E27FC236}">
                  <a16:creationId xmlns:a16="http://schemas.microsoft.com/office/drawing/2014/main" id="{3268AD60-183A-4627-2F78-DA69CE03D7DE}"/>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7627495" y="3996236"/>
              <a:ext cx="144000" cy="144000"/>
            </a:xfrm>
            <a:prstGeom prst="rect">
              <a:avLst/>
            </a:prstGeom>
          </p:spPr>
        </p:pic>
      </p:grpSp>
      <p:grpSp>
        <p:nvGrpSpPr>
          <p:cNvPr id="60" name="Group 59">
            <a:extLst>
              <a:ext uri="{FF2B5EF4-FFF2-40B4-BE49-F238E27FC236}">
                <a16:creationId xmlns:a16="http://schemas.microsoft.com/office/drawing/2014/main" id="{DB05A3DF-8202-66AC-A9C4-F2197F7AF476}"/>
              </a:ext>
            </a:extLst>
          </p:cNvPr>
          <p:cNvGrpSpPr/>
          <p:nvPr/>
        </p:nvGrpSpPr>
        <p:grpSpPr>
          <a:xfrm>
            <a:off x="9283805" y="4189695"/>
            <a:ext cx="180000" cy="180000"/>
            <a:chOff x="7760557" y="4127817"/>
            <a:chExt cx="180000" cy="180000"/>
          </a:xfrm>
        </p:grpSpPr>
        <p:sp>
          <p:nvSpPr>
            <p:cNvPr id="37" name="Rectangle 36">
              <a:extLst>
                <a:ext uri="{FF2B5EF4-FFF2-40B4-BE49-F238E27FC236}">
                  <a16:creationId xmlns:a16="http://schemas.microsoft.com/office/drawing/2014/main" id="{247CE69B-B250-9BC4-DA97-FDFAC9F659DA}"/>
                </a:ext>
              </a:extLst>
            </p:cNvPr>
            <p:cNvSpPr/>
            <p:nvPr/>
          </p:nvSpPr>
          <p:spPr bwMode="auto">
            <a:xfrm>
              <a:off x="7760557" y="4127817"/>
              <a:ext cx="180000" cy="180000"/>
            </a:xfrm>
            <a:prstGeom prst="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50" name="Graphic 49" descr="Jail Break with solid fill">
              <a:extLst>
                <a:ext uri="{FF2B5EF4-FFF2-40B4-BE49-F238E27FC236}">
                  <a16:creationId xmlns:a16="http://schemas.microsoft.com/office/drawing/2014/main" id="{DA816FD0-0266-6960-B182-5EBFD2EEACDF}"/>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7780071" y="4146856"/>
              <a:ext cx="144000" cy="144000"/>
            </a:xfrm>
            <a:prstGeom prst="rect">
              <a:avLst/>
            </a:prstGeom>
          </p:spPr>
        </p:pic>
      </p:grpSp>
      <p:grpSp>
        <p:nvGrpSpPr>
          <p:cNvPr id="61" name="Group 60">
            <a:extLst>
              <a:ext uri="{FF2B5EF4-FFF2-40B4-BE49-F238E27FC236}">
                <a16:creationId xmlns:a16="http://schemas.microsoft.com/office/drawing/2014/main" id="{77E9F767-879D-292D-FD90-F20FF584CE2F}"/>
              </a:ext>
            </a:extLst>
          </p:cNvPr>
          <p:cNvGrpSpPr/>
          <p:nvPr/>
        </p:nvGrpSpPr>
        <p:grpSpPr>
          <a:xfrm>
            <a:off x="9673287" y="4189695"/>
            <a:ext cx="180000" cy="180000"/>
            <a:chOff x="7912957" y="4280217"/>
            <a:chExt cx="180000" cy="180000"/>
          </a:xfrm>
        </p:grpSpPr>
        <p:sp>
          <p:nvSpPr>
            <p:cNvPr id="38" name="Rectangle 37">
              <a:extLst>
                <a:ext uri="{FF2B5EF4-FFF2-40B4-BE49-F238E27FC236}">
                  <a16:creationId xmlns:a16="http://schemas.microsoft.com/office/drawing/2014/main" id="{0D64C3A5-A310-D303-59AE-DF5631C43360}"/>
                </a:ext>
              </a:extLst>
            </p:cNvPr>
            <p:cNvSpPr/>
            <p:nvPr/>
          </p:nvSpPr>
          <p:spPr bwMode="auto">
            <a:xfrm>
              <a:off x="7912957" y="4280217"/>
              <a:ext cx="180000" cy="180000"/>
            </a:xfrm>
            <a:prstGeom prst="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51" name="Graphic 50" descr="Internet Of Things with solid fill">
              <a:extLst>
                <a:ext uri="{FF2B5EF4-FFF2-40B4-BE49-F238E27FC236}">
                  <a16:creationId xmlns:a16="http://schemas.microsoft.com/office/drawing/2014/main" id="{F6537218-E73F-D952-C192-F4C8B0D217A8}"/>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7930971" y="4299481"/>
              <a:ext cx="144000" cy="144000"/>
            </a:xfrm>
            <a:prstGeom prst="rect">
              <a:avLst/>
            </a:prstGeom>
          </p:spPr>
        </p:pic>
      </p:grpSp>
      <p:grpSp>
        <p:nvGrpSpPr>
          <p:cNvPr id="62" name="Group 61">
            <a:extLst>
              <a:ext uri="{FF2B5EF4-FFF2-40B4-BE49-F238E27FC236}">
                <a16:creationId xmlns:a16="http://schemas.microsoft.com/office/drawing/2014/main" id="{DBCC0E2B-3A5A-F198-97F7-7E724C272834}"/>
              </a:ext>
            </a:extLst>
          </p:cNvPr>
          <p:cNvGrpSpPr/>
          <p:nvPr/>
        </p:nvGrpSpPr>
        <p:grpSpPr>
          <a:xfrm>
            <a:off x="9476866" y="4189695"/>
            <a:ext cx="180000" cy="180000"/>
            <a:chOff x="8065357" y="4432617"/>
            <a:chExt cx="180000" cy="180000"/>
          </a:xfrm>
        </p:grpSpPr>
        <p:sp>
          <p:nvSpPr>
            <p:cNvPr id="43" name="Rectangle 42">
              <a:extLst>
                <a:ext uri="{FF2B5EF4-FFF2-40B4-BE49-F238E27FC236}">
                  <a16:creationId xmlns:a16="http://schemas.microsoft.com/office/drawing/2014/main" id="{E43E3D1A-91E3-1D49-72CA-4E665B691C0E}"/>
                </a:ext>
              </a:extLst>
            </p:cNvPr>
            <p:cNvSpPr/>
            <p:nvPr/>
          </p:nvSpPr>
          <p:spPr bwMode="auto">
            <a:xfrm>
              <a:off x="8065357" y="4432617"/>
              <a:ext cx="180000" cy="180000"/>
            </a:xfrm>
            <a:prstGeom prst="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52" name="Graphic 51" descr="Shield Tick with solid fill">
              <a:extLst>
                <a:ext uri="{FF2B5EF4-FFF2-40B4-BE49-F238E27FC236}">
                  <a16:creationId xmlns:a16="http://schemas.microsoft.com/office/drawing/2014/main" id="{A91A2508-472D-177A-587F-E26DEB893A4B}"/>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8086414" y="4453188"/>
              <a:ext cx="144000" cy="144000"/>
            </a:xfrm>
            <a:prstGeom prst="rect">
              <a:avLst/>
            </a:prstGeom>
          </p:spPr>
        </p:pic>
      </p:grpSp>
      <p:sp>
        <p:nvSpPr>
          <p:cNvPr id="1339" name="Rectangle: Rounded Corners 1338">
            <a:extLst>
              <a:ext uri="{FF2B5EF4-FFF2-40B4-BE49-F238E27FC236}">
                <a16:creationId xmlns:a16="http://schemas.microsoft.com/office/drawing/2014/main" id="{C86F52FC-2CF9-6127-283A-A8358EA60D81}"/>
              </a:ext>
            </a:extLst>
          </p:cNvPr>
          <p:cNvSpPr/>
          <p:nvPr/>
        </p:nvSpPr>
        <p:spPr bwMode="auto">
          <a:xfrm>
            <a:off x="10711098" y="2862431"/>
            <a:ext cx="1080000" cy="537312"/>
          </a:xfrm>
          <a:prstGeom prst="roundRect">
            <a:avLst>
              <a:gd name="adj" fmla="val 7101"/>
            </a:avLst>
          </a:prstGeom>
          <a:noFill/>
          <a:ln w="12700">
            <a:solidFill>
              <a:schemeClr val="bg2">
                <a:lumMod val="40000"/>
                <a:lumOff val="60000"/>
              </a:schemeClr>
            </a:solidFill>
            <a:prstDash val="dash"/>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pPr>
              <a:spcBef>
                <a:spcPts val="30"/>
              </a:spcBef>
              <a:spcAft>
                <a:spcPts val="30"/>
              </a:spcAft>
            </a:pPr>
            <a:r>
              <a:rPr lang="en-GB" sz="1000" b="1" err="1">
                <a:solidFill>
                  <a:schemeClr val="bg2">
                    <a:lumMod val="40000"/>
                    <a:lumOff val="60000"/>
                  </a:schemeClr>
                </a:solidFill>
              </a:rPr>
              <a:t>BeyondTrust</a:t>
            </a:r>
            <a:endParaRPr lang="en-GB" sz="1000" b="1" noProof="0">
              <a:solidFill>
                <a:schemeClr val="bg2">
                  <a:lumMod val="40000"/>
                  <a:lumOff val="60000"/>
                </a:schemeClr>
              </a:solidFill>
            </a:endParaRPr>
          </a:p>
          <a:p>
            <a:pPr marL="92075" indent="-92075">
              <a:spcBef>
                <a:spcPts val="30"/>
              </a:spcBef>
              <a:spcAft>
                <a:spcPts val="30"/>
              </a:spcAft>
              <a:buClr>
                <a:schemeClr val="bg2">
                  <a:lumMod val="40000"/>
                  <a:lumOff val="60000"/>
                </a:schemeClr>
              </a:buClr>
              <a:buFont typeface="Arial" panose="020B0604020202020204" pitchFamily="34" charset="0"/>
              <a:buChar char="•"/>
            </a:pPr>
            <a:r>
              <a:rPr lang="en-GB" sz="850">
                <a:solidFill>
                  <a:schemeClr val="bg2">
                    <a:lumMod val="40000"/>
                    <a:lumOff val="60000"/>
                  </a:schemeClr>
                </a:solidFill>
              </a:rPr>
              <a:t>Screen Share</a:t>
            </a:r>
          </a:p>
          <a:p>
            <a:pPr marL="92075" indent="-92075">
              <a:spcBef>
                <a:spcPts val="30"/>
              </a:spcBef>
              <a:spcAft>
                <a:spcPts val="30"/>
              </a:spcAft>
              <a:buClr>
                <a:schemeClr val="bg2">
                  <a:lumMod val="40000"/>
                  <a:lumOff val="60000"/>
                </a:schemeClr>
              </a:buClr>
              <a:buFont typeface="Arial" panose="020B0604020202020204" pitchFamily="34" charset="0"/>
              <a:buChar char="•"/>
            </a:pPr>
            <a:r>
              <a:rPr lang="en-GB" sz="850">
                <a:solidFill>
                  <a:schemeClr val="bg2">
                    <a:lumMod val="40000"/>
                    <a:lumOff val="60000"/>
                  </a:schemeClr>
                </a:solidFill>
              </a:rPr>
              <a:t>Remote Control</a:t>
            </a:r>
          </a:p>
          <a:p>
            <a:pPr>
              <a:spcBef>
                <a:spcPts val="30"/>
              </a:spcBef>
              <a:spcAft>
                <a:spcPts val="30"/>
              </a:spcAft>
            </a:pPr>
            <a:endParaRPr lang="en-GB" sz="1100" noProof="0">
              <a:solidFill>
                <a:schemeClr val="bg2">
                  <a:lumMod val="50000"/>
                </a:schemeClr>
              </a:solidFill>
            </a:endParaRPr>
          </a:p>
        </p:txBody>
      </p:sp>
      <p:sp>
        <p:nvSpPr>
          <p:cNvPr id="1346" name="Rectangle: Rounded Corners 1345">
            <a:extLst>
              <a:ext uri="{FF2B5EF4-FFF2-40B4-BE49-F238E27FC236}">
                <a16:creationId xmlns:a16="http://schemas.microsoft.com/office/drawing/2014/main" id="{0F737F38-D6E8-D97A-0964-649F27680AFC}"/>
              </a:ext>
            </a:extLst>
          </p:cNvPr>
          <p:cNvSpPr/>
          <p:nvPr/>
        </p:nvSpPr>
        <p:spPr bwMode="auto">
          <a:xfrm>
            <a:off x="10714629" y="4183421"/>
            <a:ext cx="1080000" cy="537312"/>
          </a:xfrm>
          <a:prstGeom prst="roundRect">
            <a:avLst>
              <a:gd name="adj" fmla="val 7101"/>
            </a:avLst>
          </a:prstGeom>
          <a:noFill/>
          <a:ln w="12700">
            <a:solidFill>
              <a:schemeClr val="tx2"/>
            </a:solidFill>
            <a:prstDash val="dash"/>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pPr>
              <a:spcBef>
                <a:spcPts val="30"/>
              </a:spcBef>
              <a:spcAft>
                <a:spcPts val="30"/>
              </a:spcAft>
            </a:pPr>
            <a:r>
              <a:rPr lang="en-GB" sz="1000" b="1">
                <a:solidFill>
                  <a:schemeClr val="tx2"/>
                </a:solidFill>
              </a:rPr>
              <a:t>Tanium</a:t>
            </a:r>
            <a:endParaRPr lang="en-GB" sz="1000" b="1" noProof="0">
              <a:solidFill>
                <a:schemeClr val="tx2"/>
              </a:solidFill>
            </a:endParaRPr>
          </a:p>
          <a:p>
            <a:pPr marL="92075" indent="-92075">
              <a:spcBef>
                <a:spcPts val="30"/>
              </a:spcBef>
              <a:spcAft>
                <a:spcPts val="30"/>
              </a:spcAft>
              <a:buClr>
                <a:schemeClr val="tx2"/>
              </a:buClr>
              <a:buFont typeface="Arial" panose="020B0604020202020204" pitchFamily="34" charset="0"/>
              <a:buChar char="•"/>
            </a:pPr>
            <a:r>
              <a:rPr lang="en-GB" sz="850">
                <a:solidFill>
                  <a:schemeClr val="bg2">
                    <a:lumMod val="50000"/>
                  </a:schemeClr>
                </a:solidFill>
              </a:rPr>
              <a:t>Realtime Control</a:t>
            </a:r>
          </a:p>
          <a:p>
            <a:pPr marL="92075" indent="-92075">
              <a:spcBef>
                <a:spcPts val="30"/>
              </a:spcBef>
              <a:spcAft>
                <a:spcPts val="30"/>
              </a:spcAft>
              <a:buClr>
                <a:schemeClr val="tx2"/>
              </a:buClr>
              <a:buFont typeface="Arial" panose="020B0604020202020204" pitchFamily="34" charset="0"/>
              <a:buChar char="•"/>
            </a:pPr>
            <a:r>
              <a:rPr lang="en-GB" sz="850">
                <a:solidFill>
                  <a:schemeClr val="bg2">
                    <a:lumMod val="50000"/>
                  </a:schemeClr>
                </a:solidFill>
              </a:rPr>
              <a:t>Endpoint </a:t>
            </a:r>
            <a:r>
              <a:rPr lang="en-GB" sz="850" err="1">
                <a:solidFill>
                  <a:schemeClr val="bg2">
                    <a:lumMod val="50000"/>
                  </a:schemeClr>
                </a:solidFill>
              </a:rPr>
              <a:t>Mgmt</a:t>
            </a:r>
            <a:endParaRPr lang="en-GB" sz="850">
              <a:solidFill>
                <a:schemeClr val="bg2">
                  <a:lumMod val="50000"/>
                </a:schemeClr>
              </a:solidFill>
            </a:endParaRPr>
          </a:p>
        </p:txBody>
      </p:sp>
      <p:sp>
        <p:nvSpPr>
          <p:cNvPr id="1353" name="Rectangle: Rounded Corners 1352">
            <a:extLst>
              <a:ext uri="{FF2B5EF4-FFF2-40B4-BE49-F238E27FC236}">
                <a16:creationId xmlns:a16="http://schemas.microsoft.com/office/drawing/2014/main" id="{F1AA8267-103A-367C-1442-E654D3950050}"/>
              </a:ext>
            </a:extLst>
          </p:cNvPr>
          <p:cNvSpPr/>
          <p:nvPr/>
        </p:nvSpPr>
        <p:spPr bwMode="auto">
          <a:xfrm>
            <a:off x="10713658" y="3526127"/>
            <a:ext cx="1080000" cy="537312"/>
          </a:xfrm>
          <a:prstGeom prst="roundRect">
            <a:avLst>
              <a:gd name="adj" fmla="val 7101"/>
            </a:avLst>
          </a:prstGeom>
          <a:noFill/>
          <a:ln w="12700">
            <a:solidFill>
              <a:schemeClr val="tx2"/>
            </a:solidFill>
            <a:prstDash val="dash"/>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pPr>
              <a:spcBef>
                <a:spcPts val="30"/>
              </a:spcBef>
              <a:spcAft>
                <a:spcPts val="30"/>
              </a:spcAft>
            </a:pPr>
            <a:r>
              <a:rPr lang="en-GB" sz="1000" b="1">
                <a:solidFill>
                  <a:schemeClr val="tx2"/>
                </a:solidFill>
              </a:rPr>
              <a:t>Nexthink</a:t>
            </a:r>
            <a:endParaRPr lang="en-GB" sz="1000" b="1" noProof="0">
              <a:solidFill>
                <a:schemeClr val="tx2"/>
              </a:solidFill>
            </a:endParaRPr>
          </a:p>
          <a:p>
            <a:pPr marL="92075" indent="-92075">
              <a:spcBef>
                <a:spcPts val="30"/>
              </a:spcBef>
              <a:spcAft>
                <a:spcPts val="30"/>
              </a:spcAft>
              <a:buClr>
                <a:schemeClr val="tx2"/>
              </a:buClr>
              <a:buFont typeface="Arial" panose="020B0604020202020204" pitchFamily="34" charset="0"/>
              <a:buChar char="•"/>
            </a:pPr>
            <a:r>
              <a:rPr lang="en-GB" sz="850">
                <a:solidFill>
                  <a:schemeClr val="bg2">
                    <a:lumMod val="50000"/>
                  </a:schemeClr>
                </a:solidFill>
              </a:rPr>
              <a:t>DEX Monitoring</a:t>
            </a:r>
          </a:p>
          <a:p>
            <a:pPr marL="92075" indent="-92075">
              <a:spcBef>
                <a:spcPts val="30"/>
              </a:spcBef>
              <a:spcAft>
                <a:spcPts val="30"/>
              </a:spcAft>
              <a:buClr>
                <a:schemeClr val="tx2"/>
              </a:buClr>
              <a:buFont typeface="Arial" panose="020B0604020202020204" pitchFamily="34" charset="0"/>
              <a:buChar char="•"/>
            </a:pPr>
            <a:r>
              <a:rPr lang="en-GB" sz="850">
                <a:solidFill>
                  <a:schemeClr val="bg2">
                    <a:lumMod val="50000"/>
                  </a:schemeClr>
                </a:solidFill>
              </a:rPr>
              <a:t>Remediation</a:t>
            </a:r>
          </a:p>
          <a:p>
            <a:pPr>
              <a:spcBef>
                <a:spcPts val="30"/>
              </a:spcBef>
              <a:spcAft>
                <a:spcPts val="30"/>
              </a:spcAft>
            </a:pPr>
            <a:endParaRPr lang="en-GB" sz="1100" noProof="0">
              <a:solidFill>
                <a:schemeClr val="bg2">
                  <a:lumMod val="50000"/>
                </a:schemeClr>
              </a:solidFill>
            </a:endParaRPr>
          </a:p>
        </p:txBody>
      </p:sp>
      <p:grpSp>
        <p:nvGrpSpPr>
          <p:cNvPr id="1523" name="Group 1522">
            <a:extLst>
              <a:ext uri="{FF2B5EF4-FFF2-40B4-BE49-F238E27FC236}">
                <a16:creationId xmlns:a16="http://schemas.microsoft.com/office/drawing/2014/main" id="{FA3B499A-30D8-68DE-74E7-2E01D5BBC434}"/>
              </a:ext>
            </a:extLst>
          </p:cNvPr>
          <p:cNvGrpSpPr/>
          <p:nvPr/>
        </p:nvGrpSpPr>
        <p:grpSpPr>
          <a:xfrm>
            <a:off x="11219610" y="3994597"/>
            <a:ext cx="493501" cy="164827"/>
            <a:chOff x="9057273" y="3991462"/>
            <a:chExt cx="493501" cy="164827"/>
          </a:xfrm>
        </p:grpSpPr>
        <p:sp>
          <p:nvSpPr>
            <p:cNvPr id="1343" name="Rectangle: Rounded Corners 1342">
              <a:extLst>
                <a:ext uri="{FF2B5EF4-FFF2-40B4-BE49-F238E27FC236}">
                  <a16:creationId xmlns:a16="http://schemas.microsoft.com/office/drawing/2014/main" id="{7454BE11-DCFA-BFC6-FA3E-8A4AF37F1727}"/>
                </a:ext>
              </a:extLst>
            </p:cNvPr>
            <p:cNvSpPr/>
            <p:nvPr/>
          </p:nvSpPr>
          <p:spPr bwMode="auto">
            <a:xfrm>
              <a:off x="9057273" y="3991462"/>
              <a:ext cx="493501" cy="164827"/>
            </a:xfrm>
            <a:prstGeom prst="round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1513" name="Picture 16">
              <a:extLst>
                <a:ext uri="{FF2B5EF4-FFF2-40B4-BE49-F238E27FC236}">
                  <a16:creationId xmlns:a16="http://schemas.microsoft.com/office/drawing/2014/main" id="{2614A2A0-DBDF-E746-DBC3-100E85117E39}"/>
                </a:ext>
              </a:extLst>
            </p:cNvPr>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9102114" y="4020186"/>
              <a:ext cx="437989" cy="11212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21" name="Group 1520">
            <a:extLst>
              <a:ext uri="{FF2B5EF4-FFF2-40B4-BE49-F238E27FC236}">
                <a16:creationId xmlns:a16="http://schemas.microsoft.com/office/drawing/2014/main" id="{AF3064A1-6862-2887-AC6C-B145155503D3}"/>
              </a:ext>
            </a:extLst>
          </p:cNvPr>
          <p:cNvGrpSpPr/>
          <p:nvPr/>
        </p:nvGrpSpPr>
        <p:grpSpPr>
          <a:xfrm>
            <a:off x="11125727" y="4632892"/>
            <a:ext cx="628503" cy="164827"/>
            <a:chOff x="9770365" y="4073876"/>
            <a:chExt cx="628503" cy="164827"/>
          </a:xfrm>
        </p:grpSpPr>
        <p:sp>
          <p:nvSpPr>
            <p:cNvPr id="1515" name="Rectangle: Rounded Corners 1514">
              <a:extLst>
                <a:ext uri="{FF2B5EF4-FFF2-40B4-BE49-F238E27FC236}">
                  <a16:creationId xmlns:a16="http://schemas.microsoft.com/office/drawing/2014/main" id="{70B63D02-30FE-E744-06FD-CD5F453516D6}"/>
                </a:ext>
              </a:extLst>
            </p:cNvPr>
            <p:cNvSpPr/>
            <p:nvPr/>
          </p:nvSpPr>
          <p:spPr bwMode="auto">
            <a:xfrm>
              <a:off x="9770365" y="4073876"/>
              <a:ext cx="628503" cy="164827"/>
            </a:xfrm>
            <a:prstGeom prst="round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1514" name="Picture 20" descr="Trademarks | Tanium">
              <a:extLst>
                <a:ext uri="{FF2B5EF4-FFF2-40B4-BE49-F238E27FC236}">
                  <a16:creationId xmlns:a16="http://schemas.microsoft.com/office/drawing/2014/main" id="{AA2FF2C5-487A-A6AD-B378-0F1668EC3536}"/>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9819005" y="4108225"/>
              <a:ext cx="525974" cy="94716"/>
            </a:xfrm>
            <a:prstGeom prst="rect">
              <a:avLst/>
            </a:prstGeom>
            <a:noFill/>
            <a:extLst>
              <a:ext uri="{909E8E84-426E-40DD-AFC4-6F175D3DCCD1}">
                <a14:hiddenFill xmlns:a14="http://schemas.microsoft.com/office/drawing/2010/main">
                  <a:solidFill>
                    <a:srgbClr val="FFFFFF"/>
                  </a:solidFill>
                </a14:hiddenFill>
              </a:ext>
            </a:extLst>
          </p:spPr>
        </p:pic>
      </p:grpSp>
      <p:pic>
        <p:nvPicPr>
          <p:cNvPr id="16" name="Graphic 15" descr="Tools with solid fill">
            <a:extLst>
              <a:ext uri="{FF2B5EF4-FFF2-40B4-BE49-F238E27FC236}">
                <a16:creationId xmlns:a16="http://schemas.microsoft.com/office/drawing/2014/main" id="{A7859B47-451D-D75B-EF84-FE8AD7BAE953}"/>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11581040" y="4217045"/>
            <a:ext cx="180000" cy="180000"/>
          </a:xfrm>
          <a:prstGeom prst="rect">
            <a:avLst/>
          </a:prstGeom>
        </p:spPr>
      </p:pic>
      <p:pic>
        <p:nvPicPr>
          <p:cNvPr id="18" name="Graphic 17" descr="Heart with pulse with solid fill">
            <a:extLst>
              <a:ext uri="{FF2B5EF4-FFF2-40B4-BE49-F238E27FC236}">
                <a16:creationId xmlns:a16="http://schemas.microsoft.com/office/drawing/2014/main" id="{50F354D6-EDFE-C711-7EAA-08F6AC018B93}"/>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11577476" y="3555111"/>
            <a:ext cx="180000" cy="180000"/>
          </a:xfrm>
          <a:prstGeom prst="rect">
            <a:avLst/>
          </a:prstGeom>
        </p:spPr>
      </p:pic>
      <p:pic>
        <p:nvPicPr>
          <p:cNvPr id="24" name="Graphic 23" descr="Call center with solid fill">
            <a:extLst>
              <a:ext uri="{FF2B5EF4-FFF2-40B4-BE49-F238E27FC236}">
                <a16:creationId xmlns:a16="http://schemas.microsoft.com/office/drawing/2014/main" id="{9C92549C-BB0A-CD3E-5A49-E744C0FAF822}"/>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11582354" y="2889731"/>
            <a:ext cx="180000" cy="180000"/>
          </a:xfrm>
          <a:prstGeom prst="rect">
            <a:avLst/>
          </a:prstGeom>
        </p:spPr>
      </p:pic>
      <p:cxnSp>
        <p:nvCxnSpPr>
          <p:cNvPr id="8" name="Connector: Elbow 7">
            <a:extLst>
              <a:ext uri="{FF2B5EF4-FFF2-40B4-BE49-F238E27FC236}">
                <a16:creationId xmlns:a16="http://schemas.microsoft.com/office/drawing/2014/main" id="{B926EA57-CCE7-D9FC-27C9-A06A97EB9BE7}"/>
              </a:ext>
            </a:extLst>
          </p:cNvPr>
          <p:cNvCxnSpPr>
            <a:cxnSpLocks/>
            <a:stCxn id="1339" idx="1"/>
            <a:endCxn id="7" idx="3"/>
          </p:cNvCxnSpPr>
          <p:nvPr/>
        </p:nvCxnSpPr>
        <p:spPr>
          <a:xfrm rot="10800000" flipV="1">
            <a:off x="9927154" y="3131086"/>
            <a:ext cx="783945" cy="344907"/>
          </a:xfrm>
          <a:prstGeom prst="bentConnector3">
            <a:avLst>
              <a:gd name="adj1" fmla="val 50000"/>
            </a:avLst>
          </a:prstGeom>
          <a:ln w="19050" cap="rnd">
            <a:solidFill>
              <a:schemeClr val="bg2">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28" name="Connector: Elbow 1027">
            <a:extLst>
              <a:ext uri="{FF2B5EF4-FFF2-40B4-BE49-F238E27FC236}">
                <a16:creationId xmlns:a16="http://schemas.microsoft.com/office/drawing/2014/main" id="{EBA93B92-17FD-9500-384F-11F73FC1BF1B}"/>
              </a:ext>
            </a:extLst>
          </p:cNvPr>
          <p:cNvCxnSpPr>
            <a:cxnSpLocks/>
            <a:stCxn id="1353" idx="1"/>
            <a:endCxn id="1027" idx="3"/>
          </p:cNvCxnSpPr>
          <p:nvPr/>
        </p:nvCxnSpPr>
        <p:spPr>
          <a:xfrm rot="10800000">
            <a:off x="9927154" y="3671595"/>
            <a:ext cx="786505" cy="123188"/>
          </a:xfrm>
          <a:prstGeom prst="bentConnector3">
            <a:avLst>
              <a:gd name="adj1" fmla="val 50000"/>
            </a:avLst>
          </a:prstGeom>
          <a:ln w="19050" cap="rnd">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060" name="Connector: Elbow 1059">
            <a:extLst>
              <a:ext uri="{FF2B5EF4-FFF2-40B4-BE49-F238E27FC236}">
                <a16:creationId xmlns:a16="http://schemas.microsoft.com/office/drawing/2014/main" id="{BF2798D7-E101-ECBC-5363-C1E6F742D646}"/>
              </a:ext>
            </a:extLst>
          </p:cNvPr>
          <p:cNvCxnSpPr>
            <a:cxnSpLocks/>
            <a:stCxn id="1346" idx="1"/>
            <a:endCxn id="1059" idx="3"/>
          </p:cNvCxnSpPr>
          <p:nvPr/>
        </p:nvCxnSpPr>
        <p:spPr>
          <a:xfrm rot="10800000">
            <a:off x="9926599" y="3866783"/>
            <a:ext cx="788030" cy="585294"/>
          </a:xfrm>
          <a:prstGeom prst="bentConnector3">
            <a:avLst>
              <a:gd name="adj1" fmla="val 50000"/>
            </a:avLst>
          </a:prstGeom>
          <a:ln w="19050" cap="rnd">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nvGrpSpPr>
          <p:cNvPr id="1344" name="Group 1343">
            <a:extLst>
              <a:ext uri="{FF2B5EF4-FFF2-40B4-BE49-F238E27FC236}">
                <a16:creationId xmlns:a16="http://schemas.microsoft.com/office/drawing/2014/main" id="{CCE1D92F-1032-B77B-AB2A-F7EEF50481C8}"/>
              </a:ext>
            </a:extLst>
          </p:cNvPr>
          <p:cNvGrpSpPr/>
          <p:nvPr/>
        </p:nvGrpSpPr>
        <p:grpSpPr>
          <a:xfrm>
            <a:off x="10073127" y="3783179"/>
            <a:ext cx="180000" cy="180000"/>
            <a:chOff x="8370157" y="4737417"/>
            <a:chExt cx="180000" cy="180000"/>
          </a:xfrm>
        </p:grpSpPr>
        <p:sp>
          <p:nvSpPr>
            <p:cNvPr id="45" name="Rectangle 44">
              <a:extLst>
                <a:ext uri="{FF2B5EF4-FFF2-40B4-BE49-F238E27FC236}">
                  <a16:creationId xmlns:a16="http://schemas.microsoft.com/office/drawing/2014/main" id="{5C948DC9-6404-2CD0-1982-7D95E8C0585C}"/>
                </a:ext>
              </a:extLst>
            </p:cNvPr>
            <p:cNvSpPr/>
            <p:nvPr/>
          </p:nvSpPr>
          <p:spPr bwMode="auto">
            <a:xfrm>
              <a:off x="8370157" y="4737417"/>
              <a:ext cx="180000" cy="180000"/>
            </a:xfrm>
            <a:prstGeom prst="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55" name="Graphic 54" descr="Tools with solid fill">
              <a:extLst>
                <a:ext uri="{FF2B5EF4-FFF2-40B4-BE49-F238E27FC236}">
                  <a16:creationId xmlns:a16="http://schemas.microsoft.com/office/drawing/2014/main" id="{3827ECC1-7069-F268-A441-B4583411C59C}"/>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8392642" y="4755852"/>
              <a:ext cx="144000" cy="144000"/>
            </a:xfrm>
            <a:prstGeom prst="rect">
              <a:avLst/>
            </a:prstGeom>
          </p:spPr>
        </p:pic>
      </p:grpSp>
      <p:grpSp>
        <p:nvGrpSpPr>
          <p:cNvPr id="63" name="Group 62">
            <a:extLst>
              <a:ext uri="{FF2B5EF4-FFF2-40B4-BE49-F238E27FC236}">
                <a16:creationId xmlns:a16="http://schemas.microsoft.com/office/drawing/2014/main" id="{960A96D3-62CB-48E9-A74E-3F14035CD43B}"/>
              </a:ext>
            </a:extLst>
          </p:cNvPr>
          <p:cNvGrpSpPr/>
          <p:nvPr/>
        </p:nvGrpSpPr>
        <p:grpSpPr>
          <a:xfrm>
            <a:off x="10073127" y="3585317"/>
            <a:ext cx="180000" cy="180000"/>
            <a:chOff x="8209592" y="4585707"/>
            <a:chExt cx="180000" cy="180000"/>
          </a:xfrm>
        </p:grpSpPr>
        <p:sp>
          <p:nvSpPr>
            <p:cNvPr id="44" name="Rectangle 43">
              <a:extLst>
                <a:ext uri="{FF2B5EF4-FFF2-40B4-BE49-F238E27FC236}">
                  <a16:creationId xmlns:a16="http://schemas.microsoft.com/office/drawing/2014/main" id="{4BF44BAF-4867-A2DF-39AA-04B9AD1E4CDC}"/>
                </a:ext>
              </a:extLst>
            </p:cNvPr>
            <p:cNvSpPr/>
            <p:nvPr/>
          </p:nvSpPr>
          <p:spPr bwMode="auto">
            <a:xfrm>
              <a:off x="8209592" y="4585707"/>
              <a:ext cx="180000" cy="180000"/>
            </a:xfrm>
            <a:prstGeom prst="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56" name="Graphic 55" descr="Heart with pulse with solid fill">
              <a:extLst>
                <a:ext uri="{FF2B5EF4-FFF2-40B4-BE49-F238E27FC236}">
                  <a16:creationId xmlns:a16="http://schemas.microsoft.com/office/drawing/2014/main" id="{42CAFFC7-37CF-E41F-DF65-8EB2448037FE}"/>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8228341" y="4605319"/>
              <a:ext cx="144000" cy="144000"/>
            </a:xfrm>
            <a:prstGeom prst="rect">
              <a:avLst/>
            </a:prstGeom>
          </p:spPr>
        </p:pic>
      </p:grpSp>
      <p:grpSp>
        <p:nvGrpSpPr>
          <p:cNvPr id="1345" name="Group 1344">
            <a:extLst>
              <a:ext uri="{FF2B5EF4-FFF2-40B4-BE49-F238E27FC236}">
                <a16:creationId xmlns:a16="http://schemas.microsoft.com/office/drawing/2014/main" id="{95DBA7E4-EEFC-5CBF-536F-069DDE9B7D0F}"/>
              </a:ext>
            </a:extLst>
          </p:cNvPr>
          <p:cNvGrpSpPr/>
          <p:nvPr/>
        </p:nvGrpSpPr>
        <p:grpSpPr>
          <a:xfrm>
            <a:off x="10073127" y="3388923"/>
            <a:ext cx="180000" cy="180000"/>
            <a:chOff x="8522557" y="4889817"/>
            <a:chExt cx="180000" cy="180000"/>
          </a:xfrm>
        </p:grpSpPr>
        <p:sp>
          <p:nvSpPr>
            <p:cNvPr id="46" name="Rectangle 45">
              <a:extLst>
                <a:ext uri="{FF2B5EF4-FFF2-40B4-BE49-F238E27FC236}">
                  <a16:creationId xmlns:a16="http://schemas.microsoft.com/office/drawing/2014/main" id="{27F77EF5-0BA5-D994-B130-D997414FD402}"/>
                </a:ext>
              </a:extLst>
            </p:cNvPr>
            <p:cNvSpPr/>
            <p:nvPr/>
          </p:nvSpPr>
          <p:spPr bwMode="auto">
            <a:xfrm>
              <a:off x="8522557" y="4889817"/>
              <a:ext cx="180000" cy="180000"/>
            </a:xfrm>
            <a:prstGeom prst="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a:solidFill>
                  <a:schemeClr val="tx1"/>
                </a:solidFill>
              </a:endParaRPr>
            </a:p>
          </p:txBody>
        </p:sp>
        <p:pic>
          <p:nvPicPr>
            <p:cNvPr id="57" name="Graphic 56" descr="Call center with solid fill">
              <a:extLst>
                <a:ext uri="{FF2B5EF4-FFF2-40B4-BE49-F238E27FC236}">
                  <a16:creationId xmlns:a16="http://schemas.microsoft.com/office/drawing/2014/main" id="{E4512211-57B2-5B14-906C-C453742706D6}"/>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8542642" y="4909776"/>
              <a:ext cx="144000" cy="144000"/>
            </a:xfrm>
            <a:prstGeom prst="rect">
              <a:avLst/>
            </a:prstGeom>
          </p:spPr>
        </p:pic>
      </p:grpSp>
      <p:sp>
        <p:nvSpPr>
          <p:cNvPr id="1350" name="Text Placeholder 1">
            <a:extLst>
              <a:ext uri="{FF2B5EF4-FFF2-40B4-BE49-F238E27FC236}">
                <a16:creationId xmlns:a16="http://schemas.microsoft.com/office/drawing/2014/main" id="{3AF89FF3-685A-9D21-1BC3-8E6F41CF884A}"/>
              </a:ext>
            </a:extLst>
          </p:cNvPr>
          <p:cNvSpPr txBox="1">
            <a:spLocks/>
          </p:cNvSpPr>
          <p:nvPr/>
        </p:nvSpPr>
        <p:spPr>
          <a:xfrm>
            <a:off x="37442" y="3125459"/>
            <a:ext cx="3994771" cy="936320"/>
          </a:xfrm>
          <a:custGeom>
            <a:avLst/>
            <a:gdLst>
              <a:gd name="connsiteX0" fmla="*/ 185682 w 11460164"/>
              <a:gd name="connsiteY0" fmla="*/ 0 h 4484800"/>
              <a:gd name="connsiteX1" fmla="*/ 11274482 w 11460164"/>
              <a:gd name="connsiteY1" fmla="*/ 0 h 4484800"/>
              <a:gd name="connsiteX2" fmla="*/ 11460164 w 11460164"/>
              <a:gd name="connsiteY2" fmla="*/ 185682 h 4484800"/>
              <a:gd name="connsiteX3" fmla="*/ 11460164 w 11460164"/>
              <a:gd name="connsiteY3" fmla="*/ 456183 h 4484800"/>
              <a:gd name="connsiteX4" fmla="*/ 11460164 w 11460164"/>
              <a:gd name="connsiteY4" fmla="*/ 715601 h 4484800"/>
              <a:gd name="connsiteX5" fmla="*/ 11460164 w 11460164"/>
              <a:gd name="connsiteY5" fmla="*/ 4299118 h 4484800"/>
              <a:gd name="connsiteX6" fmla="*/ 11274482 w 11460164"/>
              <a:gd name="connsiteY6" fmla="*/ 4484800 h 4484800"/>
              <a:gd name="connsiteX7" fmla="*/ 185682 w 11460164"/>
              <a:gd name="connsiteY7" fmla="*/ 4484800 h 4484800"/>
              <a:gd name="connsiteX8" fmla="*/ 0 w 11460164"/>
              <a:gd name="connsiteY8" fmla="*/ 4299118 h 4484800"/>
              <a:gd name="connsiteX9" fmla="*/ 0 w 11460164"/>
              <a:gd name="connsiteY9" fmla="*/ 715601 h 4484800"/>
              <a:gd name="connsiteX10" fmla="*/ 0 w 11460164"/>
              <a:gd name="connsiteY10" fmla="*/ 456183 h 4484800"/>
              <a:gd name="connsiteX11" fmla="*/ 0 w 11460164"/>
              <a:gd name="connsiteY11" fmla="*/ 185682 h 4484800"/>
              <a:gd name="connsiteX12" fmla="*/ 185682 w 11460164"/>
              <a:gd name="connsiteY12" fmla="*/ 0 h 448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60164" h="4484800">
                <a:moveTo>
                  <a:pt x="185682" y="0"/>
                </a:moveTo>
                <a:lnTo>
                  <a:pt x="11274482" y="0"/>
                </a:lnTo>
                <a:cubicBezTo>
                  <a:pt x="11377031" y="0"/>
                  <a:pt x="11460164" y="83133"/>
                  <a:pt x="11460164" y="185682"/>
                </a:cubicBezTo>
                <a:lnTo>
                  <a:pt x="11460164" y="456183"/>
                </a:lnTo>
                <a:lnTo>
                  <a:pt x="11460164" y="715601"/>
                </a:lnTo>
                <a:lnTo>
                  <a:pt x="11460164" y="4299118"/>
                </a:lnTo>
                <a:cubicBezTo>
                  <a:pt x="11460164" y="4401667"/>
                  <a:pt x="11377031" y="4484800"/>
                  <a:pt x="11274482" y="4484800"/>
                </a:cubicBezTo>
                <a:lnTo>
                  <a:pt x="185682" y="4484800"/>
                </a:lnTo>
                <a:cubicBezTo>
                  <a:pt x="83133" y="4484800"/>
                  <a:pt x="0" y="4401667"/>
                  <a:pt x="0" y="4299118"/>
                </a:cubicBezTo>
                <a:lnTo>
                  <a:pt x="0" y="715601"/>
                </a:lnTo>
                <a:lnTo>
                  <a:pt x="0" y="456183"/>
                </a:lnTo>
                <a:lnTo>
                  <a:pt x="0" y="185682"/>
                </a:lnTo>
                <a:cubicBezTo>
                  <a:pt x="0" y="83133"/>
                  <a:pt x="83133" y="0"/>
                  <a:pt x="185682" y="0"/>
                </a:cubicBezTo>
                <a:close/>
              </a:path>
            </a:pathLst>
          </a:custGeom>
          <a:noFill/>
          <a:ln>
            <a:noFill/>
          </a:ln>
        </p:spPr>
        <p:txBody>
          <a:bodyPr vert="horz" wrap="square" lIns="0" tIns="0" rIns="0" bIns="0" rtlCol="0" anchor="t">
            <a:noAutofit/>
          </a:bodyPr>
          <a:lstStyle>
            <a:lvl1pPr marL="359991" indent="-359991" algn="l" defTabSz="1219170" rtl="0" eaLnBrk="1" latinLnBrk="0" hangingPunct="1">
              <a:spcBef>
                <a:spcPts val="300"/>
              </a:spcBef>
              <a:spcAft>
                <a:spcPts val="300"/>
              </a:spcAft>
              <a:buClr>
                <a:schemeClr val="tx2"/>
              </a:buClr>
              <a:buSzPct val="110000"/>
              <a:buFont typeface="Arial" panose="020B0604020202020204" pitchFamily="34" charset="0"/>
              <a:buChar char="•"/>
              <a:defRPr sz="2200" kern="1200">
                <a:solidFill>
                  <a:schemeClr val="tx1"/>
                </a:solidFill>
                <a:latin typeface="+mn-lt"/>
                <a:ea typeface="+mn-ea"/>
                <a:cs typeface="+mn-cs"/>
              </a:defRPr>
            </a:lvl1pPr>
            <a:lvl2pPr marL="717533" indent="-359991" algn="l" defTabSz="1219170" rtl="0" eaLnBrk="1" latinLnBrk="0" hangingPunct="1">
              <a:spcBef>
                <a:spcPts val="300"/>
              </a:spcBef>
              <a:spcAft>
                <a:spcPts val="300"/>
              </a:spcAft>
              <a:buClr>
                <a:schemeClr val="tx1"/>
              </a:buClr>
              <a:buFont typeface="Arial" panose="020B0604020202020204" pitchFamily="34" charset="0"/>
              <a:buChar char="­"/>
              <a:defRPr sz="2000" kern="1200">
                <a:solidFill>
                  <a:schemeClr val="tx1"/>
                </a:solidFill>
                <a:latin typeface="+mn-lt"/>
                <a:ea typeface="+mn-ea"/>
                <a:cs typeface="+mn-cs"/>
              </a:defRPr>
            </a:lvl2pPr>
            <a:lvl3pPr marL="1079973" indent="-359991" algn="l" defTabSz="1219170" rtl="0" eaLnBrk="1" latinLnBrk="0" hangingPunct="1">
              <a:spcBef>
                <a:spcPts val="300"/>
              </a:spcBef>
              <a:spcAft>
                <a:spcPts val="300"/>
              </a:spcAft>
              <a:buClr>
                <a:schemeClr val="tx1"/>
              </a:buClr>
              <a:buFont typeface="Arial" panose="020B0604020202020204" pitchFamily="34" charset="0"/>
              <a:buChar char="­"/>
              <a:defRPr sz="1800" kern="1200">
                <a:solidFill>
                  <a:schemeClr val="tx1"/>
                </a:solidFill>
                <a:latin typeface="+mn-lt"/>
                <a:ea typeface="+mn-ea"/>
                <a:cs typeface="+mn-cs"/>
              </a:defRPr>
            </a:lvl3pPr>
            <a:lvl4pPr marL="1441415" indent="-359991" algn="l" defTabSz="1219170" rtl="0" eaLnBrk="1" latinLnBrk="0" hangingPunct="1">
              <a:spcBef>
                <a:spcPts val="300"/>
              </a:spcBef>
              <a:spcAft>
                <a:spcPts val="300"/>
              </a:spcAft>
              <a:buClr>
                <a:schemeClr val="tx1"/>
              </a:buClr>
              <a:buFont typeface="Arial" panose="020B0604020202020204" pitchFamily="34" charset="0"/>
              <a:buChar char="­"/>
              <a:defRPr sz="1600" kern="1200">
                <a:solidFill>
                  <a:schemeClr val="tx1"/>
                </a:solidFill>
                <a:latin typeface="+mn-lt"/>
                <a:ea typeface="+mn-ea"/>
                <a:cs typeface="+mn-cs"/>
              </a:defRPr>
            </a:lvl4pPr>
            <a:lvl5pPr marL="1799955" indent="-359991" algn="l" defTabSz="1219170" rtl="0" eaLnBrk="1" latinLnBrk="0" hangingPunct="1">
              <a:spcBef>
                <a:spcPts val="300"/>
              </a:spcBef>
              <a:spcAft>
                <a:spcPts val="300"/>
              </a:spcAft>
              <a:buClr>
                <a:schemeClr val="tx1"/>
              </a:buClr>
              <a:buFont typeface="Arial" panose="020B0604020202020204" pitchFamily="34" charset="0"/>
              <a:buChar char="­"/>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576000" indent="-342900">
              <a:buFont typeface="+mj-lt"/>
              <a:buAutoNum type="arabicPeriod" startAt="3"/>
            </a:pPr>
            <a:r>
              <a:rPr lang="en-US" sz="1400">
                <a:solidFill>
                  <a:schemeClr val="bg2">
                    <a:lumMod val="50000"/>
                  </a:schemeClr>
                </a:solidFill>
              </a:rPr>
              <a:t>Intune restrictions prevent a like-for-like migration of </a:t>
            </a:r>
            <a:r>
              <a:rPr lang="en-US" sz="1400">
                <a:solidFill>
                  <a:schemeClr val="tx2"/>
                </a:solidFill>
              </a:rPr>
              <a:t>Group Policy Objects </a:t>
            </a:r>
            <a:r>
              <a:rPr lang="en-US" sz="1400">
                <a:solidFill>
                  <a:schemeClr val="bg2">
                    <a:lumMod val="50000"/>
                  </a:schemeClr>
                </a:solidFill>
              </a:rPr>
              <a:t>from Active Directory. Further investigation is required to remediate.</a:t>
            </a:r>
          </a:p>
        </p:txBody>
      </p:sp>
      <p:sp>
        <p:nvSpPr>
          <p:cNvPr id="1351" name="Text Placeholder 1">
            <a:extLst>
              <a:ext uri="{FF2B5EF4-FFF2-40B4-BE49-F238E27FC236}">
                <a16:creationId xmlns:a16="http://schemas.microsoft.com/office/drawing/2014/main" id="{E2A6C77C-DDB8-C805-7FDA-31EC476BF011}"/>
              </a:ext>
            </a:extLst>
          </p:cNvPr>
          <p:cNvSpPr txBox="1">
            <a:spLocks/>
          </p:cNvSpPr>
          <p:nvPr/>
        </p:nvSpPr>
        <p:spPr>
          <a:xfrm>
            <a:off x="37443" y="4108099"/>
            <a:ext cx="3994771" cy="929157"/>
          </a:xfrm>
          <a:custGeom>
            <a:avLst/>
            <a:gdLst>
              <a:gd name="connsiteX0" fmla="*/ 185682 w 11460164"/>
              <a:gd name="connsiteY0" fmla="*/ 0 h 4484800"/>
              <a:gd name="connsiteX1" fmla="*/ 11274482 w 11460164"/>
              <a:gd name="connsiteY1" fmla="*/ 0 h 4484800"/>
              <a:gd name="connsiteX2" fmla="*/ 11460164 w 11460164"/>
              <a:gd name="connsiteY2" fmla="*/ 185682 h 4484800"/>
              <a:gd name="connsiteX3" fmla="*/ 11460164 w 11460164"/>
              <a:gd name="connsiteY3" fmla="*/ 456183 h 4484800"/>
              <a:gd name="connsiteX4" fmla="*/ 11460164 w 11460164"/>
              <a:gd name="connsiteY4" fmla="*/ 715601 h 4484800"/>
              <a:gd name="connsiteX5" fmla="*/ 11460164 w 11460164"/>
              <a:gd name="connsiteY5" fmla="*/ 4299118 h 4484800"/>
              <a:gd name="connsiteX6" fmla="*/ 11274482 w 11460164"/>
              <a:gd name="connsiteY6" fmla="*/ 4484800 h 4484800"/>
              <a:gd name="connsiteX7" fmla="*/ 185682 w 11460164"/>
              <a:gd name="connsiteY7" fmla="*/ 4484800 h 4484800"/>
              <a:gd name="connsiteX8" fmla="*/ 0 w 11460164"/>
              <a:gd name="connsiteY8" fmla="*/ 4299118 h 4484800"/>
              <a:gd name="connsiteX9" fmla="*/ 0 w 11460164"/>
              <a:gd name="connsiteY9" fmla="*/ 715601 h 4484800"/>
              <a:gd name="connsiteX10" fmla="*/ 0 w 11460164"/>
              <a:gd name="connsiteY10" fmla="*/ 456183 h 4484800"/>
              <a:gd name="connsiteX11" fmla="*/ 0 w 11460164"/>
              <a:gd name="connsiteY11" fmla="*/ 185682 h 4484800"/>
              <a:gd name="connsiteX12" fmla="*/ 185682 w 11460164"/>
              <a:gd name="connsiteY12" fmla="*/ 0 h 448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60164" h="4484800">
                <a:moveTo>
                  <a:pt x="185682" y="0"/>
                </a:moveTo>
                <a:lnTo>
                  <a:pt x="11274482" y="0"/>
                </a:lnTo>
                <a:cubicBezTo>
                  <a:pt x="11377031" y="0"/>
                  <a:pt x="11460164" y="83133"/>
                  <a:pt x="11460164" y="185682"/>
                </a:cubicBezTo>
                <a:lnTo>
                  <a:pt x="11460164" y="456183"/>
                </a:lnTo>
                <a:lnTo>
                  <a:pt x="11460164" y="715601"/>
                </a:lnTo>
                <a:lnTo>
                  <a:pt x="11460164" y="4299118"/>
                </a:lnTo>
                <a:cubicBezTo>
                  <a:pt x="11460164" y="4401667"/>
                  <a:pt x="11377031" y="4484800"/>
                  <a:pt x="11274482" y="4484800"/>
                </a:cubicBezTo>
                <a:lnTo>
                  <a:pt x="185682" y="4484800"/>
                </a:lnTo>
                <a:cubicBezTo>
                  <a:pt x="83133" y="4484800"/>
                  <a:pt x="0" y="4401667"/>
                  <a:pt x="0" y="4299118"/>
                </a:cubicBezTo>
                <a:lnTo>
                  <a:pt x="0" y="715601"/>
                </a:lnTo>
                <a:lnTo>
                  <a:pt x="0" y="456183"/>
                </a:lnTo>
                <a:lnTo>
                  <a:pt x="0" y="185682"/>
                </a:lnTo>
                <a:cubicBezTo>
                  <a:pt x="0" y="83133"/>
                  <a:pt x="83133" y="0"/>
                  <a:pt x="185682" y="0"/>
                </a:cubicBezTo>
                <a:close/>
              </a:path>
            </a:pathLst>
          </a:custGeom>
          <a:noFill/>
          <a:ln>
            <a:noFill/>
          </a:ln>
        </p:spPr>
        <p:txBody>
          <a:bodyPr vert="horz" wrap="square" lIns="0" tIns="0" rIns="0" bIns="0" rtlCol="0" anchor="t">
            <a:noAutofit/>
          </a:bodyPr>
          <a:lstStyle>
            <a:lvl1pPr marL="359991" indent="-359991" algn="l" defTabSz="1219170" rtl="0" eaLnBrk="1" latinLnBrk="0" hangingPunct="1">
              <a:spcBef>
                <a:spcPts val="300"/>
              </a:spcBef>
              <a:spcAft>
                <a:spcPts val="300"/>
              </a:spcAft>
              <a:buClr>
                <a:schemeClr val="tx2"/>
              </a:buClr>
              <a:buSzPct val="110000"/>
              <a:buFont typeface="Arial" panose="020B0604020202020204" pitchFamily="34" charset="0"/>
              <a:buChar char="•"/>
              <a:defRPr sz="2200" kern="1200">
                <a:solidFill>
                  <a:schemeClr val="tx1"/>
                </a:solidFill>
                <a:latin typeface="+mn-lt"/>
                <a:ea typeface="+mn-ea"/>
                <a:cs typeface="+mn-cs"/>
              </a:defRPr>
            </a:lvl1pPr>
            <a:lvl2pPr marL="717533" indent="-359991" algn="l" defTabSz="1219170" rtl="0" eaLnBrk="1" latinLnBrk="0" hangingPunct="1">
              <a:spcBef>
                <a:spcPts val="300"/>
              </a:spcBef>
              <a:spcAft>
                <a:spcPts val="300"/>
              </a:spcAft>
              <a:buClr>
                <a:schemeClr val="tx1"/>
              </a:buClr>
              <a:buFont typeface="Arial" panose="020B0604020202020204" pitchFamily="34" charset="0"/>
              <a:buChar char="­"/>
              <a:defRPr sz="2000" kern="1200">
                <a:solidFill>
                  <a:schemeClr val="tx1"/>
                </a:solidFill>
                <a:latin typeface="+mn-lt"/>
                <a:ea typeface="+mn-ea"/>
                <a:cs typeface="+mn-cs"/>
              </a:defRPr>
            </a:lvl2pPr>
            <a:lvl3pPr marL="1079973" indent="-359991" algn="l" defTabSz="1219170" rtl="0" eaLnBrk="1" latinLnBrk="0" hangingPunct="1">
              <a:spcBef>
                <a:spcPts val="300"/>
              </a:spcBef>
              <a:spcAft>
                <a:spcPts val="300"/>
              </a:spcAft>
              <a:buClr>
                <a:schemeClr val="tx1"/>
              </a:buClr>
              <a:buFont typeface="Arial" panose="020B0604020202020204" pitchFamily="34" charset="0"/>
              <a:buChar char="­"/>
              <a:defRPr sz="1800" kern="1200">
                <a:solidFill>
                  <a:schemeClr val="tx1"/>
                </a:solidFill>
                <a:latin typeface="+mn-lt"/>
                <a:ea typeface="+mn-ea"/>
                <a:cs typeface="+mn-cs"/>
              </a:defRPr>
            </a:lvl3pPr>
            <a:lvl4pPr marL="1441415" indent="-359991" algn="l" defTabSz="1219170" rtl="0" eaLnBrk="1" latinLnBrk="0" hangingPunct="1">
              <a:spcBef>
                <a:spcPts val="300"/>
              </a:spcBef>
              <a:spcAft>
                <a:spcPts val="300"/>
              </a:spcAft>
              <a:buClr>
                <a:schemeClr val="tx1"/>
              </a:buClr>
              <a:buFont typeface="Arial" panose="020B0604020202020204" pitchFamily="34" charset="0"/>
              <a:buChar char="­"/>
              <a:defRPr sz="1600" kern="1200">
                <a:solidFill>
                  <a:schemeClr val="tx1"/>
                </a:solidFill>
                <a:latin typeface="+mn-lt"/>
                <a:ea typeface="+mn-ea"/>
                <a:cs typeface="+mn-cs"/>
              </a:defRPr>
            </a:lvl4pPr>
            <a:lvl5pPr marL="1799955" indent="-359991" algn="l" defTabSz="1219170" rtl="0" eaLnBrk="1" latinLnBrk="0" hangingPunct="1">
              <a:spcBef>
                <a:spcPts val="300"/>
              </a:spcBef>
              <a:spcAft>
                <a:spcPts val="300"/>
              </a:spcAft>
              <a:buClr>
                <a:schemeClr val="tx1"/>
              </a:buClr>
              <a:buFont typeface="Arial" panose="020B0604020202020204" pitchFamily="34" charset="0"/>
              <a:buChar char="­"/>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576000" indent="-342900">
              <a:buFont typeface="+mj-lt"/>
              <a:buAutoNum type="arabicPeriod" startAt="4"/>
            </a:pPr>
            <a:r>
              <a:rPr lang="en-US" sz="1400">
                <a:solidFill>
                  <a:schemeClr val="bg2">
                    <a:lumMod val="50000"/>
                  </a:schemeClr>
                </a:solidFill>
                <a:latin typeface="+mj-lt"/>
              </a:rPr>
              <a:t>SCCM, MDT / WDS are not used for OS build. Azure Marketplace is currently consumed, and </a:t>
            </a:r>
            <a:r>
              <a:rPr lang="en-US" sz="1400">
                <a:solidFill>
                  <a:schemeClr val="tx2"/>
                </a:solidFill>
                <a:latin typeface="+mj-lt"/>
              </a:rPr>
              <a:t>Azure Image Builder </a:t>
            </a:r>
            <a:r>
              <a:rPr lang="en-US" sz="1400">
                <a:solidFill>
                  <a:schemeClr val="bg2">
                    <a:lumMod val="50000"/>
                  </a:schemeClr>
                </a:solidFill>
                <a:latin typeface="+mj-lt"/>
              </a:rPr>
              <a:t>is being explored to streamline deployment via GitHub code.</a:t>
            </a:r>
            <a:endParaRPr lang="en-GB" sz="1400">
              <a:solidFill>
                <a:schemeClr val="bg2">
                  <a:lumMod val="50000"/>
                </a:schemeClr>
              </a:solidFill>
              <a:latin typeface="+mj-lt"/>
            </a:endParaRPr>
          </a:p>
        </p:txBody>
      </p:sp>
      <p:sp>
        <p:nvSpPr>
          <p:cNvPr id="1352" name="Text Placeholder 1">
            <a:extLst>
              <a:ext uri="{FF2B5EF4-FFF2-40B4-BE49-F238E27FC236}">
                <a16:creationId xmlns:a16="http://schemas.microsoft.com/office/drawing/2014/main" id="{F4D8EBFE-0328-7C1F-8DB6-879497B25F5A}"/>
              </a:ext>
            </a:extLst>
          </p:cNvPr>
          <p:cNvSpPr txBox="1">
            <a:spLocks/>
          </p:cNvSpPr>
          <p:nvPr/>
        </p:nvSpPr>
        <p:spPr>
          <a:xfrm>
            <a:off x="37442" y="2150899"/>
            <a:ext cx="3994771" cy="956742"/>
          </a:xfrm>
          <a:custGeom>
            <a:avLst/>
            <a:gdLst>
              <a:gd name="connsiteX0" fmla="*/ 185682 w 11460164"/>
              <a:gd name="connsiteY0" fmla="*/ 0 h 4484800"/>
              <a:gd name="connsiteX1" fmla="*/ 11274482 w 11460164"/>
              <a:gd name="connsiteY1" fmla="*/ 0 h 4484800"/>
              <a:gd name="connsiteX2" fmla="*/ 11460164 w 11460164"/>
              <a:gd name="connsiteY2" fmla="*/ 185682 h 4484800"/>
              <a:gd name="connsiteX3" fmla="*/ 11460164 w 11460164"/>
              <a:gd name="connsiteY3" fmla="*/ 456183 h 4484800"/>
              <a:gd name="connsiteX4" fmla="*/ 11460164 w 11460164"/>
              <a:gd name="connsiteY4" fmla="*/ 715601 h 4484800"/>
              <a:gd name="connsiteX5" fmla="*/ 11460164 w 11460164"/>
              <a:gd name="connsiteY5" fmla="*/ 4299118 h 4484800"/>
              <a:gd name="connsiteX6" fmla="*/ 11274482 w 11460164"/>
              <a:gd name="connsiteY6" fmla="*/ 4484800 h 4484800"/>
              <a:gd name="connsiteX7" fmla="*/ 185682 w 11460164"/>
              <a:gd name="connsiteY7" fmla="*/ 4484800 h 4484800"/>
              <a:gd name="connsiteX8" fmla="*/ 0 w 11460164"/>
              <a:gd name="connsiteY8" fmla="*/ 4299118 h 4484800"/>
              <a:gd name="connsiteX9" fmla="*/ 0 w 11460164"/>
              <a:gd name="connsiteY9" fmla="*/ 715601 h 4484800"/>
              <a:gd name="connsiteX10" fmla="*/ 0 w 11460164"/>
              <a:gd name="connsiteY10" fmla="*/ 456183 h 4484800"/>
              <a:gd name="connsiteX11" fmla="*/ 0 w 11460164"/>
              <a:gd name="connsiteY11" fmla="*/ 185682 h 4484800"/>
              <a:gd name="connsiteX12" fmla="*/ 185682 w 11460164"/>
              <a:gd name="connsiteY12" fmla="*/ 0 h 448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60164" h="4484800">
                <a:moveTo>
                  <a:pt x="185682" y="0"/>
                </a:moveTo>
                <a:lnTo>
                  <a:pt x="11274482" y="0"/>
                </a:lnTo>
                <a:cubicBezTo>
                  <a:pt x="11377031" y="0"/>
                  <a:pt x="11460164" y="83133"/>
                  <a:pt x="11460164" y="185682"/>
                </a:cubicBezTo>
                <a:lnTo>
                  <a:pt x="11460164" y="456183"/>
                </a:lnTo>
                <a:lnTo>
                  <a:pt x="11460164" y="715601"/>
                </a:lnTo>
                <a:lnTo>
                  <a:pt x="11460164" y="4299118"/>
                </a:lnTo>
                <a:cubicBezTo>
                  <a:pt x="11460164" y="4401667"/>
                  <a:pt x="11377031" y="4484800"/>
                  <a:pt x="11274482" y="4484800"/>
                </a:cubicBezTo>
                <a:lnTo>
                  <a:pt x="185682" y="4484800"/>
                </a:lnTo>
                <a:cubicBezTo>
                  <a:pt x="83133" y="4484800"/>
                  <a:pt x="0" y="4401667"/>
                  <a:pt x="0" y="4299118"/>
                </a:cubicBezTo>
                <a:lnTo>
                  <a:pt x="0" y="715601"/>
                </a:lnTo>
                <a:lnTo>
                  <a:pt x="0" y="456183"/>
                </a:lnTo>
                <a:lnTo>
                  <a:pt x="0" y="185682"/>
                </a:lnTo>
                <a:cubicBezTo>
                  <a:pt x="0" y="83133"/>
                  <a:pt x="83133" y="0"/>
                  <a:pt x="185682" y="0"/>
                </a:cubicBezTo>
                <a:close/>
              </a:path>
            </a:pathLst>
          </a:custGeom>
          <a:noFill/>
          <a:ln>
            <a:noFill/>
          </a:ln>
        </p:spPr>
        <p:txBody>
          <a:bodyPr vert="horz" wrap="square" lIns="0" tIns="0" rIns="0" bIns="0" rtlCol="0" anchor="t">
            <a:noAutofit/>
          </a:bodyPr>
          <a:lstStyle>
            <a:lvl1pPr marL="359991" indent="-359991" algn="l" defTabSz="1219170" rtl="0" eaLnBrk="1" latinLnBrk="0" hangingPunct="1">
              <a:spcBef>
                <a:spcPts val="300"/>
              </a:spcBef>
              <a:spcAft>
                <a:spcPts val="300"/>
              </a:spcAft>
              <a:buClr>
                <a:schemeClr val="tx2"/>
              </a:buClr>
              <a:buSzPct val="110000"/>
              <a:buFont typeface="Arial" panose="020B0604020202020204" pitchFamily="34" charset="0"/>
              <a:buChar char="•"/>
              <a:defRPr sz="2200" kern="1200">
                <a:solidFill>
                  <a:schemeClr val="tx1"/>
                </a:solidFill>
                <a:latin typeface="+mn-lt"/>
                <a:ea typeface="+mn-ea"/>
                <a:cs typeface="+mn-cs"/>
              </a:defRPr>
            </a:lvl1pPr>
            <a:lvl2pPr marL="717533" indent="-359991" algn="l" defTabSz="1219170" rtl="0" eaLnBrk="1" latinLnBrk="0" hangingPunct="1">
              <a:spcBef>
                <a:spcPts val="300"/>
              </a:spcBef>
              <a:spcAft>
                <a:spcPts val="300"/>
              </a:spcAft>
              <a:buClr>
                <a:schemeClr val="tx1"/>
              </a:buClr>
              <a:buFont typeface="Arial" panose="020B0604020202020204" pitchFamily="34" charset="0"/>
              <a:buChar char="­"/>
              <a:defRPr sz="2000" kern="1200">
                <a:solidFill>
                  <a:schemeClr val="tx1"/>
                </a:solidFill>
                <a:latin typeface="+mn-lt"/>
                <a:ea typeface="+mn-ea"/>
                <a:cs typeface="+mn-cs"/>
              </a:defRPr>
            </a:lvl2pPr>
            <a:lvl3pPr marL="1079973" indent="-359991" algn="l" defTabSz="1219170" rtl="0" eaLnBrk="1" latinLnBrk="0" hangingPunct="1">
              <a:spcBef>
                <a:spcPts val="300"/>
              </a:spcBef>
              <a:spcAft>
                <a:spcPts val="300"/>
              </a:spcAft>
              <a:buClr>
                <a:schemeClr val="tx1"/>
              </a:buClr>
              <a:buFont typeface="Arial" panose="020B0604020202020204" pitchFamily="34" charset="0"/>
              <a:buChar char="­"/>
              <a:defRPr sz="1800" kern="1200">
                <a:solidFill>
                  <a:schemeClr val="tx1"/>
                </a:solidFill>
                <a:latin typeface="+mn-lt"/>
                <a:ea typeface="+mn-ea"/>
                <a:cs typeface="+mn-cs"/>
              </a:defRPr>
            </a:lvl3pPr>
            <a:lvl4pPr marL="1441415" indent="-359991" algn="l" defTabSz="1219170" rtl="0" eaLnBrk="1" latinLnBrk="0" hangingPunct="1">
              <a:spcBef>
                <a:spcPts val="300"/>
              </a:spcBef>
              <a:spcAft>
                <a:spcPts val="300"/>
              </a:spcAft>
              <a:buClr>
                <a:schemeClr val="tx1"/>
              </a:buClr>
              <a:buFont typeface="Arial" panose="020B0604020202020204" pitchFamily="34" charset="0"/>
              <a:buChar char="­"/>
              <a:defRPr sz="1600" kern="1200">
                <a:solidFill>
                  <a:schemeClr val="tx1"/>
                </a:solidFill>
                <a:latin typeface="+mn-lt"/>
                <a:ea typeface="+mn-ea"/>
                <a:cs typeface="+mn-cs"/>
              </a:defRPr>
            </a:lvl4pPr>
            <a:lvl5pPr marL="1799955" indent="-359991" algn="l" defTabSz="1219170" rtl="0" eaLnBrk="1" latinLnBrk="0" hangingPunct="1">
              <a:spcBef>
                <a:spcPts val="300"/>
              </a:spcBef>
              <a:spcAft>
                <a:spcPts val="300"/>
              </a:spcAft>
              <a:buClr>
                <a:schemeClr val="tx1"/>
              </a:buClr>
              <a:buFont typeface="Arial" panose="020B0604020202020204" pitchFamily="34" charset="0"/>
              <a:buChar char="­"/>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576000" indent="-342900">
              <a:spcBef>
                <a:spcPts val="600"/>
              </a:spcBef>
              <a:spcAft>
                <a:spcPts val="600"/>
              </a:spcAft>
              <a:buFont typeface="+mj-lt"/>
              <a:buAutoNum type="arabicPeriod" startAt="2"/>
            </a:pPr>
            <a:r>
              <a:rPr lang="en-US" sz="1400">
                <a:solidFill>
                  <a:schemeClr val="bg2">
                    <a:lumMod val="50000"/>
                  </a:schemeClr>
                </a:solidFill>
                <a:latin typeface="+mj-lt"/>
              </a:rPr>
              <a:t>SCCM and WSUS are currently utilised for </a:t>
            </a:r>
            <a:r>
              <a:rPr lang="en-US" sz="1400">
                <a:solidFill>
                  <a:schemeClr val="tx2"/>
                </a:solidFill>
                <a:latin typeface="+mj-lt"/>
              </a:rPr>
              <a:t>application deployment</a:t>
            </a:r>
            <a:r>
              <a:rPr lang="en-US" sz="1400">
                <a:solidFill>
                  <a:schemeClr val="bg2">
                    <a:lumMod val="50000"/>
                  </a:schemeClr>
                </a:solidFill>
                <a:latin typeface="+mj-lt"/>
              </a:rPr>
              <a:t> and </a:t>
            </a:r>
            <a:r>
              <a:rPr lang="en-US" sz="1400">
                <a:solidFill>
                  <a:schemeClr val="tx2"/>
                </a:solidFill>
                <a:latin typeface="+mj-lt"/>
              </a:rPr>
              <a:t>updates</a:t>
            </a:r>
            <a:r>
              <a:rPr lang="en-US" sz="1400">
                <a:solidFill>
                  <a:schemeClr val="bg2">
                    <a:lumMod val="50000"/>
                  </a:schemeClr>
                </a:solidFill>
                <a:latin typeface="+mj-lt"/>
              </a:rPr>
              <a:t>. An evaluation is underway to transition both capabilities to Microsoft Intune.</a:t>
            </a:r>
            <a:endParaRPr lang="en-US" sz="1400">
              <a:solidFill>
                <a:schemeClr val="bg2">
                  <a:lumMod val="50000"/>
                </a:schemeClr>
              </a:solidFill>
            </a:endParaRPr>
          </a:p>
        </p:txBody>
      </p:sp>
      <p:sp>
        <p:nvSpPr>
          <p:cNvPr id="1354" name="Text Placeholder 1">
            <a:extLst>
              <a:ext uri="{FF2B5EF4-FFF2-40B4-BE49-F238E27FC236}">
                <a16:creationId xmlns:a16="http://schemas.microsoft.com/office/drawing/2014/main" id="{BC70F911-6A6E-B367-980A-144167D719BD}"/>
              </a:ext>
            </a:extLst>
          </p:cNvPr>
          <p:cNvSpPr txBox="1">
            <a:spLocks/>
          </p:cNvSpPr>
          <p:nvPr/>
        </p:nvSpPr>
        <p:spPr>
          <a:xfrm>
            <a:off x="36066" y="957600"/>
            <a:ext cx="3995696" cy="1076297"/>
          </a:xfrm>
          <a:custGeom>
            <a:avLst/>
            <a:gdLst>
              <a:gd name="connsiteX0" fmla="*/ 185682 w 11460164"/>
              <a:gd name="connsiteY0" fmla="*/ 0 h 4484800"/>
              <a:gd name="connsiteX1" fmla="*/ 11274482 w 11460164"/>
              <a:gd name="connsiteY1" fmla="*/ 0 h 4484800"/>
              <a:gd name="connsiteX2" fmla="*/ 11460164 w 11460164"/>
              <a:gd name="connsiteY2" fmla="*/ 185682 h 4484800"/>
              <a:gd name="connsiteX3" fmla="*/ 11460164 w 11460164"/>
              <a:gd name="connsiteY3" fmla="*/ 456183 h 4484800"/>
              <a:gd name="connsiteX4" fmla="*/ 11460164 w 11460164"/>
              <a:gd name="connsiteY4" fmla="*/ 715601 h 4484800"/>
              <a:gd name="connsiteX5" fmla="*/ 11460164 w 11460164"/>
              <a:gd name="connsiteY5" fmla="*/ 4299118 h 4484800"/>
              <a:gd name="connsiteX6" fmla="*/ 11274482 w 11460164"/>
              <a:gd name="connsiteY6" fmla="*/ 4484800 h 4484800"/>
              <a:gd name="connsiteX7" fmla="*/ 185682 w 11460164"/>
              <a:gd name="connsiteY7" fmla="*/ 4484800 h 4484800"/>
              <a:gd name="connsiteX8" fmla="*/ 0 w 11460164"/>
              <a:gd name="connsiteY8" fmla="*/ 4299118 h 4484800"/>
              <a:gd name="connsiteX9" fmla="*/ 0 w 11460164"/>
              <a:gd name="connsiteY9" fmla="*/ 715601 h 4484800"/>
              <a:gd name="connsiteX10" fmla="*/ 0 w 11460164"/>
              <a:gd name="connsiteY10" fmla="*/ 456183 h 4484800"/>
              <a:gd name="connsiteX11" fmla="*/ 0 w 11460164"/>
              <a:gd name="connsiteY11" fmla="*/ 185682 h 4484800"/>
              <a:gd name="connsiteX12" fmla="*/ 185682 w 11460164"/>
              <a:gd name="connsiteY12" fmla="*/ 0 h 448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60164" h="4484800">
                <a:moveTo>
                  <a:pt x="185682" y="0"/>
                </a:moveTo>
                <a:lnTo>
                  <a:pt x="11274482" y="0"/>
                </a:lnTo>
                <a:cubicBezTo>
                  <a:pt x="11377031" y="0"/>
                  <a:pt x="11460164" y="83133"/>
                  <a:pt x="11460164" y="185682"/>
                </a:cubicBezTo>
                <a:lnTo>
                  <a:pt x="11460164" y="456183"/>
                </a:lnTo>
                <a:lnTo>
                  <a:pt x="11460164" y="715601"/>
                </a:lnTo>
                <a:lnTo>
                  <a:pt x="11460164" y="4299118"/>
                </a:lnTo>
                <a:cubicBezTo>
                  <a:pt x="11460164" y="4401667"/>
                  <a:pt x="11377031" y="4484800"/>
                  <a:pt x="11274482" y="4484800"/>
                </a:cubicBezTo>
                <a:lnTo>
                  <a:pt x="185682" y="4484800"/>
                </a:lnTo>
                <a:cubicBezTo>
                  <a:pt x="83133" y="4484800"/>
                  <a:pt x="0" y="4401667"/>
                  <a:pt x="0" y="4299118"/>
                </a:cubicBezTo>
                <a:lnTo>
                  <a:pt x="0" y="715601"/>
                </a:lnTo>
                <a:lnTo>
                  <a:pt x="0" y="456183"/>
                </a:lnTo>
                <a:lnTo>
                  <a:pt x="0" y="185682"/>
                </a:lnTo>
                <a:cubicBezTo>
                  <a:pt x="0" y="83133"/>
                  <a:pt x="83133" y="0"/>
                  <a:pt x="185682" y="0"/>
                </a:cubicBezTo>
                <a:close/>
              </a:path>
            </a:pathLst>
          </a:custGeom>
          <a:noFill/>
          <a:ln>
            <a:noFill/>
          </a:ln>
        </p:spPr>
        <p:txBody>
          <a:bodyPr vert="horz" wrap="square" lIns="0" tIns="0" rIns="0" bIns="0" rtlCol="0" anchor="t">
            <a:noAutofit/>
          </a:bodyPr>
          <a:lstStyle>
            <a:lvl1pPr marL="359991" indent="-359991" algn="l" defTabSz="1219170" rtl="0" eaLnBrk="1" latinLnBrk="0" hangingPunct="1">
              <a:spcBef>
                <a:spcPts val="300"/>
              </a:spcBef>
              <a:spcAft>
                <a:spcPts val="300"/>
              </a:spcAft>
              <a:buClr>
                <a:schemeClr val="tx2"/>
              </a:buClr>
              <a:buSzPct val="110000"/>
              <a:buFont typeface="Arial" panose="020B0604020202020204" pitchFamily="34" charset="0"/>
              <a:buChar char="•"/>
              <a:defRPr sz="2200" kern="1200">
                <a:solidFill>
                  <a:schemeClr val="tx1"/>
                </a:solidFill>
                <a:latin typeface="+mn-lt"/>
                <a:ea typeface="+mn-ea"/>
                <a:cs typeface="+mn-cs"/>
              </a:defRPr>
            </a:lvl1pPr>
            <a:lvl2pPr marL="717533" indent="-359991" algn="l" defTabSz="1219170" rtl="0" eaLnBrk="1" latinLnBrk="0" hangingPunct="1">
              <a:spcBef>
                <a:spcPts val="300"/>
              </a:spcBef>
              <a:spcAft>
                <a:spcPts val="300"/>
              </a:spcAft>
              <a:buClr>
                <a:schemeClr val="tx1"/>
              </a:buClr>
              <a:buFont typeface="Arial" panose="020B0604020202020204" pitchFamily="34" charset="0"/>
              <a:buChar char="­"/>
              <a:defRPr sz="2000" kern="1200">
                <a:solidFill>
                  <a:schemeClr val="tx1"/>
                </a:solidFill>
                <a:latin typeface="+mn-lt"/>
                <a:ea typeface="+mn-ea"/>
                <a:cs typeface="+mn-cs"/>
              </a:defRPr>
            </a:lvl2pPr>
            <a:lvl3pPr marL="1079973" indent="-359991" algn="l" defTabSz="1219170" rtl="0" eaLnBrk="1" latinLnBrk="0" hangingPunct="1">
              <a:spcBef>
                <a:spcPts val="300"/>
              </a:spcBef>
              <a:spcAft>
                <a:spcPts val="300"/>
              </a:spcAft>
              <a:buClr>
                <a:schemeClr val="tx1"/>
              </a:buClr>
              <a:buFont typeface="Arial" panose="020B0604020202020204" pitchFamily="34" charset="0"/>
              <a:buChar char="­"/>
              <a:defRPr sz="1800" kern="1200">
                <a:solidFill>
                  <a:schemeClr val="tx1"/>
                </a:solidFill>
                <a:latin typeface="+mn-lt"/>
                <a:ea typeface="+mn-ea"/>
                <a:cs typeface="+mn-cs"/>
              </a:defRPr>
            </a:lvl3pPr>
            <a:lvl4pPr marL="1441415" indent="-359991" algn="l" defTabSz="1219170" rtl="0" eaLnBrk="1" latinLnBrk="0" hangingPunct="1">
              <a:spcBef>
                <a:spcPts val="300"/>
              </a:spcBef>
              <a:spcAft>
                <a:spcPts val="300"/>
              </a:spcAft>
              <a:buClr>
                <a:schemeClr val="tx1"/>
              </a:buClr>
              <a:buFont typeface="Arial" panose="020B0604020202020204" pitchFamily="34" charset="0"/>
              <a:buChar char="­"/>
              <a:defRPr sz="1600" kern="1200">
                <a:solidFill>
                  <a:schemeClr val="tx1"/>
                </a:solidFill>
                <a:latin typeface="+mn-lt"/>
                <a:ea typeface="+mn-ea"/>
                <a:cs typeface="+mn-cs"/>
              </a:defRPr>
            </a:lvl4pPr>
            <a:lvl5pPr marL="1799955" indent="-359991" algn="l" defTabSz="1219170" rtl="0" eaLnBrk="1" latinLnBrk="0" hangingPunct="1">
              <a:spcBef>
                <a:spcPts val="300"/>
              </a:spcBef>
              <a:spcAft>
                <a:spcPts val="300"/>
              </a:spcAft>
              <a:buClr>
                <a:schemeClr val="tx1"/>
              </a:buClr>
              <a:buFont typeface="Arial" panose="020B0604020202020204" pitchFamily="34" charset="0"/>
              <a:buChar char="­"/>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576000" indent="-342900">
              <a:spcBef>
                <a:spcPts val="600"/>
              </a:spcBef>
              <a:spcAft>
                <a:spcPts val="600"/>
              </a:spcAft>
              <a:buFont typeface="+mj-lt"/>
              <a:buAutoNum type="arabicPeriod"/>
            </a:pPr>
            <a:r>
              <a:rPr lang="en-US" sz="1400">
                <a:solidFill>
                  <a:schemeClr val="bg2">
                    <a:lumMod val="50000"/>
                  </a:schemeClr>
                </a:solidFill>
                <a:latin typeface="+mj-lt"/>
              </a:rPr>
              <a:t>Virtual desktops are </a:t>
            </a:r>
            <a:r>
              <a:rPr lang="en-US" sz="1400">
                <a:solidFill>
                  <a:schemeClr val="tx2"/>
                </a:solidFill>
                <a:latin typeface="+mj-lt"/>
              </a:rPr>
              <a:t>hybrid-joined</a:t>
            </a:r>
            <a:r>
              <a:rPr lang="en-US" sz="1400">
                <a:solidFill>
                  <a:schemeClr val="bg2">
                    <a:lumMod val="50000"/>
                  </a:schemeClr>
                </a:solidFill>
                <a:latin typeface="+mj-lt"/>
              </a:rPr>
              <a:t> via WMSERVICE AD and Entra ID. Authentication via Entra ID only will be considered in a future platform migration, pending client app compatibility testing.</a:t>
            </a:r>
            <a:endParaRPr lang="en-GB" sz="1400">
              <a:solidFill>
                <a:schemeClr val="bg2">
                  <a:lumMod val="50000"/>
                </a:schemeClr>
              </a:solidFill>
              <a:latin typeface="+mj-lt"/>
            </a:endParaRPr>
          </a:p>
        </p:txBody>
      </p:sp>
      <p:sp>
        <p:nvSpPr>
          <p:cNvPr id="1355" name="Text Placeholder 1">
            <a:extLst>
              <a:ext uri="{FF2B5EF4-FFF2-40B4-BE49-F238E27FC236}">
                <a16:creationId xmlns:a16="http://schemas.microsoft.com/office/drawing/2014/main" id="{AB410384-BDF4-04AD-E1E4-47F2BB880516}"/>
              </a:ext>
            </a:extLst>
          </p:cNvPr>
          <p:cNvSpPr txBox="1">
            <a:spLocks/>
          </p:cNvSpPr>
          <p:nvPr/>
        </p:nvSpPr>
        <p:spPr>
          <a:xfrm>
            <a:off x="37443" y="5306019"/>
            <a:ext cx="3994771" cy="957339"/>
          </a:xfrm>
          <a:custGeom>
            <a:avLst/>
            <a:gdLst>
              <a:gd name="connsiteX0" fmla="*/ 185682 w 11460164"/>
              <a:gd name="connsiteY0" fmla="*/ 0 h 4484800"/>
              <a:gd name="connsiteX1" fmla="*/ 11274482 w 11460164"/>
              <a:gd name="connsiteY1" fmla="*/ 0 h 4484800"/>
              <a:gd name="connsiteX2" fmla="*/ 11460164 w 11460164"/>
              <a:gd name="connsiteY2" fmla="*/ 185682 h 4484800"/>
              <a:gd name="connsiteX3" fmla="*/ 11460164 w 11460164"/>
              <a:gd name="connsiteY3" fmla="*/ 456183 h 4484800"/>
              <a:gd name="connsiteX4" fmla="*/ 11460164 w 11460164"/>
              <a:gd name="connsiteY4" fmla="*/ 715601 h 4484800"/>
              <a:gd name="connsiteX5" fmla="*/ 11460164 w 11460164"/>
              <a:gd name="connsiteY5" fmla="*/ 4299118 h 4484800"/>
              <a:gd name="connsiteX6" fmla="*/ 11274482 w 11460164"/>
              <a:gd name="connsiteY6" fmla="*/ 4484800 h 4484800"/>
              <a:gd name="connsiteX7" fmla="*/ 185682 w 11460164"/>
              <a:gd name="connsiteY7" fmla="*/ 4484800 h 4484800"/>
              <a:gd name="connsiteX8" fmla="*/ 0 w 11460164"/>
              <a:gd name="connsiteY8" fmla="*/ 4299118 h 4484800"/>
              <a:gd name="connsiteX9" fmla="*/ 0 w 11460164"/>
              <a:gd name="connsiteY9" fmla="*/ 715601 h 4484800"/>
              <a:gd name="connsiteX10" fmla="*/ 0 w 11460164"/>
              <a:gd name="connsiteY10" fmla="*/ 456183 h 4484800"/>
              <a:gd name="connsiteX11" fmla="*/ 0 w 11460164"/>
              <a:gd name="connsiteY11" fmla="*/ 185682 h 4484800"/>
              <a:gd name="connsiteX12" fmla="*/ 185682 w 11460164"/>
              <a:gd name="connsiteY12" fmla="*/ 0 h 448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60164" h="4484800">
                <a:moveTo>
                  <a:pt x="185682" y="0"/>
                </a:moveTo>
                <a:lnTo>
                  <a:pt x="11274482" y="0"/>
                </a:lnTo>
                <a:cubicBezTo>
                  <a:pt x="11377031" y="0"/>
                  <a:pt x="11460164" y="83133"/>
                  <a:pt x="11460164" y="185682"/>
                </a:cubicBezTo>
                <a:lnTo>
                  <a:pt x="11460164" y="456183"/>
                </a:lnTo>
                <a:lnTo>
                  <a:pt x="11460164" y="715601"/>
                </a:lnTo>
                <a:lnTo>
                  <a:pt x="11460164" y="4299118"/>
                </a:lnTo>
                <a:cubicBezTo>
                  <a:pt x="11460164" y="4401667"/>
                  <a:pt x="11377031" y="4484800"/>
                  <a:pt x="11274482" y="4484800"/>
                </a:cubicBezTo>
                <a:lnTo>
                  <a:pt x="185682" y="4484800"/>
                </a:lnTo>
                <a:cubicBezTo>
                  <a:pt x="83133" y="4484800"/>
                  <a:pt x="0" y="4401667"/>
                  <a:pt x="0" y="4299118"/>
                </a:cubicBezTo>
                <a:lnTo>
                  <a:pt x="0" y="715601"/>
                </a:lnTo>
                <a:lnTo>
                  <a:pt x="0" y="456183"/>
                </a:lnTo>
                <a:lnTo>
                  <a:pt x="0" y="185682"/>
                </a:lnTo>
                <a:cubicBezTo>
                  <a:pt x="0" y="83133"/>
                  <a:pt x="83133" y="0"/>
                  <a:pt x="185682" y="0"/>
                </a:cubicBezTo>
                <a:close/>
              </a:path>
            </a:pathLst>
          </a:custGeom>
          <a:noFill/>
          <a:ln>
            <a:noFill/>
          </a:ln>
        </p:spPr>
        <p:txBody>
          <a:bodyPr vert="horz" wrap="square" lIns="0" tIns="0" rIns="0" bIns="0" rtlCol="0" anchor="t">
            <a:noAutofit/>
          </a:bodyPr>
          <a:lstStyle>
            <a:lvl1pPr marL="359991" indent="-359991" algn="l" defTabSz="1219170" rtl="0" eaLnBrk="1" latinLnBrk="0" hangingPunct="1">
              <a:spcBef>
                <a:spcPts val="300"/>
              </a:spcBef>
              <a:spcAft>
                <a:spcPts val="300"/>
              </a:spcAft>
              <a:buClr>
                <a:schemeClr val="tx2"/>
              </a:buClr>
              <a:buSzPct val="110000"/>
              <a:buFont typeface="Arial" panose="020B0604020202020204" pitchFamily="34" charset="0"/>
              <a:buChar char="•"/>
              <a:defRPr sz="2200" kern="1200">
                <a:solidFill>
                  <a:schemeClr val="tx1"/>
                </a:solidFill>
                <a:latin typeface="+mn-lt"/>
                <a:ea typeface="+mn-ea"/>
                <a:cs typeface="+mn-cs"/>
              </a:defRPr>
            </a:lvl1pPr>
            <a:lvl2pPr marL="717533" indent="-359991" algn="l" defTabSz="1219170" rtl="0" eaLnBrk="1" latinLnBrk="0" hangingPunct="1">
              <a:spcBef>
                <a:spcPts val="300"/>
              </a:spcBef>
              <a:spcAft>
                <a:spcPts val="300"/>
              </a:spcAft>
              <a:buClr>
                <a:schemeClr val="tx1"/>
              </a:buClr>
              <a:buFont typeface="Arial" panose="020B0604020202020204" pitchFamily="34" charset="0"/>
              <a:buChar char="­"/>
              <a:defRPr sz="2000" kern="1200">
                <a:solidFill>
                  <a:schemeClr val="tx1"/>
                </a:solidFill>
                <a:latin typeface="+mn-lt"/>
                <a:ea typeface="+mn-ea"/>
                <a:cs typeface="+mn-cs"/>
              </a:defRPr>
            </a:lvl2pPr>
            <a:lvl3pPr marL="1079973" indent="-359991" algn="l" defTabSz="1219170" rtl="0" eaLnBrk="1" latinLnBrk="0" hangingPunct="1">
              <a:spcBef>
                <a:spcPts val="300"/>
              </a:spcBef>
              <a:spcAft>
                <a:spcPts val="300"/>
              </a:spcAft>
              <a:buClr>
                <a:schemeClr val="tx1"/>
              </a:buClr>
              <a:buFont typeface="Arial" panose="020B0604020202020204" pitchFamily="34" charset="0"/>
              <a:buChar char="­"/>
              <a:defRPr sz="1800" kern="1200">
                <a:solidFill>
                  <a:schemeClr val="tx1"/>
                </a:solidFill>
                <a:latin typeface="+mn-lt"/>
                <a:ea typeface="+mn-ea"/>
                <a:cs typeface="+mn-cs"/>
              </a:defRPr>
            </a:lvl3pPr>
            <a:lvl4pPr marL="1441415" indent="-359991" algn="l" defTabSz="1219170" rtl="0" eaLnBrk="1" latinLnBrk="0" hangingPunct="1">
              <a:spcBef>
                <a:spcPts val="300"/>
              </a:spcBef>
              <a:spcAft>
                <a:spcPts val="300"/>
              </a:spcAft>
              <a:buClr>
                <a:schemeClr val="tx1"/>
              </a:buClr>
              <a:buFont typeface="Arial" panose="020B0604020202020204" pitchFamily="34" charset="0"/>
              <a:buChar char="­"/>
              <a:defRPr sz="1600" kern="1200">
                <a:solidFill>
                  <a:schemeClr val="tx1"/>
                </a:solidFill>
                <a:latin typeface="+mn-lt"/>
                <a:ea typeface="+mn-ea"/>
                <a:cs typeface="+mn-cs"/>
              </a:defRPr>
            </a:lvl4pPr>
            <a:lvl5pPr marL="1799955" indent="-359991" algn="l" defTabSz="1219170" rtl="0" eaLnBrk="1" latinLnBrk="0" hangingPunct="1">
              <a:spcBef>
                <a:spcPts val="300"/>
              </a:spcBef>
              <a:spcAft>
                <a:spcPts val="300"/>
              </a:spcAft>
              <a:buClr>
                <a:schemeClr val="tx1"/>
              </a:buClr>
              <a:buFont typeface="Arial" panose="020B0604020202020204" pitchFamily="34" charset="0"/>
              <a:buChar char="­"/>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576000" indent="-342900">
              <a:buFont typeface="+mj-lt"/>
              <a:buAutoNum type="arabicPeriod" startAt="5"/>
            </a:pPr>
            <a:r>
              <a:rPr lang="en-US" sz="1400">
                <a:solidFill>
                  <a:schemeClr val="bg2">
                    <a:lumMod val="50000"/>
                  </a:schemeClr>
                </a:solidFill>
              </a:rPr>
              <a:t>CSO strategy is driving the </a:t>
            </a:r>
            <a:r>
              <a:rPr lang="en-US" sz="1400">
                <a:solidFill>
                  <a:schemeClr val="tx2"/>
                </a:solidFill>
              </a:rPr>
              <a:t>removal of Forcepoint DLP</a:t>
            </a:r>
            <a:r>
              <a:rPr lang="en-US" sz="1400">
                <a:solidFill>
                  <a:schemeClr val="bg2">
                    <a:lumMod val="50000"/>
                  </a:schemeClr>
                </a:solidFill>
              </a:rPr>
              <a:t> on persistent VDI desktops due to a proposed migration to Purview agentless architecture in H2 2025.</a:t>
            </a:r>
          </a:p>
        </p:txBody>
      </p:sp>
      <p:grpSp>
        <p:nvGrpSpPr>
          <p:cNvPr id="9" name="Group 8">
            <a:extLst>
              <a:ext uri="{FF2B5EF4-FFF2-40B4-BE49-F238E27FC236}">
                <a16:creationId xmlns:a16="http://schemas.microsoft.com/office/drawing/2014/main" id="{1B21A152-0CD3-FAB6-2256-39DAAF6FD99C}"/>
              </a:ext>
            </a:extLst>
          </p:cNvPr>
          <p:cNvGrpSpPr/>
          <p:nvPr/>
        </p:nvGrpSpPr>
        <p:grpSpPr>
          <a:xfrm>
            <a:off x="11070928" y="3297453"/>
            <a:ext cx="671486" cy="164827"/>
            <a:chOff x="9693336" y="4599728"/>
            <a:chExt cx="671486" cy="164827"/>
          </a:xfrm>
        </p:grpSpPr>
        <p:sp>
          <p:nvSpPr>
            <p:cNvPr id="13" name="Rectangle: Rounded Corners 12">
              <a:extLst>
                <a:ext uri="{FF2B5EF4-FFF2-40B4-BE49-F238E27FC236}">
                  <a16:creationId xmlns:a16="http://schemas.microsoft.com/office/drawing/2014/main" id="{32DD836E-19BD-8C14-1001-AE80BC564DC2}"/>
                </a:ext>
              </a:extLst>
            </p:cNvPr>
            <p:cNvSpPr/>
            <p:nvPr/>
          </p:nvSpPr>
          <p:spPr bwMode="auto">
            <a:xfrm>
              <a:off x="9693336" y="4599728"/>
              <a:ext cx="671486" cy="164827"/>
            </a:xfrm>
            <a:prstGeom prst="round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
                </a:spcBef>
                <a:spcAft>
                  <a:spcPts val="30"/>
                </a:spcAft>
                <a:buClr>
                  <a:schemeClr val="tx2"/>
                </a:buClr>
                <a:buSzPct val="110000"/>
                <a:buFont typeface="Arial" panose="020B0604020202020204" pitchFamily="34" charset="0"/>
                <a:buChar char="•"/>
              </a:pPr>
              <a:endParaRPr lang="en-GB" sz="1600" kern="0" err="1">
                <a:solidFill>
                  <a:schemeClr val="tx1"/>
                </a:solidFill>
              </a:endParaRPr>
            </a:p>
          </p:txBody>
        </p:sp>
        <p:pic>
          <p:nvPicPr>
            <p:cNvPr id="15" name="Picture 4">
              <a:extLst>
                <a:ext uri="{FF2B5EF4-FFF2-40B4-BE49-F238E27FC236}">
                  <a16:creationId xmlns:a16="http://schemas.microsoft.com/office/drawing/2014/main" id="{7A211882-E555-67A6-ED07-CA4DD74D0011}"/>
                </a:ext>
              </a:extLst>
            </p:cNvPr>
            <p:cNvPicPr>
              <a:picLocks noChangeAspect="1" noChangeArrowheads="1"/>
            </p:cNvPicPr>
            <p:nvPr/>
          </p:nvPicPr>
          <p:blipFill>
            <a:blip r:embed="rId29" cstate="print">
              <a:duotone>
                <a:schemeClr val="bg2">
                  <a:shade val="45000"/>
                  <a:satMod val="135000"/>
                </a:schemeClr>
                <a:prstClr val="white"/>
              </a:duotone>
              <a:extLst>
                <a:ext uri="{BEBA8EAE-BF5A-486C-A8C5-ECC9F3942E4B}">
                  <a14:imgProps xmlns:a14="http://schemas.microsoft.com/office/drawing/2010/main">
                    <a14:imgLayer r:embed="rId30">
                      <a14:imgEffect>
                        <a14:brightnessContrast bright="41000"/>
                      </a14:imgEffect>
                    </a14:imgLayer>
                  </a14:imgProps>
                </a:ext>
                <a:ext uri="{28A0092B-C50C-407E-A947-70E740481C1C}">
                  <a14:useLocalDpi xmlns:a14="http://schemas.microsoft.com/office/drawing/2010/main" val="0"/>
                </a:ext>
              </a:extLst>
            </a:blip>
            <a:srcRect/>
            <a:stretch>
              <a:fillRect/>
            </a:stretch>
          </p:blipFill>
          <p:spPr bwMode="auto">
            <a:xfrm>
              <a:off x="9732120" y="4612539"/>
              <a:ext cx="592055" cy="137607"/>
            </a:xfrm>
            <a:prstGeom prst="rect">
              <a:avLst/>
            </a:prstGeom>
            <a:noFill/>
            <a:extLst>
              <a:ext uri="{909E8E84-426E-40DD-AFC4-6F175D3DCCD1}">
                <a14:hiddenFill xmlns:a14="http://schemas.microsoft.com/office/drawing/2010/main">
                  <a:solidFill>
                    <a:srgbClr val="FFFFFF"/>
                  </a:solidFill>
                </a14:hiddenFill>
              </a:ext>
            </a:extLst>
          </p:spPr>
        </p:pic>
      </p:grpSp>
      <p:sp>
        <p:nvSpPr>
          <p:cNvPr id="17" name="Oval 16">
            <a:extLst>
              <a:ext uri="{FF2B5EF4-FFF2-40B4-BE49-F238E27FC236}">
                <a16:creationId xmlns:a16="http://schemas.microsoft.com/office/drawing/2014/main" id="{A7915D6B-8823-B037-AC32-F7202FE2AB8F}"/>
              </a:ext>
            </a:extLst>
          </p:cNvPr>
          <p:cNvSpPr/>
          <p:nvPr/>
        </p:nvSpPr>
        <p:spPr bwMode="auto">
          <a:xfrm>
            <a:off x="11047948" y="2004782"/>
            <a:ext cx="288000" cy="288000"/>
          </a:xfrm>
          <a:prstGeom prst="ellipse">
            <a:avLst/>
          </a:prstGeom>
          <a:solidFill>
            <a:schemeClr val="bg1"/>
          </a:solidFill>
          <a:ln w="12700">
            <a:solidFill>
              <a:schemeClr val="tx2"/>
            </a:solidFill>
            <a:headEnd/>
            <a:tailEn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tx2"/>
              </a:buClr>
              <a:buSzPct val="110000"/>
            </a:pPr>
            <a:r>
              <a:rPr lang="en-GB" sz="1400" b="1" kern="0">
                <a:solidFill>
                  <a:schemeClr val="tx2"/>
                </a:solidFill>
              </a:rPr>
              <a:t>1</a:t>
            </a:r>
          </a:p>
        </p:txBody>
      </p:sp>
      <p:sp>
        <p:nvSpPr>
          <p:cNvPr id="21" name="Oval 20">
            <a:extLst>
              <a:ext uri="{FF2B5EF4-FFF2-40B4-BE49-F238E27FC236}">
                <a16:creationId xmlns:a16="http://schemas.microsoft.com/office/drawing/2014/main" id="{ECDC3343-550C-4A07-9E98-3561C0866F2F}"/>
              </a:ext>
            </a:extLst>
          </p:cNvPr>
          <p:cNvSpPr/>
          <p:nvPr/>
        </p:nvSpPr>
        <p:spPr bwMode="auto">
          <a:xfrm>
            <a:off x="5450400" y="1632541"/>
            <a:ext cx="288000" cy="288000"/>
          </a:xfrm>
          <a:prstGeom prst="ellipse">
            <a:avLst/>
          </a:prstGeom>
          <a:solidFill>
            <a:schemeClr val="bg1"/>
          </a:solidFill>
          <a:ln w="12700">
            <a:solidFill>
              <a:schemeClr val="tx2"/>
            </a:solidFill>
            <a:headEnd/>
            <a:tailEn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tx2"/>
              </a:buClr>
              <a:buSzPct val="110000"/>
            </a:pPr>
            <a:r>
              <a:rPr lang="en-GB" sz="1400" b="1" kern="0">
                <a:solidFill>
                  <a:schemeClr val="tx2"/>
                </a:solidFill>
              </a:rPr>
              <a:t>2</a:t>
            </a:r>
          </a:p>
        </p:txBody>
      </p:sp>
      <p:sp>
        <p:nvSpPr>
          <p:cNvPr id="27" name="Oval 26">
            <a:extLst>
              <a:ext uri="{FF2B5EF4-FFF2-40B4-BE49-F238E27FC236}">
                <a16:creationId xmlns:a16="http://schemas.microsoft.com/office/drawing/2014/main" id="{9358486D-1F4B-A56C-26A4-372402032630}"/>
              </a:ext>
            </a:extLst>
          </p:cNvPr>
          <p:cNvSpPr/>
          <p:nvPr/>
        </p:nvSpPr>
        <p:spPr bwMode="auto">
          <a:xfrm>
            <a:off x="5450400" y="4980382"/>
            <a:ext cx="288000" cy="288000"/>
          </a:xfrm>
          <a:prstGeom prst="ellipse">
            <a:avLst/>
          </a:prstGeom>
          <a:solidFill>
            <a:schemeClr val="bg1"/>
          </a:solidFill>
          <a:ln w="12700">
            <a:solidFill>
              <a:schemeClr val="tx2"/>
            </a:solidFill>
            <a:headEnd/>
            <a:tailEn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tx2"/>
              </a:buClr>
              <a:buSzPct val="110000"/>
            </a:pPr>
            <a:r>
              <a:rPr lang="en-GB" sz="1400" b="1" kern="0">
                <a:solidFill>
                  <a:schemeClr val="tx2"/>
                </a:solidFill>
              </a:rPr>
              <a:t>3</a:t>
            </a:r>
          </a:p>
        </p:txBody>
      </p:sp>
      <p:sp>
        <p:nvSpPr>
          <p:cNvPr id="29" name="Oval 28">
            <a:extLst>
              <a:ext uri="{FF2B5EF4-FFF2-40B4-BE49-F238E27FC236}">
                <a16:creationId xmlns:a16="http://schemas.microsoft.com/office/drawing/2014/main" id="{6F19445A-5AC3-49E5-7F44-217A7859FA3E}"/>
              </a:ext>
            </a:extLst>
          </p:cNvPr>
          <p:cNvSpPr/>
          <p:nvPr/>
        </p:nvSpPr>
        <p:spPr bwMode="auto">
          <a:xfrm>
            <a:off x="5450400" y="2383852"/>
            <a:ext cx="288000" cy="288000"/>
          </a:xfrm>
          <a:prstGeom prst="ellipse">
            <a:avLst/>
          </a:prstGeom>
          <a:solidFill>
            <a:schemeClr val="bg1"/>
          </a:solidFill>
          <a:ln w="12700">
            <a:solidFill>
              <a:schemeClr val="tx2"/>
            </a:solidFill>
            <a:headEnd/>
            <a:tailEn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tx2"/>
              </a:buClr>
              <a:buSzPct val="110000"/>
            </a:pPr>
            <a:r>
              <a:rPr lang="en-GB" sz="1400" b="1" kern="0">
                <a:solidFill>
                  <a:schemeClr val="tx2"/>
                </a:solidFill>
              </a:rPr>
              <a:t>4</a:t>
            </a:r>
          </a:p>
        </p:txBody>
      </p:sp>
      <p:sp>
        <p:nvSpPr>
          <p:cNvPr id="31" name="Oval 30">
            <a:extLst>
              <a:ext uri="{FF2B5EF4-FFF2-40B4-BE49-F238E27FC236}">
                <a16:creationId xmlns:a16="http://schemas.microsoft.com/office/drawing/2014/main" id="{F0F26F20-F652-0013-019E-3753BD159C46}"/>
              </a:ext>
            </a:extLst>
          </p:cNvPr>
          <p:cNvSpPr/>
          <p:nvPr/>
        </p:nvSpPr>
        <p:spPr bwMode="auto">
          <a:xfrm>
            <a:off x="5450400" y="6044447"/>
            <a:ext cx="288000" cy="288000"/>
          </a:xfrm>
          <a:prstGeom prst="ellipse">
            <a:avLst/>
          </a:prstGeom>
          <a:solidFill>
            <a:schemeClr val="bg1"/>
          </a:solidFill>
          <a:ln w="12700">
            <a:solidFill>
              <a:schemeClr val="tx2"/>
            </a:solidFill>
            <a:headEnd/>
            <a:tailEn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tx2"/>
              </a:buClr>
              <a:buSzPct val="110000"/>
            </a:pPr>
            <a:r>
              <a:rPr lang="en-GB" sz="1400" b="1" kern="0">
                <a:solidFill>
                  <a:schemeClr val="tx2"/>
                </a:solidFill>
              </a:rPr>
              <a:t>5</a:t>
            </a:r>
          </a:p>
        </p:txBody>
      </p:sp>
      <p:pic>
        <p:nvPicPr>
          <p:cNvPr id="39" name="Graphic 38" descr="Cloud Computing with solid fill">
            <a:extLst>
              <a:ext uri="{FF2B5EF4-FFF2-40B4-BE49-F238E27FC236}">
                <a16:creationId xmlns:a16="http://schemas.microsoft.com/office/drawing/2014/main" id="{3362802C-2C9E-DB53-1E27-3031CE0F7CD2}"/>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6541358" y="3342944"/>
            <a:ext cx="612000" cy="612000"/>
          </a:xfrm>
          <a:prstGeom prst="rect">
            <a:avLst/>
          </a:prstGeom>
        </p:spPr>
      </p:pic>
      <p:sp>
        <p:nvSpPr>
          <p:cNvPr id="5" name="TextBox 4">
            <a:extLst>
              <a:ext uri="{FF2B5EF4-FFF2-40B4-BE49-F238E27FC236}">
                <a16:creationId xmlns:a16="http://schemas.microsoft.com/office/drawing/2014/main" id="{EF5573A6-E0CF-9774-1F1E-DA608833D76A}"/>
              </a:ext>
            </a:extLst>
          </p:cNvPr>
          <p:cNvSpPr txBox="1"/>
          <p:nvPr/>
        </p:nvSpPr>
        <p:spPr>
          <a:xfrm>
            <a:off x="507255" y="455238"/>
            <a:ext cx="6243636" cy="461665"/>
          </a:xfrm>
          <a:prstGeom prst="rect">
            <a:avLst/>
          </a:prstGeom>
          <a:noFill/>
        </p:spPr>
        <p:txBody>
          <a:bodyPr wrap="square">
            <a:spAutoFit/>
          </a:bodyPr>
          <a:lstStyle/>
          <a:p>
            <a:r>
              <a:rPr lang="en-US">
                <a:solidFill>
                  <a:schemeClr val="tx2"/>
                </a:solidFill>
              </a:rPr>
              <a:t>Desktop Management (current)</a:t>
            </a:r>
            <a:endParaRPr lang="en-GB"/>
          </a:p>
        </p:txBody>
      </p:sp>
    </p:spTree>
    <p:extLst>
      <p:ext uri="{BB962C8B-B14F-4D97-AF65-F5344CB8AC3E}">
        <p14:creationId xmlns:p14="http://schemas.microsoft.com/office/powerpoint/2010/main" val="2303847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640B5-196B-349A-7D81-FBD93B59FEBC}"/>
            </a:ext>
          </a:extLst>
        </p:cNvPr>
        <p:cNvGrpSpPr/>
        <p:nvPr/>
      </p:nvGrpSpPr>
      <p:grpSpPr>
        <a:xfrm>
          <a:off x="0" y="0"/>
          <a:ext cx="0" cy="0"/>
          <a:chOff x="0" y="0"/>
          <a:chExt cx="0" cy="0"/>
        </a:xfrm>
      </p:grpSpPr>
      <p:sp>
        <p:nvSpPr>
          <p:cNvPr id="19" name="Title 15">
            <a:extLst>
              <a:ext uri="{FF2B5EF4-FFF2-40B4-BE49-F238E27FC236}">
                <a16:creationId xmlns:a16="http://schemas.microsoft.com/office/drawing/2014/main" id="{361BA737-D099-0052-3610-082E20644FD3}"/>
              </a:ext>
            </a:extLst>
          </p:cNvPr>
          <p:cNvSpPr txBox="1">
            <a:spLocks/>
          </p:cNvSpPr>
          <p:nvPr/>
        </p:nvSpPr>
        <p:spPr>
          <a:xfrm>
            <a:off x="478870" y="35563"/>
            <a:ext cx="10541637" cy="677108"/>
          </a:xfrm>
          <a:prstGeom prst="rect">
            <a:avLst/>
          </a:prstGeom>
        </p:spPr>
        <p:txBody>
          <a:bodyPr vert="horz" lIns="0" tIns="0" rIns="0" bIns="0" rtlCol="0" anchor="b" anchorCtr="0">
            <a:normAutofit fontScale="92500"/>
          </a:bodyPr>
          <a:lstStyle>
            <a:lvl1pPr algn="l" defTabSz="1219170" rtl="0" eaLnBrk="1" latinLnBrk="0" hangingPunct="1">
              <a:lnSpc>
                <a:spcPct val="100000"/>
              </a:lnSpc>
              <a:spcBef>
                <a:spcPct val="0"/>
              </a:spcBef>
              <a:buNone/>
              <a:defRPr sz="2800" b="1" kern="1200">
                <a:solidFill>
                  <a:schemeClr val="tx2"/>
                </a:solidFill>
                <a:latin typeface="+mj-lt"/>
                <a:ea typeface="+mj-ea"/>
                <a:cs typeface="+mj-cs"/>
              </a:defRPr>
            </a:lvl1pPr>
          </a:lstStyle>
          <a:p>
            <a:r>
              <a:rPr lang="en-US"/>
              <a:t>Tech Stack &amp; Architecture Diagram - EAS: VDI Gateway Services</a:t>
            </a:r>
          </a:p>
        </p:txBody>
      </p:sp>
      <p:sp>
        <p:nvSpPr>
          <p:cNvPr id="16" name="Date Placeholder 5">
            <a:extLst>
              <a:ext uri="{FF2B5EF4-FFF2-40B4-BE49-F238E27FC236}">
                <a16:creationId xmlns:a16="http://schemas.microsoft.com/office/drawing/2014/main" id="{73AB2E2D-CDFF-CC43-994B-FC3A3C056D53}"/>
              </a:ext>
            </a:extLst>
          </p:cNvPr>
          <p:cNvSpPr txBox="1">
            <a:spLocks/>
          </p:cNvSpPr>
          <p:nvPr/>
        </p:nvSpPr>
        <p:spPr>
          <a:xfrm>
            <a:off x="10907861" y="65881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pic>
        <p:nvPicPr>
          <p:cNvPr id="2" name="Picture 1" descr="A diagram of a computer server&#10;&#10;AI-generated content may be incorrect.">
            <a:extLst>
              <a:ext uri="{FF2B5EF4-FFF2-40B4-BE49-F238E27FC236}">
                <a16:creationId xmlns:a16="http://schemas.microsoft.com/office/drawing/2014/main" id="{F6A79043-82D3-9970-0816-0479BFD1C426}"/>
              </a:ext>
            </a:extLst>
          </p:cNvPr>
          <p:cNvPicPr>
            <a:picLocks noChangeAspect="1"/>
          </p:cNvPicPr>
          <p:nvPr/>
        </p:nvPicPr>
        <p:blipFill>
          <a:blip r:embed="rId2"/>
          <a:stretch>
            <a:fillRect/>
          </a:stretch>
        </p:blipFill>
        <p:spPr>
          <a:xfrm>
            <a:off x="614043" y="712671"/>
            <a:ext cx="10541638" cy="5621040"/>
          </a:xfrm>
          <a:prstGeom prst="rect">
            <a:avLst/>
          </a:prstGeom>
        </p:spPr>
      </p:pic>
    </p:spTree>
    <p:extLst>
      <p:ext uri="{BB962C8B-B14F-4D97-AF65-F5344CB8AC3E}">
        <p14:creationId xmlns:p14="http://schemas.microsoft.com/office/powerpoint/2010/main" val="2671329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FBE3D-1565-4AB2-F7CC-6FABEC4E8136}"/>
            </a:ext>
          </a:extLst>
        </p:cNvPr>
        <p:cNvGrpSpPr/>
        <p:nvPr/>
      </p:nvGrpSpPr>
      <p:grpSpPr>
        <a:xfrm>
          <a:off x="0" y="0"/>
          <a:ext cx="0" cy="0"/>
          <a:chOff x="0" y="0"/>
          <a:chExt cx="0" cy="0"/>
        </a:xfrm>
      </p:grpSpPr>
      <p:sp>
        <p:nvSpPr>
          <p:cNvPr id="19" name="Title 15">
            <a:extLst>
              <a:ext uri="{FF2B5EF4-FFF2-40B4-BE49-F238E27FC236}">
                <a16:creationId xmlns:a16="http://schemas.microsoft.com/office/drawing/2014/main" id="{B45AB576-266C-7DC4-E5F8-584B7C242F13}"/>
              </a:ext>
            </a:extLst>
          </p:cNvPr>
          <p:cNvSpPr txBox="1">
            <a:spLocks/>
          </p:cNvSpPr>
          <p:nvPr/>
        </p:nvSpPr>
        <p:spPr>
          <a:xfrm>
            <a:off x="478870" y="35563"/>
            <a:ext cx="11262026" cy="677108"/>
          </a:xfrm>
          <a:prstGeom prst="rect">
            <a:avLst/>
          </a:prstGeom>
        </p:spPr>
        <p:txBody>
          <a:bodyPr vert="horz" lIns="0" tIns="0" rIns="0" bIns="0" rtlCol="0" anchor="b" anchorCtr="0">
            <a:normAutofit fontScale="92500" lnSpcReduction="10000"/>
          </a:bodyPr>
          <a:lstStyle>
            <a:lvl1pPr algn="l" defTabSz="1219170" rtl="0" eaLnBrk="1" latinLnBrk="0" hangingPunct="1">
              <a:lnSpc>
                <a:spcPct val="100000"/>
              </a:lnSpc>
              <a:spcBef>
                <a:spcPct val="0"/>
              </a:spcBef>
              <a:buNone/>
              <a:defRPr sz="2800" b="1" kern="1200">
                <a:solidFill>
                  <a:schemeClr val="tx2"/>
                </a:solidFill>
                <a:latin typeface="+mj-lt"/>
                <a:ea typeface="+mj-ea"/>
                <a:cs typeface="+mj-cs"/>
              </a:defRPr>
            </a:lvl1pPr>
          </a:lstStyle>
          <a:p>
            <a:r>
              <a:rPr lang="en-US"/>
              <a:t>Tech Stack &amp; Architecture Diagram - EAS: Managed File Transfer</a:t>
            </a:r>
          </a:p>
          <a:p>
            <a:pPr algn="ctr"/>
            <a:r>
              <a:rPr lang="en-US" sz="2200">
                <a:latin typeface="Arial" panose="020B0604020202020204" pitchFamily="34" charset="0"/>
                <a:ea typeface="Calibri" panose="020F0502020204030204" pitchFamily="34" charset="0"/>
              </a:rPr>
              <a:t>High Availability SFT IT Application Solution</a:t>
            </a:r>
            <a:endParaRPr lang="en-US" sz="2200"/>
          </a:p>
        </p:txBody>
      </p:sp>
      <p:sp>
        <p:nvSpPr>
          <p:cNvPr id="16" name="Date Placeholder 5">
            <a:extLst>
              <a:ext uri="{FF2B5EF4-FFF2-40B4-BE49-F238E27FC236}">
                <a16:creationId xmlns:a16="http://schemas.microsoft.com/office/drawing/2014/main" id="{6A7C2CFA-5E56-CD81-5E36-EEC394C30460}"/>
              </a:ext>
            </a:extLst>
          </p:cNvPr>
          <p:cNvSpPr txBox="1">
            <a:spLocks/>
          </p:cNvSpPr>
          <p:nvPr/>
        </p:nvSpPr>
        <p:spPr>
          <a:xfrm>
            <a:off x="10907861" y="65881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pic>
        <p:nvPicPr>
          <p:cNvPr id="2" name="Picture 1">
            <a:extLst>
              <a:ext uri="{FF2B5EF4-FFF2-40B4-BE49-F238E27FC236}">
                <a16:creationId xmlns:a16="http://schemas.microsoft.com/office/drawing/2014/main" id="{0C55DE94-130B-8A94-95C3-023DCDD9CA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7514" y="740155"/>
            <a:ext cx="8108125" cy="6082282"/>
          </a:xfrm>
          <a:prstGeom prst="rect">
            <a:avLst/>
          </a:prstGeom>
        </p:spPr>
      </p:pic>
    </p:spTree>
    <p:extLst>
      <p:ext uri="{BB962C8B-B14F-4D97-AF65-F5344CB8AC3E}">
        <p14:creationId xmlns:p14="http://schemas.microsoft.com/office/powerpoint/2010/main" val="2444139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02AFD-48D5-EB96-EBE0-90185EC18097}"/>
            </a:ext>
          </a:extLst>
        </p:cNvPr>
        <p:cNvGrpSpPr/>
        <p:nvPr/>
      </p:nvGrpSpPr>
      <p:grpSpPr>
        <a:xfrm>
          <a:off x="0" y="0"/>
          <a:ext cx="0" cy="0"/>
          <a:chOff x="0" y="0"/>
          <a:chExt cx="0" cy="0"/>
        </a:xfrm>
      </p:grpSpPr>
      <p:sp>
        <p:nvSpPr>
          <p:cNvPr id="19" name="Title 15">
            <a:extLst>
              <a:ext uri="{FF2B5EF4-FFF2-40B4-BE49-F238E27FC236}">
                <a16:creationId xmlns:a16="http://schemas.microsoft.com/office/drawing/2014/main" id="{94329875-6B0F-5278-C711-9424E7356D0F}"/>
              </a:ext>
            </a:extLst>
          </p:cNvPr>
          <p:cNvSpPr txBox="1">
            <a:spLocks/>
          </p:cNvSpPr>
          <p:nvPr/>
        </p:nvSpPr>
        <p:spPr>
          <a:xfrm>
            <a:off x="478870" y="35563"/>
            <a:ext cx="11316890" cy="677108"/>
          </a:xfrm>
          <a:prstGeom prst="rect">
            <a:avLst/>
          </a:prstGeom>
        </p:spPr>
        <p:txBody>
          <a:bodyPr vert="horz" lIns="0" tIns="0" rIns="0" bIns="0" rtlCol="0" anchor="b" anchorCtr="0">
            <a:normAutofit fontScale="92500" lnSpcReduction="10000"/>
          </a:bodyPr>
          <a:lstStyle>
            <a:lvl1pPr algn="l" defTabSz="1219170" rtl="0" eaLnBrk="1" latinLnBrk="0" hangingPunct="1">
              <a:lnSpc>
                <a:spcPct val="100000"/>
              </a:lnSpc>
              <a:spcBef>
                <a:spcPct val="0"/>
              </a:spcBef>
              <a:buNone/>
              <a:defRPr sz="2800" b="1" kern="1200">
                <a:solidFill>
                  <a:schemeClr val="tx2"/>
                </a:solidFill>
                <a:latin typeface="+mj-lt"/>
                <a:ea typeface="+mj-ea"/>
                <a:cs typeface="+mj-cs"/>
              </a:defRPr>
            </a:lvl1pPr>
          </a:lstStyle>
          <a:p>
            <a:r>
              <a:rPr lang="en-US"/>
              <a:t>Tech Stack &amp; Architecture Diagram - EAS: Managed File Transfer</a:t>
            </a:r>
          </a:p>
          <a:p>
            <a:pPr algn="ctr"/>
            <a:r>
              <a:rPr lang="en-US" sz="2200">
                <a:latin typeface="Arial" panose="020B0604020202020204" pitchFamily="34" charset="0"/>
                <a:ea typeface="Calibri" panose="020F0502020204030204" pitchFamily="34" charset="0"/>
              </a:rPr>
              <a:t>High Availability SFT OT Application Solution</a:t>
            </a:r>
            <a:endParaRPr lang="en-US" sz="2200"/>
          </a:p>
        </p:txBody>
      </p:sp>
      <p:sp>
        <p:nvSpPr>
          <p:cNvPr id="16" name="Date Placeholder 5">
            <a:extLst>
              <a:ext uri="{FF2B5EF4-FFF2-40B4-BE49-F238E27FC236}">
                <a16:creationId xmlns:a16="http://schemas.microsoft.com/office/drawing/2014/main" id="{729ECFED-2F94-9745-9473-802C984FFC61}"/>
              </a:ext>
            </a:extLst>
          </p:cNvPr>
          <p:cNvSpPr txBox="1">
            <a:spLocks/>
          </p:cNvSpPr>
          <p:nvPr/>
        </p:nvSpPr>
        <p:spPr>
          <a:xfrm>
            <a:off x="10907861" y="65881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pic>
        <p:nvPicPr>
          <p:cNvPr id="3" name="Picture 2">
            <a:extLst>
              <a:ext uri="{FF2B5EF4-FFF2-40B4-BE49-F238E27FC236}">
                <a16:creationId xmlns:a16="http://schemas.microsoft.com/office/drawing/2014/main" id="{21A93819-D3DB-5A70-4049-1F56524F8FD6}"/>
              </a:ext>
            </a:extLst>
          </p:cNvPr>
          <p:cNvPicPr>
            <a:picLocks noChangeAspect="1"/>
          </p:cNvPicPr>
          <p:nvPr/>
        </p:nvPicPr>
        <p:blipFill>
          <a:blip r:embed="rId2"/>
          <a:stretch>
            <a:fillRect/>
          </a:stretch>
        </p:blipFill>
        <p:spPr>
          <a:xfrm>
            <a:off x="1511950" y="882264"/>
            <a:ext cx="8674466" cy="5750120"/>
          </a:xfrm>
          <a:prstGeom prst="rect">
            <a:avLst/>
          </a:prstGeom>
        </p:spPr>
      </p:pic>
    </p:spTree>
    <p:extLst>
      <p:ext uri="{BB962C8B-B14F-4D97-AF65-F5344CB8AC3E}">
        <p14:creationId xmlns:p14="http://schemas.microsoft.com/office/powerpoint/2010/main" val="256692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DD553-BA56-BF77-C701-829BED049822}"/>
            </a:ext>
          </a:extLst>
        </p:cNvPr>
        <p:cNvGrpSpPr/>
        <p:nvPr/>
      </p:nvGrpSpPr>
      <p:grpSpPr>
        <a:xfrm>
          <a:off x="0" y="0"/>
          <a:ext cx="0" cy="0"/>
          <a:chOff x="0" y="0"/>
          <a:chExt cx="0" cy="0"/>
        </a:xfrm>
      </p:grpSpPr>
      <p:sp>
        <p:nvSpPr>
          <p:cNvPr id="19" name="Title 15">
            <a:extLst>
              <a:ext uri="{FF2B5EF4-FFF2-40B4-BE49-F238E27FC236}">
                <a16:creationId xmlns:a16="http://schemas.microsoft.com/office/drawing/2014/main" id="{522FAAA0-10A5-28C8-8DB6-4260EFE8D9E9}"/>
              </a:ext>
            </a:extLst>
          </p:cNvPr>
          <p:cNvSpPr txBox="1">
            <a:spLocks/>
          </p:cNvSpPr>
          <p:nvPr/>
        </p:nvSpPr>
        <p:spPr>
          <a:xfrm>
            <a:off x="478870" y="35563"/>
            <a:ext cx="10191779" cy="677108"/>
          </a:xfrm>
          <a:prstGeom prst="rect">
            <a:avLst/>
          </a:prstGeom>
        </p:spPr>
        <p:txBody>
          <a:bodyPr vert="horz" lIns="0" tIns="0" rIns="0" bIns="0" rtlCol="0" anchor="b" anchorCtr="0">
            <a:normAutofit fontScale="92500" lnSpcReduction="20000"/>
          </a:bodyPr>
          <a:lstStyle>
            <a:lvl1pPr algn="l" defTabSz="1219170" rtl="0" eaLnBrk="1" latinLnBrk="0" hangingPunct="1">
              <a:lnSpc>
                <a:spcPct val="100000"/>
              </a:lnSpc>
              <a:spcBef>
                <a:spcPct val="0"/>
              </a:spcBef>
              <a:buNone/>
              <a:defRPr sz="2800" b="1" kern="1200">
                <a:solidFill>
                  <a:schemeClr val="tx2"/>
                </a:solidFill>
                <a:latin typeface="+mj-lt"/>
                <a:ea typeface="+mj-ea"/>
                <a:cs typeface="+mj-cs"/>
              </a:defRPr>
            </a:lvl1pPr>
          </a:lstStyle>
          <a:p>
            <a:r>
              <a:rPr lang="en-US"/>
              <a:t>Tech Stack &amp; Architecture Diagram - EAS: Web Service Security Gateway (WSSG)</a:t>
            </a:r>
          </a:p>
        </p:txBody>
      </p:sp>
      <p:sp>
        <p:nvSpPr>
          <p:cNvPr id="16" name="Date Placeholder 5">
            <a:extLst>
              <a:ext uri="{FF2B5EF4-FFF2-40B4-BE49-F238E27FC236}">
                <a16:creationId xmlns:a16="http://schemas.microsoft.com/office/drawing/2014/main" id="{B203B3DB-5966-DEC3-9AED-9FA8DBB68018}"/>
              </a:ext>
            </a:extLst>
          </p:cNvPr>
          <p:cNvSpPr txBox="1">
            <a:spLocks/>
          </p:cNvSpPr>
          <p:nvPr/>
        </p:nvSpPr>
        <p:spPr>
          <a:xfrm>
            <a:off x="10907861" y="65881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pic>
        <p:nvPicPr>
          <p:cNvPr id="2" name="Picture 1">
            <a:extLst>
              <a:ext uri="{FF2B5EF4-FFF2-40B4-BE49-F238E27FC236}">
                <a16:creationId xmlns:a16="http://schemas.microsoft.com/office/drawing/2014/main" id="{3EC1A0B9-679C-A37A-1CB6-50DE8FB4C662}"/>
              </a:ext>
            </a:extLst>
          </p:cNvPr>
          <p:cNvPicPr>
            <a:picLocks noChangeAspect="1"/>
          </p:cNvPicPr>
          <p:nvPr/>
        </p:nvPicPr>
        <p:blipFill>
          <a:blip r:embed="rId2"/>
          <a:stretch>
            <a:fillRect/>
          </a:stretch>
        </p:blipFill>
        <p:spPr>
          <a:xfrm>
            <a:off x="1923687" y="712670"/>
            <a:ext cx="7990884" cy="6026457"/>
          </a:xfrm>
          <a:prstGeom prst="rect">
            <a:avLst/>
          </a:prstGeom>
        </p:spPr>
      </p:pic>
    </p:spTree>
    <p:extLst>
      <p:ext uri="{BB962C8B-B14F-4D97-AF65-F5344CB8AC3E}">
        <p14:creationId xmlns:p14="http://schemas.microsoft.com/office/powerpoint/2010/main" val="1608146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917AE4-746F-EF26-C399-730011FDAFAA}"/>
              </a:ext>
            </a:extLst>
          </p:cNvPr>
          <p:cNvSpPr txBox="1"/>
          <p:nvPr/>
        </p:nvSpPr>
        <p:spPr>
          <a:xfrm>
            <a:off x="234086" y="2876550"/>
            <a:ext cx="3435353" cy="914400"/>
          </a:xfrm>
          <a:prstGeom prst="rect">
            <a:avLst/>
          </a:prstGeom>
          <a:solidFill>
            <a:schemeClr val="bg1"/>
          </a:solidFill>
        </p:spPr>
        <p:txBody>
          <a:bodyPr wrap="square" lIns="121920" tIns="180000" rIns="0" bIns="180000" rtlCol="0">
            <a:noAutofit/>
          </a:bodyPr>
          <a:lstStyle>
            <a:defPPr>
              <a:defRPr lang="en-US"/>
            </a:defPPr>
            <a:lvl1pPr>
              <a:spcBef>
                <a:spcPts val="300"/>
              </a:spcBef>
              <a:spcAft>
                <a:spcPts val="300"/>
              </a:spcAft>
              <a:buClr>
                <a:schemeClr val="tx1"/>
              </a:buClr>
              <a:buSzPct val="150000"/>
              <a:defRPr sz="1600" b="1">
                <a:solidFill>
                  <a:schemeClr val="tx2"/>
                </a:solidFill>
              </a:defRPr>
            </a:lvl1pPr>
          </a:lstStyle>
          <a:p>
            <a:r>
              <a:rPr lang="en-GB"/>
              <a:t>Previous 12 months Ticket Data</a:t>
            </a:r>
          </a:p>
        </p:txBody>
      </p:sp>
      <p:sp>
        <p:nvSpPr>
          <p:cNvPr id="5" name="Slide Number Placeholder 4">
            <a:extLst>
              <a:ext uri="{FF2B5EF4-FFF2-40B4-BE49-F238E27FC236}">
                <a16:creationId xmlns:a16="http://schemas.microsoft.com/office/drawing/2014/main" id="{61A2EE10-8CFC-430C-80AC-D4112ED7B134}"/>
              </a:ext>
            </a:extLst>
          </p:cNvPr>
          <p:cNvSpPr>
            <a:spLocks noGrp="1"/>
          </p:cNvSpPr>
          <p:nvPr>
            <p:ph type="sldNum" sz="quarter" idx="22"/>
          </p:nvPr>
        </p:nvSpPr>
        <p:spPr/>
        <p:txBody>
          <a:bodyPr/>
          <a:lstStyle/>
          <a:p>
            <a:pPr defTabSz="1219140"/>
            <a:fld id="{9F9F533D-B52E-4A2F-BF72-0ADD2D94BD75}" type="slidenum">
              <a:rPr lang="en-GB">
                <a:solidFill>
                  <a:srgbClr val="000000"/>
                </a:solidFill>
                <a:latin typeface="Arial"/>
              </a:rPr>
              <a:pPr defTabSz="1219140"/>
              <a:t>29</a:t>
            </a:fld>
            <a:endParaRPr lang="en-GB">
              <a:solidFill>
                <a:srgbClr val="000000"/>
              </a:solidFill>
              <a:latin typeface="Arial"/>
            </a:endParaRPr>
          </a:p>
        </p:txBody>
      </p:sp>
      <p:sp>
        <p:nvSpPr>
          <p:cNvPr id="7" name="Title 6">
            <a:extLst>
              <a:ext uri="{FF2B5EF4-FFF2-40B4-BE49-F238E27FC236}">
                <a16:creationId xmlns:a16="http://schemas.microsoft.com/office/drawing/2014/main" id="{A0BBA261-2536-4D8B-8F7A-C4F19B170178}"/>
              </a:ext>
            </a:extLst>
          </p:cNvPr>
          <p:cNvSpPr>
            <a:spLocks noGrp="1"/>
          </p:cNvSpPr>
          <p:nvPr>
            <p:ph type="title"/>
          </p:nvPr>
        </p:nvSpPr>
        <p:spPr/>
        <p:txBody>
          <a:bodyPr/>
          <a:lstStyle/>
          <a:p>
            <a:r>
              <a:rPr lang="en-US"/>
              <a:t>Ticket Data – Supporting Commentary</a:t>
            </a:r>
          </a:p>
        </p:txBody>
      </p:sp>
      <p:sp>
        <p:nvSpPr>
          <p:cNvPr id="10" name="TextBox 9">
            <a:extLst>
              <a:ext uri="{FF2B5EF4-FFF2-40B4-BE49-F238E27FC236}">
                <a16:creationId xmlns:a16="http://schemas.microsoft.com/office/drawing/2014/main" id="{4A02C635-9054-47E1-BFDA-C78B643336BB}"/>
              </a:ext>
            </a:extLst>
          </p:cNvPr>
          <p:cNvSpPr txBox="1"/>
          <p:nvPr/>
        </p:nvSpPr>
        <p:spPr>
          <a:xfrm>
            <a:off x="234086" y="1917294"/>
            <a:ext cx="1965987" cy="430887"/>
          </a:xfrm>
          <a:prstGeom prst="rect">
            <a:avLst/>
          </a:prstGeom>
          <a:noFill/>
        </p:spPr>
        <p:txBody>
          <a:bodyPr wrap="square" lIns="180000" tIns="180000" rIns="180000" bIns="180000" rtlCol="0">
            <a:noAutofit/>
          </a:bodyPr>
          <a:lstStyle/>
          <a:p>
            <a:pPr defTabSz="1219140">
              <a:spcBef>
                <a:spcPts val="300"/>
              </a:spcBef>
              <a:spcAft>
                <a:spcPts val="300"/>
              </a:spcAft>
              <a:buClr>
                <a:srgbClr val="F36633"/>
              </a:buClr>
              <a:buSzPct val="150000"/>
            </a:pPr>
            <a:r>
              <a:rPr lang="en-US" sz="1400" b="1">
                <a:solidFill>
                  <a:schemeClr val="tx2"/>
                </a:solidFill>
              </a:rPr>
              <a:t>Support</a:t>
            </a:r>
          </a:p>
        </p:txBody>
      </p:sp>
      <p:sp>
        <p:nvSpPr>
          <p:cNvPr id="25" name="Date Placeholder 5">
            <a:extLst>
              <a:ext uri="{FF2B5EF4-FFF2-40B4-BE49-F238E27FC236}">
                <a16:creationId xmlns:a16="http://schemas.microsoft.com/office/drawing/2014/main" id="{96B4D34B-1140-4965-B8F3-1715AC94659E}"/>
              </a:ext>
            </a:extLst>
          </p:cNvPr>
          <p:cNvSpPr txBox="1">
            <a:spLocks/>
          </p:cNvSpPr>
          <p:nvPr/>
        </p:nvSpPr>
        <p:spPr>
          <a:xfrm>
            <a:off x="10613013" y="66135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graphicFrame>
        <p:nvGraphicFramePr>
          <p:cNvPr id="26" name="Table 25">
            <a:extLst>
              <a:ext uri="{FF2B5EF4-FFF2-40B4-BE49-F238E27FC236}">
                <a16:creationId xmlns:a16="http://schemas.microsoft.com/office/drawing/2014/main" id="{292116CC-E462-4674-A0E9-C9947F6281A8}"/>
              </a:ext>
            </a:extLst>
          </p:cNvPr>
          <p:cNvGraphicFramePr>
            <a:graphicFrameLocks noGrp="1"/>
          </p:cNvGraphicFramePr>
          <p:nvPr>
            <p:extLst>
              <p:ext uri="{D42A27DB-BD31-4B8C-83A1-F6EECF244321}">
                <p14:modId xmlns:p14="http://schemas.microsoft.com/office/powerpoint/2010/main" val="2419023298"/>
              </p:ext>
            </p:extLst>
          </p:nvPr>
        </p:nvGraphicFramePr>
        <p:xfrm>
          <a:off x="365125" y="1264590"/>
          <a:ext cx="5957208" cy="1534681"/>
        </p:xfrm>
        <a:graphic>
          <a:graphicData uri="http://schemas.openxmlformats.org/drawingml/2006/table">
            <a:tbl>
              <a:tblPr firstRow="1" firstCol="1" lastRow="1" lastCol="1" bandRow="1" bandCol="1"/>
              <a:tblGrid>
                <a:gridCol w="1186312">
                  <a:extLst>
                    <a:ext uri="{9D8B030D-6E8A-4147-A177-3AD203B41FA5}">
                      <a16:colId xmlns:a16="http://schemas.microsoft.com/office/drawing/2014/main" val="4275147615"/>
                    </a:ext>
                  </a:extLst>
                </a:gridCol>
                <a:gridCol w="1497368">
                  <a:extLst>
                    <a:ext uri="{9D8B030D-6E8A-4147-A177-3AD203B41FA5}">
                      <a16:colId xmlns:a16="http://schemas.microsoft.com/office/drawing/2014/main" val="3039011499"/>
                    </a:ext>
                  </a:extLst>
                </a:gridCol>
                <a:gridCol w="1404713">
                  <a:extLst>
                    <a:ext uri="{9D8B030D-6E8A-4147-A177-3AD203B41FA5}">
                      <a16:colId xmlns:a16="http://schemas.microsoft.com/office/drawing/2014/main" val="2582083148"/>
                    </a:ext>
                  </a:extLst>
                </a:gridCol>
                <a:gridCol w="1868815">
                  <a:extLst>
                    <a:ext uri="{9D8B030D-6E8A-4147-A177-3AD203B41FA5}">
                      <a16:colId xmlns:a16="http://schemas.microsoft.com/office/drawing/2014/main" val="2802741820"/>
                    </a:ext>
                  </a:extLst>
                </a:gridCol>
              </a:tblGrid>
              <a:tr h="258621">
                <a:tc gridSpan="2">
                  <a:txBody>
                    <a:bodyPr/>
                    <a:lstStyle/>
                    <a:p>
                      <a:pPr marL="1210310">
                        <a:lnSpc>
                          <a:spcPts val="1175"/>
                        </a:lnSpc>
                      </a:pPr>
                      <a:r>
                        <a:rPr lang="en-US" sz="1050" b="1">
                          <a:solidFill>
                            <a:srgbClr val="2E2E2E"/>
                          </a:solidFill>
                          <a:effectLst/>
                          <a:latin typeface="Carlito"/>
                          <a:ea typeface="Arial" panose="020B0604020202020204" pitchFamily="34" charset="0"/>
                          <a:cs typeface="Times New Roman" panose="02020603050405020304" pitchFamily="18" charset="0"/>
                        </a:rPr>
                        <a:t>           Response</a:t>
                      </a:r>
                      <a:endParaRPr lang="en-PL"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lang="en-PL"/>
                    </a:p>
                  </a:txBody>
                  <a:tcPr>
                    <a:lnL w="12700" cmpd="sng">
                      <a:noFill/>
                      <a:prstDash val="solid"/>
                    </a:lnL>
                  </a:tcPr>
                </a:tc>
                <a:tc>
                  <a:txBody>
                    <a:bodyPr/>
                    <a:lstStyle/>
                    <a:p>
                      <a:pPr marL="224790" marR="234315" algn="ctr">
                        <a:lnSpc>
                          <a:spcPts val="1175"/>
                        </a:lnSpc>
                        <a:spcAft>
                          <a:spcPts val="0"/>
                        </a:spcAft>
                      </a:pPr>
                      <a:r>
                        <a:rPr lang="en-US" sz="1050" b="1">
                          <a:solidFill>
                            <a:srgbClr val="2E2E2E"/>
                          </a:solidFill>
                          <a:effectLst/>
                          <a:latin typeface="Carlito"/>
                          <a:ea typeface="Arial" panose="020B0604020202020204" pitchFamily="34" charset="0"/>
                          <a:cs typeface="Times New Roman" panose="02020603050405020304" pitchFamily="18" charset="0"/>
                        </a:rPr>
                        <a:t>Resolution</a:t>
                      </a:r>
                      <a:endParaRPr lang="en-PL"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456565" marR="451485" algn="ctr">
                        <a:lnSpc>
                          <a:spcPts val="1175"/>
                        </a:lnSpc>
                        <a:spcAft>
                          <a:spcPts val="0"/>
                        </a:spcAft>
                      </a:pPr>
                      <a:r>
                        <a:rPr lang="en-US" sz="1050" b="1">
                          <a:solidFill>
                            <a:srgbClr val="2E2E2E"/>
                          </a:solidFill>
                          <a:effectLst/>
                          <a:latin typeface="Carlito"/>
                          <a:ea typeface="Arial" panose="020B0604020202020204" pitchFamily="34" charset="0"/>
                          <a:cs typeface="Times New Roman" panose="02020603050405020304" pitchFamily="18" charset="0"/>
                        </a:rPr>
                        <a:t>Schedule</a:t>
                      </a:r>
                      <a:endParaRPr lang="en-PL" sz="110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81220176"/>
                  </a:ext>
                </a:extLst>
              </a:tr>
              <a:tr h="319015">
                <a:tc>
                  <a:txBody>
                    <a:bodyPr/>
                    <a:lstStyle/>
                    <a:p>
                      <a:pPr marL="70485">
                        <a:lnSpc>
                          <a:spcPts val="1160"/>
                        </a:lnSpc>
                      </a:pPr>
                      <a:r>
                        <a:rPr lang="en-US" sz="1000" b="1">
                          <a:solidFill>
                            <a:srgbClr val="2E2E2E"/>
                          </a:solidFill>
                          <a:effectLst/>
                          <a:latin typeface="Calibri" panose="020F0502020204030204" pitchFamily="34" charset="0"/>
                          <a:ea typeface="Arial" panose="020B0604020202020204" pitchFamily="34" charset="0"/>
                          <a:cs typeface="Calibri" panose="020F0502020204030204" pitchFamily="34" charset="0"/>
                        </a:rPr>
                        <a:t>P1 – Critical</a:t>
                      </a:r>
                      <a:endParaRPr lang="en-PL" sz="1000">
                        <a:effectLst/>
                        <a:latin typeface="Calibri" panose="020F0502020204030204" pitchFamily="34" charset="0"/>
                        <a:ea typeface="Arial" panose="020B0604020202020204" pitchFamily="34" charset="0"/>
                        <a:cs typeface="Calibri" panose="020F05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247650" marR="257175" algn="ctr">
                        <a:lnSpc>
                          <a:spcPts val="1160"/>
                        </a:lnSpc>
                        <a:spcAft>
                          <a:spcPts val="0"/>
                        </a:spcAft>
                      </a:pPr>
                      <a:r>
                        <a:rPr lang="en-US" sz="1000">
                          <a:solidFill>
                            <a:srgbClr val="2D2D2D"/>
                          </a:solidFill>
                          <a:effectLst/>
                          <a:latin typeface="Calibri" panose="020F0502020204030204" pitchFamily="34" charset="0"/>
                          <a:ea typeface="Arial" panose="020B0604020202020204" pitchFamily="34" charset="0"/>
                          <a:cs typeface="Calibri" panose="020F0502020204030204" pitchFamily="34" charset="0"/>
                        </a:rPr>
                        <a:t>15 minutes</a:t>
                      </a:r>
                      <a:endParaRPr lang="en-PL" sz="1000">
                        <a:effectLst/>
                        <a:latin typeface="Calibri" panose="020F0502020204030204" pitchFamily="34" charset="0"/>
                        <a:ea typeface="Arial" panose="020B0604020202020204" pitchFamily="34" charset="0"/>
                        <a:cs typeface="Calibri" panose="020F05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316230" marR="315595" algn="ctr">
                        <a:lnSpc>
                          <a:spcPts val="1160"/>
                        </a:lnSpc>
                        <a:spcAft>
                          <a:spcPts val="0"/>
                        </a:spcAft>
                      </a:pPr>
                      <a:r>
                        <a:rPr lang="en-US" sz="1000">
                          <a:solidFill>
                            <a:srgbClr val="2D2D2D"/>
                          </a:solidFill>
                          <a:effectLst/>
                          <a:latin typeface="Calibri" panose="020F0502020204030204" pitchFamily="34" charset="0"/>
                          <a:ea typeface="Arial" panose="020B0604020202020204" pitchFamily="34" charset="0"/>
                          <a:cs typeface="Calibri" panose="020F0502020204030204" pitchFamily="34" charset="0"/>
                        </a:rPr>
                        <a:t>2 hours</a:t>
                      </a:r>
                      <a:endParaRPr lang="en-PL" sz="1000">
                        <a:effectLst/>
                        <a:latin typeface="Calibri" panose="020F0502020204030204" pitchFamily="34" charset="0"/>
                        <a:ea typeface="Arial" panose="020B0604020202020204" pitchFamily="34" charset="0"/>
                        <a:cs typeface="Calibri" panose="020F05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91465" marR="286385" algn="ctr">
                        <a:lnSpc>
                          <a:spcPts val="1160"/>
                        </a:lnSpc>
                        <a:spcAft>
                          <a:spcPts val="0"/>
                        </a:spcAft>
                      </a:pPr>
                      <a:r>
                        <a:rPr lang="en-US" sz="1000">
                          <a:solidFill>
                            <a:srgbClr val="2D2D2D"/>
                          </a:solidFill>
                          <a:effectLst/>
                          <a:latin typeface="Calibri" panose="020F0502020204030204" pitchFamily="34" charset="0"/>
                          <a:ea typeface="Arial" panose="020B0604020202020204" pitchFamily="34" charset="0"/>
                          <a:cs typeface="Calibri" panose="020F0502020204030204" pitchFamily="34" charset="0"/>
                        </a:rPr>
                        <a:t>24x7</a:t>
                      </a:r>
                      <a:endParaRPr lang="en-PL" sz="1000">
                        <a:effectLst/>
                        <a:latin typeface="Calibri" panose="020F0502020204030204" pitchFamily="34" charset="0"/>
                        <a:ea typeface="Arial" panose="020B0604020202020204" pitchFamily="34" charset="0"/>
                        <a:cs typeface="Calibri" panose="020F05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900519787"/>
                  </a:ext>
                </a:extLst>
              </a:tr>
              <a:tr h="319015">
                <a:tc>
                  <a:txBody>
                    <a:bodyPr/>
                    <a:lstStyle/>
                    <a:p>
                      <a:pPr marL="70485">
                        <a:lnSpc>
                          <a:spcPts val="1085"/>
                        </a:lnSpc>
                      </a:pPr>
                      <a:r>
                        <a:rPr lang="en-US" sz="1000" b="1">
                          <a:solidFill>
                            <a:srgbClr val="2E2E2E"/>
                          </a:solidFill>
                          <a:effectLst/>
                          <a:latin typeface="Calibri" panose="020F0502020204030204" pitchFamily="34" charset="0"/>
                          <a:ea typeface="Arial" panose="020B0604020202020204" pitchFamily="34" charset="0"/>
                          <a:cs typeface="Calibri" panose="020F0502020204030204" pitchFamily="34" charset="0"/>
                        </a:rPr>
                        <a:t>P2 – High</a:t>
                      </a:r>
                      <a:endParaRPr lang="en-PL" sz="1000">
                        <a:effectLst/>
                        <a:latin typeface="Calibri" panose="020F0502020204030204" pitchFamily="34" charset="0"/>
                        <a:ea typeface="Arial" panose="020B0604020202020204" pitchFamily="34" charset="0"/>
                        <a:cs typeface="Calibri" panose="020F05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232410" marR="257175" algn="ctr">
                        <a:lnSpc>
                          <a:spcPts val="1085"/>
                        </a:lnSpc>
                        <a:spcAft>
                          <a:spcPts val="0"/>
                        </a:spcAft>
                      </a:pPr>
                      <a:r>
                        <a:rPr lang="en-US" sz="1000">
                          <a:solidFill>
                            <a:srgbClr val="2D2D2D"/>
                          </a:solidFill>
                          <a:effectLst/>
                          <a:latin typeface="Calibri" panose="020F0502020204030204" pitchFamily="34" charset="0"/>
                          <a:ea typeface="Arial" panose="020B0604020202020204" pitchFamily="34" charset="0"/>
                          <a:cs typeface="Calibri" panose="020F0502020204030204" pitchFamily="34" charset="0"/>
                        </a:rPr>
                        <a:t>1 hour</a:t>
                      </a:r>
                      <a:endParaRPr lang="en-PL" sz="1000">
                        <a:effectLst/>
                        <a:latin typeface="Calibri" panose="020F0502020204030204" pitchFamily="34" charset="0"/>
                        <a:ea typeface="Arial" panose="020B0604020202020204" pitchFamily="34" charset="0"/>
                        <a:cs typeface="Calibri" panose="020F05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316230" marR="316230" algn="ctr">
                        <a:lnSpc>
                          <a:spcPts val="1085"/>
                        </a:lnSpc>
                        <a:spcAft>
                          <a:spcPts val="0"/>
                        </a:spcAft>
                      </a:pPr>
                      <a:r>
                        <a:rPr lang="en-US" sz="1000">
                          <a:solidFill>
                            <a:srgbClr val="2D2D2D"/>
                          </a:solidFill>
                          <a:effectLst/>
                          <a:latin typeface="Calibri" panose="020F0502020204030204" pitchFamily="34" charset="0"/>
                          <a:ea typeface="Arial" panose="020B0604020202020204" pitchFamily="34" charset="0"/>
                          <a:cs typeface="Calibri" panose="020F0502020204030204" pitchFamily="34" charset="0"/>
                        </a:rPr>
                        <a:t>8 hours</a:t>
                      </a:r>
                      <a:endParaRPr lang="en-PL" sz="1000">
                        <a:effectLst/>
                        <a:latin typeface="Calibri" panose="020F0502020204030204" pitchFamily="34" charset="0"/>
                        <a:ea typeface="Arial" panose="020B0604020202020204" pitchFamily="34" charset="0"/>
                        <a:cs typeface="Calibri" panose="020F05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91465" marR="286385" algn="ctr">
                        <a:lnSpc>
                          <a:spcPts val="1085"/>
                        </a:lnSpc>
                        <a:spcAft>
                          <a:spcPts val="0"/>
                        </a:spcAft>
                      </a:pPr>
                      <a:r>
                        <a:rPr lang="en-US" sz="1000">
                          <a:solidFill>
                            <a:srgbClr val="2D2D2D"/>
                          </a:solidFill>
                          <a:effectLst/>
                          <a:latin typeface="Calibri" panose="020F0502020204030204" pitchFamily="34" charset="0"/>
                          <a:ea typeface="Arial" panose="020B0604020202020204" pitchFamily="34" charset="0"/>
                          <a:cs typeface="Calibri" panose="020F0502020204030204" pitchFamily="34" charset="0"/>
                        </a:rPr>
                        <a:t>24x7</a:t>
                      </a:r>
                      <a:endParaRPr lang="en-PL" sz="1000">
                        <a:effectLst/>
                        <a:latin typeface="Calibri" panose="020F0502020204030204" pitchFamily="34" charset="0"/>
                        <a:ea typeface="Arial" panose="020B0604020202020204" pitchFamily="34" charset="0"/>
                        <a:cs typeface="Calibri" panose="020F05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095634700"/>
                  </a:ext>
                </a:extLst>
              </a:tr>
              <a:tr h="319015">
                <a:tc>
                  <a:txBody>
                    <a:bodyPr/>
                    <a:lstStyle/>
                    <a:p>
                      <a:pPr marL="70485">
                        <a:lnSpc>
                          <a:spcPts val="1230"/>
                        </a:lnSpc>
                      </a:pPr>
                      <a:r>
                        <a:rPr lang="en-US" sz="1000" b="1">
                          <a:solidFill>
                            <a:srgbClr val="2E2E2E"/>
                          </a:solidFill>
                          <a:effectLst/>
                          <a:latin typeface="Calibri" panose="020F0502020204030204" pitchFamily="34" charset="0"/>
                          <a:ea typeface="Arial" panose="020B0604020202020204" pitchFamily="34" charset="0"/>
                          <a:cs typeface="Calibri" panose="020F0502020204030204" pitchFamily="34" charset="0"/>
                        </a:rPr>
                        <a:t>P3</a:t>
                      </a:r>
                      <a:r>
                        <a:rPr lang="en-PL" sz="1000" b="0">
                          <a:solidFill>
                            <a:schemeClr val="tx1"/>
                          </a:solidFill>
                          <a:effectLst/>
                          <a:latin typeface="Calibri" panose="020F0502020204030204" pitchFamily="34" charset="0"/>
                          <a:ea typeface="Arial" panose="020B0604020202020204" pitchFamily="34" charset="0"/>
                          <a:cs typeface="Calibri" panose="020F0502020204030204" pitchFamily="34" charset="0"/>
                        </a:rPr>
                        <a:t>-</a:t>
                      </a:r>
                      <a:r>
                        <a:rPr lang="en-US" sz="1000" b="1">
                          <a:solidFill>
                            <a:srgbClr val="2E2E2E"/>
                          </a:solidFill>
                          <a:effectLst/>
                          <a:latin typeface="Calibri" panose="020F0502020204030204" pitchFamily="34" charset="0"/>
                          <a:ea typeface="Arial" panose="020B0604020202020204" pitchFamily="34" charset="0"/>
                          <a:cs typeface="Calibri" panose="020F0502020204030204" pitchFamily="34" charset="0"/>
                        </a:rPr>
                        <a:t>Moderate</a:t>
                      </a:r>
                      <a:endParaRPr lang="en-PL" sz="1000">
                        <a:effectLst/>
                        <a:latin typeface="Calibri" panose="020F0502020204030204" pitchFamily="34" charset="0"/>
                        <a:ea typeface="Arial" panose="020B0604020202020204" pitchFamily="34" charset="0"/>
                        <a:cs typeface="Calibri" panose="020F05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247650" marR="257175" algn="ctr">
                        <a:lnSpc>
                          <a:spcPts val="1230"/>
                        </a:lnSpc>
                        <a:spcAft>
                          <a:spcPts val="0"/>
                        </a:spcAft>
                      </a:pPr>
                      <a:r>
                        <a:rPr lang="en-US" sz="1000">
                          <a:solidFill>
                            <a:srgbClr val="2D2D2D"/>
                          </a:solidFill>
                          <a:effectLst/>
                          <a:latin typeface="Calibri" panose="020F0502020204030204" pitchFamily="34" charset="0"/>
                          <a:ea typeface="Arial" panose="020B0604020202020204" pitchFamily="34" charset="0"/>
                          <a:cs typeface="Calibri" panose="020F0502020204030204" pitchFamily="34" charset="0"/>
                        </a:rPr>
                        <a:t>4 hours</a:t>
                      </a:r>
                      <a:endParaRPr lang="en-PL" sz="1000">
                        <a:effectLst/>
                        <a:latin typeface="Calibri" panose="020F0502020204030204" pitchFamily="34" charset="0"/>
                        <a:ea typeface="Arial" panose="020B0604020202020204" pitchFamily="34" charset="0"/>
                        <a:cs typeface="Calibri" panose="020F05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307975" marR="316230" algn="ctr">
                        <a:lnSpc>
                          <a:spcPts val="1230"/>
                        </a:lnSpc>
                        <a:spcAft>
                          <a:spcPts val="0"/>
                        </a:spcAft>
                      </a:pPr>
                      <a:r>
                        <a:rPr lang="en-US" sz="1000">
                          <a:solidFill>
                            <a:srgbClr val="2D2D2D"/>
                          </a:solidFill>
                          <a:effectLst/>
                          <a:latin typeface="Calibri" panose="020F0502020204030204" pitchFamily="34" charset="0"/>
                          <a:ea typeface="Arial" panose="020B0604020202020204" pitchFamily="34" charset="0"/>
                          <a:cs typeface="Calibri" panose="020F0502020204030204" pitchFamily="34" charset="0"/>
                        </a:rPr>
                        <a:t>3 days</a:t>
                      </a:r>
                      <a:endParaRPr lang="en-PL" sz="1000">
                        <a:effectLst/>
                        <a:latin typeface="Calibri" panose="020F0502020204030204" pitchFamily="34" charset="0"/>
                        <a:ea typeface="Arial" panose="020B0604020202020204" pitchFamily="34" charset="0"/>
                        <a:cs typeface="Calibri" panose="020F05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91465" marR="296545" algn="ctr">
                        <a:lnSpc>
                          <a:spcPts val="1230"/>
                        </a:lnSpc>
                        <a:spcAft>
                          <a:spcPts val="0"/>
                        </a:spcAft>
                      </a:pPr>
                      <a:r>
                        <a:rPr lang="en-US" sz="1000">
                          <a:solidFill>
                            <a:srgbClr val="2D2D2D"/>
                          </a:solidFill>
                          <a:effectLst/>
                          <a:latin typeface="Calibri" panose="020F0502020204030204" pitchFamily="34" charset="0"/>
                          <a:ea typeface="Arial" panose="020B0604020202020204" pitchFamily="34" charset="0"/>
                          <a:cs typeface="Calibri" panose="020F0502020204030204" pitchFamily="34" charset="0"/>
                        </a:rPr>
                        <a:t>9-5 weekdays*</a:t>
                      </a:r>
                      <a:endParaRPr lang="en-PL" sz="1000">
                        <a:effectLst/>
                        <a:latin typeface="Calibri" panose="020F0502020204030204" pitchFamily="34" charset="0"/>
                        <a:ea typeface="Arial" panose="020B0604020202020204" pitchFamily="34" charset="0"/>
                        <a:cs typeface="Calibri" panose="020F05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634168419"/>
                  </a:ext>
                </a:extLst>
              </a:tr>
              <a:tr h="319015">
                <a:tc>
                  <a:txBody>
                    <a:bodyPr/>
                    <a:lstStyle/>
                    <a:p>
                      <a:pPr marL="70485">
                        <a:lnSpc>
                          <a:spcPts val="1080"/>
                        </a:lnSpc>
                      </a:pPr>
                      <a:r>
                        <a:rPr lang="en-US" sz="1000" b="1">
                          <a:effectLst/>
                          <a:latin typeface="Calibri" panose="020F0502020204030204" pitchFamily="34" charset="0"/>
                          <a:ea typeface="Arial" panose="020B0604020202020204" pitchFamily="34" charset="0"/>
                          <a:cs typeface="Calibri" panose="020F0502020204030204" pitchFamily="34" charset="0"/>
                        </a:rPr>
                        <a:t>P4-Low</a:t>
                      </a:r>
                      <a:endParaRPr lang="en-PL" sz="1000" b="1">
                        <a:effectLst/>
                        <a:latin typeface="Calibri" panose="020F0502020204030204" pitchFamily="34" charset="0"/>
                        <a:ea typeface="Arial" panose="020B0604020202020204" pitchFamily="34" charset="0"/>
                        <a:cs typeface="Calibri" panose="020F05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247650" marR="257175" algn="ctr">
                        <a:lnSpc>
                          <a:spcPts val="1080"/>
                        </a:lnSpc>
                        <a:spcAft>
                          <a:spcPts val="0"/>
                        </a:spcAft>
                      </a:pPr>
                      <a:r>
                        <a:rPr lang="en-US" sz="1000">
                          <a:solidFill>
                            <a:srgbClr val="2D2D2D"/>
                          </a:solidFill>
                          <a:effectLst/>
                          <a:latin typeface="Calibri" panose="020F0502020204030204" pitchFamily="34" charset="0"/>
                          <a:ea typeface="Arial" panose="020B0604020202020204" pitchFamily="34" charset="0"/>
                          <a:cs typeface="Calibri" panose="020F0502020204030204" pitchFamily="34" charset="0"/>
                        </a:rPr>
                        <a:t>8 hours</a:t>
                      </a:r>
                      <a:endParaRPr lang="en-PL" sz="1000">
                        <a:effectLst/>
                        <a:latin typeface="Calibri" panose="020F0502020204030204" pitchFamily="34" charset="0"/>
                        <a:ea typeface="Arial" panose="020B0604020202020204" pitchFamily="34" charset="0"/>
                        <a:cs typeface="Calibri" panose="020F05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307975" marR="316230" algn="ctr">
                        <a:lnSpc>
                          <a:spcPts val="1080"/>
                        </a:lnSpc>
                        <a:spcAft>
                          <a:spcPts val="0"/>
                        </a:spcAft>
                      </a:pPr>
                      <a:r>
                        <a:rPr lang="en-US" sz="1000">
                          <a:solidFill>
                            <a:srgbClr val="2D2D2D"/>
                          </a:solidFill>
                          <a:effectLst/>
                          <a:latin typeface="Calibri" panose="020F0502020204030204" pitchFamily="34" charset="0"/>
                          <a:ea typeface="Arial" panose="020B0604020202020204" pitchFamily="34" charset="0"/>
                          <a:cs typeface="Calibri" panose="020F0502020204030204" pitchFamily="34" charset="0"/>
                        </a:rPr>
                        <a:t>5 days</a:t>
                      </a:r>
                      <a:endParaRPr lang="en-PL" sz="1000">
                        <a:effectLst/>
                        <a:latin typeface="Calibri" panose="020F0502020204030204" pitchFamily="34" charset="0"/>
                        <a:ea typeface="Arial" panose="020B0604020202020204" pitchFamily="34" charset="0"/>
                        <a:cs typeface="Calibri" panose="020F05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91465" marR="296545" algn="ctr">
                        <a:lnSpc>
                          <a:spcPts val="1080"/>
                        </a:lnSpc>
                        <a:spcAft>
                          <a:spcPts val="0"/>
                        </a:spcAft>
                      </a:pPr>
                      <a:r>
                        <a:rPr lang="en-US" sz="1000">
                          <a:solidFill>
                            <a:srgbClr val="2D2D2D"/>
                          </a:solidFill>
                          <a:effectLst/>
                          <a:latin typeface="Calibri" panose="020F0502020204030204" pitchFamily="34" charset="0"/>
                          <a:ea typeface="Arial" panose="020B0604020202020204" pitchFamily="34" charset="0"/>
                          <a:cs typeface="Calibri" panose="020F0502020204030204" pitchFamily="34" charset="0"/>
                        </a:rPr>
                        <a:t>9-5 weekdays*</a:t>
                      </a:r>
                      <a:endParaRPr lang="en-PL" sz="1000">
                        <a:effectLst/>
                        <a:latin typeface="Calibri" panose="020F0502020204030204" pitchFamily="34" charset="0"/>
                        <a:ea typeface="Arial" panose="020B0604020202020204" pitchFamily="34" charset="0"/>
                        <a:cs typeface="Calibri" panose="020F050202020403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957521591"/>
                  </a:ext>
                </a:extLst>
              </a:tr>
            </a:tbl>
          </a:graphicData>
        </a:graphic>
      </p:graphicFrame>
      <p:graphicFrame>
        <p:nvGraphicFramePr>
          <p:cNvPr id="2" name="Table 1">
            <a:extLst>
              <a:ext uri="{FF2B5EF4-FFF2-40B4-BE49-F238E27FC236}">
                <a16:creationId xmlns:a16="http://schemas.microsoft.com/office/drawing/2014/main" id="{2BE8FBD5-374A-8EA2-FC92-8395FD0A4E70}"/>
              </a:ext>
            </a:extLst>
          </p:cNvPr>
          <p:cNvGraphicFramePr>
            <a:graphicFrameLocks noGrp="1"/>
          </p:cNvGraphicFramePr>
          <p:nvPr>
            <p:extLst>
              <p:ext uri="{D42A27DB-BD31-4B8C-83A1-F6EECF244321}">
                <p14:modId xmlns:p14="http://schemas.microsoft.com/office/powerpoint/2010/main" val="1408165839"/>
              </p:ext>
            </p:extLst>
          </p:nvPr>
        </p:nvGraphicFramePr>
        <p:xfrm>
          <a:off x="365123" y="3333750"/>
          <a:ext cx="5957210" cy="2295676"/>
        </p:xfrm>
        <a:graphic>
          <a:graphicData uri="http://schemas.openxmlformats.org/drawingml/2006/table">
            <a:tbl>
              <a:tblPr/>
              <a:tblGrid>
                <a:gridCol w="928582">
                  <a:extLst>
                    <a:ext uri="{9D8B030D-6E8A-4147-A177-3AD203B41FA5}">
                      <a16:colId xmlns:a16="http://schemas.microsoft.com/office/drawing/2014/main" val="1483711335"/>
                    </a:ext>
                  </a:extLst>
                </a:gridCol>
                <a:gridCol w="457148">
                  <a:extLst>
                    <a:ext uri="{9D8B030D-6E8A-4147-A177-3AD203B41FA5}">
                      <a16:colId xmlns:a16="http://schemas.microsoft.com/office/drawing/2014/main" val="1534647073"/>
                    </a:ext>
                  </a:extLst>
                </a:gridCol>
                <a:gridCol w="457148">
                  <a:extLst>
                    <a:ext uri="{9D8B030D-6E8A-4147-A177-3AD203B41FA5}">
                      <a16:colId xmlns:a16="http://schemas.microsoft.com/office/drawing/2014/main" val="2037461000"/>
                    </a:ext>
                  </a:extLst>
                </a:gridCol>
                <a:gridCol w="457148">
                  <a:extLst>
                    <a:ext uri="{9D8B030D-6E8A-4147-A177-3AD203B41FA5}">
                      <a16:colId xmlns:a16="http://schemas.microsoft.com/office/drawing/2014/main" val="3317602664"/>
                    </a:ext>
                  </a:extLst>
                </a:gridCol>
                <a:gridCol w="457148">
                  <a:extLst>
                    <a:ext uri="{9D8B030D-6E8A-4147-A177-3AD203B41FA5}">
                      <a16:colId xmlns:a16="http://schemas.microsoft.com/office/drawing/2014/main" val="404691905"/>
                    </a:ext>
                  </a:extLst>
                </a:gridCol>
                <a:gridCol w="457148">
                  <a:extLst>
                    <a:ext uri="{9D8B030D-6E8A-4147-A177-3AD203B41FA5}">
                      <a16:colId xmlns:a16="http://schemas.microsoft.com/office/drawing/2014/main" val="3235992975"/>
                    </a:ext>
                  </a:extLst>
                </a:gridCol>
                <a:gridCol w="457148">
                  <a:extLst>
                    <a:ext uri="{9D8B030D-6E8A-4147-A177-3AD203B41FA5}">
                      <a16:colId xmlns:a16="http://schemas.microsoft.com/office/drawing/2014/main" val="819395192"/>
                    </a:ext>
                  </a:extLst>
                </a:gridCol>
                <a:gridCol w="457148">
                  <a:extLst>
                    <a:ext uri="{9D8B030D-6E8A-4147-A177-3AD203B41FA5}">
                      <a16:colId xmlns:a16="http://schemas.microsoft.com/office/drawing/2014/main" val="2314100383"/>
                    </a:ext>
                  </a:extLst>
                </a:gridCol>
                <a:gridCol w="457148">
                  <a:extLst>
                    <a:ext uri="{9D8B030D-6E8A-4147-A177-3AD203B41FA5}">
                      <a16:colId xmlns:a16="http://schemas.microsoft.com/office/drawing/2014/main" val="894742326"/>
                    </a:ext>
                  </a:extLst>
                </a:gridCol>
                <a:gridCol w="685722">
                  <a:extLst>
                    <a:ext uri="{9D8B030D-6E8A-4147-A177-3AD203B41FA5}">
                      <a16:colId xmlns:a16="http://schemas.microsoft.com/office/drawing/2014/main" val="2368423031"/>
                    </a:ext>
                  </a:extLst>
                </a:gridCol>
                <a:gridCol w="685722">
                  <a:extLst>
                    <a:ext uri="{9D8B030D-6E8A-4147-A177-3AD203B41FA5}">
                      <a16:colId xmlns:a16="http://schemas.microsoft.com/office/drawing/2014/main" val="2835581383"/>
                    </a:ext>
                  </a:extLst>
                </a:gridCol>
              </a:tblGrid>
              <a:tr h="319284">
                <a:tc>
                  <a:txBody>
                    <a:bodyPr/>
                    <a:lstStyle/>
                    <a:p>
                      <a:pPr algn="l" fontAlgn="b"/>
                      <a:endParaRPr lang="en-GB" sz="1100" b="0" i="0" u="none" strike="noStrike">
                        <a:solidFill>
                          <a:srgbClr val="000000"/>
                        </a:solidFill>
                        <a:effectLst/>
                        <a:latin typeface="Aptos Narrow" panose="020B0004020202020204" pitchFamily="34" charset="0"/>
                      </a:endParaRPr>
                    </a:p>
                  </a:txBody>
                  <a:tcPr marL="6350" marR="6350" marT="635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gridSpan="4">
                  <a:txBody>
                    <a:bodyPr/>
                    <a:lstStyle/>
                    <a:p>
                      <a:pPr algn="ctr" fontAlgn="b"/>
                      <a:r>
                        <a:rPr lang="en-GB" sz="1100" b="1" i="0" u="none" strike="noStrike">
                          <a:solidFill>
                            <a:srgbClr val="000000"/>
                          </a:solidFill>
                          <a:effectLst/>
                          <a:latin typeface="Aptos Narrow" panose="020B0004020202020204" pitchFamily="34" charset="0"/>
                        </a:rPr>
                        <a:t>Incident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20000"/>
                        <a:lumOff val="80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gn="ctr" fontAlgn="b"/>
                      <a:r>
                        <a:rPr lang="en-GB" sz="1100" b="1" i="0" u="none" strike="noStrike">
                          <a:solidFill>
                            <a:srgbClr val="000000"/>
                          </a:solidFill>
                          <a:effectLst/>
                          <a:latin typeface="Aptos Narrow" panose="020B0004020202020204" pitchFamily="34" charset="0"/>
                        </a:rPr>
                        <a:t>Problem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20000"/>
                        <a:lumOff val="80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ctr" fontAlgn="b"/>
                      <a:r>
                        <a:rPr lang="en-GB" sz="1100" b="1" i="0" u="none" strike="noStrike">
                          <a:solidFill>
                            <a:srgbClr val="000000"/>
                          </a:solidFill>
                          <a:effectLst/>
                          <a:latin typeface="Aptos Narrow" panose="020B0004020202020204" pitchFamily="34" charset="0"/>
                        </a:rPr>
                        <a:t>Changes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20000"/>
                        <a:lumOff val="80000"/>
                      </a:schemeClr>
                    </a:solidFill>
                  </a:tcPr>
                </a:tc>
                <a:tc>
                  <a:txBody>
                    <a:bodyPr/>
                    <a:lstStyle/>
                    <a:p>
                      <a:pPr algn="ctr" fontAlgn="b"/>
                      <a:r>
                        <a:rPr lang="en-GB" sz="1100" b="1" i="0" u="none" strike="noStrike">
                          <a:solidFill>
                            <a:srgbClr val="000000"/>
                          </a:solidFill>
                          <a:effectLst/>
                          <a:latin typeface="Aptos Narrow" panose="020B0004020202020204" pitchFamily="34" charset="0"/>
                        </a:rPr>
                        <a:t>Requests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3377314332"/>
                  </a:ext>
                </a:extLst>
              </a:tr>
              <a:tr h="319284">
                <a:tc>
                  <a:txBody>
                    <a:bodyPr/>
                    <a:lstStyle/>
                    <a:p>
                      <a:pPr algn="ctr" fontAlgn="b"/>
                      <a:endParaRPr lang="en-GB" sz="1100" b="1"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20000"/>
                        <a:lumOff val="80000"/>
                      </a:schemeClr>
                    </a:solidFill>
                  </a:tcPr>
                </a:tc>
                <a:tc>
                  <a:txBody>
                    <a:bodyPr/>
                    <a:lstStyle/>
                    <a:p>
                      <a:pPr algn="ctr" fontAlgn="b"/>
                      <a:r>
                        <a:rPr lang="en-GB" sz="1100" b="0" i="0" u="none" strike="noStrike">
                          <a:solidFill>
                            <a:srgbClr val="000000"/>
                          </a:solidFill>
                          <a:effectLst/>
                          <a:latin typeface="Aptos Narrow" panose="020B0004020202020204" pitchFamily="34" charset="0"/>
                        </a:rPr>
                        <a:t>P1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P2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P3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P4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P1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P2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P3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P4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b"/>
                      <a:r>
                        <a:rPr lang="en-GB" sz="1100" b="0" i="0" u="none" strike="noStrike">
                          <a:solidFill>
                            <a:srgbClr val="000000"/>
                          </a:solidFill>
                          <a:effectLst/>
                          <a:latin typeface="Aptos Narrow" panose="020B0004020202020204" pitchFamily="34" charset="0"/>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extLst>
                  <a:ext uri="{0D108BD9-81ED-4DB2-BD59-A6C34878D82A}">
                    <a16:rowId xmlns:a16="http://schemas.microsoft.com/office/drawing/2014/main" val="2556015463"/>
                  </a:ext>
                </a:extLst>
              </a:tr>
              <a:tr h="319284">
                <a:tc>
                  <a:txBody>
                    <a:bodyPr/>
                    <a:lstStyle/>
                    <a:p>
                      <a:pPr algn="ctr" fontAlgn="b"/>
                      <a:r>
                        <a:rPr lang="en-GB" sz="1100" b="1" i="0" u="none" strike="noStrike">
                          <a:solidFill>
                            <a:srgbClr val="000000"/>
                          </a:solidFill>
                          <a:effectLst/>
                          <a:latin typeface="Aptos Narrow" panose="020B0004020202020204" pitchFamily="34" charset="0"/>
                        </a:rPr>
                        <a:t>Virtual Apps &amp; Desktops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20000"/>
                        <a:lumOff val="80000"/>
                      </a:schemeClr>
                    </a:solidFill>
                  </a:tcPr>
                </a:tc>
                <a:tc>
                  <a:txBody>
                    <a:bodyPr/>
                    <a:lstStyle/>
                    <a:p>
                      <a:pPr algn="ctr" fontAlgn="b"/>
                      <a:r>
                        <a:rPr lang="en-GB" sz="1100" b="0" i="0" u="none" strike="noStrike">
                          <a:solidFill>
                            <a:srgbClr val="000000"/>
                          </a:solidFill>
                          <a:effectLst/>
                          <a:latin typeface="Aptos Narrow" panose="020B0004020202020204" pitchFamily="34" charset="0"/>
                        </a:rPr>
                        <a:t>0 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84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275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20227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 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622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9588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4895126"/>
                  </a:ext>
                </a:extLst>
              </a:tr>
              <a:tr h="319284">
                <a:tc>
                  <a:txBody>
                    <a:bodyPr/>
                    <a:lstStyle/>
                    <a:p>
                      <a:pPr algn="ctr" fontAlgn="b"/>
                      <a:r>
                        <a:rPr lang="en-GB" sz="1100" b="1" i="0" u="none" strike="noStrike" err="1">
                          <a:solidFill>
                            <a:srgbClr val="000000"/>
                          </a:solidFill>
                          <a:effectLst/>
                          <a:latin typeface="Aptos Narrow" panose="020B0004020202020204" pitchFamily="34" charset="0"/>
                        </a:rPr>
                        <a:t>Netscaler</a:t>
                      </a:r>
                      <a:r>
                        <a:rPr lang="en-GB" sz="1100" b="1" i="0" u="none" strike="noStrike">
                          <a:solidFill>
                            <a:srgbClr val="000000"/>
                          </a:solidFill>
                          <a:effectLst/>
                          <a:latin typeface="Aptos Narrow" panose="020B0004020202020204" pitchFamily="34" charset="0"/>
                        </a:rPr>
                        <a:t> (gateway service for VA&amp;D)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20000"/>
                        <a:lumOff val="80000"/>
                      </a:schemeClr>
                    </a:solidFill>
                  </a:tcPr>
                </a:tc>
                <a:tc>
                  <a:txBody>
                    <a:bodyPr/>
                    <a:lstStyle/>
                    <a:p>
                      <a:pPr algn="ctr" fontAlgn="b"/>
                      <a:r>
                        <a:rPr lang="en-GB" sz="1100" b="0" i="0" u="none" strike="noStrike">
                          <a:solidFill>
                            <a:srgbClr val="000000"/>
                          </a:solidFill>
                          <a:effectLst/>
                          <a:latin typeface="Aptos Narrow" panose="020B0004020202020204" pitchFamily="34" charset="0"/>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18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106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617488"/>
                  </a:ext>
                </a:extLst>
              </a:tr>
              <a:tr h="319284">
                <a:tc>
                  <a:txBody>
                    <a:bodyPr/>
                    <a:lstStyle/>
                    <a:p>
                      <a:pPr algn="ctr" fontAlgn="b"/>
                      <a:r>
                        <a:rPr lang="en-GB" sz="1100" b="1" i="0" u="none" strike="noStrike">
                          <a:solidFill>
                            <a:srgbClr val="000000"/>
                          </a:solidFill>
                          <a:effectLst/>
                          <a:latin typeface="Aptos Narrow" panose="020B0004020202020204" pitchFamily="34" charset="0"/>
                        </a:rPr>
                        <a:t>MFT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20000"/>
                        <a:lumOff val="80000"/>
                      </a:schemeClr>
                    </a:solidFill>
                  </a:tcPr>
                </a:tc>
                <a:tc>
                  <a:txBody>
                    <a:bodyPr/>
                    <a:lstStyle/>
                    <a:p>
                      <a:pPr algn="ctr" fontAlgn="b"/>
                      <a:r>
                        <a:rPr lang="en-GB" sz="1100" b="0" i="0" u="none" strike="noStrike">
                          <a:solidFill>
                            <a:srgbClr val="000000"/>
                          </a:solidFill>
                          <a:effectLst/>
                          <a:latin typeface="Aptos Narrow" panose="020B0004020202020204" pitchFamily="34" charset="0"/>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166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678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1119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40792652"/>
                  </a:ext>
                </a:extLst>
              </a:tr>
              <a:tr h="319284">
                <a:tc>
                  <a:txBody>
                    <a:bodyPr/>
                    <a:lstStyle/>
                    <a:p>
                      <a:pPr algn="ctr" fontAlgn="b"/>
                      <a:r>
                        <a:rPr lang="en-GB" sz="1100" b="1" i="0" u="none" strike="noStrike">
                          <a:solidFill>
                            <a:srgbClr val="000000"/>
                          </a:solidFill>
                          <a:effectLst/>
                          <a:latin typeface="Aptos Narrow" panose="020B0004020202020204" pitchFamily="34" charset="0"/>
                        </a:rPr>
                        <a:t>WSSG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20000"/>
                        <a:lumOff val="80000"/>
                      </a:schemeClr>
                    </a:solidFill>
                  </a:tcPr>
                </a:tc>
                <a:tc>
                  <a:txBody>
                    <a:bodyPr/>
                    <a:lstStyle/>
                    <a:p>
                      <a:pPr algn="ctr" fontAlgn="b"/>
                      <a:r>
                        <a:rPr lang="en-GB" sz="1100" b="0" i="0" u="none" strike="noStrike">
                          <a:solidFill>
                            <a:srgbClr val="000000"/>
                          </a:solidFill>
                          <a:effectLst/>
                          <a:latin typeface="Aptos Narrow" panose="020B0004020202020204" pitchFamily="34" charset="0"/>
                        </a:rPr>
                        <a:t> 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40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13 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 13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8141895"/>
                  </a:ext>
                </a:extLst>
              </a:tr>
            </a:tbl>
          </a:graphicData>
        </a:graphic>
      </p:graphicFrame>
      <p:graphicFrame>
        <p:nvGraphicFramePr>
          <p:cNvPr id="4" name="Table 15">
            <a:extLst>
              <a:ext uri="{FF2B5EF4-FFF2-40B4-BE49-F238E27FC236}">
                <a16:creationId xmlns:a16="http://schemas.microsoft.com/office/drawing/2014/main" id="{BD577D9C-48B8-5261-A1BA-C236BF35B56F}"/>
              </a:ext>
            </a:extLst>
          </p:cNvPr>
          <p:cNvGraphicFramePr>
            <a:graphicFrameLocks noGrp="1"/>
          </p:cNvGraphicFramePr>
          <p:nvPr>
            <p:extLst>
              <p:ext uri="{D42A27DB-BD31-4B8C-83A1-F6EECF244321}">
                <p14:modId xmlns:p14="http://schemas.microsoft.com/office/powerpoint/2010/main" val="1793541363"/>
              </p:ext>
            </p:extLst>
          </p:nvPr>
        </p:nvGraphicFramePr>
        <p:xfrm>
          <a:off x="7542419" y="242888"/>
          <a:ext cx="4581306" cy="274320"/>
        </p:xfrm>
        <a:graphic>
          <a:graphicData uri="http://schemas.openxmlformats.org/drawingml/2006/table">
            <a:tbl>
              <a:tblPr firstRow="1" bandRow="1">
                <a:tableStyleId>{5C22544A-7EE6-4342-B048-85BDC9FD1C3A}</a:tableStyleId>
              </a:tblPr>
              <a:tblGrid>
                <a:gridCol w="1971456">
                  <a:extLst>
                    <a:ext uri="{9D8B030D-6E8A-4147-A177-3AD203B41FA5}">
                      <a16:colId xmlns:a16="http://schemas.microsoft.com/office/drawing/2014/main" val="3868561611"/>
                    </a:ext>
                  </a:extLst>
                </a:gridCol>
                <a:gridCol w="695325">
                  <a:extLst>
                    <a:ext uri="{9D8B030D-6E8A-4147-A177-3AD203B41FA5}">
                      <a16:colId xmlns:a16="http://schemas.microsoft.com/office/drawing/2014/main" val="3906732604"/>
                    </a:ext>
                  </a:extLst>
                </a:gridCol>
                <a:gridCol w="714375">
                  <a:extLst>
                    <a:ext uri="{9D8B030D-6E8A-4147-A177-3AD203B41FA5}">
                      <a16:colId xmlns:a16="http://schemas.microsoft.com/office/drawing/2014/main" val="3497893627"/>
                    </a:ext>
                  </a:extLst>
                </a:gridCol>
                <a:gridCol w="586351">
                  <a:extLst>
                    <a:ext uri="{9D8B030D-6E8A-4147-A177-3AD203B41FA5}">
                      <a16:colId xmlns:a16="http://schemas.microsoft.com/office/drawing/2014/main" val="3893182027"/>
                    </a:ext>
                  </a:extLst>
                </a:gridCol>
                <a:gridCol w="613799">
                  <a:extLst>
                    <a:ext uri="{9D8B030D-6E8A-4147-A177-3AD203B41FA5}">
                      <a16:colId xmlns:a16="http://schemas.microsoft.com/office/drawing/2014/main" val="2672437179"/>
                    </a:ext>
                  </a:extLst>
                </a:gridCol>
              </a:tblGrid>
              <a:tr h="0">
                <a:tc>
                  <a:txBody>
                    <a:bodyPr/>
                    <a:lstStyle/>
                    <a:p>
                      <a:pPr algn="ctr"/>
                      <a:r>
                        <a:rPr lang="en-US" sz="1000">
                          <a:solidFill>
                            <a:schemeClr val="tx1"/>
                          </a:solidFill>
                        </a:rPr>
                        <a:t>Support Level Required </a:t>
                      </a:r>
                    </a:p>
                  </a:txBody>
                  <a:tcPr marL="121920" marR="121920" marT="60960" marB="6096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tx2">
                        <a:lumMod val="20000"/>
                        <a:lumOff val="80000"/>
                      </a:schemeClr>
                    </a:solidFill>
                  </a:tcPr>
                </a:tc>
                <a:tc>
                  <a:txBody>
                    <a:bodyPr/>
                    <a:lstStyle/>
                    <a:p>
                      <a:pPr algn="ctr"/>
                      <a:r>
                        <a:rPr lang="en-US" sz="1000">
                          <a:solidFill>
                            <a:schemeClr val="tx1"/>
                          </a:solidFill>
                        </a:rPr>
                        <a:t>L1</a:t>
                      </a:r>
                    </a:p>
                  </a:txBody>
                  <a:tcPr marL="121920" marR="121920" marT="60960" marB="6096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sz="1000">
                          <a:solidFill>
                            <a:schemeClr val="tx1"/>
                          </a:solidFill>
                        </a:rPr>
                        <a:t>L1.5</a:t>
                      </a:r>
                    </a:p>
                  </a:txBody>
                  <a:tcPr marL="121920" marR="121920" marT="60960" marB="6096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r>
                        <a:rPr lang="en-US" sz="1000">
                          <a:solidFill>
                            <a:schemeClr val="tx1"/>
                          </a:solidFill>
                        </a:rPr>
                        <a:t>L2</a:t>
                      </a:r>
                    </a:p>
                  </a:txBody>
                  <a:tcPr marL="121920" marR="121920" marT="60960" marB="6096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solidFill>
                  </a:tcPr>
                </a:tc>
                <a:tc>
                  <a:txBody>
                    <a:bodyPr/>
                    <a:lstStyle/>
                    <a:p>
                      <a:pPr algn="ctr"/>
                      <a:r>
                        <a:rPr lang="en-US" sz="1000">
                          <a:solidFill>
                            <a:schemeClr val="tx1"/>
                          </a:solidFill>
                        </a:rPr>
                        <a:t>L3</a:t>
                      </a:r>
                    </a:p>
                  </a:txBody>
                  <a:tcPr marL="121920" marR="121920" marT="60960" marB="6096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solidFill>
                  </a:tcPr>
                </a:tc>
                <a:extLst>
                  <a:ext uri="{0D108BD9-81ED-4DB2-BD59-A6C34878D82A}">
                    <a16:rowId xmlns:a16="http://schemas.microsoft.com/office/drawing/2014/main" val="2586814064"/>
                  </a:ext>
                </a:extLst>
              </a:tr>
            </a:tbl>
          </a:graphicData>
        </a:graphic>
      </p:graphicFrame>
    </p:spTree>
    <p:extLst>
      <p:ext uri="{BB962C8B-B14F-4D97-AF65-F5344CB8AC3E}">
        <p14:creationId xmlns:p14="http://schemas.microsoft.com/office/powerpoint/2010/main" val="264711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F467D-C9FA-F92A-CA9A-13A4EC330C11}"/>
            </a:ext>
          </a:extLst>
        </p:cNvPr>
        <p:cNvGrpSpPr/>
        <p:nvPr/>
      </p:nvGrpSpPr>
      <p:grpSpPr>
        <a:xfrm>
          <a:off x="0" y="0"/>
          <a:ext cx="0" cy="0"/>
          <a:chOff x="0" y="0"/>
          <a:chExt cx="0" cy="0"/>
        </a:xfrm>
      </p:grpSpPr>
      <p:sp>
        <p:nvSpPr>
          <p:cNvPr id="27" name="Title 17">
            <a:extLst>
              <a:ext uri="{FF2B5EF4-FFF2-40B4-BE49-F238E27FC236}">
                <a16:creationId xmlns:a16="http://schemas.microsoft.com/office/drawing/2014/main" id="{8CA2D15C-FFBE-38F8-C7DC-92EF48CDD784}"/>
              </a:ext>
            </a:extLst>
          </p:cNvPr>
          <p:cNvSpPr>
            <a:spLocks noGrp="1"/>
          </p:cNvSpPr>
          <p:nvPr>
            <p:ph type="title"/>
          </p:nvPr>
        </p:nvSpPr>
        <p:spPr>
          <a:xfrm>
            <a:off x="478870" y="230848"/>
            <a:ext cx="10102852" cy="451405"/>
          </a:xfrm>
        </p:spPr>
        <p:txBody>
          <a:bodyPr>
            <a:normAutofit/>
          </a:bodyPr>
          <a:lstStyle/>
          <a:p>
            <a:r>
              <a:rPr lang="en-US"/>
              <a:t>New Scope – Secure Enterprise Browser</a:t>
            </a:r>
          </a:p>
        </p:txBody>
      </p:sp>
      <p:sp>
        <p:nvSpPr>
          <p:cNvPr id="28" name="Date Placeholder 5">
            <a:extLst>
              <a:ext uri="{FF2B5EF4-FFF2-40B4-BE49-F238E27FC236}">
                <a16:creationId xmlns:a16="http://schemas.microsoft.com/office/drawing/2014/main" id="{2F13EFDF-81A9-42FF-F7E1-B30DD13592D3}"/>
              </a:ext>
            </a:extLst>
          </p:cNvPr>
          <p:cNvSpPr txBox="1">
            <a:spLocks/>
          </p:cNvSpPr>
          <p:nvPr/>
        </p:nvSpPr>
        <p:spPr>
          <a:xfrm>
            <a:off x="10968821" y="65881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sp>
        <p:nvSpPr>
          <p:cNvPr id="29" name="Slide Number Placeholder 7">
            <a:extLst>
              <a:ext uri="{FF2B5EF4-FFF2-40B4-BE49-F238E27FC236}">
                <a16:creationId xmlns:a16="http://schemas.microsoft.com/office/drawing/2014/main" id="{F02D9ED9-79F4-3C92-1664-0FA272A1A71C}"/>
              </a:ext>
            </a:extLst>
          </p:cNvPr>
          <p:cNvSpPr txBox="1">
            <a:spLocks/>
          </p:cNvSpPr>
          <p:nvPr/>
        </p:nvSpPr>
        <p:spPr>
          <a:xfrm>
            <a:off x="11285288" y="6189646"/>
            <a:ext cx="540000" cy="269875"/>
          </a:xfrm>
          <a:prstGeom prst="rect">
            <a:avLst/>
          </a:prstGeom>
        </p:spPr>
        <p:txBody>
          <a:bodyPr vert="horz" lIns="0" tIns="0" rIns="0" bIns="0" rtlCol="0" anchor="b" anchorCtr="0">
            <a:normAutofit/>
          </a:bodyPr>
          <a:lstStyle>
            <a:defPPr>
              <a:defRPr lang="en-US"/>
            </a:defPPr>
            <a:lvl1pPr marL="0" algn="l" defTabSz="1219170" rtl="0" eaLnBrk="1" latinLnBrk="0" hangingPunct="1">
              <a:defRPr sz="12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9F9F533D-B52E-4A2F-BF72-0ADD2D94BD75}" type="slidenum">
              <a:rPr lang="en-GB" smtClean="0"/>
              <a:pPr/>
              <a:t>30</a:t>
            </a:fld>
            <a:endParaRPr lang="en-GB"/>
          </a:p>
        </p:txBody>
      </p:sp>
      <p:graphicFrame>
        <p:nvGraphicFramePr>
          <p:cNvPr id="2" name="Table 1">
            <a:extLst>
              <a:ext uri="{FF2B5EF4-FFF2-40B4-BE49-F238E27FC236}">
                <a16:creationId xmlns:a16="http://schemas.microsoft.com/office/drawing/2014/main" id="{9B2516F3-859C-58C5-96E7-B221D7FC6F51}"/>
              </a:ext>
            </a:extLst>
          </p:cNvPr>
          <p:cNvGraphicFramePr>
            <a:graphicFrameLocks noGrp="1"/>
          </p:cNvGraphicFramePr>
          <p:nvPr>
            <p:extLst>
              <p:ext uri="{D42A27DB-BD31-4B8C-83A1-F6EECF244321}">
                <p14:modId xmlns:p14="http://schemas.microsoft.com/office/powerpoint/2010/main" val="1504013598"/>
              </p:ext>
            </p:extLst>
          </p:nvPr>
        </p:nvGraphicFramePr>
        <p:xfrm>
          <a:off x="497913" y="1089232"/>
          <a:ext cx="11327375" cy="1143000"/>
        </p:xfrm>
        <a:graphic>
          <a:graphicData uri="http://schemas.openxmlformats.org/drawingml/2006/table">
            <a:tbl>
              <a:tblPr/>
              <a:tblGrid>
                <a:gridCol w="1450699">
                  <a:extLst>
                    <a:ext uri="{9D8B030D-6E8A-4147-A177-3AD203B41FA5}">
                      <a16:colId xmlns:a16="http://schemas.microsoft.com/office/drawing/2014/main" val="4100041905"/>
                    </a:ext>
                  </a:extLst>
                </a:gridCol>
                <a:gridCol w="2503945">
                  <a:extLst>
                    <a:ext uri="{9D8B030D-6E8A-4147-A177-3AD203B41FA5}">
                      <a16:colId xmlns:a16="http://schemas.microsoft.com/office/drawing/2014/main" val="4189356408"/>
                    </a:ext>
                  </a:extLst>
                </a:gridCol>
                <a:gridCol w="2146240">
                  <a:extLst>
                    <a:ext uri="{9D8B030D-6E8A-4147-A177-3AD203B41FA5}">
                      <a16:colId xmlns:a16="http://schemas.microsoft.com/office/drawing/2014/main" val="2528964953"/>
                    </a:ext>
                  </a:extLst>
                </a:gridCol>
                <a:gridCol w="2146240">
                  <a:extLst>
                    <a:ext uri="{9D8B030D-6E8A-4147-A177-3AD203B41FA5}">
                      <a16:colId xmlns:a16="http://schemas.microsoft.com/office/drawing/2014/main" val="3162761371"/>
                    </a:ext>
                  </a:extLst>
                </a:gridCol>
                <a:gridCol w="3080251">
                  <a:extLst>
                    <a:ext uri="{9D8B030D-6E8A-4147-A177-3AD203B41FA5}">
                      <a16:colId xmlns:a16="http://schemas.microsoft.com/office/drawing/2014/main" val="3470399098"/>
                    </a:ext>
                  </a:extLst>
                </a:gridCol>
              </a:tblGrid>
              <a:tr h="298450">
                <a:tc>
                  <a:txBody>
                    <a:bodyPr/>
                    <a:lstStyle/>
                    <a:p>
                      <a:pPr algn="ctr" fontAlgn="ctr"/>
                      <a:r>
                        <a:rPr lang="en-GB" sz="1100" b="1" i="0" u="none" strike="noStrike">
                          <a:solidFill>
                            <a:srgbClr val="000000"/>
                          </a:solidFill>
                          <a:effectLst/>
                          <a:latin typeface="Aptos Narrow" panose="020B0004020202020204" pitchFamily="34" charset="0"/>
                        </a:rPr>
                        <a:t>App/ Service Name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ctr"/>
                      <a:r>
                        <a:rPr lang="en-GB" sz="1100" b="1" i="0" u="none" strike="noStrike">
                          <a:solidFill>
                            <a:srgbClr val="000000"/>
                          </a:solidFill>
                          <a:effectLst/>
                          <a:latin typeface="Aptos Narrow" panose="020B0004020202020204" pitchFamily="34" charset="0"/>
                        </a:rPr>
                        <a:t>Description of App/ Service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ctr"/>
                      <a:r>
                        <a:rPr lang="en-GB" sz="1100" b="1" i="0" u="none" strike="noStrike">
                          <a:solidFill>
                            <a:srgbClr val="000000"/>
                          </a:solidFill>
                          <a:effectLst/>
                          <a:latin typeface="Aptos Narrow" panose="020B0004020202020204" pitchFamily="34" charset="0"/>
                        </a:rPr>
                        <a:t>Current Annualised Spend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ctr"/>
                      <a:r>
                        <a:rPr lang="en-GB" sz="1100" b="1" i="0" u="none" strike="noStrike">
                          <a:solidFill>
                            <a:srgbClr val="000000"/>
                          </a:solidFill>
                          <a:effectLst/>
                          <a:latin typeface="Aptos Narrow" panose="020B0004020202020204" pitchFamily="34" charset="0"/>
                        </a:rPr>
                        <a:t>Current Supplier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ctr"/>
                      <a:r>
                        <a:rPr lang="en-GB" sz="1100" b="1" i="0" u="none" strike="noStrike">
                          <a:solidFill>
                            <a:srgbClr val="000000"/>
                          </a:solidFill>
                          <a:effectLst/>
                          <a:latin typeface="Aptos Narrow" panose="020B0004020202020204" pitchFamily="34" charset="0"/>
                        </a:rPr>
                        <a:t>Rationale for Out of Scope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2896408235"/>
                  </a:ext>
                </a:extLst>
              </a:tr>
              <a:tr h="506371">
                <a:tc>
                  <a:txBody>
                    <a:bodyPr/>
                    <a:lstStyle/>
                    <a:p>
                      <a:pPr algn="l" fontAlgn="b"/>
                      <a:r>
                        <a:rPr lang="en-GB" sz="1100" b="0" i="0" u="none" strike="noStrike">
                          <a:solidFill>
                            <a:srgbClr val="000000"/>
                          </a:solidFill>
                          <a:effectLst/>
                          <a:latin typeface="Aptos Narrow" panose="020B0004020202020204" pitchFamily="34" charset="0"/>
                        </a:rPr>
                        <a:t> Secure Enterprise Browser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1100" b="0" i="0" u="none" strike="noStrike">
                          <a:solidFill>
                            <a:srgbClr val="000000"/>
                          </a:solidFill>
                          <a:effectLst/>
                          <a:latin typeface="Aptos Narrow" panose="020B0004020202020204" pitchFamily="34" charset="0"/>
                        </a:rPr>
                        <a:t> </a:t>
                      </a:r>
                      <a:r>
                        <a:rPr lang="en-GB" sz="1100">
                          <a:latin typeface="Aptos Narrow" panose="020B0004020202020204" pitchFamily="34" charset="0"/>
                        </a:rPr>
                        <a:t>A secure browser solution to strengthen data protection, streamline third-party access, and reduce VDI reliance. Integrate with enterprise security tools and support zero-trust principles</a:t>
                      </a:r>
                      <a:endParaRPr lang="en-GB" sz="1100" b="0" i="0" u="none" strike="noStrike">
                        <a:solidFill>
                          <a:srgbClr val="000000"/>
                        </a:solidFill>
                        <a:effectLst/>
                        <a:latin typeface="Aptos Narrow" panose="020B0004020202020204"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1100" b="0" i="0" u="none" strike="noStrike">
                          <a:solidFill>
                            <a:srgbClr val="000000"/>
                          </a:solidFill>
                          <a:effectLst/>
                          <a:latin typeface="Aptos Narrow" panose="020B0004020202020204" pitchFamily="34" charset="0"/>
                        </a:rPr>
                        <a:t>N/A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1100" b="0" i="0" u="none" strike="noStrike">
                          <a:solidFill>
                            <a:srgbClr val="000000"/>
                          </a:solidFill>
                          <a:effectLst/>
                          <a:latin typeface="Aptos Narrow" panose="020B0004020202020204" pitchFamily="34" charset="0"/>
                        </a:rPr>
                        <a:t>N/A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GB" sz="1100" b="0" i="0" u="none" strike="noStrike">
                          <a:solidFill>
                            <a:srgbClr val="000000"/>
                          </a:solidFill>
                          <a:effectLst/>
                          <a:latin typeface="Aptos Narrow" panose="020B0004020202020204" pitchFamily="34" charset="0"/>
                        </a:rPr>
                        <a:t>This is a new service currently going thru an RFI process with CSO team. Vendor and service package TBD.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3074086"/>
                  </a:ext>
                </a:extLst>
              </a:tr>
            </a:tbl>
          </a:graphicData>
        </a:graphic>
      </p:graphicFrame>
      <p:sp>
        <p:nvSpPr>
          <p:cNvPr id="4" name="TextBox 3">
            <a:extLst>
              <a:ext uri="{FF2B5EF4-FFF2-40B4-BE49-F238E27FC236}">
                <a16:creationId xmlns:a16="http://schemas.microsoft.com/office/drawing/2014/main" id="{BCCB3ADB-8671-9ECE-F7CA-E37EBE81617D}"/>
              </a:ext>
            </a:extLst>
          </p:cNvPr>
          <p:cNvSpPr txBox="1"/>
          <p:nvPr/>
        </p:nvSpPr>
        <p:spPr>
          <a:xfrm>
            <a:off x="8772375" y="205715"/>
            <a:ext cx="3192463" cy="592707"/>
          </a:xfrm>
          <a:prstGeom prst="rect">
            <a:avLst/>
          </a:prstGeom>
          <a:solidFill>
            <a:srgbClr val="FFFF00"/>
          </a:solidFill>
          <a:effectLst/>
        </p:spPr>
        <p:txBody>
          <a:bodyPr wrap="square" lIns="180000" tIns="91440" rIns="180000" bIns="91440" rtlCol="0" anchor="t">
            <a:noAutofit/>
          </a:bodyPr>
          <a:lstStyle/>
          <a:p>
            <a:pPr defTabSz="1219140">
              <a:spcBef>
                <a:spcPts val="300"/>
              </a:spcBef>
              <a:spcAft>
                <a:spcPts val="300"/>
              </a:spcAft>
            </a:pPr>
            <a:r>
              <a:rPr lang="en-US" sz="1050">
                <a:solidFill>
                  <a:srgbClr val="000000"/>
                </a:solidFill>
                <a:latin typeface="Arial"/>
              </a:rPr>
              <a:t>To be costed separately</a:t>
            </a:r>
            <a:endParaRPr lang="en-US"/>
          </a:p>
        </p:txBody>
      </p:sp>
      <p:sp>
        <p:nvSpPr>
          <p:cNvPr id="7" name="TextBox 6">
            <a:extLst>
              <a:ext uri="{FF2B5EF4-FFF2-40B4-BE49-F238E27FC236}">
                <a16:creationId xmlns:a16="http://schemas.microsoft.com/office/drawing/2014/main" id="{4AEB2C8E-B762-20A3-3CBD-3AF040CBDACE}"/>
              </a:ext>
            </a:extLst>
          </p:cNvPr>
          <p:cNvSpPr txBox="1"/>
          <p:nvPr/>
        </p:nvSpPr>
        <p:spPr>
          <a:xfrm>
            <a:off x="380232" y="3982543"/>
            <a:ext cx="11327377" cy="2098885"/>
          </a:xfrm>
          <a:prstGeom prst="rect">
            <a:avLst/>
          </a:prstGeom>
          <a:noFill/>
          <a:ln>
            <a:solidFill>
              <a:schemeClr val="bg1">
                <a:lumMod val="75000"/>
              </a:schemeClr>
            </a:solidFill>
          </a:ln>
        </p:spPr>
        <p:txBody>
          <a:bodyPr wrap="square" lIns="180000" tIns="180000" rIns="180000" bIns="180000" rtlCol="0">
            <a:normAutofit/>
          </a:bodyPr>
          <a:lstStyle/>
          <a:p>
            <a:pPr marL="171450" indent="-171450">
              <a:buClr>
                <a:schemeClr val="bg2"/>
              </a:buClr>
              <a:buFont typeface="Arial" panose="020B0604020202020204" pitchFamily="34" charset="0"/>
              <a:buChar char="•"/>
            </a:pPr>
            <a:r>
              <a:rPr lang="en-GB" sz="950"/>
              <a:t>A secure browser solution to strengthen data protection, streamline third-party access, and reduce VDI reliance. Integrate with enterprise security tools and support zero-trust principles.</a:t>
            </a:r>
          </a:p>
          <a:p>
            <a:pPr marL="171450" indent="-171450">
              <a:buClr>
                <a:schemeClr val="bg2"/>
              </a:buClr>
              <a:buFont typeface="Arial" panose="020B0604020202020204" pitchFamily="34" charset="0"/>
              <a:buChar char="•"/>
            </a:pPr>
            <a:r>
              <a:rPr lang="en-US" sz="950"/>
              <a:t>Dependency/linkage/synergy with any other </a:t>
            </a:r>
            <a:r>
              <a:rPr lang="en-US" sz="950" err="1"/>
              <a:t>Workpackages</a:t>
            </a:r>
            <a:r>
              <a:rPr lang="en-US" sz="950"/>
              <a:t>:</a:t>
            </a:r>
          </a:p>
          <a:p>
            <a:pPr marL="781035" lvl="1" indent="-171450">
              <a:buClr>
                <a:schemeClr val="bg2"/>
              </a:buClr>
              <a:buFont typeface="Arial" panose="020B0604020202020204" pitchFamily="34" charset="0"/>
              <a:buChar char="•"/>
            </a:pPr>
            <a:r>
              <a:rPr lang="en-US" sz="950"/>
              <a:t>Cloud and LAN/WAN Network Infrastructure</a:t>
            </a:r>
          </a:p>
          <a:p>
            <a:pPr marL="781035" lvl="1" indent="-171450">
              <a:buClr>
                <a:schemeClr val="bg2"/>
              </a:buClr>
              <a:buFont typeface="Arial" panose="020B0604020202020204" pitchFamily="34" charset="0"/>
              <a:buChar char="•"/>
            </a:pPr>
            <a:r>
              <a:rPr lang="en-US" sz="950"/>
              <a:t>Identity and Access Management</a:t>
            </a:r>
          </a:p>
          <a:p>
            <a:pPr marL="781035" lvl="1" indent="-171450">
              <a:buClr>
                <a:schemeClr val="bg2"/>
              </a:buClr>
              <a:buFont typeface="Arial" panose="020B0604020202020204" pitchFamily="34" charset="0"/>
              <a:buChar char="•"/>
            </a:pPr>
            <a:r>
              <a:rPr lang="en-US" sz="950"/>
              <a:t>CSO, Global Risk and Compliance</a:t>
            </a:r>
          </a:p>
          <a:p>
            <a:pPr marL="781035" lvl="1" indent="-171450">
              <a:buClr>
                <a:schemeClr val="bg2"/>
              </a:buClr>
              <a:buFont typeface="Arial" panose="020B0604020202020204" pitchFamily="34" charset="0"/>
              <a:buChar char="•"/>
            </a:pPr>
            <a:r>
              <a:rPr lang="en-US" sz="950"/>
              <a:t>Business application integration</a:t>
            </a:r>
          </a:p>
          <a:p>
            <a:pPr marL="171450" indent="-171450">
              <a:buClr>
                <a:schemeClr val="bg2"/>
              </a:buClr>
              <a:buFont typeface="Arial" panose="020B0604020202020204" pitchFamily="34" charset="0"/>
              <a:buChar char="•"/>
            </a:pPr>
            <a:r>
              <a:rPr lang="en-US" sz="950"/>
              <a:t>There is no current contract as this would be a new solution for GSK</a:t>
            </a:r>
            <a:endParaRPr lang="en-US" sz="950">
              <a:highlight>
                <a:srgbClr val="00FFFF"/>
              </a:highlight>
            </a:endParaRPr>
          </a:p>
          <a:p>
            <a:pPr marL="171450" indent="-171450">
              <a:buClr>
                <a:schemeClr val="bg2"/>
              </a:buClr>
              <a:buFont typeface="Arial" panose="020B0604020202020204" pitchFamily="34" charset="0"/>
              <a:buChar char="•"/>
            </a:pPr>
            <a:r>
              <a:rPr lang="en-US" sz="950"/>
              <a:t>Expertise with design, build, Ops support, ongoing development, improving user experience, change management, service reporting and communications, and decommissioning</a:t>
            </a:r>
          </a:p>
          <a:p>
            <a:pPr marL="171450" indent="-171450">
              <a:buClr>
                <a:schemeClr val="bg2"/>
              </a:buClr>
              <a:buFont typeface="Arial"/>
              <a:buChar char="•"/>
            </a:pPr>
            <a:r>
              <a:rPr lang="en-US" sz="950"/>
              <a:t>Provide all necessary management and support with respect to all of GSK’s secure enterprise browser tools, functions and services, including policy definition, centralized configuration, extension management, controlled updates, alerting and analytics, and compliance reporting</a:t>
            </a:r>
          </a:p>
          <a:p>
            <a:pPr marL="171450" indent="-171450">
              <a:buClr>
                <a:schemeClr val="bg2"/>
              </a:buClr>
              <a:buFont typeface="Arial"/>
              <a:buChar char="•"/>
            </a:pPr>
            <a:r>
              <a:rPr lang="en-US" sz="950"/>
              <a:t>Would expect a resource-unit based cost model from MSP with fixed cost for scaling up or down as required</a:t>
            </a:r>
          </a:p>
          <a:p>
            <a:pPr marL="171450" indent="-171450">
              <a:buClr>
                <a:schemeClr val="bg2"/>
              </a:buClr>
              <a:buFont typeface="Arial"/>
              <a:buChar char="•"/>
            </a:pPr>
            <a:r>
              <a:rPr lang="en-US" sz="950"/>
              <a:t>Staff should be properly trained in secure enterprise browser solutions.</a:t>
            </a:r>
          </a:p>
          <a:p>
            <a:pPr marL="171450" indent="-171450">
              <a:buClr>
                <a:schemeClr val="bg2"/>
              </a:buClr>
              <a:buFont typeface="Arial"/>
              <a:buChar char="•"/>
            </a:pPr>
            <a:endParaRPr lang="en-US" sz="950">
              <a:highlight>
                <a:srgbClr val="00FFFF"/>
              </a:highlight>
            </a:endParaRPr>
          </a:p>
        </p:txBody>
      </p:sp>
      <p:sp>
        <p:nvSpPr>
          <p:cNvPr id="8" name="TextBox 7">
            <a:extLst>
              <a:ext uri="{FF2B5EF4-FFF2-40B4-BE49-F238E27FC236}">
                <a16:creationId xmlns:a16="http://schemas.microsoft.com/office/drawing/2014/main" id="{B53F9361-8BD6-C052-052A-F9DBF5163481}"/>
              </a:ext>
            </a:extLst>
          </p:cNvPr>
          <p:cNvSpPr txBox="1"/>
          <p:nvPr/>
        </p:nvSpPr>
        <p:spPr>
          <a:xfrm>
            <a:off x="484391" y="3821877"/>
            <a:ext cx="1997007" cy="307777"/>
          </a:xfrm>
          <a:prstGeom prst="rect">
            <a:avLst/>
          </a:prstGeom>
          <a:solidFill>
            <a:schemeClr val="bg1"/>
          </a:solidFill>
        </p:spPr>
        <p:txBody>
          <a:bodyPr wrap="square" rtlCol="0">
            <a:spAutoFit/>
          </a:bodyPr>
          <a:lstStyle/>
          <a:p>
            <a:pPr>
              <a:buClr>
                <a:schemeClr val="tx1"/>
              </a:buClr>
            </a:pPr>
            <a:r>
              <a:rPr lang="en-GB" sz="1400" b="1">
                <a:solidFill>
                  <a:schemeClr val="tx2"/>
                </a:solidFill>
              </a:rPr>
              <a:t>Scope Description</a:t>
            </a:r>
          </a:p>
        </p:txBody>
      </p:sp>
      <p:graphicFrame>
        <p:nvGraphicFramePr>
          <p:cNvPr id="5" name="Table 4">
            <a:extLst>
              <a:ext uri="{FF2B5EF4-FFF2-40B4-BE49-F238E27FC236}">
                <a16:creationId xmlns:a16="http://schemas.microsoft.com/office/drawing/2014/main" id="{289A1F0C-CDC7-957B-2ABF-F105C8443C32}"/>
              </a:ext>
            </a:extLst>
          </p:cNvPr>
          <p:cNvGraphicFramePr>
            <a:graphicFrameLocks noGrp="1"/>
          </p:cNvGraphicFramePr>
          <p:nvPr>
            <p:extLst>
              <p:ext uri="{D42A27DB-BD31-4B8C-83A1-F6EECF244321}">
                <p14:modId xmlns:p14="http://schemas.microsoft.com/office/powerpoint/2010/main" val="1708822602"/>
              </p:ext>
            </p:extLst>
          </p:nvPr>
        </p:nvGraphicFramePr>
        <p:xfrm>
          <a:off x="497913" y="2523042"/>
          <a:ext cx="4683422" cy="1033175"/>
        </p:xfrm>
        <a:graphic>
          <a:graphicData uri="http://schemas.openxmlformats.org/drawingml/2006/table">
            <a:tbl>
              <a:tblPr firstRow="1" bandRow="1">
                <a:tableStyleId>{5C22544A-7EE6-4342-B048-85BDC9FD1C3A}</a:tableStyleId>
              </a:tblPr>
              <a:tblGrid>
                <a:gridCol w="1965415">
                  <a:extLst>
                    <a:ext uri="{9D8B030D-6E8A-4147-A177-3AD203B41FA5}">
                      <a16:colId xmlns:a16="http://schemas.microsoft.com/office/drawing/2014/main" val="3891676494"/>
                    </a:ext>
                  </a:extLst>
                </a:gridCol>
                <a:gridCol w="426583">
                  <a:extLst>
                    <a:ext uri="{9D8B030D-6E8A-4147-A177-3AD203B41FA5}">
                      <a16:colId xmlns:a16="http://schemas.microsoft.com/office/drawing/2014/main" val="2140829158"/>
                    </a:ext>
                  </a:extLst>
                </a:gridCol>
                <a:gridCol w="381904">
                  <a:extLst>
                    <a:ext uri="{9D8B030D-6E8A-4147-A177-3AD203B41FA5}">
                      <a16:colId xmlns:a16="http://schemas.microsoft.com/office/drawing/2014/main" val="778784682"/>
                    </a:ext>
                  </a:extLst>
                </a:gridCol>
                <a:gridCol w="381904">
                  <a:extLst>
                    <a:ext uri="{9D8B030D-6E8A-4147-A177-3AD203B41FA5}">
                      <a16:colId xmlns:a16="http://schemas.microsoft.com/office/drawing/2014/main" val="953935180"/>
                    </a:ext>
                  </a:extLst>
                </a:gridCol>
                <a:gridCol w="381904">
                  <a:extLst>
                    <a:ext uri="{9D8B030D-6E8A-4147-A177-3AD203B41FA5}">
                      <a16:colId xmlns:a16="http://schemas.microsoft.com/office/drawing/2014/main" val="3965651416"/>
                    </a:ext>
                  </a:extLst>
                </a:gridCol>
                <a:gridCol w="381904">
                  <a:extLst>
                    <a:ext uri="{9D8B030D-6E8A-4147-A177-3AD203B41FA5}">
                      <a16:colId xmlns:a16="http://schemas.microsoft.com/office/drawing/2014/main" val="3142468582"/>
                    </a:ext>
                  </a:extLst>
                </a:gridCol>
                <a:gridCol w="381904">
                  <a:extLst>
                    <a:ext uri="{9D8B030D-6E8A-4147-A177-3AD203B41FA5}">
                      <a16:colId xmlns:a16="http://schemas.microsoft.com/office/drawing/2014/main" val="3472251507"/>
                    </a:ext>
                  </a:extLst>
                </a:gridCol>
                <a:gridCol w="381904">
                  <a:extLst>
                    <a:ext uri="{9D8B030D-6E8A-4147-A177-3AD203B41FA5}">
                      <a16:colId xmlns:a16="http://schemas.microsoft.com/office/drawing/2014/main" val="441887277"/>
                    </a:ext>
                  </a:extLst>
                </a:gridCol>
              </a:tblGrid>
              <a:tr h="774095">
                <a:tc>
                  <a:txBody>
                    <a:bodyPr/>
                    <a:lstStyle/>
                    <a:p>
                      <a:pPr algn="ctr"/>
                      <a:endParaRPr lang="en-GB" sz="800"/>
                    </a:p>
                  </a:txBody>
                  <a:tcPr marL="121920" marR="121920" marT="60960" marB="60960" anchor="ctr">
                    <a:lnL w="12700" cmpd="sng">
                      <a:noFill/>
                    </a:lnL>
                    <a:lnR w="12700" cap="flat" cmpd="sng" algn="ctr">
                      <a:solidFill>
                        <a:schemeClr val="bg1">
                          <a:lumMod val="75000"/>
                        </a:schemeClr>
                      </a:solidFill>
                      <a:prstDash val="solid"/>
                      <a:round/>
                      <a:headEnd type="none" w="med" len="med"/>
                      <a:tailEnd type="none" w="med" len="med"/>
                    </a:lnR>
                    <a:lnT w="127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700">
                          <a:solidFill>
                            <a:schemeClr val="tx1"/>
                          </a:solidFill>
                        </a:rPr>
                        <a:t>Design</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Build</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Test/ QA</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Op Support</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Ongoing Development</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Change Management</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b="1" kern="1200">
                          <a:solidFill>
                            <a:schemeClr val="tx1"/>
                          </a:solidFill>
                          <a:latin typeface="+mn-lt"/>
                          <a:ea typeface="+mn-ea"/>
                          <a:cs typeface="+mn-cs"/>
                        </a:rPr>
                        <a:t>Decommissioning</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438671849"/>
                  </a:ext>
                </a:extLst>
              </a:tr>
              <a:tr h="148631">
                <a:tc>
                  <a:txBody>
                    <a:bodyPr/>
                    <a:lstStyle/>
                    <a:p>
                      <a:r>
                        <a:rPr lang="en-GB" sz="900" b="0"/>
                        <a:t>SEB</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800" b="1" kern="1200">
                          <a:solidFill>
                            <a:schemeClr val="tx1"/>
                          </a:solidFill>
                          <a:latin typeface="+mn-lt"/>
                          <a:ea typeface="+mn-ea"/>
                          <a:cs typeface="+mn-cs"/>
                        </a:rPr>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05620272"/>
                  </a:ext>
                </a:extLst>
              </a:tr>
            </a:tbl>
          </a:graphicData>
        </a:graphic>
      </p:graphicFrame>
    </p:spTree>
    <p:extLst>
      <p:ext uri="{BB962C8B-B14F-4D97-AF65-F5344CB8AC3E}">
        <p14:creationId xmlns:p14="http://schemas.microsoft.com/office/powerpoint/2010/main" val="1287831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ECF2B-60BB-2E5D-A83C-BA03F2BE7C06}"/>
            </a:ext>
          </a:extLst>
        </p:cNvPr>
        <p:cNvGrpSpPr/>
        <p:nvPr/>
      </p:nvGrpSpPr>
      <p:grpSpPr>
        <a:xfrm>
          <a:off x="0" y="0"/>
          <a:ext cx="0" cy="0"/>
          <a:chOff x="0" y="0"/>
          <a:chExt cx="0" cy="0"/>
        </a:xfrm>
      </p:grpSpPr>
      <p:sp>
        <p:nvSpPr>
          <p:cNvPr id="38" name="TextBox 37">
            <a:extLst>
              <a:ext uri="{FF2B5EF4-FFF2-40B4-BE49-F238E27FC236}">
                <a16:creationId xmlns:a16="http://schemas.microsoft.com/office/drawing/2014/main" id="{F8A1C78E-C431-B0AD-5F6A-FFE99C368D2C}"/>
              </a:ext>
            </a:extLst>
          </p:cNvPr>
          <p:cNvSpPr txBox="1"/>
          <p:nvPr/>
        </p:nvSpPr>
        <p:spPr>
          <a:xfrm>
            <a:off x="390594" y="1137920"/>
            <a:ext cx="6873212" cy="3059176"/>
          </a:xfrm>
          <a:prstGeom prst="rect">
            <a:avLst/>
          </a:prstGeom>
          <a:noFill/>
          <a:ln>
            <a:solidFill>
              <a:schemeClr val="bg1">
                <a:lumMod val="75000"/>
              </a:schemeClr>
            </a:solidFill>
          </a:ln>
        </p:spPr>
        <p:txBody>
          <a:bodyPr wrap="square" lIns="180000" tIns="180000" rIns="180000" bIns="180000" rtlCol="0">
            <a:normAutofit/>
          </a:bodyPr>
          <a:lstStyle/>
          <a:p>
            <a:pPr marL="285750" indent="-285750" algn="l">
              <a:spcBef>
                <a:spcPts val="300"/>
              </a:spcBef>
              <a:spcAft>
                <a:spcPts val="300"/>
              </a:spcAft>
              <a:buClr>
                <a:schemeClr val="tx2"/>
              </a:buClr>
              <a:buSzPct val="150000"/>
              <a:buFont typeface="Arial" panose="020B0604020202020204" pitchFamily="34" charset="0"/>
              <a:buChar char="•"/>
            </a:pPr>
            <a:endParaRPr lang="en-US" sz="1600" err="1"/>
          </a:p>
        </p:txBody>
      </p:sp>
      <p:sp>
        <p:nvSpPr>
          <p:cNvPr id="41" name="TextBox 40">
            <a:extLst>
              <a:ext uri="{FF2B5EF4-FFF2-40B4-BE49-F238E27FC236}">
                <a16:creationId xmlns:a16="http://schemas.microsoft.com/office/drawing/2014/main" id="{92C2F692-8254-D969-C1EE-275C1D407450}"/>
              </a:ext>
            </a:extLst>
          </p:cNvPr>
          <p:cNvSpPr txBox="1"/>
          <p:nvPr/>
        </p:nvSpPr>
        <p:spPr>
          <a:xfrm>
            <a:off x="390594" y="4334909"/>
            <a:ext cx="6873212" cy="1784718"/>
          </a:xfrm>
          <a:prstGeom prst="rect">
            <a:avLst/>
          </a:prstGeom>
          <a:noFill/>
          <a:ln>
            <a:solidFill>
              <a:schemeClr val="bg1">
                <a:lumMod val="75000"/>
              </a:schemeClr>
            </a:solidFill>
          </a:ln>
        </p:spPr>
        <p:txBody>
          <a:bodyPr wrap="square" lIns="180000" tIns="180000" rIns="180000" bIns="180000" rtlCol="0">
            <a:normAutofit/>
          </a:bodyPr>
          <a:lstStyle/>
          <a:p>
            <a:pPr marL="285750" indent="-285750" algn="l">
              <a:spcBef>
                <a:spcPts val="300"/>
              </a:spcBef>
              <a:spcAft>
                <a:spcPts val="300"/>
              </a:spcAft>
              <a:buClr>
                <a:schemeClr val="tx2"/>
              </a:buClr>
              <a:buSzPct val="150000"/>
              <a:buFont typeface="Arial" panose="020B0604020202020204" pitchFamily="34" charset="0"/>
              <a:buChar char="•"/>
            </a:pPr>
            <a:endParaRPr lang="en-US" sz="1600" err="1"/>
          </a:p>
        </p:txBody>
      </p:sp>
      <p:graphicFrame>
        <p:nvGraphicFramePr>
          <p:cNvPr id="25" name="Table 24">
            <a:extLst>
              <a:ext uri="{FF2B5EF4-FFF2-40B4-BE49-F238E27FC236}">
                <a16:creationId xmlns:a16="http://schemas.microsoft.com/office/drawing/2014/main" id="{FAF0A231-1C45-E2FF-6F21-6D8F1B562905}"/>
              </a:ext>
            </a:extLst>
          </p:cNvPr>
          <p:cNvGraphicFramePr>
            <a:graphicFrameLocks noGrp="1"/>
          </p:cNvGraphicFramePr>
          <p:nvPr>
            <p:extLst>
              <p:ext uri="{D42A27DB-BD31-4B8C-83A1-F6EECF244321}">
                <p14:modId xmlns:p14="http://schemas.microsoft.com/office/powerpoint/2010/main" val="3114051928"/>
              </p:ext>
            </p:extLst>
          </p:nvPr>
        </p:nvGraphicFramePr>
        <p:xfrm>
          <a:off x="7444314" y="1107118"/>
          <a:ext cx="4683422" cy="1033175"/>
        </p:xfrm>
        <a:graphic>
          <a:graphicData uri="http://schemas.openxmlformats.org/drawingml/2006/table">
            <a:tbl>
              <a:tblPr firstRow="1" bandRow="1">
                <a:tableStyleId>{5C22544A-7EE6-4342-B048-85BDC9FD1C3A}</a:tableStyleId>
              </a:tblPr>
              <a:tblGrid>
                <a:gridCol w="1965415">
                  <a:extLst>
                    <a:ext uri="{9D8B030D-6E8A-4147-A177-3AD203B41FA5}">
                      <a16:colId xmlns:a16="http://schemas.microsoft.com/office/drawing/2014/main" val="3891676494"/>
                    </a:ext>
                  </a:extLst>
                </a:gridCol>
                <a:gridCol w="426583">
                  <a:extLst>
                    <a:ext uri="{9D8B030D-6E8A-4147-A177-3AD203B41FA5}">
                      <a16:colId xmlns:a16="http://schemas.microsoft.com/office/drawing/2014/main" val="2140829158"/>
                    </a:ext>
                  </a:extLst>
                </a:gridCol>
                <a:gridCol w="381904">
                  <a:extLst>
                    <a:ext uri="{9D8B030D-6E8A-4147-A177-3AD203B41FA5}">
                      <a16:colId xmlns:a16="http://schemas.microsoft.com/office/drawing/2014/main" val="778784682"/>
                    </a:ext>
                  </a:extLst>
                </a:gridCol>
                <a:gridCol w="381904">
                  <a:extLst>
                    <a:ext uri="{9D8B030D-6E8A-4147-A177-3AD203B41FA5}">
                      <a16:colId xmlns:a16="http://schemas.microsoft.com/office/drawing/2014/main" val="953935180"/>
                    </a:ext>
                  </a:extLst>
                </a:gridCol>
                <a:gridCol w="381904">
                  <a:extLst>
                    <a:ext uri="{9D8B030D-6E8A-4147-A177-3AD203B41FA5}">
                      <a16:colId xmlns:a16="http://schemas.microsoft.com/office/drawing/2014/main" val="3965651416"/>
                    </a:ext>
                  </a:extLst>
                </a:gridCol>
                <a:gridCol w="381904">
                  <a:extLst>
                    <a:ext uri="{9D8B030D-6E8A-4147-A177-3AD203B41FA5}">
                      <a16:colId xmlns:a16="http://schemas.microsoft.com/office/drawing/2014/main" val="3142468582"/>
                    </a:ext>
                  </a:extLst>
                </a:gridCol>
                <a:gridCol w="381904">
                  <a:extLst>
                    <a:ext uri="{9D8B030D-6E8A-4147-A177-3AD203B41FA5}">
                      <a16:colId xmlns:a16="http://schemas.microsoft.com/office/drawing/2014/main" val="3472251507"/>
                    </a:ext>
                  </a:extLst>
                </a:gridCol>
                <a:gridCol w="381904">
                  <a:extLst>
                    <a:ext uri="{9D8B030D-6E8A-4147-A177-3AD203B41FA5}">
                      <a16:colId xmlns:a16="http://schemas.microsoft.com/office/drawing/2014/main" val="441887277"/>
                    </a:ext>
                  </a:extLst>
                </a:gridCol>
              </a:tblGrid>
              <a:tr h="774095">
                <a:tc>
                  <a:txBody>
                    <a:bodyPr/>
                    <a:lstStyle/>
                    <a:p>
                      <a:pPr algn="ctr"/>
                      <a:endParaRPr lang="en-GB" sz="800"/>
                    </a:p>
                  </a:txBody>
                  <a:tcPr marL="121920" marR="121920" marT="60960" marB="60960" anchor="ctr">
                    <a:lnL w="12700" cmpd="sng">
                      <a:noFill/>
                    </a:lnL>
                    <a:lnR w="12700" cap="flat" cmpd="sng" algn="ctr">
                      <a:solidFill>
                        <a:schemeClr val="bg1">
                          <a:lumMod val="75000"/>
                        </a:schemeClr>
                      </a:solidFill>
                      <a:prstDash val="solid"/>
                      <a:round/>
                      <a:headEnd type="none" w="med" len="med"/>
                      <a:tailEnd type="none" w="med" len="med"/>
                    </a:lnR>
                    <a:lnT w="127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700">
                          <a:solidFill>
                            <a:schemeClr val="tx1"/>
                          </a:solidFill>
                        </a:rPr>
                        <a:t>Design</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Build</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Test/ QA</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Op Support</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Ongoing Development</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a:solidFill>
                            <a:schemeClr val="tx1"/>
                          </a:solidFill>
                        </a:rPr>
                        <a:t>Change Management</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700" b="1" kern="1200">
                          <a:solidFill>
                            <a:schemeClr val="tx1"/>
                          </a:solidFill>
                          <a:latin typeface="+mn-lt"/>
                          <a:ea typeface="+mn-ea"/>
                          <a:cs typeface="+mn-cs"/>
                        </a:rPr>
                        <a:t>Decommissioning</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438671849"/>
                  </a:ext>
                </a:extLst>
              </a:tr>
              <a:tr h="148631">
                <a:tc>
                  <a:txBody>
                    <a:bodyPr/>
                    <a:lstStyle/>
                    <a:p>
                      <a:r>
                        <a:rPr lang="en-GB" sz="900" b="0"/>
                        <a:t>SEB</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800" b="1" kern="1200">
                          <a:solidFill>
                            <a:schemeClr val="tx1"/>
                          </a:solidFill>
                          <a:latin typeface="+mn-lt"/>
                          <a:ea typeface="+mn-ea"/>
                          <a:cs typeface="+mn-cs"/>
                        </a:rPr>
                        <a:t>Y</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05620272"/>
                  </a:ext>
                </a:extLst>
              </a:tr>
            </a:tbl>
          </a:graphicData>
        </a:graphic>
      </p:graphicFrame>
      <p:sp>
        <p:nvSpPr>
          <p:cNvPr id="26" name="TextBox 25">
            <a:extLst>
              <a:ext uri="{FF2B5EF4-FFF2-40B4-BE49-F238E27FC236}">
                <a16:creationId xmlns:a16="http://schemas.microsoft.com/office/drawing/2014/main" id="{07A8A99A-6263-D40E-C19B-561C05A6DFAB}"/>
              </a:ext>
            </a:extLst>
          </p:cNvPr>
          <p:cNvSpPr txBox="1"/>
          <p:nvPr/>
        </p:nvSpPr>
        <p:spPr>
          <a:xfrm>
            <a:off x="470595" y="4610362"/>
            <a:ext cx="3293605" cy="969496"/>
          </a:xfrm>
          <a:prstGeom prst="rect">
            <a:avLst/>
          </a:prstGeom>
          <a:noFill/>
        </p:spPr>
        <p:txBody>
          <a:bodyPr wrap="square" rtlCol="0">
            <a:spAutoFit/>
          </a:bodyPr>
          <a:lstStyle/>
          <a:p>
            <a:pPr marL="228600" indent="-228600" fontAlgn="base">
              <a:buFont typeface="+mj-lt"/>
              <a:buAutoNum type="arabicPeriod"/>
            </a:pPr>
            <a:r>
              <a:rPr lang="en-GB" sz="950"/>
              <a:t>Focus on improved monitoring and observability to support AI Ops.</a:t>
            </a:r>
            <a:r>
              <a:rPr lang="en-US" sz="950"/>
              <a:t>​</a:t>
            </a:r>
          </a:p>
          <a:p>
            <a:pPr marL="228600" indent="-228600" fontAlgn="base">
              <a:buFont typeface="+mj-lt"/>
              <a:buAutoNum type="arabicPeriod"/>
            </a:pPr>
            <a:r>
              <a:rPr lang="en-GB" sz="950"/>
              <a:t>Expertise in the platforms and investment in tooling to support GP&amp;T AI Ops goals.</a:t>
            </a:r>
            <a:r>
              <a:rPr lang="en-US" sz="950"/>
              <a:t>​</a:t>
            </a:r>
          </a:p>
          <a:p>
            <a:pPr marL="228600" indent="-228600" fontAlgn="base">
              <a:buFont typeface="+mj-lt"/>
              <a:buAutoNum type="arabicPeriod"/>
            </a:pPr>
            <a:r>
              <a:rPr lang="en-GB" sz="950"/>
              <a:t>Use AI and automation to improve service reliability, speed repairs and improve CX.</a:t>
            </a:r>
            <a:endParaRPr lang="en-US" sz="950"/>
          </a:p>
        </p:txBody>
      </p:sp>
      <p:sp>
        <p:nvSpPr>
          <p:cNvPr id="27" name="Title 17">
            <a:extLst>
              <a:ext uri="{FF2B5EF4-FFF2-40B4-BE49-F238E27FC236}">
                <a16:creationId xmlns:a16="http://schemas.microsoft.com/office/drawing/2014/main" id="{42F947A3-FAFB-DEA9-A2E2-17813D2457F4}"/>
              </a:ext>
            </a:extLst>
          </p:cNvPr>
          <p:cNvSpPr>
            <a:spLocks noGrp="1"/>
          </p:cNvSpPr>
          <p:nvPr>
            <p:ph type="title"/>
          </p:nvPr>
        </p:nvSpPr>
        <p:spPr>
          <a:xfrm>
            <a:off x="478870" y="230848"/>
            <a:ext cx="10102852" cy="451405"/>
          </a:xfrm>
        </p:spPr>
        <p:txBody>
          <a:bodyPr>
            <a:normAutofit/>
          </a:bodyPr>
          <a:lstStyle/>
          <a:p>
            <a:r>
              <a:rPr lang="en-US" sz="2400"/>
              <a:t>Scope Executive Summary – EAS: Secure Enterprise Browser</a:t>
            </a:r>
          </a:p>
        </p:txBody>
      </p:sp>
      <p:sp>
        <p:nvSpPr>
          <p:cNvPr id="28" name="Date Placeholder 5">
            <a:extLst>
              <a:ext uri="{FF2B5EF4-FFF2-40B4-BE49-F238E27FC236}">
                <a16:creationId xmlns:a16="http://schemas.microsoft.com/office/drawing/2014/main" id="{F953AF74-FBEB-BAB1-D6E0-7A8D24AC641F}"/>
              </a:ext>
            </a:extLst>
          </p:cNvPr>
          <p:cNvSpPr txBox="1">
            <a:spLocks/>
          </p:cNvSpPr>
          <p:nvPr/>
        </p:nvSpPr>
        <p:spPr>
          <a:xfrm>
            <a:off x="10968821" y="6588125"/>
            <a:ext cx="2776537"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100"/>
              <a:t>CONFIDENTIAL</a:t>
            </a:r>
            <a:endParaRPr lang="en-GB" sz="1100"/>
          </a:p>
        </p:txBody>
      </p:sp>
      <p:sp>
        <p:nvSpPr>
          <p:cNvPr id="29" name="Slide Number Placeholder 7">
            <a:extLst>
              <a:ext uri="{FF2B5EF4-FFF2-40B4-BE49-F238E27FC236}">
                <a16:creationId xmlns:a16="http://schemas.microsoft.com/office/drawing/2014/main" id="{91584AAF-1642-3D57-0FE5-08992FB77EB3}"/>
              </a:ext>
            </a:extLst>
          </p:cNvPr>
          <p:cNvSpPr txBox="1">
            <a:spLocks/>
          </p:cNvSpPr>
          <p:nvPr/>
        </p:nvSpPr>
        <p:spPr>
          <a:xfrm>
            <a:off x="11285288" y="6189646"/>
            <a:ext cx="540000" cy="269875"/>
          </a:xfrm>
          <a:prstGeom prst="rect">
            <a:avLst/>
          </a:prstGeom>
        </p:spPr>
        <p:txBody>
          <a:bodyPr vert="horz" lIns="0" tIns="0" rIns="0" bIns="0" rtlCol="0" anchor="b" anchorCtr="0">
            <a:normAutofit/>
          </a:bodyPr>
          <a:lstStyle>
            <a:defPPr>
              <a:defRPr lang="en-US"/>
            </a:defPPr>
            <a:lvl1pPr marL="0" algn="l" defTabSz="1219170" rtl="0" eaLnBrk="1" latinLnBrk="0" hangingPunct="1">
              <a:defRPr sz="12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9F9F533D-B52E-4A2F-BF72-0ADD2D94BD75}" type="slidenum">
              <a:rPr lang="en-GB" smtClean="0"/>
              <a:pPr/>
              <a:t>31</a:t>
            </a:fld>
            <a:endParaRPr lang="en-GB"/>
          </a:p>
        </p:txBody>
      </p:sp>
      <p:sp>
        <p:nvSpPr>
          <p:cNvPr id="30" name="TextBox 29">
            <a:extLst>
              <a:ext uri="{FF2B5EF4-FFF2-40B4-BE49-F238E27FC236}">
                <a16:creationId xmlns:a16="http://schemas.microsoft.com/office/drawing/2014/main" id="{4BFBF8E7-BE1C-8439-5EBD-9330D38C3A6B}"/>
              </a:ext>
            </a:extLst>
          </p:cNvPr>
          <p:cNvSpPr txBox="1"/>
          <p:nvPr/>
        </p:nvSpPr>
        <p:spPr>
          <a:xfrm>
            <a:off x="532833" y="976382"/>
            <a:ext cx="1997007" cy="307777"/>
          </a:xfrm>
          <a:prstGeom prst="rect">
            <a:avLst/>
          </a:prstGeom>
          <a:solidFill>
            <a:schemeClr val="bg1"/>
          </a:solidFill>
        </p:spPr>
        <p:txBody>
          <a:bodyPr wrap="square" rtlCol="0">
            <a:spAutoFit/>
          </a:bodyPr>
          <a:lstStyle/>
          <a:p>
            <a:pPr>
              <a:buClr>
                <a:schemeClr val="tx1"/>
              </a:buClr>
            </a:pPr>
            <a:r>
              <a:rPr lang="en-GB" sz="1400" b="1">
                <a:solidFill>
                  <a:schemeClr val="tx2"/>
                </a:solidFill>
              </a:rPr>
              <a:t>Solution Description</a:t>
            </a:r>
          </a:p>
        </p:txBody>
      </p:sp>
      <p:sp>
        <p:nvSpPr>
          <p:cNvPr id="31" name="TextBox 30">
            <a:extLst>
              <a:ext uri="{FF2B5EF4-FFF2-40B4-BE49-F238E27FC236}">
                <a16:creationId xmlns:a16="http://schemas.microsoft.com/office/drawing/2014/main" id="{0FEE2121-39DE-E8F9-B78D-584FF71F49E5}"/>
              </a:ext>
            </a:extLst>
          </p:cNvPr>
          <p:cNvSpPr txBox="1"/>
          <p:nvPr/>
        </p:nvSpPr>
        <p:spPr>
          <a:xfrm>
            <a:off x="7342714" y="1524647"/>
            <a:ext cx="1591736" cy="338554"/>
          </a:xfrm>
          <a:prstGeom prst="rect">
            <a:avLst/>
          </a:prstGeom>
          <a:noFill/>
        </p:spPr>
        <p:txBody>
          <a:bodyPr wrap="square" rtlCol="0">
            <a:spAutoFit/>
          </a:bodyPr>
          <a:lstStyle/>
          <a:p>
            <a:pPr>
              <a:buClr>
                <a:schemeClr val="tx1"/>
              </a:buClr>
            </a:pPr>
            <a:r>
              <a:rPr lang="en-GB" sz="1600" b="1">
                <a:solidFill>
                  <a:schemeClr val="tx2"/>
                </a:solidFill>
              </a:rPr>
              <a:t>Dev Scope</a:t>
            </a:r>
          </a:p>
        </p:txBody>
      </p:sp>
      <p:sp>
        <p:nvSpPr>
          <p:cNvPr id="32" name="TextBox 31">
            <a:extLst>
              <a:ext uri="{FF2B5EF4-FFF2-40B4-BE49-F238E27FC236}">
                <a16:creationId xmlns:a16="http://schemas.microsoft.com/office/drawing/2014/main" id="{C8418025-9108-5E4C-8F5E-B1C14CB27C8C}"/>
              </a:ext>
            </a:extLst>
          </p:cNvPr>
          <p:cNvSpPr txBox="1"/>
          <p:nvPr/>
        </p:nvSpPr>
        <p:spPr>
          <a:xfrm>
            <a:off x="390593" y="4294935"/>
            <a:ext cx="3468103" cy="307777"/>
          </a:xfrm>
          <a:prstGeom prst="rect">
            <a:avLst/>
          </a:prstGeom>
          <a:noFill/>
        </p:spPr>
        <p:txBody>
          <a:bodyPr wrap="square" rtlCol="0">
            <a:spAutoFit/>
          </a:bodyPr>
          <a:lstStyle/>
          <a:p>
            <a:pPr>
              <a:buClr>
                <a:schemeClr val="tx1"/>
              </a:buClr>
            </a:pPr>
            <a:r>
              <a:rPr lang="en-GB" sz="1400" b="1">
                <a:solidFill>
                  <a:schemeClr val="tx2"/>
                </a:solidFill>
              </a:rPr>
              <a:t>AI First Strategy</a:t>
            </a:r>
          </a:p>
        </p:txBody>
      </p:sp>
      <p:sp>
        <p:nvSpPr>
          <p:cNvPr id="33" name="TextBox 32">
            <a:extLst>
              <a:ext uri="{FF2B5EF4-FFF2-40B4-BE49-F238E27FC236}">
                <a16:creationId xmlns:a16="http://schemas.microsoft.com/office/drawing/2014/main" id="{0078C86B-729F-5ACB-E3DF-7DAD8DA45B0C}"/>
              </a:ext>
            </a:extLst>
          </p:cNvPr>
          <p:cNvSpPr txBox="1"/>
          <p:nvPr/>
        </p:nvSpPr>
        <p:spPr>
          <a:xfrm>
            <a:off x="483998" y="1325945"/>
            <a:ext cx="6626744" cy="2723823"/>
          </a:xfrm>
          <a:prstGeom prst="rect">
            <a:avLst/>
          </a:prstGeom>
          <a:noFill/>
          <a:ln>
            <a:noFill/>
          </a:ln>
        </p:spPr>
        <p:txBody>
          <a:bodyPr wrap="square" lIns="91440" tIns="45720" rIns="91440" bIns="45720" rtlCol="0" anchor="t">
            <a:spAutoFit/>
          </a:bodyPr>
          <a:lstStyle/>
          <a:p>
            <a:pPr>
              <a:buClr>
                <a:schemeClr val="bg2"/>
              </a:buClr>
            </a:pPr>
            <a:r>
              <a:rPr lang="en-GB" sz="950" b="1">
                <a:highlight>
                  <a:srgbClr val="FFFF00"/>
                </a:highlight>
              </a:rPr>
              <a:t>Secure Enterprise Browser (SEB)</a:t>
            </a:r>
            <a:endParaRPr lang="en-GB" sz="950"/>
          </a:p>
          <a:p>
            <a:pPr marL="171450" indent="-171450">
              <a:buClr>
                <a:schemeClr val="bg2"/>
              </a:buClr>
              <a:buFont typeface="Arial" panose="020B0604020202020204" pitchFamily="34" charset="0"/>
              <a:buChar char="•"/>
            </a:pPr>
            <a:r>
              <a:rPr lang="en-GB" sz="950"/>
              <a:t>A secure browser solution to strengthen data protection, streamline third-party access, and reduce VDI reliance. Integrate with enterprise security tools and support zero-trust principles.</a:t>
            </a:r>
          </a:p>
          <a:p>
            <a:pPr marL="171450" indent="-171450">
              <a:buClr>
                <a:schemeClr val="bg2"/>
              </a:buClr>
              <a:buFont typeface="Arial" panose="020B0604020202020204" pitchFamily="34" charset="0"/>
              <a:buChar char="•"/>
            </a:pPr>
            <a:r>
              <a:rPr lang="en-US" sz="950"/>
              <a:t>Dependency/linkage/synergy with any other </a:t>
            </a:r>
            <a:r>
              <a:rPr lang="en-US" sz="950" err="1"/>
              <a:t>Workpackages</a:t>
            </a:r>
            <a:r>
              <a:rPr lang="en-US" sz="950"/>
              <a:t>:</a:t>
            </a:r>
          </a:p>
          <a:p>
            <a:pPr marL="781035" lvl="1" indent="-171450">
              <a:buClr>
                <a:schemeClr val="bg2"/>
              </a:buClr>
              <a:buFont typeface="Arial" panose="020B0604020202020204" pitchFamily="34" charset="0"/>
              <a:buChar char="•"/>
            </a:pPr>
            <a:r>
              <a:rPr lang="en-US" sz="950"/>
              <a:t>Cloud and LAN/WAN Network Infrastructure</a:t>
            </a:r>
          </a:p>
          <a:p>
            <a:pPr marL="781035" lvl="1" indent="-171450">
              <a:buClr>
                <a:schemeClr val="bg2"/>
              </a:buClr>
              <a:buFont typeface="Arial" panose="020B0604020202020204" pitchFamily="34" charset="0"/>
              <a:buChar char="•"/>
            </a:pPr>
            <a:r>
              <a:rPr lang="en-US" sz="950"/>
              <a:t>Identity and Access Management</a:t>
            </a:r>
          </a:p>
          <a:p>
            <a:pPr marL="781035" lvl="1" indent="-171450">
              <a:buClr>
                <a:schemeClr val="bg2"/>
              </a:buClr>
              <a:buFont typeface="Arial" panose="020B0604020202020204" pitchFamily="34" charset="0"/>
              <a:buChar char="•"/>
            </a:pPr>
            <a:r>
              <a:rPr lang="en-US" sz="950"/>
              <a:t>CSO, Global Risk and Compliance</a:t>
            </a:r>
          </a:p>
          <a:p>
            <a:pPr marL="781035" lvl="1" indent="-171450">
              <a:buClr>
                <a:schemeClr val="bg2"/>
              </a:buClr>
              <a:buFont typeface="Arial" panose="020B0604020202020204" pitchFamily="34" charset="0"/>
              <a:buChar char="•"/>
            </a:pPr>
            <a:r>
              <a:rPr lang="en-US" sz="950"/>
              <a:t>Business application integration</a:t>
            </a:r>
          </a:p>
          <a:p>
            <a:pPr marL="171450" indent="-171450">
              <a:buClr>
                <a:schemeClr val="bg2"/>
              </a:buClr>
              <a:buFont typeface="Arial" panose="020B0604020202020204" pitchFamily="34" charset="0"/>
              <a:buChar char="•"/>
            </a:pPr>
            <a:r>
              <a:rPr lang="en-US" sz="950"/>
              <a:t>There is no current contract as this would be a new solution for GSK</a:t>
            </a:r>
            <a:endParaRPr lang="en-US" sz="950">
              <a:highlight>
                <a:srgbClr val="00FFFF"/>
              </a:highlight>
            </a:endParaRPr>
          </a:p>
          <a:p>
            <a:pPr marL="171450" indent="-171450">
              <a:buClr>
                <a:schemeClr val="bg2"/>
              </a:buClr>
              <a:buFont typeface="Arial" panose="020B0604020202020204" pitchFamily="34" charset="0"/>
              <a:buChar char="•"/>
            </a:pPr>
            <a:r>
              <a:rPr lang="en-US" sz="950"/>
              <a:t>Expertise with design, build, Ops support, ongoing development, improving user experience, change management, service reporting and communications, and decommissioning</a:t>
            </a:r>
          </a:p>
          <a:p>
            <a:pPr marL="171450" indent="-171450">
              <a:buClr>
                <a:schemeClr val="bg2"/>
              </a:buClr>
              <a:buFont typeface="Arial" panose="020B0604020202020204" pitchFamily="34" charset="0"/>
              <a:buChar char="•"/>
            </a:pPr>
            <a:endParaRPr lang="en-US" sz="950"/>
          </a:p>
          <a:p>
            <a:pPr>
              <a:buClr>
                <a:schemeClr val="bg2"/>
              </a:buClr>
            </a:pPr>
            <a:r>
              <a:rPr lang="en-GB" sz="950" b="1">
                <a:highlight>
                  <a:srgbClr val="FFFF00"/>
                </a:highlight>
              </a:rPr>
              <a:t>Task Details &amp; Expected Outcomes</a:t>
            </a:r>
          </a:p>
          <a:p>
            <a:pPr marL="171450" indent="-171450">
              <a:buClr>
                <a:schemeClr val="bg2"/>
              </a:buClr>
              <a:buFont typeface="Arial"/>
              <a:buChar char="•"/>
            </a:pPr>
            <a:r>
              <a:rPr lang="en-US" sz="950"/>
              <a:t>Provide all necessary management and support with respect to all of GSK’s secure enterprise browser tools, functions and services, including policy definition, centralized configuration, extension management, controlled updates, alerting and </a:t>
            </a:r>
            <a:r>
              <a:rPr lang="en-US" sz="950" err="1"/>
              <a:t>anlystics</a:t>
            </a:r>
            <a:r>
              <a:rPr lang="en-US" sz="950"/>
              <a:t>, and compliance reporting</a:t>
            </a:r>
          </a:p>
          <a:p>
            <a:pPr marL="171450" indent="-171450">
              <a:buClr>
                <a:schemeClr val="bg2"/>
              </a:buClr>
              <a:buFont typeface="Arial"/>
              <a:buChar char="•"/>
            </a:pPr>
            <a:r>
              <a:rPr lang="en-US" sz="950"/>
              <a:t>Would expect a resource-unit based cost model from MSP with fixed cost for scaling up or down as required</a:t>
            </a:r>
          </a:p>
          <a:p>
            <a:pPr marL="171450" indent="-171450">
              <a:buClr>
                <a:schemeClr val="bg2"/>
              </a:buClr>
              <a:buFont typeface="Arial"/>
              <a:buChar char="•"/>
            </a:pPr>
            <a:r>
              <a:rPr lang="en-US" sz="950"/>
              <a:t>Staff should be properly trained in secure enterprise browser solutions.</a:t>
            </a:r>
            <a:endParaRPr lang="en-US" sz="950">
              <a:highlight>
                <a:srgbClr val="00FFFF"/>
              </a:highlight>
            </a:endParaRPr>
          </a:p>
        </p:txBody>
      </p:sp>
      <p:cxnSp>
        <p:nvCxnSpPr>
          <p:cNvPr id="34" name="Straight Connector 33">
            <a:extLst>
              <a:ext uri="{FF2B5EF4-FFF2-40B4-BE49-F238E27FC236}">
                <a16:creationId xmlns:a16="http://schemas.microsoft.com/office/drawing/2014/main" id="{6C196317-28CE-E9FB-4683-D753229228DD}"/>
              </a:ext>
            </a:extLst>
          </p:cNvPr>
          <p:cNvCxnSpPr>
            <a:cxnSpLocks/>
          </p:cNvCxnSpPr>
          <p:nvPr/>
        </p:nvCxnSpPr>
        <p:spPr>
          <a:xfrm flipH="1" flipV="1">
            <a:off x="3798495" y="4334908"/>
            <a:ext cx="18641" cy="1784718"/>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86CF10F6-B675-84FB-1ADB-1281D60AE823}"/>
              </a:ext>
            </a:extLst>
          </p:cNvPr>
          <p:cNvSpPr txBox="1"/>
          <p:nvPr/>
        </p:nvSpPr>
        <p:spPr>
          <a:xfrm>
            <a:off x="3817136" y="4292463"/>
            <a:ext cx="3545108" cy="307777"/>
          </a:xfrm>
          <a:prstGeom prst="rect">
            <a:avLst/>
          </a:prstGeom>
          <a:noFill/>
        </p:spPr>
        <p:txBody>
          <a:bodyPr wrap="square" rtlCol="0">
            <a:spAutoFit/>
          </a:bodyPr>
          <a:lstStyle/>
          <a:p>
            <a:pPr>
              <a:buClr>
                <a:schemeClr val="tx1"/>
              </a:buClr>
            </a:pPr>
            <a:r>
              <a:rPr lang="en-GB" sz="1400" b="1">
                <a:solidFill>
                  <a:schemeClr val="tx2"/>
                </a:solidFill>
              </a:rPr>
              <a:t>Product Strategy/2026 Major Milestones</a:t>
            </a:r>
          </a:p>
        </p:txBody>
      </p:sp>
      <p:graphicFrame>
        <p:nvGraphicFramePr>
          <p:cNvPr id="36" name="Table 15">
            <a:extLst>
              <a:ext uri="{FF2B5EF4-FFF2-40B4-BE49-F238E27FC236}">
                <a16:creationId xmlns:a16="http://schemas.microsoft.com/office/drawing/2014/main" id="{7F3AFBAB-30EA-6E3C-E47C-467F86CCE20A}"/>
              </a:ext>
            </a:extLst>
          </p:cNvPr>
          <p:cNvGraphicFramePr>
            <a:graphicFrameLocks noGrp="1"/>
          </p:cNvGraphicFramePr>
          <p:nvPr/>
        </p:nvGraphicFramePr>
        <p:xfrm>
          <a:off x="9439276" y="590665"/>
          <a:ext cx="2688459" cy="335280"/>
        </p:xfrm>
        <a:graphic>
          <a:graphicData uri="http://schemas.openxmlformats.org/drawingml/2006/table">
            <a:tbl>
              <a:tblPr firstRow="1" bandRow="1">
                <a:tableStyleId>{5C22544A-7EE6-4342-B048-85BDC9FD1C3A}</a:tableStyleId>
              </a:tblPr>
              <a:tblGrid>
                <a:gridCol w="925006">
                  <a:extLst>
                    <a:ext uri="{9D8B030D-6E8A-4147-A177-3AD203B41FA5}">
                      <a16:colId xmlns:a16="http://schemas.microsoft.com/office/drawing/2014/main" val="3906732604"/>
                    </a:ext>
                  </a:extLst>
                </a:gridCol>
                <a:gridCol w="886845">
                  <a:extLst>
                    <a:ext uri="{9D8B030D-6E8A-4147-A177-3AD203B41FA5}">
                      <a16:colId xmlns:a16="http://schemas.microsoft.com/office/drawing/2014/main" val="3893182027"/>
                    </a:ext>
                  </a:extLst>
                </a:gridCol>
                <a:gridCol w="876608">
                  <a:extLst>
                    <a:ext uri="{9D8B030D-6E8A-4147-A177-3AD203B41FA5}">
                      <a16:colId xmlns:a16="http://schemas.microsoft.com/office/drawing/2014/main" val="2672437179"/>
                    </a:ext>
                  </a:extLst>
                </a:gridCol>
              </a:tblGrid>
              <a:tr h="335280">
                <a:tc>
                  <a:txBody>
                    <a:bodyPr/>
                    <a:lstStyle/>
                    <a:p>
                      <a:pPr algn="ctr"/>
                      <a:r>
                        <a:rPr lang="en-US" sz="1200">
                          <a:solidFill>
                            <a:schemeClr val="tx1"/>
                          </a:solidFill>
                        </a:rPr>
                        <a:t>Support</a:t>
                      </a:r>
                    </a:p>
                  </a:txBody>
                  <a:tcPr marL="121920" marR="121920" marT="60960" marB="6096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sz="1200">
                          <a:solidFill>
                            <a:schemeClr val="tx1"/>
                          </a:solidFill>
                        </a:rPr>
                        <a:t>Dev</a:t>
                      </a:r>
                    </a:p>
                  </a:txBody>
                  <a:tcPr marL="121920" marR="121920" marT="60960" marB="6096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sz="1200">
                          <a:solidFill>
                            <a:schemeClr val="tx1"/>
                          </a:solidFill>
                        </a:rPr>
                        <a:t>Hybrid</a:t>
                      </a:r>
                    </a:p>
                  </a:txBody>
                  <a:tcPr marL="121920" marR="121920" marT="60960" marB="6096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solidFill>
                  </a:tcPr>
                </a:tc>
                <a:extLst>
                  <a:ext uri="{0D108BD9-81ED-4DB2-BD59-A6C34878D82A}">
                    <a16:rowId xmlns:a16="http://schemas.microsoft.com/office/drawing/2014/main" val="2586814064"/>
                  </a:ext>
                </a:extLst>
              </a:tr>
            </a:tbl>
          </a:graphicData>
        </a:graphic>
      </p:graphicFrame>
      <p:sp>
        <p:nvSpPr>
          <p:cNvPr id="39" name="TextBox 38">
            <a:extLst>
              <a:ext uri="{FF2B5EF4-FFF2-40B4-BE49-F238E27FC236}">
                <a16:creationId xmlns:a16="http://schemas.microsoft.com/office/drawing/2014/main" id="{1479896B-B78D-27E7-744B-87449FDF11FA}"/>
              </a:ext>
            </a:extLst>
          </p:cNvPr>
          <p:cNvSpPr txBox="1"/>
          <p:nvPr/>
        </p:nvSpPr>
        <p:spPr>
          <a:xfrm>
            <a:off x="3817136" y="4616276"/>
            <a:ext cx="3293605" cy="384721"/>
          </a:xfrm>
          <a:prstGeom prst="rect">
            <a:avLst/>
          </a:prstGeom>
          <a:noFill/>
        </p:spPr>
        <p:txBody>
          <a:bodyPr wrap="square" rtlCol="0">
            <a:spAutoFit/>
          </a:bodyPr>
          <a:lstStyle/>
          <a:p>
            <a:pPr marL="152396" indent="-152396">
              <a:buClr>
                <a:schemeClr val="bg2"/>
              </a:buClr>
              <a:buFont typeface="+mj-lt"/>
              <a:buAutoNum type="arabicPeriod"/>
            </a:pPr>
            <a:r>
              <a:rPr lang="en-GB" sz="950"/>
              <a:t>Migration of current Citrix estate to secure, modern, scalable solution</a:t>
            </a:r>
          </a:p>
        </p:txBody>
      </p:sp>
      <p:graphicFrame>
        <p:nvGraphicFramePr>
          <p:cNvPr id="3" name="Table 2">
            <a:extLst>
              <a:ext uri="{FF2B5EF4-FFF2-40B4-BE49-F238E27FC236}">
                <a16:creationId xmlns:a16="http://schemas.microsoft.com/office/drawing/2014/main" id="{0CDE99CB-C2F0-9D2D-0754-F98F5882EC0A}"/>
              </a:ext>
            </a:extLst>
          </p:cNvPr>
          <p:cNvGraphicFramePr>
            <a:graphicFrameLocks noGrp="1"/>
          </p:cNvGraphicFramePr>
          <p:nvPr>
            <p:extLst>
              <p:ext uri="{D42A27DB-BD31-4B8C-83A1-F6EECF244321}">
                <p14:modId xmlns:p14="http://schemas.microsoft.com/office/powerpoint/2010/main" val="2853156720"/>
              </p:ext>
            </p:extLst>
          </p:nvPr>
        </p:nvGraphicFramePr>
        <p:xfrm>
          <a:off x="7444314" y="3643110"/>
          <a:ext cx="4683422" cy="1091670"/>
        </p:xfrm>
        <a:graphic>
          <a:graphicData uri="http://schemas.openxmlformats.org/drawingml/2006/table">
            <a:tbl>
              <a:tblPr firstRow="1" bandRow="1">
                <a:tableStyleId>{5C22544A-7EE6-4342-B048-85BDC9FD1C3A}</a:tableStyleId>
              </a:tblPr>
              <a:tblGrid>
                <a:gridCol w="2601929">
                  <a:extLst>
                    <a:ext uri="{9D8B030D-6E8A-4147-A177-3AD203B41FA5}">
                      <a16:colId xmlns:a16="http://schemas.microsoft.com/office/drawing/2014/main" val="2715083338"/>
                    </a:ext>
                  </a:extLst>
                </a:gridCol>
                <a:gridCol w="564735">
                  <a:extLst>
                    <a:ext uri="{9D8B030D-6E8A-4147-A177-3AD203B41FA5}">
                      <a16:colId xmlns:a16="http://schemas.microsoft.com/office/drawing/2014/main" val="3277892068"/>
                    </a:ext>
                  </a:extLst>
                </a:gridCol>
                <a:gridCol w="505586">
                  <a:extLst>
                    <a:ext uri="{9D8B030D-6E8A-4147-A177-3AD203B41FA5}">
                      <a16:colId xmlns:a16="http://schemas.microsoft.com/office/drawing/2014/main" val="716918256"/>
                    </a:ext>
                  </a:extLst>
                </a:gridCol>
                <a:gridCol w="505586">
                  <a:extLst>
                    <a:ext uri="{9D8B030D-6E8A-4147-A177-3AD203B41FA5}">
                      <a16:colId xmlns:a16="http://schemas.microsoft.com/office/drawing/2014/main" val="3785101451"/>
                    </a:ext>
                  </a:extLst>
                </a:gridCol>
                <a:gridCol w="505586">
                  <a:extLst>
                    <a:ext uri="{9D8B030D-6E8A-4147-A177-3AD203B41FA5}">
                      <a16:colId xmlns:a16="http://schemas.microsoft.com/office/drawing/2014/main" val="298240070"/>
                    </a:ext>
                  </a:extLst>
                </a:gridCol>
              </a:tblGrid>
              <a:tr h="817922">
                <a:tc>
                  <a:txBody>
                    <a:bodyPr/>
                    <a:lstStyle/>
                    <a:p>
                      <a:pPr algn="ctr"/>
                      <a:endParaRPr lang="en-GB" sz="800"/>
                    </a:p>
                  </a:txBody>
                  <a:tcPr marL="121920" marR="121920" marT="60960" marB="60960" anchor="ctr">
                    <a:lnL w="12700" cmpd="sng">
                      <a:noFill/>
                    </a:lnL>
                    <a:lnR w="12700" cap="flat" cmpd="sng" algn="ctr">
                      <a:solidFill>
                        <a:schemeClr val="bg1">
                          <a:lumMod val="75000"/>
                        </a:schemeClr>
                      </a:solidFill>
                      <a:prstDash val="solid"/>
                      <a:round/>
                      <a:headEnd type="none" w="med" len="med"/>
                      <a:tailEnd type="none" w="med" len="med"/>
                    </a:lnR>
                    <a:lnT w="127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800">
                          <a:solidFill>
                            <a:schemeClr val="tx1"/>
                          </a:solidFill>
                        </a:rPr>
                        <a:t>Incidents</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800">
                          <a:solidFill>
                            <a:schemeClr val="tx1"/>
                          </a:solidFill>
                        </a:rPr>
                        <a:t>Problems</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800">
                          <a:solidFill>
                            <a:schemeClr val="tx1"/>
                          </a:solidFill>
                        </a:rPr>
                        <a:t>Changes</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GB" sz="800">
                          <a:solidFill>
                            <a:schemeClr val="tx1"/>
                          </a:solidFill>
                        </a:rPr>
                        <a:t>Requests</a:t>
                      </a:r>
                    </a:p>
                  </a:txBody>
                  <a:tcPr marL="121920" marR="121920" marT="60960" marB="60960" vert="vert27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043913987"/>
                  </a:ext>
                </a:extLst>
              </a:tr>
              <a:tr h="273748">
                <a:tc>
                  <a:txBody>
                    <a:bodyPr/>
                    <a:lstStyle/>
                    <a:p>
                      <a:r>
                        <a:rPr lang="en-GB" sz="900" b="0"/>
                        <a:t>SEB</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N/A</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N/A</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N/A</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GB" sz="900" b="1"/>
                        <a:t>N/A</a:t>
                      </a:r>
                    </a:p>
                  </a:txBody>
                  <a:tcPr marL="121920" marR="121920" marT="60960" marB="6096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90279235"/>
                  </a:ext>
                </a:extLst>
              </a:tr>
            </a:tbl>
          </a:graphicData>
        </a:graphic>
      </p:graphicFrame>
      <p:sp>
        <p:nvSpPr>
          <p:cNvPr id="4" name="TextBox 3">
            <a:extLst>
              <a:ext uri="{FF2B5EF4-FFF2-40B4-BE49-F238E27FC236}">
                <a16:creationId xmlns:a16="http://schemas.microsoft.com/office/drawing/2014/main" id="{25903C9E-2C80-3489-D554-91C7C92F8680}"/>
              </a:ext>
            </a:extLst>
          </p:cNvPr>
          <p:cNvSpPr txBox="1"/>
          <p:nvPr/>
        </p:nvSpPr>
        <p:spPr>
          <a:xfrm>
            <a:off x="7444314" y="4006272"/>
            <a:ext cx="1807921" cy="477054"/>
          </a:xfrm>
          <a:prstGeom prst="rect">
            <a:avLst/>
          </a:prstGeom>
          <a:noFill/>
        </p:spPr>
        <p:txBody>
          <a:bodyPr wrap="square" rtlCol="0">
            <a:spAutoFit/>
          </a:bodyPr>
          <a:lstStyle/>
          <a:p>
            <a:pPr>
              <a:buClr>
                <a:schemeClr val="tx1"/>
              </a:buClr>
            </a:pPr>
            <a:r>
              <a:rPr lang="en-GB" sz="1600" b="1">
                <a:solidFill>
                  <a:schemeClr val="tx2"/>
                </a:solidFill>
              </a:rPr>
              <a:t>Ticket Summary</a:t>
            </a:r>
          </a:p>
          <a:p>
            <a:pPr>
              <a:buClr>
                <a:schemeClr val="tx1"/>
              </a:buClr>
            </a:pPr>
            <a:r>
              <a:rPr lang="en-GB" sz="900" b="1">
                <a:solidFill>
                  <a:schemeClr val="tx2"/>
                </a:solidFill>
              </a:rPr>
              <a:t>(Annualised)</a:t>
            </a:r>
            <a:endParaRPr lang="en-GB" sz="1100" b="1">
              <a:solidFill>
                <a:schemeClr val="tx2"/>
              </a:solidFill>
            </a:endParaRPr>
          </a:p>
        </p:txBody>
      </p:sp>
      <p:graphicFrame>
        <p:nvGraphicFramePr>
          <p:cNvPr id="5" name="Table 4">
            <a:extLst>
              <a:ext uri="{FF2B5EF4-FFF2-40B4-BE49-F238E27FC236}">
                <a16:creationId xmlns:a16="http://schemas.microsoft.com/office/drawing/2014/main" id="{131FC202-1BC4-473D-B26A-88D63A032BEA}"/>
              </a:ext>
            </a:extLst>
          </p:cNvPr>
          <p:cNvGraphicFramePr>
            <a:graphicFrameLocks noGrp="1"/>
          </p:cNvGraphicFramePr>
          <p:nvPr/>
        </p:nvGraphicFramePr>
        <p:xfrm>
          <a:off x="9439275" y="159297"/>
          <a:ext cx="2688460" cy="335280"/>
        </p:xfrm>
        <a:graphic>
          <a:graphicData uri="http://schemas.openxmlformats.org/drawingml/2006/table">
            <a:tbl>
              <a:tblPr firstRow="1" bandRow="1">
                <a:tableStyleId>{5C22544A-7EE6-4342-B048-85BDC9FD1C3A}</a:tableStyleId>
              </a:tblPr>
              <a:tblGrid>
                <a:gridCol w="1811852">
                  <a:extLst>
                    <a:ext uri="{9D8B030D-6E8A-4147-A177-3AD203B41FA5}">
                      <a16:colId xmlns:a16="http://schemas.microsoft.com/office/drawing/2014/main" val="1687251298"/>
                    </a:ext>
                  </a:extLst>
                </a:gridCol>
                <a:gridCol w="876608">
                  <a:extLst>
                    <a:ext uri="{9D8B030D-6E8A-4147-A177-3AD203B41FA5}">
                      <a16:colId xmlns:a16="http://schemas.microsoft.com/office/drawing/2014/main" val="2237396278"/>
                    </a:ext>
                  </a:extLst>
                </a:gridCol>
              </a:tblGrid>
              <a:tr h="335280">
                <a:tc>
                  <a:txBody>
                    <a:bodyPr/>
                    <a:lstStyle/>
                    <a:p>
                      <a:pPr algn="ctr"/>
                      <a:r>
                        <a:rPr lang="en-US" sz="1050">
                          <a:solidFill>
                            <a:schemeClr val="tx1"/>
                          </a:solidFill>
                        </a:rPr>
                        <a:t>New Contract Term (Yrs)</a:t>
                      </a:r>
                    </a:p>
                  </a:txBody>
                  <a:tcPr marL="121920" marR="121920" marT="60960" marB="6096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endParaRPr lang="en-US" sz="1200">
                        <a:solidFill>
                          <a:schemeClr val="tx1"/>
                        </a:solidFill>
                      </a:endParaRPr>
                    </a:p>
                  </a:txBody>
                  <a:tcPr marL="121920" marR="121920" marT="60960" marB="6096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tx2"/>
                    </a:solidFill>
                  </a:tcPr>
                </a:tc>
                <a:extLst>
                  <a:ext uri="{0D108BD9-81ED-4DB2-BD59-A6C34878D82A}">
                    <a16:rowId xmlns:a16="http://schemas.microsoft.com/office/drawing/2014/main" val="2383194945"/>
                  </a:ext>
                </a:extLst>
              </a:tr>
            </a:tbl>
          </a:graphicData>
        </a:graphic>
      </p:graphicFrame>
    </p:spTree>
    <p:extLst>
      <p:ext uri="{BB962C8B-B14F-4D97-AF65-F5344CB8AC3E}">
        <p14:creationId xmlns:p14="http://schemas.microsoft.com/office/powerpoint/2010/main" val="1990929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DESIGN_ID_GSK " val="DqY5De45"/>
  <p:tag name="ARTICULATE_SLIDE_COUNT" val="30"/>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GSK ">
  <a:themeElements>
    <a:clrScheme name="GSK_Template_2022">
      <a:dk1>
        <a:srgbClr val="000000"/>
      </a:dk1>
      <a:lt1>
        <a:sysClr val="window" lastClr="FFFFFF"/>
      </a:lt1>
      <a:dk2>
        <a:srgbClr val="F36633"/>
      </a:dk2>
      <a:lt2>
        <a:srgbClr val="959595"/>
      </a:lt2>
      <a:accent1>
        <a:srgbClr val="6658A6"/>
      </a:accent1>
      <a:accent2>
        <a:srgbClr val="E21860"/>
      </a:accent2>
      <a:accent3>
        <a:srgbClr val="69B445"/>
      </a:accent3>
      <a:accent4>
        <a:srgbClr val="244EA2"/>
      </a:accent4>
      <a:accent5>
        <a:srgbClr val="FFC709"/>
      </a:accent5>
      <a:accent6>
        <a:srgbClr val="DC4133"/>
      </a:accent6>
      <a:hlink>
        <a:srgbClr val="000000"/>
      </a:hlink>
      <a:folHlink>
        <a:srgbClr val="F0EFED"/>
      </a:folHlink>
    </a:clrScheme>
    <a:fontScheme name="GSK_Template_2022">
      <a:majorFont>
        <a:latin typeface="Arial"/>
        <a:ea typeface=""/>
        <a:cs typeface="Noto Sans"/>
      </a:majorFont>
      <a:minorFont>
        <a:latin typeface="Arial"/>
        <a:ea typeface=""/>
        <a:cs typeface="Noto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95000"/>
          </a:schemeClr>
        </a:solidFill>
        <a:ln>
          <a:noFill/>
          <a:headEnd/>
          <a:tailEnd/>
        </a:ln>
        <a:effectLst/>
      </a:spPr>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defPPr marL="285750" indent="-285750" algn="l" eaLnBrk="0" fontAlgn="auto" hangingPunct="0">
          <a:spcBef>
            <a:spcPts val="300"/>
          </a:spcBef>
          <a:spcAft>
            <a:spcPts val="300"/>
          </a:spcAft>
          <a:buClr>
            <a:schemeClr val="tx2"/>
          </a:buClr>
          <a:buSzPct val="150000"/>
          <a:buFont typeface="Arial" panose="020B0604020202020204" pitchFamily="34" charset="0"/>
          <a:buChar char="•"/>
          <a:defRPr sz="1600" kern="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19050" cap="rnd">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0000" tIns="180000" rIns="180000" bIns="180000" rtlCol="0">
        <a:normAutofit/>
      </a:bodyPr>
      <a:lstStyle>
        <a:defPPr marL="285750" indent="-285750" algn="l">
          <a:spcBef>
            <a:spcPts val="300"/>
          </a:spcBef>
          <a:spcAft>
            <a:spcPts val="300"/>
          </a:spcAft>
          <a:buClr>
            <a:schemeClr val="tx2"/>
          </a:buClr>
          <a:buSzPct val="150000"/>
          <a:buFont typeface="Arial" panose="020B0604020202020204" pitchFamily="34" charset="0"/>
          <a:buChar char="•"/>
          <a:defRPr sz="1600" dirty="0" err="1" smtClean="0"/>
        </a:defPPr>
      </a:lstStyle>
    </a:txDef>
  </a:objectDefaults>
  <a:extraClrSchemeLst/>
  <a:extLst>
    <a:ext uri="{05A4C25C-085E-4340-85A3-A5531E510DB2}">
      <thm15:themeFamily xmlns:thm15="http://schemas.microsoft.com/office/thememl/2012/main" name="Presentation41" id="{0F9AAB7D-1D41-470D-BDE9-0153B14481CB}" vid="{09603FEC-0634-44A1-BA85-3A41A49EB8CE}"/>
    </a:ext>
  </a:extLst>
</a:theme>
</file>

<file path=ppt/theme/theme2.xml><?xml version="1.0" encoding="utf-8"?>
<a:theme xmlns:a="http://schemas.openxmlformats.org/drawingml/2006/main" name="1_GSK ">
  <a:themeElements>
    <a:clrScheme name="GSK_Template_2022">
      <a:dk1>
        <a:srgbClr val="000000"/>
      </a:dk1>
      <a:lt1>
        <a:sysClr val="window" lastClr="FFFFFF"/>
      </a:lt1>
      <a:dk2>
        <a:srgbClr val="F36633"/>
      </a:dk2>
      <a:lt2>
        <a:srgbClr val="959595"/>
      </a:lt2>
      <a:accent1>
        <a:srgbClr val="6658A6"/>
      </a:accent1>
      <a:accent2>
        <a:srgbClr val="E21860"/>
      </a:accent2>
      <a:accent3>
        <a:srgbClr val="69B445"/>
      </a:accent3>
      <a:accent4>
        <a:srgbClr val="244EA2"/>
      </a:accent4>
      <a:accent5>
        <a:srgbClr val="FFC709"/>
      </a:accent5>
      <a:accent6>
        <a:srgbClr val="DC4133"/>
      </a:accent6>
      <a:hlink>
        <a:srgbClr val="000000"/>
      </a:hlink>
      <a:folHlink>
        <a:srgbClr val="F0EFED"/>
      </a:folHlink>
    </a:clrScheme>
    <a:fontScheme name="GSK_Template_2022">
      <a:majorFont>
        <a:latin typeface="Arial"/>
        <a:ea typeface=""/>
        <a:cs typeface="Noto Sans"/>
      </a:majorFont>
      <a:minorFont>
        <a:latin typeface="Arial"/>
        <a:ea typeface=""/>
        <a:cs typeface="Noto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95000"/>
          </a:schemeClr>
        </a:solidFill>
        <a:ln>
          <a:noFill/>
          <a:headEnd/>
          <a:tailEnd/>
        </a:ln>
        <a:effectLst/>
      </a:spPr>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defPPr marL="285750" indent="-285750" algn="l" eaLnBrk="0" fontAlgn="auto" hangingPunct="0">
          <a:spcBef>
            <a:spcPts val="300"/>
          </a:spcBef>
          <a:spcAft>
            <a:spcPts val="300"/>
          </a:spcAft>
          <a:buClr>
            <a:schemeClr val="tx2"/>
          </a:buClr>
          <a:buSzPct val="110000"/>
          <a:buFont typeface="Arial" panose="020B0604020202020204" pitchFamily="34" charset="0"/>
          <a:buChar char="•"/>
          <a:defRPr sz="1600" kern="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19050" cap="rnd">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0000" tIns="180000" rIns="180000" bIns="180000" rtlCol="0">
        <a:normAutofit/>
      </a:bodyPr>
      <a:lstStyle>
        <a:defPPr marL="285750" indent="-285750" algn="l">
          <a:spcBef>
            <a:spcPts val="300"/>
          </a:spcBef>
          <a:spcAft>
            <a:spcPts val="300"/>
          </a:spcAft>
          <a:buClr>
            <a:schemeClr val="tx2"/>
          </a:buClr>
          <a:buSzPct val="110000"/>
          <a:buFont typeface="Arial" panose="020B0604020202020204" pitchFamily="34" charset="0"/>
          <a:buChar char="•"/>
          <a:defRPr sz="1600" dirty="0" err="1" smtClean="0"/>
        </a:defPPr>
      </a:lstStyle>
    </a:txDef>
  </a:objectDefaults>
  <a:extraClrSchemeLst/>
  <a:extLst>
    <a:ext uri="{05A4C25C-085E-4340-85A3-A5531E510DB2}">
      <thm15:themeFamily xmlns:thm15="http://schemas.microsoft.com/office/thememl/2012/main" name="Presentation3" id="{1FC64C42-FD31-4645-8EA4-F7F1E0B32C5A}" vid="{75B4F402-4C66-47F2-964F-78688538E0BA}"/>
    </a:ext>
  </a:extLst>
</a:theme>
</file>

<file path=ppt/theme/theme3.xml><?xml version="1.0" encoding="utf-8"?>
<a:theme xmlns:a="http://schemas.openxmlformats.org/drawingml/2006/main" name="Office Theme">
  <a:themeElements>
    <a:clrScheme name="GSK_Template_2022">
      <a:dk1>
        <a:srgbClr val="000000"/>
      </a:dk1>
      <a:lt1>
        <a:sysClr val="window" lastClr="FFFFFF"/>
      </a:lt1>
      <a:dk2>
        <a:srgbClr val="F36633"/>
      </a:dk2>
      <a:lt2>
        <a:srgbClr val="959595"/>
      </a:lt2>
      <a:accent1>
        <a:srgbClr val="6658A6"/>
      </a:accent1>
      <a:accent2>
        <a:srgbClr val="E21860"/>
      </a:accent2>
      <a:accent3>
        <a:srgbClr val="69B445"/>
      </a:accent3>
      <a:accent4>
        <a:srgbClr val="244EA2"/>
      </a:accent4>
      <a:accent5>
        <a:srgbClr val="FFC709"/>
      </a:accent5>
      <a:accent6>
        <a:srgbClr val="DC4133"/>
      </a:accent6>
      <a:hlink>
        <a:srgbClr val="000000"/>
      </a:hlink>
      <a:folHlink>
        <a:srgbClr val="F0EFED"/>
      </a:folHlink>
    </a:clrScheme>
    <a:fontScheme name="GSK_Template_2022">
      <a:majorFont>
        <a:latin typeface="Arial"/>
        <a:ea typeface=""/>
        <a:cs typeface="Noto Sans"/>
      </a:majorFont>
      <a:minorFont>
        <a:latin typeface="Arial"/>
        <a:ea typeface=""/>
        <a:cs typeface="Noto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GSK_Template_2022">
      <a:dk1>
        <a:srgbClr val="000000"/>
      </a:dk1>
      <a:lt1>
        <a:sysClr val="window" lastClr="FFFFFF"/>
      </a:lt1>
      <a:dk2>
        <a:srgbClr val="F36633"/>
      </a:dk2>
      <a:lt2>
        <a:srgbClr val="959595"/>
      </a:lt2>
      <a:accent1>
        <a:srgbClr val="6658A6"/>
      </a:accent1>
      <a:accent2>
        <a:srgbClr val="E21860"/>
      </a:accent2>
      <a:accent3>
        <a:srgbClr val="69B445"/>
      </a:accent3>
      <a:accent4>
        <a:srgbClr val="244EA2"/>
      </a:accent4>
      <a:accent5>
        <a:srgbClr val="FFC709"/>
      </a:accent5>
      <a:accent6>
        <a:srgbClr val="DC4133"/>
      </a:accent6>
      <a:hlink>
        <a:srgbClr val="000000"/>
      </a:hlink>
      <a:folHlink>
        <a:srgbClr val="F0EFED"/>
      </a:folHlink>
    </a:clrScheme>
    <a:fontScheme name="GSK_Template_2022">
      <a:majorFont>
        <a:latin typeface="Arial"/>
        <a:ea typeface=""/>
        <a:cs typeface="Noto Sans"/>
      </a:majorFont>
      <a:minorFont>
        <a:latin typeface="Arial"/>
        <a:ea typeface=""/>
        <a:cs typeface="Noto San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1CEE19BF6F09E4B8DC3CC698BF4014B" ma:contentTypeVersion="4" ma:contentTypeDescription="Create a new document." ma:contentTypeScope="" ma:versionID="3a7a5a1be635b082dcbdc02d3751d385">
  <xsd:schema xmlns:xsd="http://www.w3.org/2001/XMLSchema" xmlns:xs="http://www.w3.org/2001/XMLSchema" xmlns:p="http://schemas.microsoft.com/office/2006/metadata/properties" xmlns:ns2="4b318c97-f5ce-4dd0-82a8-2eb0c02b1909" targetNamespace="http://schemas.microsoft.com/office/2006/metadata/properties" ma:root="true" ma:fieldsID="fd394eb32aff7dd332c9d85c93745106" ns2:_="">
    <xsd:import namespace="4b318c97-f5ce-4dd0-82a8-2eb0c02b190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318c97-f5ce-4dd0-82a8-2eb0c02b19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D7B0F24-8526-4EE0-961E-7C4F5C2516F7}">
  <ds:schemaRefs>
    <ds:schemaRef ds:uri="http://schemas.microsoft.com/sharepoint/v3/contenttype/forms"/>
  </ds:schemaRefs>
</ds:datastoreItem>
</file>

<file path=customXml/itemProps2.xml><?xml version="1.0" encoding="utf-8"?>
<ds:datastoreItem xmlns:ds="http://schemas.openxmlformats.org/officeDocument/2006/customXml" ds:itemID="{B7FC8329-C6F9-417B-AFDE-5E22243E6E66}">
  <ds:schemaRefs>
    <ds:schemaRef ds:uri="003b914f-9e13-4655-993c-5587fea73cd1"/>
    <ds:schemaRef ds:uri="b6e9e21d-1015-4caa-b3db-3c23f0c27f4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5E47CF5-4C6E-48AB-8830-486FCD07761E}"/>
</file>

<file path=docMetadata/LabelInfo.xml><?xml version="1.0" encoding="utf-8"?>
<clbl:labelList xmlns:clbl="http://schemas.microsoft.com/office/2020/mipLabelMetadata">
  <clbl:label id="{bea66b2b-af80-48b6-873b-d341d3035cfa}" enabled="1" method="Standard" siteId="{63982aff-fb6c-4c22-973b-70e4acfb63e6}" removed="0"/>
</clbl:labelList>
</file>

<file path=docProps/app.xml><?xml version="1.0" encoding="utf-8"?>
<Properties xmlns="http://schemas.openxmlformats.org/officeDocument/2006/extended-properties" xmlns:vt="http://schemas.openxmlformats.org/officeDocument/2006/docPropsVTypes">
  <Template>GSK_New_PPT_16x9_Template_MAY22_v1</Template>
  <TotalTime>0</TotalTime>
  <Words>9464</Words>
  <Application>Microsoft Office PowerPoint</Application>
  <PresentationFormat>Widescreen</PresentationFormat>
  <Paragraphs>1016</Paragraphs>
  <Slides>31</Slides>
  <Notes>21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31</vt:i4>
      </vt:variant>
    </vt:vector>
  </HeadingPairs>
  <TitlesOfParts>
    <vt:vector size="41" baseType="lpstr">
      <vt:lpstr>Aptos</vt:lpstr>
      <vt:lpstr>Aptos Narrow</vt:lpstr>
      <vt:lpstr>Arial</vt:lpstr>
      <vt:lpstr>Arial Narrow</vt:lpstr>
      <vt:lpstr>Calibri</vt:lpstr>
      <vt:lpstr>Carlito</vt:lpstr>
      <vt:lpstr>Century Gothic</vt:lpstr>
      <vt:lpstr>Noto Sans</vt:lpstr>
      <vt:lpstr>GSK </vt:lpstr>
      <vt:lpstr>1_GSK </vt:lpstr>
      <vt:lpstr>External Access Services (EAS) – OAK 2.0 Requirements</vt:lpstr>
      <vt:lpstr>Scope Executive Summary – EAS: Virtual Apps &amp; Desktops</vt:lpstr>
      <vt:lpstr>Scope Executive Summary – EAS: VDI Gateway Services</vt:lpstr>
      <vt:lpstr>Scope Executive Summary – EAS: Managed File Transfer</vt:lpstr>
      <vt:lpstr>Scope Executive Summary – EAS:  Web Services      Security Gateway (WSSG)</vt:lpstr>
      <vt:lpstr>Scope Detail – EAS: Virtual Apps &amp; Desktops</vt:lpstr>
      <vt:lpstr>Scope Detail – EAS: Virtual Apps &amp; Desktops</vt:lpstr>
      <vt:lpstr>Scope Detail – EAS: Virtual Apps &amp; Desktops</vt:lpstr>
      <vt:lpstr>Scope Detail – EAS: Virtual Apps &amp; Desktops</vt:lpstr>
      <vt:lpstr>Scope Detail – EAS: Virtual Apps &amp; Desktops (cont.)</vt:lpstr>
      <vt:lpstr>Scope Detail – EAS: Virtual Apps &amp; Desktops (cont.)</vt:lpstr>
      <vt:lpstr>Scope Detail – EAS: VDI Gateway Services</vt:lpstr>
      <vt:lpstr>Scope Detail – EAS: VDI Gateway Services (cont.)</vt:lpstr>
      <vt:lpstr>Scope Detail – EAS: VDI Gateway Services (cont.)</vt:lpstr>
      <vt:lpstr>Scope Detail – EAS: Managed File Transfer</vt:lpstr>
      <vt:lpstr>Scope Detail – EAS: Managed File Transfer</vt:lpstr>
      <vt:lpstr>Scope Detail – EAS: Managed File Transfer</vt:lpstr>
      <vt:lpstr>Scope Detail – EAS: Web Service Security Gateway (WSSG)</vt:lpstr>
      <vt:lpstr>Scope Detail – EAS: Web Service Security Gateway (WSSG)</vt:lpstr>
      <vt:lpstr>Scope Detail – EAS: Web Service Security Gateway (WSSG)</vt:lpstr>
      <vt:lpstr>PowerPoint Presentation</vt:lpstr>
      <vt:lpstr>PowerPoint Presentation</vt:lpstr>
      <vt:lpstr>PowerPoint Presentation</vt:lpstr>
      <vt:lpstr>Tech Stack &amp; Architecture Diagram - EAS: Virtual Apps &amp; Desktops – </vt:lpstr>
      <vt:lpstr>PowerPoint Presentation</vt:lpstr>
      <vt:lpstr>PowerPoint Presentation</vt:lpstr>
      <vt:lpstr>PowerPoint Presentation</vt:lpstr>
      <vt:lpstr>PowerPoint Presentation</vt:lpstr>
      <vt:lpstr>Ticket Data – Supporting Commentary</vt:lpstr>
      <vt:lpstr>New Scope – Secure Enterprise Browser</vt:lpstr>
      <vt:lpstr>Scope Executive Summary – EAS: Secure Enterprise Browser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 Assessment and Consolidation of System Integrators 2022-2023</dc:title>
  <dc:creator>Meghan Blackburn</dc:creator>
  <cp:lastModifiedBy>Anmol Shukla</cp:lastModifiedBy>
  <cp:revision>4</cp:revision>
  <dcterms:created xsi:type="dcterms:W3CDTF">2022-09-20T03:21:11Z</dcterms:created>
  <dcterms:modified xsi:type="dcterms:W3CDTF">2026-07-20T15:46:49Z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0x01010031CEE19BF6F09E4B8DC3CC698BF4014B</vt:lpwstr>
  </property>
  <property fmtid="{D5CDD505-2E9C-101B-9397-08002B2CF9AE}" pid="3" name="MediaServiceImageTags">
    <vt:lpwstr/>
  </property>
  <property fmtid="{D5CDD505-2E9C-101B-9397-08002B2CF9AE}" pid="4" name="ArticulateGUID">
    <vt:lpwstr>15CDE283-B26F-4D28-871F-EAED173C219D</vt:lpwstr>
  </property>
  <property fmtid="{D5CDD505-2E9C-101B-9397-08002B2CF9AE}" pid="5" name="ArticulatePath">
    <vt:lpwstr>Presentation1</vt:lpwstr>
  </property>
  <property fmtid="{D5CDD505-2E9C-101B-9397-08002B2CF9AE}" pid="6" name="TitusGUID">
    <vt:lpwstr>454d112d-cf3c-47f6-8a4e-5c0bd4dadfaa</vt:lpwstr>
  </property>
  <property fmtid="{D5CDD505-2E9C-101B-9397-08002B2CF9AE}" pid="7" name="HCLClassD6">
    <vt:lpwstr>False</vt:lpwstr>
  </property>
  <property fmtid="{D5CDD505-2E9C-101B-9397-08002B2CF9AE}" pid="8" name="HCLClassification">
    <vt:lpwstr>HCL_Cla5s_C0nf1dent1al</vt:lpwstr>
  </property>
  <property fmtid="{D5CDD505-2E9C-101B-9397-08002B2CF9AE}" pid="9" name="MSIP_Label_556dfe78-8a37-4fb5-b4aa-b92b97e18d15_Enabled">
    <vt:lpwstr>true</vt:lpwstr>
  </property>
  <property fmtid="{D5CDD505-2E9C-101B-9397-08002B2CF9AE}" pid="10" name="MSIP_Label_556dfe78-8a37-4fb5-b4aa-b92b97e18d15_SetDate">
    <vt:lpwstr>2026-07-20T15:46:48Z</vt:lpwstr>
  </property>
  <property fmtid="{D5CDD505-2E9C-101B-9397-08002B2CF9AE}" pid="11" name="MSIP_Label_556dfe78-8a37-4fb5-b4aa-b92b97e18d15_Method">
    <vt:lpwstr>Standard</vt:lpwstr>
  </property>
  <property fmtid="{D5CDD505-2E9C-101B-9397-08002B2CF9AE}" pid="12" name="MSIP_Label_556dfe78-8a37-4fb5-b4aa-b92b97e18d15_Name">
    <vt:lpwstr>Internal</vt:lpwstr>
  </property>
  <property fmtid="{D5CDD505-2E9C-101B-9397-08002B2CF9AE}" pid="13" name="MSIP_Label_556dfe78-8a37-4fb5-b4aa-b92b97e18d15_SiteId">
    <vt:lpwstr>189de737-c93a-4f5a-8b68-6f4ca9941912</vt:lpwstr>
  </property>
  <property fmtid="{D5CDD505-2E9C-101B-9397-08002B2CF9AE}" pid="14" name="MSIP_Label_556dfe78-8a37-4fb5-b4aa-b92b97e18d15_ActionId">
    <vt:lpwstr>e171d2ab-79a7-4da7-8003-c6bde0db52ef</vt:lpwstr>
  </property>
  <property fmtid="{D5CDD505-2E9C-101B-9397-08002B2CF9AE}" pid="15" name="MSIP_Label_556dfe78-8a37-4fb5-b4aa-b92b97e18d15_ContentBits">
    <vt:lpwstr>1</vt:lpwstr>
  </property>
  <property fmtid="{D5CDD505-2E9C-101B-9397-08002B2CF9AE}" pid="16" name="MSIP_Label_556dfe78-8a37-4fb5-b4aa-b92b97e18d15_Tag">
    <vt:lpwstr>10, 3, 0, 1</vt:lpwstr>
  </property>
  <property fmtid="{D5CDD505-2E9C-101B-9397-08002B2CF9AE}" pid="17" name="ClassificationContentMarkingHeaderLocations">
    <vt:lpwstr>GSK :3\1_GSK :3</vt:lpwstr>
  </property>
  <property fmtid="{D5CDD505-2E9C-101B-9397-08002B2CF9AE}" pid="18" name="ClassificationContentMarkingHeaderText">
    <vt:lpwstr>Classification: Internal</vt:lpwstr>
  </property>
</Properties>
</file>